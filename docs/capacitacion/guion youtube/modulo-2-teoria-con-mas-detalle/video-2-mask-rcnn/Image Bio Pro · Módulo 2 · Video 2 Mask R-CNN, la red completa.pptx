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EB Garamond" pitchFamily="18"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(decir): «El video anterior terminó con una pila de mapas de características: tablas que dicen qué tan presente está cada patrón en cada lugar de la foto. Esos mapas todavía no dicen dónde hay un espermatozoide ni cuántos son. En este video vemos cómo se usan para llegar a eso.» Idea central: a la red se le piden tres cosas por cada espermatozoide, encontrarlo, encuadrarlo en una caja y dibujar su contorno, y se le piden para cada uno por separado: segmentación por instancias. Mask quiere decir máscara, el contorno relleno de cada objeto. R-CNN quiere decir red convolucional con regiones: proponer regiones de la imagen y revisar cada una con una red convolucional. En pantalla: un recorte de la imagen de muestra del sitio (dibujada por computadora) con tres espermatozoides, cada uno con su caja y su contorno de un color distinto, calculados con el modelo real de fluorescencia.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Mask R-CNN es la cuarta de una serie de redes, y cada una resolvió un problema de la anterior. R-CNN, de 2014, proponía unas dos mil regiones por foto con un método clásico, que no aprende, y pasaba cada región por la red convolucional por separado: funcionaba, pero era muy lenta, porque la misma foto se procesaba miles de veces. Fast R-CNN, de 2015, calcula los mapas de características una sola vez para toda la foto y de ahí recorta cada región. Faster R-CNN, también de 2015, cambia el método clásico por una red pequeña que aprende a proponer regiones, así que todo el sistema se entrena junto. Mask R-CNN, de 2017, agrega una rama que dibuja la máscara de cada objeto y una forma más precisa de recortar las regiones. Las fechas no hay que memorizarlas: en esta última están las piezas de todas las anteriores. En pantalla, cada versión lleva una ilustración hecha con una tesela de la imagen de muestra y el modelo del sitio: son ilustraciones de la idea, no resultados de las redes originales. En R-CNN, regiones al azar dibujadas encima; en Fast R-CNN, un solo mapa de características para toda la tesela; en Faster R-CNN, las mejores regiones que propone la red; y en Mask R-CNN, el contorno relleno de cada espermatozoide.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Mask R-CNN trabaja en cinco etapas: base convolucional, pirámide de características, red de propuestas, recorte alineado y cabezas de clasificación y de máscara. La base es la ResNet50 del video anterior: convierte la foto en mapas de características, unos 23.5 millones de pesos. La pirámide reorganiza esos mapas para que sirvan con objetos de distintos tamaños: 3.3 millones. La red de propuestas marca los lugares donde podría haber un objeto: 0.6 millones. El recorte alineado lleva cada lugar propuesto a un tamaño fijo y no tiene pesos propios. La quinta etapa son las cabezas: una decide qué es cada propuesta y afina su caja, 13.9 millones, y otra dibuja la máscara, 2.6 millones. Todo suma 43.9 millones de pesos, la cifra que ya vimos. Es un solo modelo y las cinco etapas se entrenan juntas. La barra de abajo muestra el reparto: más de la mitad está en la base. Cada etapa lleva una imagen real: se pasó una tesela de 512 por 512 de la imagen de muestra por el modelo de fluorescencia. De izquierda a derecha: un mapa de la base, que resalta los bordes; un mapa de la pirámide; las 40 mejores propuestas dibujadas como cajas; el recorte de una propuesta en su cuadrícula de 7 por 7; y los contornos finales.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base entrega mapas de cuatro tamaños. Los profundos saben qué hay, pero con poco detalle del lugar, y los primeros tienen detalle pero patrones simples. La pirámide de características los combina y deja cinco mapas de 256 canales cada uno. Los espermatozoides miden entre 10 y 116 píxeles de largo, con una mediana de 63: hay objetos chicos y grandes. Primero, a cada mapa de la base se le aplica un filtro de uno por uno que lo reduce a 256 canales. Después se parte del mapa más pequeño y se avanza hacia los grandes: en cada paso se amplía el mapa que viene de abajo al doble de tamaño y se suma con el del nivel que sigue, y un filtro de tres por tres suaviza el resultado. Salen cuatro mapas de 256 canales, de 128, 64, 32 y 16 por lado, y se agrega un quinto, de 8 por 8, que sale de reducir a la mitad el más pequeño. Los mapas grandes sirven para objetos pequeños y los pequeños, para objetos grandes. Los tamaños se comprobaron en el modelo real de fluorescencia. Los cuadros de la pantalla son mapas reales de una tesela de la imagen de muestra, uno por nivel; en los más grandes se eligió el canal de más contraste, y en los demás se dibuja la intensidad total de todos los canales. Su tamaño en pantalla va de grande a chico, pero no está a escala exacta.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Las anclas son cajas de prueba de tamaño y proporción fijos, puestas en cada punto de cada mapa. Los cinco tamaños, de 16 a 256, se reparten uno por mapa y, con tres proporciones, suman 65,472 anclas en cada recorte de 512 por 512. Para proponer dónde hay objetos, la red no empieza de cero. El mapa más grande, de 128 por 128, lleva anclas de 16 píxeles; el de 64 por 64, de 32; el de 32 por 32, de 64; el de 16 por 16, de 128; y el de 8 por 8, de 256. Esos tamaños se eligieron pensando en nuestros espermatozoides, de 10 a 116 píxeles de largo, y con margen para objetos más grandes. En cada punto hay tres anclas del mismo tamaño y distinta proporción: una más ancha que alta, una cuadrada y una más alta que ancha. La cuenta: 128 por 128, más 64 por 64, más 32 por 32, más 16 por 16, más 8 por 8, son 21,824 puntos; con tres anclas en cada uno, 65,472. Las anclas no se aprenden, son fijas: lo que se aprende es cómo corregirlas.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red de propuestas revisa cada ancla y responde dos cosas: si hay algo ahí y cómo mover y estirar la caja para que encaje. Se descartan las muy traslapadas y se pasan hasta 1,000 propuestas a la siguiente etapa. Es una red pequeña, de unos 0.6 millones de pesos, que se aplica sobre cada mapa de la pirámide. La primera pregunta es si ahí hay algo o solo fondo: da un puntaje por ancla, sin decir qué es. La segunda es cómo debe corregirse la caja, cuánto moverla a un lado y a otro y cuánto estirarla o encogerla: cuatro números por ancla. En pantalla, un ancla que no coincide con el espermatozoide y la caja corregida, que sí. En el entrenamiento aprende con las etiquetas: las anclas que coinciden bien con un espermatozoide etiquetado cuentan como lugares con algo, y las que caen en fondo oscuro, como lugares sin nada. De las 65,472 anclas, la mayoría cae en el fondo y recibe puntajes bajos. Se ordenan por puntaje, se quitan las que se traslapan mucho con otra mejor (más adelante vemos cómo se mide ese traslape) y pasan hasta 1,000 propuestas, ya con la caja corregida.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Las propuestas tienen tamaños distintos y las etapas siguientes necesitan un tamaño fijo. El recorte alineado lleva cada propuesta a 7 por 7 para la caja y a 14 por 14 para la máscara, interpolando sin redondear las coordenadas. Se elige el mapa de la pirámide que corresponde al tamaño de la propuesta: las chicas, de un mapa grande, y las grandes, de uno pequeño; el de 8 por 8 solo lo usa la red de propuestas. Se recorta esa región, con sus 256 canales, y se muestrea en una cuadrícula de 7 por 7 para la rama que decide qué es y de 14 por 14 para la rama que dibuja la máscara. La palabra clave es alineado: en la versión anterior de la red, las coordenadas de la propuesta se redondeaban a la cuadrícula del mapa. Un desplazamiento de unos pocos píxeles no importa mucho para una caja, pero sí cuando hay que dibujar un contorno. Mask R-CNN calcula cada valor interpolando entre los puntos vecinos del mapa, sin redondear, y así la máscara queda alineada con el objeto. Esta pieza no tiene pesos propios.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Cada recorte de 7 por 7 por 256 pasa por dos capas de 1,024 neuronas, como las del módulo 1. De ahí salen dos resultados: qué es, espermatozoide o fondo, y cuatro números para afinar la caja. Hay una sorpresa para quien vio el primer video: aquí sí hay neuronas conectadas con todo. El recorte tiene 12,544 números; se estiran en una fila y pasan por dos capas de 1,024 neuronas, cada una con un peso por entrada. La primera capa, ella sola, tiene más de 12.8 millones de pesos; después de la base, es la parte con más pesos: 13.9 millones en total. La diferencia con lo que descartamos en el video anterior es el tamaño: allí era una foto completa, aquí es un recorte pequeño, que ya viene resumido por los filtros. La última capa da un puntaje por cada clase, fondo y espermatozoide, y cuatro números para afinar la caja, que ya venía corregida de la red de propuestas. Esa última capa tiene solo 10,250 pesos. Los puntajes de la pantalla (0.97 y 0.03) son un ejemplo. En el primer cuadro, las dos imágenes son reales: un espermatozoide de la imagen de muestra con la caja de una propuesta, y el recorte de esa propuesta en su cuadrícula de 7 por 7 (se dibuja un solo canal de los 256).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Sobre el recorte de 14 por 14, cuatro capas de filtros y una ampliación dan una máscara de 28 por 28: la probabilidad de que cada punto sea parte del espermatozoide. Con un umbral de 0.5 se convierte en el contorno. La cabeza de máscara es la pieza que Mask R-CNN agrega a las redes anteriores. Primero aplica cuatro capas de filtros de tres por tres, como los del video anterior; después, una capa que duplica el tamaño y deja 28 por 28; y una última que da, para cada clase, una máscara de 28 por 28 con valores de 0 a 1: la probabilidad de que ese punto sea parte del espermatozoide. En pantalla, la máscara de un espermatozoide real de la imagen de muestra, calculada con el modelo de fluorescencia, como mapa de calor, con los puntos más probables en naranja. Para obtener una forma definida se aplica un umbral de 0.5; es un umbral distinto del de seguridad, que veremos enseguida. La máscara se estira al tamaño de la caja y se pega en su lugar de la foto, y de ahí el sitio saca el contorno. Para un espermatozoide de unos 60 píxeles de largo, cada punto de la máscara cubre alrededor de dos píxeles. Entre la cabeza de la caja y la de la máscara se reparten 16.5 millones de pesos.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Cada detección sale con un puntaje de 0 a 1. Se conservan las que pasan un umbral de seguridad, que el modelo del sitio guarda en su archivo: 0.9. Un umbral más alto da menos falsos y más omisiones, y uno más bajo, al revés. El puntaje viene de la cabeza de clasificación: cuanto más alto, más seguro está el modelo. En pantalla hay tres contornos reales de la imagen de muestra con su puntaje: 0.99 y 0.93, sobre dos cabezas, y 0.30, sobre un filamento largo. No hay un valor perfecto: hay un equilibrio, y se elige probando con las fotos de validación, algo que vemos en el video cuatro. En nuestro sistema, la red devuelve todo lo que tenga 0.05 o más; después, el sitio se queda solo con lo que alcanza el umbral guardado dentro del modelo de fluorescencia, que es 0.9. Ese valor se eligió para este modelo con sus fotos de validación y puede cambiar si se entrena otro. Hay que distinguir los dos umbrales: el de 0.5 decide cada punto de una máscara y el de 0.9 decide si una detección completa se queda o se descarta.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IoU es el área compartida entre dos contornos dividida entre el área que cubren juntos. Va de 0 a 1. Con 100 y 100 píxeles y 60 en común da 0.43; con 80 en común, 0.67. En la validación, 0.5 o más cuenta como acierto. Se toma el área que comparten los dos contornos y se divide entre el área total que cubren juntos, contando la parte compartida una sola vez. Si no se tocan, el resultado es 0; si coinciden por completo, es 1. Ejemplo: dos contornos de 100 píxeles de área, que comparten 60. Juntos cubren 100 más 100 menos 60, o sea 140 píxeles; el IoU es 60 entre 140, que es 0.43. Si comparten 80, el área conjunta es 120 y el IoU es 0.67. Para decidir si una detección es un acierto se usa un criterio: IoU de 0.5 o más con el contorno etiquetado por una persona. Con 0.43 la detección no cuenta como acierto, aunque se vea cerca; con 0.67 sí. El IoU aparece en tres momentos: al entrenar, para saber qué anclas coinciden con un espermatozoide etiquetado; al detectar, para quitar repetidos; y al validar, para decidir si una detección es un acierto. Vamos con el segundo.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 mismo espermatozoide puede aparecer varias veces. Se limpian tres veces: la supresión de cajas (IoU de 0.6) dentro de la red, el descarte de duplicados entre teselas (0.5) y el filtro de contenido del proyecto, que quita un contorno si la mitad ya está dentro de otro. El primero está dentro de la red y se llama supresión de no máximos: cuando dos cajas se traslapan con un IoU de más de 0.6, se queda la de mayor puntaje. El segundo viene de que la foto se analiza por teselas: la red trabaja con recortes de 512 por 512 píxeles, así que la foto se corta en teselas que se traslapan 128 píxeles con sus vecinas, y un espermatozoide en la zona compartida lo ve dos veces; si dos detecciones tienen un IoU de 0.5 o más, se queda la de mayor puntaje, y si una detección toca el borde interno de una tesela se descarta, porque puede estar cortada y la tesela vecina la verá entera. El tercero es propio del proyecto: a veces la red dibuja un espermatozoide entero y, además, un trozo de él. El IoU entre un contorno de 40 píxeles dentro de otro de 100 es solo 0.4, así que los filtros anteriores no lo detectan; por eso se mide qué parte del área de un contorno ya está dentro de uno conservado, y si es la mitad o más, se descarta.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Al entrenar, cada decisión tiene su pérdida: si hay algo, dónde está, qué es, cómo se afina la caja y qué forma tiene. Son cinco y se suman en un solo número, que es el que se baja, con el mismo mecanismo del módulo 1. En el módulo 1 vimos que, para aprender, la red necesita un número que diga qué tan mal lo hizo: la función de pérdida. Mask R-CNN toma varias decisiones y cada una tiene su propia pérdida. En la red de propuestas hay dos: una mide si acertó en si había algo o no en cada ancla y la otra mide qué tan bien corrigió la caja. En la cabeza de clasificación hay otras dos: si acertó en qué es, espermatozoide o fondo, y qué tan bien afinó la caja final. Y en la cabeza de máscara está la quinta, que compara la máscara que dibujó con la que dibujaron las personas, punto por punto. Las cinco se suman en un solo número y ese es el que el entrenamiento intenta bajar: se calcula la pérdida, se calcula hacia dónde mover cada peso de las cinco etapas a la vez y se mueve un poco. Esto explica por qué la calidad de las etiquetas importa tanto: una sola etiqueta con un contorno descuidado afecta a las cinco pérdidas al mismo tiempo. Cómo baja esa suma durante un entrenamiento real es parte del video cuatro. Las imágenes de cada fila son sobre un espermatozoide de la imagen de muestra: las anclas y las cajas de las cuatro primeras se dibujaron como ilustración de la idea, y la última es la máscara real de 28 por 28 que ya vimos.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Con la imagen de muestra del sitio, la red marcó 41 contornos: 37 sobre cabezas y 4 sobre filamentos largos, y unas 9 de las 46 cabezas quedaron sin contorno. La red decide dónde hay un espermatozoide y qué forma tiene, y el sitio mide después, con código. El sitio incluye una imagen de muestra dibujada por computadora, con espermatozoides de cabeza de color y cola verde sobre fondo negro; no es una foto real, pero sirve para ver el recorrido completo. La imagen, de 1200 por 900 píxeles, se preparó con el brillo máximo de rojo, verde y azul, se cortó en teselas de 512 por 512 con 128 píxeles de traslape, cada tesela pasó por las cinco etapas, se quitaron los repetidos, se aplicó el umbral de 0.9 y quedaron 41 contornos. El conteo de 46 cabezas es propio, por su color, no una etiqueta hecha a mano. Los contornos celestes están sobre cabezas, los naranjas sobre filamentos largos y los círculos blancos marcan cabezas sin contorno. Después llega algo que la red no hace: el área, el largo y la distribución de tamaños se calculan a partir de los contornos con código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red marcó filamentos como si fueran espermatozoides y dejó cabezas sin contorno. Además contesta aunque la foto no sea de espermatozoides: con una foto de células dio 0.96 sobre un núcleo y 1.00 sobre un trozo de fibra. Su resultado se revisa. El ejemplo anterior ya mostró dos límites: en la imagen de muestra la red marcó cuatro filamentos largos como si fueran espermatozoides, con puntajes de 0.9 o más, y dejó unas nueve cabezas sin contorno. Con fotos reales aparecen más casos difíciles: los espermatozoides empalmados pueden salir como un solo contorno o como dos con una frontera inventada; los racimos se confunden más; las fibras y las manchas brillantes se parecen a una cabeza; y a veces un espermatozoide sale partido en dos contornos o dibujado dos veces, y los filtros no siempre lo corrigen. Hay otro límite, más de fondo: una red como esta siempre da una respuesta, esté o no ante el tipo de foto para el que se entrenó. Lo comprobé con el modelo de fluorescencia del sitio, con un recorte de una foto de células con núcleos fluorescentes (Erin Rod, CC BY 4.0, Wikimedia Commons) que no tiene ningún espermatozoide: cinco detecciones salieron con puntaje de 0.9 o más, un núcleo con 0.96 y un trozo de fibra con 1.00. Lo que sí se puede hacer es revisar: el sitio muestra cada contorno sobre la foto y quien analiza puede ampliar y corregir.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Vimos qué se le pide a Mask R-CNN, de dónde viene, sus cinco etapas con sus anclas, propuestas, recorte alineado y cabezas, los umbrales, el IoU, los filtros de repetidos, las cinco pérdidas y sus límites. En el siguiente video, cómo aprende con pocas fotos: transferencia. Resumen para cerrar: a la red se le pide encontrar, encuadrar y delinear cada espermatozoide por separado; Mask R-CNN viene de una serie de redes y trabaja en cinco etapas, la base convolucional, la pirámide de características, la red de propuestas, el recorte alineado y las cabezas de clasificación y de máscara. Vimos las anclas, que son cajas de prueba fijas, y cómo la red de propuestas las corrige; que cada detección trae un puntaje, con un umbral de 0.5 para los puntos de la máscara y uno de 0.9 para quedarse con una detección; el IoU, que mide cuánto coinciden dos contornos, y los tres filtros que quitan repetidos; que las cinco decisiones tienen cada una su pérdida y se suman en un solo número; y, en un ejemplo, que la red marca filamentos de más, deja cabezas sin contorno y contesta aunque no conozca la foto, así que sus resultados se revisan. En el siguiente video vemos una pregunta abierta: esta red tiene casi 44 millones de pesos y nosotros tenemos muy pocas fotos. Entrenar una red tan grande desde cero suele pedir muchísimos más ejemplos. En el aprendizaje por transferencia se parte de una red que ya aprendió a ver con otras fotos y se le enseña lo que falta. Gracias por acompañarme.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1F2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F1F6F8"/>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F1F6F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1F2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F1F6F8"/>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F1F6F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2.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2.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slideLayout" Target="../slideLayouts/slideLayout2.xml"/><Relationship Id="rId1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2.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slideLayout" Target="../slideLayouts/slideLayout2.xml"/><Relationship Id="rId1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MÓDULO 2 · VIDEO 2</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Mask R-CNN, la red completa</a:t>
            </a:r>
            <a:endParaRPr lang="en-US" sz="3600" dirty="0"/>
          </a:p>
        </p:txBody>
      </p:sp>
      <p:pic>
        <p:nvPicPr>
          <p:cNvPr id="6" name="Image 2" descr="Tres espermatozoides de la imagen de muestra, cada uno con su caja y su contorno de un color distinto">    </p:cNvPr>
          <p:cNvPicPr>
            <a:picLocks noChangeAspect="1"/>
          </p:cNvPicPr>
          <p:nvPr/>
        </p:nvPicPr>
        <p:blipFill>
          <a:blip r:embed="rId3"/>
          <a:srcRect l="0" r="0" t="97" b="97"/>
          <a:stretch/>
        </p:blipFill>
        <p:spPr>
          <a:xfrm>
            <a:off x="825500" y="1821061"/>
            <a:ext cx="4737100" cy="3467100"/>
          </a:xfrm>
          <a:prstGeom prst="roundRect">
            <a:avLst>
              <a:gd name="adj" fmla="val 2198"/>
            </a:avLst>
          </a:prstGeom>
        </p:spPr>
      </p:pic>
      <p:sp>
        <p:nvSpPr>
          <p:cNvPr id="7" name="Shape 2"/>
          <p:cNvSpPr/>
          <p:nvPr/>
        </p:nvSpPr>
        <p:spPr>
          <a:xfrm>
            <a:off x="819150" y="1814711"/>
            <a:ext cx="4749800" cy="3479800"/>
          </a:xfrm>
          <a:prstGeom prst="roundRect">
            <a:avLst>
              <a:gd name="adj" fmla="val 2372"/>
            </a:avLst>
          </a:prstGeom>
          <a:noFill/>
          <a:ln w="12700">
            <a:solidFill>
              <a:srgbClr val="D5E3EA"/>
            </a:solidFill>
            <a:prstDash val="solid"/>
          </a:ln>
        </p:spPr>
      </p:sp>
      <p:sp>
        <p:nvSpPr>
          <p:cNvPr id="8" name="Shape 3"/>
          <p:cNvSpPr/>
          <p:nvPr/>
        </p:nvSpPr>
        <p:spPr>
          <a:xfrm>
            <a:off x="5886450" y="2023467"/>
            <a:ext cx="5486400" cy="680641"/>
          </a:xfrm>
          <a:prstGeom prst="roundRect">
            <a:avLst>
              <a:gd name="adj" fmla="val 13994"/>
            </a:avLst>
          </a:prstGeom>
          <a:solidFill>
            <a:srgbClr val="FCFDFD"/>
          </a:solidFill>
          <a:ln w="12700">
            <a:solidFill>
              <a:srgbClr val="D5E3EA"/>
            </a:solidFill>
            <a:prstDash val="solid"/>
          </a:ln>
        </p:spPr>
      </p:sp>
      <p:sp>
        <p:nvSpPr>
          <p:cNvPr id="9" name="Text 4"/>
          <p:cNvSpPr/>
          <p:nvPr/>
        </p:nvSpPr>
        <p:spPr>
          <a:xfrm>
            <a:off x="6045200" y="2211388"/>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0B1F2E"/>
          </a:solidFill>
          <a:ln/>
        </p:spPr>
        <p:txBody>
          <a:bodyPr wrap="square" lIns="0" tIns="0" rIns="0" bIns="0" rtlCol="0" anchor="ctr">
            <a:normAutofit/>
          </a:bodyPr>
          <a:lstStyle/>
          <a:p>
            <a:pPr algn="ctr" indent="0" marL="0">
              <a:lnSpc>
                <a:spcPts val="1960"/>
              </a:lnSpc>
              <a:buNone/>
            </a:pPr>
            <a:r>
              <a:rPr lang="en-US" sz="1400" b="1" dirty="0">
                <a:solidFill>
                  <a:srgbClr val="F4A259"/>
                </a:solidFill>
                <a:latin typeface="IBM Plex Sans" pitchFamily="34" charset="0"/>
                <a:ea typeface="IBM Plex Sans" pitchFamily="34" charset="-122"/>
                <a:cs typeface="IBM Plex Sans" pitchFamily="34" charset="-120"/>
              </a:rPr>
              <a:t>1</a:t>
            </a:r>
            <a:endParaRPr lang="en-US" sz="1400" dirty="0"/>
          </a:p>
        </p:txBody>
      </p:sp>
      <p:sp>
        <p:nvSpPr>
          <p:cNvPr id="10" name="Text 5"/>
          <p:cNvSpPr/>
          <p:nvPr/>
        </p:nvSpPr>
        <p:spPr>
          <a:xfrm>
            <a:off x="6477000" y="2144117"/>
            <a:ext cx="48792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Encontrar</a:t>
            </a:r>
            <a:endParaRPr lang="en-US" sz="1500" dirty="0"/>
          </a:p>
        </p:txBody>
      </p:sp>
      <p:sp>
        <p:nvSpPr>
          <p:cNvPr id="11" name="Text 6"/>
          <p:cNvSpPr/>
          <p:nvPr/>
        </p:nvSpPr>
        <p:spPr>
          <a:xfrm>
            <a:off x="6477000" y="2385417"/>
            <a:ext cx="4879213"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Dónde hay un espermatozoide.</a:t>
            </a:r>
            <a:endParaRPr lang="en-US" sz="1200" dirty="0"/>
          </a:p>
        </p:txBody>
      </p:sp>
      <p:sp>
        <p:nvSpPr>
          <p:cNvPr id="12" name="Shape 7"/>
          <p:cNvSpPr/>
          <p:nvPr/>
        </p:nvSpPr>
        <p:spPr>
          <a:xfrm>
            <a:off x="5886450" y="2805708"/>
            <a:ext cx="5486400" cy="680641"/>
          </a:xfrm>
          <a:prstGeom prst="roundRect">
            <a:avLst>
              <a:gd name="adj" fmla="val 13994"/>
            </a:avLst>
          </a:prstGeom>
          <a:solidFill>
            <a:srgbClr val="FCFDFD"/>
          </a:solidFill>
          <a:ln w="12700">
            <a:solidFill>
              <a:srgbClr val="D5E3EA"/>
            </a:solidFill>
            <a:prstDash val="solid"/>
          </a:ln>
        </p:spPr>
      </p:sp>
      <p:sp>
        <p:nvSpPr>
          <p:cNvPr id="13" name="Text 8"/>
          <p:cNvSpPr/>
          <p:nvPr/>
        </p:nvSpPr>
        <p:spPr>
          <a:xfrm>
            <a:off x="6045200" y="2993628"/>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0B1F2E"/>
          </a:solidFill>
          <a:ln/>
        </p:spPr>
        <p:txBody>
          <a:bodyPr wrap="square" lIns="0" tIns="0" rIns="0" bIns="0" rtlCol="0" anchor="ctr">
            <a:normAutofit/>
          </a:bodyPr>
          <a:lstStyle/>
          <a:p>
            <a:pPr algn="ctr" indent="0" marL="0">
              <a:lnSpc>
                <a:spcPts val="1960"/>
              </a:lnSpc>
              <a:buNone/>
            </a:pPr>
            <a:r>
              <a:rPr lang="en-US" sz="1400" b="1" dirty="0">
                <a:solidFill>
                  <a:srgbClr val="F4A259"/>
                </a:solidFill>
                <a:latin typeface="IBM Plex Sans" pitchFamily="34" charset="0"/>
                <a:ea typeface="IBM Plex Sans" pitchFamily="34" charset="-122"/>
                <a:cs typeface="IBM Plex Sans" pitchFamily="34" charset="-120"/>
              </a:rPr>
              <a:t>2</a:t>
            </a:r>
            <a:endParaRPr lang="en-US" sz="1400" dirty="0"/>
          </a:p>
        </p:txBody>
      </p:sp>
      <p:sp>
        <p:nvSpPr>
          <p:cNvPr id="14" name="Text 9"/>
          <p:cNvSpPr/>
          <p:nvPr/>
        </p:nvSpPr>
        <p:spPr>
          <a:xfrm>
            <a:off x="6477000" y="2926358"/>
            <a:ext cx="48792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Encuadrar</a:t>
            </a:r>
            <a:endParaRPr lang="en-US" sz="1500" dirty="0"/>
          </a:p>
        </p:txBody>
      </p:sp>
      <p:sp>
        <p:nvSpPr>
          <p:cNvPr id="15" name="Text 10"/>
          <p:cNvSpPr/>
          <p:nvPr/>
        </p:nvSpPr>
        <p:spPr>
          <a:xfrm>
            <a:off x="6477000" y="3167658"/>
            <a:ext cx="4879213"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Una caja alrededor de cada uno.</a:t>
            </a:r>
            <a:endParaRPr lang="en-US" sz="1200" dirty="0"/>
          </a:p>
        </p:txBody>
      </p:sp>
      <p:sp>
        <p:nvSpPr>
          <p:cNvPr id="16" name="Shape 11"/>
          <p:cNvSpPr/>
          <p:nvPr/>
        </p:nvSpPr>
        <p:spPr>
          <a:xfrm>
            <a:off x="5886450" y="3587948"/>
            <a:ext cx="5486400" cy="680641"/>
          </a:xfrm>
          <a:prstGeom prst="roundRect">
            <a:avLst>
              <a:gd name="adj" fmla="val 13994"/>
            </a:avLst>
          </a:prstGeom>
          <a:solidFill>
            <a:srgbClr val="FCFDFD"/>
          </a:solidFill>
          <a:ln w="12700">
            <a:solidFill>
              <a:srgbClr val="D5E3EA"/>
            </a:solidFill>
            <a:prstDash val="solid"/>
          </a:ln>
        </p:spPr>
      </p:sp>
      <p:sp>
        <p:nvSpPr>
          <p:cNvPr id="17" name="Text 12"/>
          <p:cNvSpPr/>
          <p:nvPr/>
        </p:nvSpPr>
        <p:spPr>
          <a:xfrm>
            <a:off x="6045200" y="3775869"/>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0B1F2E"/>
          </a:solidFill>
          <a:ln/>
        </p:spPr>
        <p:txBody>
          <a:bodyPr wrap="square" lIns="0" tIns="0" rIns="0" bIns="0" rtlCol="0" anchor="ctr">
            <a:normAutofit/>
          </a:bodyPr>
          <a:lstStyle/>
          <a:p>
            <a:pPr algn="ctr" indent="0" marL="0">
              <a:lnSpc>
                <a:spcPts val="1960"/>
              </a:lnSpc>
              <a:buNone/>
            </a:pPr>
            <a:r>
              <a:rPr lang="en-US" sz="1400" b="1" dirty="0">
                <a:solidFill>
                  <a:srgbClr val="F4A259"/>
                </a:solidFill>
                <a:latin typeface="IBM Plex Sans" pitchFamily="34" charset="0"/>
                <a:ea typeface="IBM Plex Sans" pitchFamily="34" charset="-122"/>
                <a:cs typeface="IBM Plex Sans" pitchFamily="34" charset="-120"/>
              </a:rPr>
              <a:t>3</a:t>
            </a:r>
            <a:endParaRPr lang="en-US" sz="1400" dirty="0"/>
          </a:p>
        </p:txBody>
      </p:sp>
      <p:sp>
        <p:nvSpPr>
          <p:cNvPr id="18" name="Text 13"/>
          <p:cNvSpPr/>
          <p:nvPr/>
        </p:nvSpPr>
        <p:spPr>
          <a:xfrm>
            <a:off x="6477000" y="3708598"/>
            <a:ext cx="48792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Delinear</a:t>
            </a:r>
            <a:endParaRPr lang="en-US" sz="1500" dirty="0"/>
          </a:p>
        </p:txBody>
      </p:sp>
      <p:sp>
        <p:nvSpPr>
          <p:cNvPr id="19" name="Text 14"/>
          <p:cNvSpPr/>
          <p:nvPr/>
        </p:nvSpPr>
        <p:spPr>
          <a:xfrm>
            <a:off x="6477000" y="3949898"/>
            <a:ext cx="4879213"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Su contorno, uno por uno.</a:t>
            </a:r>
            <a:endParaRPr lang="en-US" sz="1200" dirty="0"/>
          </a:p>
        </p:txBody>
      </p:sp>
      <p:sp>
        <p:nvSpPr>
          <p:cNvPr id="20" name="Shape 15"/>
          <p:cNvSpPr/>
          <p:nvPr/>
        </p:nvSpPr>
        <p:spPr>
          <a:xfrm>
            <a:off x="5880100" y="4363839"/>
            <a:ext cx="5499100" cy="728266"/>
          </a:xfrm>
          <a:prstGeom prst="roundRect">
            <a:avLst>
              <a:gd name="adj" fmla="val 13951"/>
            </a:avLst>
          </a:prstGeom>
          <a:solidFill>
            <a:srgbClr val="0B1F2E"/>
          </a:solidFill>
          <a:ln/>
        </p:spPr>
      </p:sp>
      <p:sp>
        <p:nvSpPr>
          <p:cNvPr id="21" name="Text 16"/>
          <p:cNvSpPr/>
          <p:nvPr/>
        </p:nvSpPr>
        <p:spPr>
          <a:xfrm>
            <a:off x="6045200" y="4490839"/>
            <a:ext cx="532396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SEGMENTACIÓN POR INSTANCIAS</a:t>
            </a:r>
            <a:endParaRPr lang="en-US" sz="1200" dirty="0"/>
          </a:p>
        </p:txBody>
      </p:sp>
      <p:sp>
        <p:nvSpPr>
          <p:cNvPr id="22" name="Text 17"/>
          <p:cNvSpPr/>
          <p:nvPr/>
        </p:nvSpPr>
        <p:spPr>
          <a:xfrm>
            <a:off x="6045200" y="4742259"/>
            <a:ext cx="532396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1F6F8"/>
                </a:solidFill>
                <a:latin typeface="IBM Plex Sans" pitchFamily="34" charset="0"/>
                <a:ea typeface="IBM Plex Sans" pitchFamily="34" charset="-122"/>
                <a:cs typeface="IBM Plex Sans" pitchFamily="34" charset="-120"/>
              </a:rPr>
              <a:t>Cada espermatozoide por separado, no la foto completa.</a:t>
            </a:r>
            <a:endParaRPr lang="en-US" sz="1300" dirty="0"/>
          </a:p>
        </p:txBody>
      </p:sp>
      <p:sp>
        <p:nvSpPr>
          <p:cNvPr id="23" name="Text 1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2 · Imagen de muestra del sitio, dibujada por computadora</a:t>
            </a:r>
            <a:endParaRPr lang="en-US" sz="1200" dirty="0"/>
          </a:p>
        </p:txBody>
      </p:sp>
      <p:sp>
        <p:nvSpPr>
          <p:cNvPr id="24"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 / 16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CUATRO VERSIONES</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De dónde viene</a:t>
            </a:r>
            <a:endParaRPr lang="en-US" sz="3600" dirty="0"/>
          </a:p>
        </p:txBody>
      </p:sp>
      <p:sp>
        <p:nvSpPr>
          <p:cNvPr id="6" name="Shape 2"/>
          <p:cNvSpPr/>
          <p:nvPr/>
        </p:nvSpPr>
        <p:spPr>
          <a:xfrm>
            <a:off x="819150" y="1763911"/>
            <a:ext cx="2282825" cy="2989362"/>
          </a:xfrm>
          <a:prstGeom prst="roundRect">
            <a:avLst>
              <a:gd name="adj" fmla="val 5285"/>
            </a:avLst>
          </a:prstGeom>
          <a:solidFill>
            <a:srgbClr val="12304A"/>
          </a:solidFill>
          <a:ln w="12700">
            <a:solidFill>
              <a:srgbClr val="24506E"/>
            </a:solidFill>
            <a:prstDash val="solid"/>
          </a:ln>
        </p:spPr>
      </p:sp>
      <p:pic>
        <p:nvPicPr>
          <p:cNvPr id="7" name="Image 2" descr="La tesela con muchas regiones al azar dibujadas encima: cada una pasaba por la red por separado">    </p:cNvPr>
          <p:cNvPicPr>
            <a:picLocks noChangeAspect="1"/>
          </p:cNvPicPr>
          <p:nvPr/>
        </p:nvPicPr>
        <p:blipFill>
          <a:blip r:embed="rId3"/>
          <a:srcRect l="0" r="0" t="25490" b="25490"/>
          <a:stretch/>
        </p:blipFill>
        <p:spPr>
          <a:xfrm>
            <a:off x="990600" y="1935361"/>
            <a:ext cx="1943100" cy="952500"/>
          </a:xfrm>
          <a:prstGeom prst="roundRect">
            <a:avLst>
              <a:gd name="adj" fmla="val 6667"/>
            </a:avLst>
          </a:prstGeom>
        </p:spPr>
      </p:pic>
      <p:sp>
        <p:nvSpPr>
          <p:cNvPr id="8" name="Text 3"/>
          <p:cNvSpPr/>
          <p:nvPr/>
        </p:nvSpPr>
        <p:spPr>
          <a:xfrm>
            <a:off x="990600" y="2938661"/>
            <a:ext cx="199812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6CCFF6"/>
                </a:solidFill>
                <a:latin typeface="EB Garamond" pitchFamily="18" charset="0"/>
                <a:ea typeface="EB Garamond" pitchFamily="18" charset="-122"/>
                <a:cs typeface="EB Garamond" pitchFamily="18" charset="-120"/>
              </a:rPr>
              <a:t>2014</a:t>
            </a:r>
            <a:endParaRPr lang="en-US" sz="3200" dirty="0"/>
          </a:p>
        </p:txBody>
      </p:sp>
      <p:sp>
        <p:nvSpPr>
          <p:cNvPr id="9" name="Text 4"/>
          <p:cNvSpPr/>
          <p:nvPr/>
        </p:nvSpPr>
        <p:spPr>
          <a:xfrm>
            <a:off x="990600" y="3395861"/>
            <a:ext cx="199812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R-CNN</a:t>
            </a:r>
            <a:endParaRPr lang="en-US" sz="1600" dirty="0"/>
          </a:p>
        </p:txBody>
      </p:sp>
      <p:sp>
        <p:nvSpPr>
          <p:cNvPr id="10" name="Text 5"/>
          <p:cNvSpPr/>
          <p:nvPr/>
        </p:nvSpPr>
        <p:spPr>
          <a:xfrm>
            <a:off x="990600" y="3690441"/>
            <a:ext cx="1998123"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Unas 2,000 regiones por foto, cada una por la red por separado. Muy lenta.</a:t>
            </a:r>
            <a:endParaRPr lang="en-US" sz="1300" dirty="0"/>
          </a:p>
        </p:txBody>
      </p:sp>
      <p:pic>
        <p:nvPicPr>
          <p:cNvPr id="11" name="Image 3" descr="arrow-right">    </p:cNvPr>
          <p:cNvPicPr>
            <a:picLocks noChangeAspect="1"/>
          </p:cNvPicPr>
          <p:nvPr/>
        </p:nvPicPr>
        <p:blipFill>
          <a:blip r:embed="rId4"/>
          <a:srcRect l="0" r="0" t="0" b="0"/>
          <a:stretch/>
        </p:blipFill>
        <p:spPr>
          <a:xfrm>
            <a:off x="3209925" y="1757561"/>
            <a:ext cx="254000" cy="165100"/>
          </a:xfrm>
          <a:prstGeom prst="rect">
            <a:avLst/>
          </a:prstGeom>
        </p:spPr>
      </p:pic>
      <p:sp>
        <p:nvSpPr>
          <p:cNvPr id="12" name="Shape 6"/>
          <p:cNvSpPr/>
          <p:nvPr/>
        </p:nvSpPr>
        <p:spPr>
          <a:xfrm>
            <a:off x="3571875" y="1763911"/>
            <a:ext cx="2282825" cy="2989362"/>
          </a:xfrm>
          <a:prstGeom prst="roundRect">
            <a:avLst>
              <a:gd name="adj" fmla="val 5285"/>
            </a:avLst>
          </a:prstGeom>
          <a:solidFill>
            <a:srgbClr val="12304A"/>
          </a:solidFill>
          <a:ln w="12700">
            <a:solidFill>
              <a:srgbClr val="24506E"/>
            </a:solidFill>
            <a:prstDash val="solid"/>
          </a:ln>
        </p:spPr>
      </p:sp>
      <p:pic>
        <p:nvPicPr>
          <p:cNvPr id="13" name="Image 4" descr="Un solo mapa de características calculado para toda la tesela">    </p:cNvPr>
          <p:cNvPicPr>
            <a:picLocks noChangeAspect="1"/>
          </p:cNvPicPr>
          <p:nvPr/>
        </p:nvPicPr>
        <p:blipFill>
          <a:blip r:embed="rId5"/>
          <a:srcRect l="0" r="0" t="25490" b="25490"/>
          <a:stretch/>
        </p:blipFill>
        <p:spPr>
          <a:xfrm>
            <a:off x="3743325" y="1935361"/>
            <a:ext cx="1943100" cy="952500"/>
          </a:xfrm>
          <a:prstGeom prst="roundRect">
            <a:avLst>
              <a:gd name="adj" fmla="val 6667"/>
            </a:avLst>
          </a:prstGeom>
        </p:spPr>
      </p:pic>
      <p:sp>
        <p:nvSpPr>
          <p:cNvPr id="14" name="Text 7"/>
          <p:cNvSpPr/>
          <p:nvPr/>
        </p:nvSpPr>
        <p:spPr>
          <a:xfrm>
            <a:off x="3743325" y="2938661"/>
            <a:ext cx="199812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6CCFF6"/>
                </a:solidFill>
                <a:latin typeface="EB Garamond" pitchFamily="18" charset="0"/>
                <a:ea typeface="EB Garamond" pitchFamily="18" charset="-122"/>
                <a:cs typeface="EB Garamond" pitchFamily="18" charset="-120"/>
              </a:rPr>
              <a:t>2015</a:t>
            </a:r>
            <a:endParaRPr lang="en-US" sz="3200" dirty="0"/>
          </a:p>
        </p:txBody>
      </p:sp>
      <p:sp>
        <p:nvSpPr>
          <p:cNvPr id="15" name="Text 8"/>
          <p:cNvSpPr/>
          <p:nvPr/>
        </p:nvSpPr>
        <p:spPr>
          <a:xfrm>
            <a:off x="3743325" y="3395861"/>
            <a:ext cx="199812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Fast R-CNN</a:t>
            </a:r>
            <a:endParaRPr lang="en-US" sz="1600" dirty="0"/>
          </a:p>
        </p:txBody>
      </p:sp>
      <p:sp>
        <p:nvSpPr>
          <p:cNvPr id="16" name="Text 9"/>
          <p:cNvSpPr/>
          <p:nvPr/>
        </p:nvSpPr>
        <p:spPr>
          <a:xfrm>
            <a:off x="3743325" y="3690441"/>
            <a:ext cx="1998123"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Los mapas se calculan una sola vez para toda la foto, y de ahí se recorta cada región.</a:t>
            </a:r>
            <a:endParaRPr lang="en-US" sz="1300" dirty="0"/>
          </a:p>
        </p:txBody>
      </p:sp>
      <p:pic>
        <p:nvPicPr>
          <p:cNvPr id="17" name="Image 5" descr="arrow-right">    </p:cNvPr>
          <p:cNvPicPr>
            <a:picLocks noChangeAspect="1"/>
          </p:cNvPicPr>
          <p:nvPr/>
        </p:nvPicPr>
        <p:blipFill>
          <a:blip r:embed="rId6"/>
          <a:srcRect l="0" r="0" t="0" b="0"/>
          <a:stretch/>
        </p:blipFill>
        <p:spPr>
          <a:xfrm>
            <a:off x="5962650" y="1757561"/>
            <a:ext cx="254000" cy="165100"/>
          </a:xfrm>
          <a:prstGeom prst="rect">
            <a:avLst/>
          </a:prstGeom>
        </p:spPr>
      </p:pic>
      <p:sp>
        <p:nvSpPr>
          <p:cNvPr id="18" name="Shape 10"/>
          <p:cNvSpPr/>
          <p:nvPr/>
        </p:nvSpPr>
        <p:spPr>
          <a:xfrm>
            <a:off x="6324600" y="1763911"/>
            <a:ext cx="2282825" cy="2989362"/>
          </a:xfrm>
          <a:prstGeom prst="roundRect">
            <a:avLst>
              <a:gd name="adj" fmla="val 5285"/>
            </a:avLst>
          </a:prstGeom>
          <a:solidFill>
            <a:srgbClr val="12304A"/>
          </a:solidFill>
          <a:ln w="12700">
            <a:solidFill>
              <a:srgbClr val="24506E"/>
            </a:solidFill>
            <a:prstDash val="solid"/>
          </a:ln>
        </p:spPr>
      </p:sp>
      <p:pic>
        <p:nvPicPr>
          <p:cNvPr id="19" name="Image 6" descr="La tesela con las 14 mejores regiones que propone la red de propuestas">    </p:cNvPr>
          <p:cNvPicPr>
            <a:picLocks noChangeAspect="1"/>
          </p:cNvPicPr>
          <p:nvPr/>
        </p:nvPicPr>
        <p:blipFill>
          <a:blip r:embed="rId7"/>
          <a:srcRect l="0" r="0" t="25490" b="25490"/>
          <a:stretch/>
        </p:blipFill>
        <p:spPr>
          <a:xfrm>
            <a:off x="6496050" y="1935361"/>
            <a:ext cx="1943100" cy="952500"/>
          </a:xfrm>
          <a:prstGeom prst="roundRect">
            <a:avLst>
              <a:gd name="adj" fmla="val 6667"/>
            </a:avLst>
          </a:prstGeom>
        </p:spPr>
      </p:pic>
      <p:sp>
        <p:nvSpPr>
          <p:cNvPr id="20" name="Text 11"/>
          <p:cNvSpPr/>
          <p:nvPr/>
        </p:nvSpPr>
        <p:spPr>
          <a:xfrm>
            <a:off x="6496050" y="2938661"/>
            <a:ext cx="199812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6CCFF6"/>
                </a:solidFill>
                <a:latin typeface="EB Garamond" pitchFamily="18" charset="0"/>
                <a:ea typeface="EB Garamond" pitchFamily="18" charset="-122"/>
                <a:cs typeface="EB Garamond" pitchFamily="18" charset="-120"/>
              </a:rPr>
              <a:t>2015</a:t>
            </a:r>
            <a:endParaRPr lang="en-US" sz="3200" dirty="0"/>
          </a:p>
        </p:txBody>
      </p:sp>
      <p:sp>
        <p:nvSpPr>
          <p:cNvPr id="21" name="Text 12"/>
          <p:cNvSpPr/>
          <p:nvPr/>
        </p:nvSpPr>
        <p:spPr>
          <a:xfrm>
            <a:off x="6496050" y="3395861"/>
            <a:ext cx="199812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Faster R-CNN</a:t>
            </a:r>
            <a:endParaRPr lang="en-US" sz="1600" dirty="0"/>
          </a:p>
        </p:txBody>
      </p:sp>
      <p:sp>
        <p:nvSpPr>
          <p:cNvPr id="22" name="Text 13"/>
          <p:cNvSpPr/>
          <p:nvPr/>
        </p:nvSpPr>
        <p:spPr>
          <a:xfrm>
            <a:off x="6496050" y="3690441"/>
            <a:ext cx="1998123"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Una red pequeña aprende a proponer las regiones, y todo se entrena junto.</a:t>
            </a:r>
            <a:endParaRPr lang="en-US" sz="1300" dirty="0"/>
          </a:p>
        </p:txBody>
      </p:sp>
      <p:pic>
        <p:nvPicPr>
          <p:cNvPr id="23" name="Image 7" descr="arrow-right">    </p:cNvPr>
          <p:cNvPicPr>
            <a:picLocks noChangeAspect="1"/>
          </p:cNvPicPr>
          <p:nvPr/>
        </p:nvPicPr>
        <p:blipFill>
          <a:blip r:embed="rId8"/>
          <a:srcRect l="0" r="0" t="0" b="0"/>
          <a:stretch/>
        </p:blipFill>
        <p:spPr>
          <a:xfrm>
            <a:off x="8715375" y="1757561"/>
            <a:ext cx="254000" cy="165100"/>
          </a:xfrm>
          <a:prstGeom prst="rect">
            <a:avLst/>
          </a:prstGeom>
        </p:spPr>
      </p:pic>
      <p:sp>
        <p:nvSpPr>
          <p:cNvPr id="24" name="Shape 14"/>
          <p:cNvSpPr/>
          <p:nvPr/>
        </p:nvSpPr>
        <p:spPr>
          <a:xfrm>
            <a:off x="9080500" y="1767086"/>
            <a:ext cx="2289175" cy="2983012"/>
          </a:xfrm>
          <a:prstGeom prst="roundRect">
            <a:avLst>
              <a:gd name="adj" fmla="val 5132"/>
            </a:avLst>
          </a:prstGeom>
          <a:solidFill>
            <a:srgbClr val="12304A"/>
          </a:solidFill>
          <a:ln w="19050">
            <a:solidFill>
              <a:srgbClr val="F4A259"/>
            </a:solidFill>
            <a:prstDash val="solid"/>
          </a:ln>
        </p:spPr>
      </p:sp>
      <p:pic>
        <p:nvPicPr>
          <p:cNvPr id="25" name="Image 8" descr="La tesela con el contorno relleno de cada espermatozoide detectado">    </p:cNvPr>
          <p:cNvPicPr>
            <a:picLocks noChangeAspect="1"/>
          </p:cNvPicPr>
          <p:nvPr/>
        </p:nvPicPr>
        <p:blipFill>
          <a:blip r:embed="rId9"/>
          <a:srcRect l="0" r="0" t="25490" b="25490"/>
          <a:stretch/>
        </p:blipFill>
        <p:spPr>
          <a:xfrm>
            <a:off x="9255125" y="1941711"/>
            <a:ext cx="1943100" cy="952500"/>
          </a:xfrm>
          <a:prstGeom prst="roundRect">
            <a:avLst>
              <a:gd name="adj" fmla="val 6667"/>
            </a:avLst>
          </a:prstGeom>
        </p:spPr>
      </p:pic>
      <p:sp>
        <p:nvSpPr>
          <p:cNvPr id="26" name="Text 15"/>
          <p:cNvSpPr/>
          <p:nvPr/>
        </p:nvSpPr>
        <p:spPr>
          <a:xfrm>
            <a:off x="9255125" y="2945011"/>
            <a:ext cx="199812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4A259"/>
                </a:solidFill>
                <a:latin typeface="EB Garamond" pitchFamily="18" charset="0"/>
                <a:ea typeface="EB Garamond" pitchFamily="18" charset="-122"/>
                <a:cs typeface="EB Garamond" pitchFamily="18" charset="-120"/>
              </a:rPr>
              <a:t>2017</a:t>
            </a:r>
            <a:endParaRPr lang="en-US" sz="3200" dirty="0"/>
          </a:p>
        </p:txBody>
      </p:sp>
      <p:sp>
        <p:nvSpPr>
          <p:cNvPr id="27" name="Text 16"/>
          <p:cNvSpPr/>
          <p:nvPr/>
        </p:nvSpPr>
        <p:spPr>
          <a:xfrm>
            <a:off x="9255125" y="3402211"/>
            <a:ext cx="199812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Mask R-CNN</a:t>
            </a:r>
            <a:endParaRPr lang="en-US" sz="1600" dirty="0"/>
          </a:p>
        </p:txBody>
      </p:sp>
      <p:sp>
        <p:nvSpPr>
          <p:cNvPr id="28" name="Text 17"/>
          <p:cNvSpPr/>
          <p:nvPr/>
        </p:nvSpPr>
        <p:spPr>
          <a:xfrm>
            <a:off x="9255125" y="3696791"/>
            <a:ext cx="1998123"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Agrega la máscara de cada objeto y un recorte más preciso.</a:t>
            </a:r>
            <a:endParaRPr lang="en-US" sz="1300" dirty="0"/>
          </a:p>
        </p:txBody>
      </p:sp>
      <p:sp>
        <p:nvSpPr>
          <p:cNvPr id="29" name="Shape 18"/>
          <p:cNvSpPr/>
          <p:nvPr/>
        </p:nvSpPr>
        <p:spPr>
          <a:xfrm>
            <a:off x="812800" y="4912023"/>
            <a:ext cx="10566400" cy="584200"/>
          </a:xfrm>
          <a:prstGeom prst="roundRect">
            <a:avLst>
              <a:gd name="adj" fmla="val 21739"/>
            </a:avLst>
          </a:prstGeom>
          <a:solidFill>
            <a:srgbClr val="F4A259"/>
          </a:solidFill>
          <a:ln/>
        </p:spPr>
      </p:sp>
      <p:pic>
        <p:nvPicPr>
          <p:cNvPr id="30" name="Image 9" descr="Lightbulb">    </p:cNvPr>
          <p:cNvPicPr>
            <a:picLocks noChangeAspect="1"/>
          </p:cNvPicPr>
          <p:nvPr/>
        </p:nvPicPr>
        <p:blipFill>
          <a:blip r:embed="rId10"/>
          <a:srcRect l="0" r="0" t="0" b="0"/>
          <a:stretch/>
        </p:blipFill>
        <p:spPr>
          <a:xfrm>
            <a:off x="1016000" y="5051723"/>
            <a:ext cx="304800" cy="304800"/>
          </a:xfrm>
          <a:prstGeom prst="rect">
            <a:avLst/>
          </a:prstGeom>
        </p:spPr>
      </p:pic>
      <p:sp>
        <p:nvSpPr>
          <p:cNvPr id="31" name="Text 19"/>
          <p:cNvSpPr/>
          <p:nvPr/>
        </p:nvSpPr>
        <p:spPr>
          <a:xfrm>
            <a:off x="1447800" y="5088533"/>
            <a:ext cx="10020046"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2A1406"/>
                </a:solidFill>
                <a:latin typeface="IBM Plex Sans" pitchFamily="34" charset="0"/>
                <a:ea typeface="IBM Plex Sans" pitchFamily="34" charset="-122"/>
                <a:cs typeface="IBM Plex Sans" pitchFamily="34" charset="-120"/>
              </a:rPr>
              <a:t>En la última están las piezas de todas las anteriores. Las vemos una por una, en el orden en que trabajan.</a:t>
            </a:r>
            <a:endParaRPr lang="en-US" sz="1400" dirty="0"/>
          </a:p>
        </p:txBody>
      </p:sp>
      <p:sp>
        <p:nvSpPr>
          <p:cNvPr id="32" name="Text 20"/>
          <p:cNvSpPr/>
          <p:nvPr/>
        </p:nvSpPr>
        <p:spPr>
          <a:xfrm>
            <a:off x="812800" y="6238280"/>
            <a:ext cx="9483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2 · Ilustraciones hechas con una tesela de la imagen de muestra y el modelo del sitio</a:t>
            </a:r>
            <a:endParaRPr lang="en-US" sz="1200" dirty="0"/>
          </a:p>
        </p:txBody>
      </p:sp>
      <p:sp>
        <p:nvSpPr>
          <p:cNvPr id="3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2 / 16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UNA SOLA RED</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Vista general: cinco etapas</a:t>
            </a:r>
            <a:endParaRPr lang="en-US" sz="3600" dirty="0"/>
          </a:p>
        </p:txBody>
      </p:sp>
      <p:sp>
        <p:nvSpPr>
          <p:cNvPr id="6" name="Shape 2"/>
          <p:cNvSpPr/>
          <p:nvPr/>
        </p:nvSpPr>
        <p:spPr>
          <a:xfrm>
            <a:off x="819150" y="1789311"/>
            <a:ext cx="1836341" cy="2354263"/>
          </a:xfrm>
          <a:prstGeom prst="roundRect">
            <a:avLst>
              <a:gd name="adj" fmla="val 6570"/>
            </a:avLst>
          </a:prstGeom>
          <a:solidFill>
            <a:srgbClr val="FCFDFD"/>
          </a:solidFill>
          <a:ln w="12700">
            <a:solidFill>
              <a:srgbClr val="D5E3EA"/>
            </a:solidFill>
            <a:prstDash val="solid"/>
          </a:ln>
        </p:spPr>
      </p:sp>
      <p:pic>
        <p:nvPicPr>
          <p:cNvPr id="7" name="Image 2" descr="Mapa de características de la base: los bordes de los espermatozoides">    </p:cNvPr>
          <p:cNvPicPr>
            <a:picLocks noChangeAspect="1"/>
          </p:cNvPicPr>
          <p:nvPr/>
        </p:nvPicPr>
        <p:blipFill>
          <a:blip r:embed="rId3"/>
          <a:srcRect l="0" r="0" t="23251" b="23251"/>
          <a:stretch/>
        </p:blipFill>
        <p:spPr>
          <a:xfrm>
            <a:off x="965200" y="1922661"/>
            <a:ext cx="1543050" cy="825500"/>
          </a:xfrm>
          <a:prstGeom prst="roundRect">
            <a:avLst>
              <a:gd name="adj" fmla="val 7692"/>
            </a:avLst>
          </a:prstGeom>
        </p:spPr>
      </p:pic>
      <p:sp>
        <p:nvSpPr>
          <p:cNvPr id="8" name="Text 3"/>
          <p:cNvSpPr/>
          <p:nvPr/>
        </p:nvSpPr>
        <p:spPr>
          <a:xfrm>
            <a:off x="1016000" y="1973461"/>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0B1F2E"/>
          </a:solidFill>
          <a:ln/>
        </p:spPr>
        <p:txBody>
          <a:bodyPr wrap="square" lIns="0" tIns="0" rIns="0" bIns="0" rtlCol="0" anchor="ctr">
            <a:normAutofit/>
          </a:bodyPr>
          <a:lstStyle/>
          <a:p>
            <a:pPr algn="ctr" indent="0" marL="0">
              <a:lnSpc>
                <a:spcPts val="1820"/>
              </a:lnSpc>
              <a:buNone/>
            </a:pPr>
            <a:r>
              <a:rPr lang="en-US" sz="1300" b="1" dirty="0">
                <a:solidFill>
                  <a:srgbClr val="F4A259"/>
                </a:solidFill>
                <a:latin typeface="IBM Plex Sans" pitchFamily="34" charset="0"/>
                <a:ea typeface="IBM Plex Sans" pitchFamily="34" charset="-122"/>
                <a:cs typeface="IBM Plex Sans" pitchFamily="34" charset="-120"/>
              </a:rPr>
              <a:t>1</a:t>
            </a:r>
            <a:endParaRPr lang="en-US" sz="1300" dirty="0"/>
          </a:p>
        </p:txBody>
      </p:sp>
      <p:sp>
        <p:nvSpPr>
          <p:cNvPr id="9" name="Text 4"/>
          <p:cNvSpPr/>
          <p:nvPr/>
        </p:nvSpPr>
        <p:spPr>
          <a:xfrm>
            <a:off x="965200" y="2798961"/>
            <a:ext cx="1595041" cy="43418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C2A3E"/>
                </a:solidFill>
                <a:latin typeface="IBM Plex Sans" pitchFamily="34" charset="0"/>
                <a:ea typeface="IBM Plex Sans" pitchFamily="34" charset="-122"/>
                <a:cs typeface="IBM Plex Sans" pitchFamily="34" charset="-120"/>
              </a:rPr>
              <a:t>Base convolucional</a:t>
            </a:r>
            <a:endParaRPr lang="en-US" sz="1400" dirty="0"/>
          </a:p>
        </p:txBody>
      </p:sp>
      <p:sp>
        <p:nvSpPr>
          <p:cNvPr id="10" name="Text 5"/>
          <p:cNvSpPr/>
          <p:nvPr/>
        </p:nvSpPr>
        <p:spPr>
          <a:xfrm>
            <a:off x="965200" y="3258542"/>
            <a:ext cx="159504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La ResNet50: mapas de características.</a:t>
            </a:r>
            <a:endParaRPr lang="en-US" sz="1200" dirty="0"/>
          </a:p>
        </p:txBody>
      </p:sp>
      <p:sp>
        <p:nvSpPr>
          <p:cNvPr id="11" name="Text 6"/>
          <p:cNvSpPr/>
          <p:nvPr/>
        </p:nvSpPr>
        <p:spPr>
          <a:xfrm>
            <a:off x="965200" y="3705423"/>
            <a:ext cx="1595041"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0B1F2E"/>
                </a:solidFill>
                <a:latin typeface="EB Garamond" pitchFamily="18" charset="0"/>
                <a:ea typeface="EB Garamond" pitchFamily="18" charset="-122"/>
                <a:cs typeface="EB Garamond" pitchFamily="18" charset="-120"/>
              </a:rPr>
              <a:t>23.5 M</a:t>
            </a:r>
            <a:endParaRPr lang="en-US" sz="2400" dirty="0"/>
          </a:p>
        </p:txBody>
      </p:sp>
      <p:pic>
        <p:nvPicPr>
          <p:cNvPr id="12" name="Image 3" descr="arrow-right">    </p:cNvPr>
          <p:cNvPicPr>
            <a:picLocks noChangeAspect="1"/>
          </p:cNvPicPr>
          <p:nvPr/>
        </p:nvPicPr>
        <p:blipFill>
          <a:blip r:embed="rId4"/>
          <a:srcRect l="0" r="0" t="0" b="0"/>
          <a:stretch/>
        </p:blipFill>
        <p:spPr>
          <a:xfrm>
            <a:off x="2738041" y="2896592"/>
            <a:ext cx="177800" cy="139700"/>
          </a:xfrm>
          <a:prstGeom prst="rect">
            <a:avLst/>
          </a:prstGeom>
        </p:spPr>
      </p:pic>
      <p:sp>
        <p:nvSpPr>
          <p:cNvPr id="13" name="Shape 7"/>
          <p:cNvSpPr/>
          <p:nvPr/>
        </p:nvSpPr>
        <p:spPr>
          <a:xfrm>
            <a:off x="2998391" y="1789311"/>
            <a:ext cx="1836440" cy="2354263"/>
          </a:xfrm>
          <a:prstGeom prst="roundRect">
            <a:avLst>
              <a:gd name="adj" fmla="val 6570"/>
            </a:avLst>
          </a:prstGeom>
          <a:solidFill>
            <a:srgbClr val="FCFDFD"/>
          </a:solidFill>
          <a:ln w="12700">
            <a:solidFill>
              <a:srgbClr val="D5E3EA"/>
            </a:solidFill>
            <a:prstDash val="solid"/>
          </a:ln>
        </p:spPr>
      </p:sp>
      <p:pic>
        <p:nvPicPr>
          <p:cNvPr id="14" name="Image 4" descr="Mapa de la pirámide de 128 por 128 puntos">    </p:cNvPr>
          <p:cNvPicPr>
            <a:picLocks noChangeAspect="1"/>
          </p:cNvPicPr>
          <p:nvPr/>
        </p:nvPicPr>
        <p:blipFill>
          <a:blip r:embed="rId5"/>
          <a:srcRect l="0" r="0" t="23251" b="23251"/>
          <a:stretch/>
        </p:blipFill>
        <p:spPr>
          <a:xfrm>
            <a:off x="3144441" y="1922661"/>
            <a:ext cx="1543050" cy="825500"/>
          </a:xfrm>
          <a:prstGeom prst="roundRect">
            <a:avLst>
              <a:gd name="adj" fmla="val 7692"/>
            </a:avLst>
          </a:prstGeom>
        </p:spPr>
      </p:pic>
      <p:sp>
        <p:nvSpPr>
          <p:cNvPr id="15" name="Text 8"/>
          <p:cNvSpPr/>
          <p:nvPr/>
        </p:nvSpPr>
        <p:spPr>
          <a:xfrm>
            <a:off x="3195241" y="1973461"/>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0B1F2E"/>
          </a:solidFill>
          <a:ln/>
        </p:spPr>
        <p:txBody>
          <a:bodyPr wrap="square" lIns="0" tIns="0" rIns="0" bIns="0" rtlCol="0" anchor="ctr">
            <a:normAutofit/>
          </a:bodyPr>
          <a:lstStyle/>
          <a:p>
            <a:pPr algn="ctr" indent="0" marL="0">
              <a:lnSpc>
                <a:spcPts val="1820"/>
              </a:lnSpc>
              <a:buNone/>
            </a:pPr>
            <a:r>
              <a:rPr lang="en-US" sz="1300" b="1" dirty="0">
                <a:solidFill>
                  <a:srgbClr val="F4A259"/>
                </a:solidFill>
                <a:latin typeface="IBM Plex Sans" pitchFamily="34" charset="0"/>
                <a:ea typeface="IBM Plex Sans" pitchFamily="34" charset="-122"/>
                <a:cs typeface="IBM Plex Sans" pitchFamily="34" charset="-120"/>
              </a:rPr>
              <a:t>2</a:t>
            </a:r>
            <a:endParaRPr lang="en-US" sz="1300" dirty="0"/>
          </a:p>
        </p:txBody>
      </p:sp>
      <p:sp>
        <p:nvSpPr>
          <p:cNvPr id="16" name="Text 9"/>
          <p:cNvSpPr/>
          <p:nvPr/>
        </p:nvSpPr>
        <p:spPr>
          <a:xfrm>
            <a:off x="3144441" y="2798961"/>
            <a:ext cx="1595140" cy="43418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C2A3E"/>
                </a:solidFill>
                <a:latin typeface="IBM Plex Sans" pitchFamily="34" charset="0"/>
                <a:ea typeface="IBM Plex Sans" pitchFamily="34" charset="-122"/>
                <a:cs typeface="IBM Plex Sans" pitchFamily="34" charset="-120"/>
              </a:rPr>
              <a:t>Pirámide de características</a:t>
            </a:r>
            <a:endParaRPr lang="en-US" sz="1400" dirty="0"/>
          </a:p>
        </p:txBody>
      </p:sp>
      <p:sp>
        <p:nvSpPr>
          <p:cNvPr id="17" name="Text 10"/>
          <p:cNvSpPr/>
          <p:nvPr/>
        </p:nvSpPr>
        <p:spPr>
          <a:xfrm>
            <a:off x="3144441" y="3258542"/>
            <a:ext cx="159514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Mapas para todos los tamaños.</a:t>
            </a:r>
            <a:endParaRPr lang="en-US" sz="1200" dirty="0"/>
          </a:p>
        </p:txBody>
      </p:sp>
      <p:sp>
        <p:nvSpPr>
          <p:cNvPr id="18" name="Text 11"/>
          <p:cNvSpPr/>
          <p:nvPr/>
        </p:nvSpPr>
        <p:spPr>
          <a:xfrm>
            <a:off x="3144441" y="3705423"/>
            <a:ext cx="1595140"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2B7BB0"/>
                </a:solidFill>
                <a:latin typeface="EB Garamond" pitchFamily="18" charset="0"/>
                <a:ea typeface="EB Garamond" pitchFamily="18" charset="-122"/>
                <a:cs typeface="EB Garamond" pitchFamily="18" charset="-120"/>
              </a:rPr>
              <a:t>3.3 M</a:t>
            </a:r>
            <a:endParaRPr lang="en-US" sz="2400" dirty="0"/>
          </a:p>
        </p:txBody>
      </p:sp>
      <p:pic>
        <p:nvPicPr>
          <p:cNvPr id="19" name="Image 5" descr="arrow-right">    </p:cNvPr>
          <p:cNvPicPr>
            <a:picLocks noChangeAspect="1"/>
          </p:cNvPicPr>
          <p:nvPr/>
        </p:nvPicPr>
        <p:blipFill>
          <a:blip r:embed="rId6"/>
          <a:srcRect l="0" r="0" t="0" b="0"/>
          <a:stretch/>
        </p:blipFill>
        <p:spPr>
          <a:xfrm>
            <a:off x="4917380" y="2896592"/>
            <a:ext cx="177800" cy="139700"/>
          </a:xfrm>
          <a:prstGeom prst="rect">
            <a:avLst/>
          </a:prstGeom>
        </p:spPr>
      </p:pic>
      <p:sp>
        <p:nvSpPr>
          <p:cNvPr id="20" name="Shape 12"/>
          <p:cNvSpPr/>
          <p:nvPr/>
        </p:nvSpPr>
        <p:spPr>
          <a:xfrm>
            <a:off x="5177730" y="1891506"/>
            <a:ext cx="1836440" cy="2149872"/>
          </a:xfrm>
          <a:prstGeom prst="roundRect">
            <a:avLst>
              <a:gd name="adj" fmla="val 6570"/>
            </a:avLst>
          </a:prstGeom>
          <a:solidFill>
            <a:srgbClr val="FCFDFD"/>
          </a:solidFill>
          <a:ln w="12700">
            <a:solidFill>
              <a:srgbClr val="D5E3EA"/>
            </a:solidFill>
            <a:prstDash val="solid"/>
          </a:ln>
        </p:spPr>
      </p:sp>
      <p:pic>
        <p:nvPicPr>
          <p:cNvPr id="21" name="Image 6" descr="La tesela con las 40 mejores propuestas dibujadas como cajas">    </p:cNvPr>
          <p:cNvPicPr>
            <a:picLocks noChangeAspect="1"/>
          </p:cNvPicPr>
          <p:nvPr/>
        </p:nvPicPr>
        <p:blipFill>
          <a:blip r:embed="rId7"/>
          <a:srcRect l="0" r="0" t="23251" b="23251"/>
          <a:stretch/>
        </p:blipFill>
        <p:spPr>
          <a:xfrm>
            <a:off x="5323780" y="2024856"/>
            <a:ext cx="1543050" cy="825500"/>
          </a:xfrm>
          <a:prstGeom prst="roundRect">
            <a:avLst>
              <a:gd name="adj" fmla="val 7692"/>
            </a:avLst>
          </a:prstGeom>
        </p:spPr>
      </p:pic>
      <p:sp>
        <p:nvSpPr>
          <p:cNvPr id="22" name="Text 13"/>
          <p:cNvSpPr/>
          <p:nvPr/>
        </p:nvSpPr>
        <p:spPr>
          <a:xfrm>
            <a:off x="5374580" y="2075656"/>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0B1F2E"/>
          </a:solidFill>
          <a:ln/>
        </p:spPr>
        <p:txBody>
          <a:bodyPr wrap="square" lIns="0" tIns="0" rIns="0" bIns="0" rtlCol="0" anchor="ctr">
            <a:normAutofit/>
          </a:bodyPr>
          <a:lstStyle/>
          <a:p>
            <a:pPr algn="ctr" indent="0" marL="0">
              <a:lnSpc>
                <a:spcPts val="1820"/>
              </a:lnSpc>
              <a:buNone/>
            </a:pPr>
            <a:r>
              <a:rPr lang="en-US" sz="1300" b="1" dirty="0">
                <a:solidFill>
                  <a:srgbClr val="F4A259"/>
                </a:solidFill>
                <a:latin typeface="IBM Plex Sans" pitchFamily="34" charset="0"/>
                <a:ea typeface="IBM Plex Sans" pitchFamily="34" charset="-122"/>
                <a:cs typeface="IBM Plex Sans" pitchFamily="34" charset="-120"/>
              </a:rPr>
              <a:t>3</a:t>
            </a:r>
            <a:endParaRPr lang="en-US" sz="1300" dirty="0"/>
          </a:p>
        </p:txBody>
      </p:sp>
      <p:sp>
        <p:nvSpPr>
          <p:cNvPr id="23" name="Text 14"/>
          <p:cNvSpPr/>
          <p:nvPr/>
        </p:nvSpPr>
        <p:spPr>
          <a:xfrm>
            <a:off x="5323780" y="2901156"/>
            <a:ext cx="1684040" cy="22979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C2A3E"/>
                </a:solidFill>
                <a:latin typeface="IBM Plex Sans" pitchFamily="34" charset="0"/>
                <a:ea typeface="IBM Plex Sans" pitchFamily="34" charset="-122"/>
                <a:cs typeface="IBM Plex Sans" pitchFamily="34" charset="-120"/>
              </a:rPr>
              <a:t>Red de propuestas</a:t>
            </a:r>
            <a:endParaRPr lang="en-US" sz="1400" dirty="0"/>
          </a:p>
        </p:txBody>
      </p:sp>
      <p:sp>
        <p:nvSpPr>
          <p:cNvPr id="24" name="Text 15"/>
          <p:cNvSpPr/>
          <p:nvPr/>
        </p:nvSpPr>
        <p:spPr>
          <a:xfrm>
            <a:off x="5323780" y="3156347"/>
            <a:ext cx="159514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Dónde podría haber un objeto.</a:t>
            </a:r>
            <a:endParaRPr lang="en-US" sz="1200" dirty="0"/>
          </a:p>
        </p:txBody>
      </p:sp>
      <p:sp>
        <p:nvSpPr>
          <p:cNvPr id="25" name="Text 16"/>
          <p:cNvSpPr/>
          <p:nvPr/>
        </p:nvSpPr>
        <p:spPr>
          <a:xfrm>
            <a:off x="5323780" y="3603228"/>
            <a:ext cx="1595140"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0E6E9C"/>
                </a:solidFill>
                <a:latin typeface="EB Garamond" pitchFamily="18" charset="0"/>
                <a:ea typeface="EB Garamond" pitchFamily="18" charset="-122"/>
                <a:cs typeface="EB Garamond" pitchFamily="18" charset="-120"/>
              </a:rPr>
              <a:t>0.6 M</a:t>
            </a:r>
            <a:endParaRPr lang="en-US" sz="2400" dirty="0"/>
          </a:p>
        </p:txBody>
      </p:sp>
      <p:pic>
        <p:nvPicPr>
          <p:cNvPr id="26" name="Image 7" descr="arrow-right">    </p:cNvPr>
          <p:cNvPicPr>
            <a:picLocks noChangeAspect="1"/>
          </p:cNvPicPr>
          <p:nvPr/>
        </p:nvPicPr>
        <p:blipFill>
          <a:blip r:embed="rId8"/>
          <a:srcRect l="0" r="0" t="0" b="0"/>
          <a:stretch/>
        </p:blipFill>
        <p:spPr>
          <a:xfrm>
            <a:off x="7096720" y="2896592"/>
            <a:ext cx="177800" cy="139700"/>
          </a:xfrm>
          <a:prstGeom prst="rect">
            <a:avLst/>
          </a:prstGeom>
        </p:spPr>
      </p:pic>
      <p:sp>
        <p:nvSpPr>
          <p:cNvPr id="27" name="Shape 17"/>
          <p:cNvSpPr/>
          <p:nvPr/>
        </p:nvSpPr>
        <p:spPr>
          <a:xfrm>
            <a:off x="7357070" y="1891506"/>
            <a:ext cx="1836440" cy="2149872"/>
          </a:xfrm>
          <a:prstGeom prst="roundRect">
            <a:avLst>
              <a:gd name="adj" fmla="val 6570"/>
            </a:avLst>
          </a:prstGeom>
          <a:solidFill>
            <a:srgbClr val="FCFDFD"/>
          </a:solidFill>
          <a:ln w="12700">
            <a:solidFill>
              <a:srgbClr val="D5E3EA"/>
            </a:solidFill>
            <a:prstDash val="solid"/>
          </a:ln>
        </p:spPr>
      </p:sp>
      <p:pic>
        <p:nvPicPr>
          <p:cNvPr id="28" name="Image 8" descr="El recorte de una propuesta convertido en una cuadrícula de 7 por 7">    </p:cNvPr>
          <p:cNvPicPr>
            <a:picLocks noChangeAspect="1"/>
          </p:cNvPicPr>
          <p:nvPr/>
        </p:nvPicPr>
        <p:blipFill>
          <a:blip r:embed="rId9"/>
          <a:srcRect l="0" r="0" t="23251" b="23251"/>
          <a:stretch/>
        </p:blipFill>
        <p:spPr>
          <a:xfrm>
            <a:off x="7503120" y="2024856"/>
            <a:ext cx="1543050" cy="825500"/>
          </a:xfrm>
          <a:prstGeom prst="roundRect">
            <a:avLst>
              <a:gd name="adj" fmla="val 7692"/>
            </a:avLst>
          </a:prstGeom>
        </p:spPr>
      </p:pic>
      <p:sp>
        <p:nvSpPr>
          <p:cNvPr id="29" name="Text 18"/>
          <p:cNvSpPr/>
          <p:nvPr/>
        </p:nvSpPr>
        <p:spPr>
          <a:xfrm>
            <a:off x="7553920" y="2075656"/>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0B1F2E"/>
          </a:solidFill>
          <a:ln/>
        </p:spPr>
        <p:txBody>
          <a:bodyPr wrap="square" lIns="0" tIns="0" rIns="0" bIns="0" rtlCol="0" anchor="ctr">
            <a:normAutofit/>
          </a:bodyPr>
          <a:lstStyle/>
          <a:p>
            <a:pPr algn="ctr" indent="0" marL="0">
              <a:lnSpc>
                <a:spcPts val="1820"/>
              </a:lnSpc>
              <a:buNone/>
            </a:pPr>
            <a:r>
              <a:rPr lang="en-US" sz="1300" b="1" dirty="0">
                <a:solidFill>
                  <a:srgbClr val="F4A259"/>
                </a:solidFill>
                <a:latin typeface="IBM Plex Sans" pitchFamily="34" charset="0"/>
                <a:ea typeface="IBM Plex Sans" pitchFamily="34" charset="-122"/>
                <a:cs typeface="IBM Plex Sans" pitchFamily="34" charset="-120"/>
              </a:rPr>
              <a:t>4</a:t>
            </a:r>
            <a:endParaRPr lang="en-US" sz="1300" dirty="0"/>
          </a:p>
        </p:txBody>
      </p:sp>
      <p:sp>
        <p:nvSpPr>
          <p:cNvPr id="30" name="Text 19"/>
          <p:cNvSpPr/>
          <p:nvPr/>
        </p:nvSpPr>
        <p:spPr>
          <a:xfrm>
            <a:off x="7503120" y="2901156"/>
            <a:ext cx="1595140" cy="22979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C2A3E"/>
                </a:solidFill>
                <a:latin typeface="IBM Plex Sans" pitchFamily="34" charset="0"/>
                <a:ea typeface="IBM Plex Sans" pitchFamily="34" charset="-122"/>
                <a:cs typeface="IBM Plex Sans" pitchFamily="34" charset="-120"/>
              </a:rPr>
              <a:t>Recorte alineado</a:t>
            </a:r>
            <a:endParaRPr lang="en-US" sz="1400" dirty="0"/>
          </a:p>
        </p:txBody>
      </p:sp>
      <p:sp>
        <p:nvSpPr>
          <p:cNvPr id="31" name="Text 20"/>
          <p:cNvSpPr/>
          <p:nvPr/>
        </p:nvSpPr>
        <p:spPr>
          <a:xfrm>
            <a:off x="7503120" y="3156347"/>
            <a:ext cx="159514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Tamaño fijo para cada propuesta.</a:t>
            </a:r>
            <a:endParaRPr lang="en-US" sz="1200" dirty="0"/>
          </a:p>
        </p:txBody>
      </p:sp>
      <p:sp>
        <p:nvSpPr>
          <p:cNvPr id="32" name="Text 21"/>
          <p:cNvSpPr/>
          <p:nvPr/>
        </p:nvSpPr>
        <p:spPr>
          <a:xfrm>
            <a:off x="7503120" y="3603228"/>
            <a:ext cx="1595140"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5E7280"/>
                </a:solidFill>
                <a:latin typeface="EB Garamond" pitchFamily="18" charset="0"/>
                <a:ea typeface="EB Garamond" pitchFamily="18" charset="-122"/>
                <a:cs typeface="EB Garamond" pitchFamily="18" charset="-120"/>
              </a:rPr>
              <a:t>0</a:t>
            </a:r>
            <a:endParaRPr lang="en-US" sz="2400" dirty="0"/>
          </a:p>
        </p:txBody>
      </p:sp>
      <p:pic>
        <p:nvPicPr>
          <p:cNvPr id="33" name="Image 9" descr="arrow-right">    </p:cNvPr>
          <p:cNvPicPr>
            <a:picLocks noChangeAspect="1"/>
          </p:cNvPicPr>
          <p:nvPr/>
        </p:nvPicPr>
        <p:blipFill>
          <a:blip r:embed="rId10"/>
          <a:srcRect l="0" r="0" t="0" b="0"/>
          <a:stretch/>
        </p:blipFill>
        <p:spPr>
          <a:xfrm>
            <a:off x="9276060" y="2896592"/>
            <a:ext cx="177800" cy="139700"/>
          </a:xfrm>
          <a:prstGeom prst="rect">
            <a:avLst/>
          </a:prstGeom>
        </p:spPr>
      </p:pic>
      <p:sp>
        <p:nvSpPr>
          <p:cNvPr id="34" name="Shape 22"/>
          <p:cNvSpPr/>
          <p:nvPr/>
        </p:nvSpPr>
        <p:spPr>
          <a:xfrm>
            <a:off x="9536410" y="1891506"/>
            <a:ext cx="1836440" cy="2149872"/>
          </a:xfrm>
          <a:prstGeom prst="roundRect">
            <a:avLst>
              <a:gd name="adj" fmla="val 6570"/>
            </a:avLst>
          </a:prstGeom>
          <a:solidFill>
            <a:srgbClr val="FCFDFD"/>
          </a:solidFill>
          <a:ln w="12700">
            <a:solidFill>
              <a:srgbClr val="A3480F"/>
            </a:solidFill>
            <a:prstDash val="solid"/>
          </a:ln>
        </p:spPr>
      </p:sp>
      <p:pic>
        <p:nvPicPr>
          <p:cNvPr id="35" name="Image 10" descr="La tesela con el contorno de cada espermatozoide detectado">    </p:cNvPr>
          <p:cNvPicPr>
            <a:picLocks noChangeAspect="1"/>
          </p:cNvPicPr>
          <p:nvPr/>
        </p:nvPicPr>
        <p:blipFill>
          <a:blip r:embed="rId11"/>
          <a:srcRect l="0" r="0" t="23251" b="23251"/>
          <a:stretch/>
        </p:blipFill>
        <p:spPr>
          <a:xfrm>
            <a:off x="9682460" y="2024856"/>
            <a:ext cx="1543050" cy="825500"/>
          </a:xfrm>
          <a:prstGeom prst="roundRect">
            <a:avLst>
              <a:gd name="adj" fmla="val 7692"/>
            </a:avLst>
          </a:prstGeom>
        </p:spPr>
      </p:pic>
      <p:sp>
        <p:nvSpPr>
          <p:cNvPr id="36" name="Text 23"/>
          <p:cNvSpPr/>
          <p:nvPr/>
        </p:nvSpPr>
        <p:spPr>
          <a:xfrm>
            <a:off x="9733260" y="2075656"/>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0B1F2E"/>
          </a:solidFill>
          <a:ln/>
        </p:spPr>
        <p:txBody>
          <a:bodyPr wrap="square" lIns="0" tIns="0" rIns="0" bIns="0" rtlCol="0" anchor="ctr">
            <a:normAutofit/>
          </a:bodyPr>
          <a:lstStyle/>
          <a:p>
            <a:pPr algn="ctr" indent="0" marL="0">
              <a:lnSpc>
                <a:spcPts val="1820"/>
              </a:lnSpc>
              <a:buNone/>
            </a:pPr>
            <a:r>
              <a:rPr lang="en-US" sz="1300" b="1" dirty="0">
                <a:solidFill>
                  <a:srgbClr val="F4A259"/>
                </a:solidFill>
                <a:latin typeface="IBM Plex Sans" pitchFamily="34" charset="0"/>
                <a:ea typeface="IBM Plex Sans" pitchFamily="34" charset="-122"/>
                <a:cs typeface="IBM Plex Sans" pitchFamily="34" charset="-120"/>
              </a:rPr>
              <a:t>5</a:t>
            </a:r>
            <a:endParaRPr lang="en-US" sz="1300" dirty="0"/>
          </a:p>
        </p:txBody>
      </p:sp>
      <p:sp>
        <p:nvSpPr>
          <p:cNvPr id="37" name="Text 24"/>
          <p:cNvSpPr/>
          <p:nvPr/>
        </p:nvSpPr>
        <p:spPr>
          <a:xfrm>
            <a:off x="9682460" y="2901156"/>
            <a:ext cx="1595140" cy="22979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C2A3E"/>
                </a:solidFill>
                <a:latin typeface="IBM Plex Sans" pitchFamily="34" charset="0"/>
                <a:ea typeface="IBM Plex Sans" pitchFamily="34" charset="-122"/>
                <a:cs typeface="IBM Plex Sans" pitchFamily="34" charset="-120"/>
              </a:rPr>
              <a:t>Cabezas</a:t>
            </a:r>
            <a:endParaRPr lang="en-US" sz="1400" dirty="0"/>
          </a:p>
        </p:txBody>
      </p:sp>
      <p:sp>
        <p:nvSpPr>
          <p:cNvPr id="38" name="Text 25"/>
          <p:cNvSpPr/>
          <p:nvPr/>
        </p:nvSpPr>
        <p:spPr>
          <a:xfrm>
            <a:off x="9682460" y="3156347"/>
            <a:ext cx="159514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Qué es y cuál es su máscara.</a:t>
            </a:r>
            <a:endParaRPr lang="en-US" sz="1200" dirty="0"/>
          </a:p>
        </p:txBody>
      </p:sp>
      <p:sp>
        <p:nvSpPr>
          <p:cNvPr id="39" name="Text 26"/>
          <p:cNvSpPr/>
          <p:nvPr/>
        </p:nvSpPr>
        <p:spPr>
          <a:xfrm>
            <a:off x="9682460" y="3603228"/>
            <a:ext cx="1595140"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A3480F"/>
                </a:solidFill>
                <a:latin typeface="EB Garamond" pitchFamily="18" charset="0"/>
                <a:ea typeface="EB Garamond" pitchFamily="18" charset="-122"/>
                <a:cs typeface="EB Garamond" pitchFamily="18" charset="-120"/>
              </a:rPr>
              <a:t>16.5 M</a:t>
            </a:r>
            <a:endParaRPr lang="en-US" sz="2400" dirty="0"/>
          </a:p>
        </p:txBody>
      </p:sp>
      <p:sp>
        <p:nvSpPr>
          <p:cNvPr id="40" name="Shape 27"/>
          <p:cNvSpPr/>
          <p:nvPr/>
        </p:nvSpPr>
        <p:spPr>
          <a:xfrm>
            <a:off x="812800" y="4327723"/>
            <a:ext cx="5645150" cy="228600"/>
          </a:xfrm>
          <a:prstGeom prst="rect">
            <a:avLst/>
          </a:prstGeom>
          <a:solidFill>
            <a:srgbClr val="0B1F2E"/>
          </a:solidFill>
          <a:ln/>
        </p:spPr>
      </p:sp>
      <p:sp>
        <p:nvSpPr>
          <p:cNvPr id="41" name="Shape 28"/>
          <p:cNvSpPr/>
          <p:nvPr/>
        </p:nvSpPr>
        <p:spPr>
          <a:xfrm>
            <a:off x="6457950" y="4327723"/>
            <a:ext cx="806450" cy="228600"/>
          </a:xfrm>
          <a:prstGeom prst="rect">
            <a:avLst/>
          </a:prstGeom>
          <a:solidFill>
            <a:srgbClr val="2B7BB0"/>
          </a:solidFill>
          <a:ln/>
        </p:spPr>
      </p:sp>
      <p:sp>
        <p:nvSpPr>
          <p:cNvPr id="42" name="Shape 29"/>
          <p:cNvSpPr/>
          <p:nvPr/>
        </p:nvSpPr>
        <p:spPr>
          <a:xfrm>
            <a:off x="7264400" y="4327723"/>
            <a:ext cx="139700" cy="228600"/>
          </a:xfrm>
          <a:prstGeom prst="rect">
            <a:avLst/>
          </a:prstGeom>
          <a:solidFill>
            <a:srgbClr val="6CCFF6"/>
          </a:solidFill>
          <a:ln/>
        </p:spPr>
      </p:sp>
      <p:sp>
        <p:nvSpPr>
          <p:cNvPr id="43" name="Shape 30"/>
          <p:cNvSpPr/>
          <p:nvPr/>
        </p:nvSpPr>
        <p:spPr>
          <a:xfrm>
            <a:off x="7404100" y="4327723"/>
            <a:ext cx="3340100" cy="228600"/>
          </a:xfrm>
          <a:prstGeom prst="rect">
            <a:avLst/>
          </a:prstGeom>
          <a:solidFill>
            <a:srgbClr val="F4A259"/>
          </a:solidFill>
          <a:ln/>
        </p:spPr>
      </p:sp>
      <p:sp>
        <p:nvSpPr>
          <p:cNvPr id="44" name="Shape 31"/>
          <p:cNvSpPr/>
          <p:nvPr/>
        </p:nvSpPr>
        <p:spPr>
          <a:xfrm>
            <a:off x="10744200" y="4327723"/>
            <a:ext cx="635000" cy="228600"/>
          </a:xfrm>
          <a:prstGeom prst="rect">
            <a:avLst/>
          </a:prstGeom>
          <a:solidFill>
            <a:srgbClr val="A3480F"/>
          </a:solidFill>
          <a:ln/>
        </p:spPr>
      </p:sp>
      <p:sp>
        <p:nvSpPr>
          <p:cNvPr id="45" name="Text 32"/>
          <p:cNvSpPr/>
          <p:nvPr/>
        </p:nvSpPr>
        <p:spPr>
          <a:xfrm>
            <a:off x="812800" y="4619823"/>
            <a:ext cx="10883392"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Pesos de cada etapa, en millones. Suman 43.9 millones: un solo modelo, y las cinco etapas se entrenan juntas. Las cabezas: 13.9 de la caja y 2.6 de la máscara.</a:t>
            </a:r>
            <a:endParaRPr lang="en-US" sz="1300" dirty="0"/>
          </a:p>
        </p:txBody>
      </p:sp>
      <p:sp>
        <p:nvSpPr>
          <p:cNvPr id="46" name="Text 33"/>
          <p:cNvSpPr/>
          <p:nvPr/>
        </p:nvSpPr>
        <p:spPr>
          <a:xfrm>
            <a:off x="812800" y="6238280"/>
            <a:ext cx="9483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2 · M = millones de pesos · Imágenes: una tesela de la muestra en el modelo del sitio</a:t>
            </a:r>
            <a:endParaRPr lang="en-US" sz="1200" dirty="0"/>
          </a:p>
        </p:txBody>
      </p:sp>
      <p:sp>
        <p:nvSpPr>
          <p:cNvPr id="47" name="Text 3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3 /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OBJETOS DE DISTINTOS TAMAÑOS</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La base y la pirámide</a:t>
            </a:r>
            <a:endParaRPr lang="en-US" sz="3600" dirty="0"/>
          </a:p>
        </p:txBody>
      </p:sp>
      <p:sp>
        <p:nvSpPr>
          <p:cNvPr id="6" name="Text 2"/>
          <p:cNvSpPr/>
          <p:nvPr/>
        </p:nvSpPr>
        <p:spPr>
          <a:xfrm>
            <a:off x="757555" y="1757561"/>
            <a:ext cx="1896745" cy="452041"/>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6CCFF6"/>
                </a:solidFill>
                <a:latin typeface="IBM Plex Sans" pitchFamily="34" charset="0"/>
                <a:ea typeface="IBM Plex Sans" pitchFamily="34" charset="-122"/>
                <a:cs typeface="IBM Plex Sans" pitchFamily="34" charset="-120"/>
              </a:rPr>
              <a:t>BASE: MAPAS · TAMAÑO</a:t>
            </a:r>
            <a:endParaRPr lang="en-US" sz="1200" dirty="0"/>
          </a:p>
        </p:txBody>
      </p:sp>
      <p:sp>
        <p:nvSpPr>
          <p:cNvPr id="7" name="Text 3"/>
          <p:cNvSpPr/>
          <p:nvPr/>
        </p:nvSpPr>
        <p:spPr>
          <a:xfrm>
            <a:off x="4876800" y="1757561"/>
            <a:ext cx="1896745" cy="452041"/>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4A259"/>
                </a:solidFill>
                <a:latin typeface="IBM Plex Sans" pitchFamily="34" charset="0"/>
                <a:ea typeface="IBM Plex Sans" pitchFamily="34" charset="-122"/>
                <a:cs typeface="IBM Plex Sans" pitchFamily="34" charset="-120"/>
              </a:rPr>
              <a:t>PIRÁMIDE: CANALES · TAMAÑO</a:t>
            </a:r>
            <a:endParaRPr lang="en-US" sz="1200" dirty="0"/>
          </a:p>
        </p:txBody>
      </p:sp>
      <p:sp>
        <p:nvSpPr>
          <p:cNvPr id="8" name="Text 4"/>
          <p:cNvSpPr/>
          <p:nvPr/>
        </p:nvSpPr>
        <p:spPr>
          <a:xfrm>
            <a:off x="757555" y="2411512"/>
            <a:ext cx="1896745"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256 · 128 × 128</a:t>
            </a:r>
            <a:endParaRPr lang="en-US" sz="1300" dirty="0"/>
          </a:p>
        </p:txBody>
      </p:sp>
      <p:pic>
        <p:nvPicPr>
          <p:cNvPr id="9" name="Image 2" descr="Mapa de la base de 128 por 128">    </p:cNvPr>
          <p:cNvPicPr>
            <a:picLocks noChangeAspect="1"/>
          </p:cNvPicPr>
          <p:nvPr/>
        </p:nvPicPr>
        <p:blipFill>
          <a:blip r:embed="rId3"/>
          <a:srcRect l="0" r="0" t="0" b="0"/>
          <a:stretch/>
        </p:blipFill>
        <p:spPr>
          <a:xfrm>
            <a:off x="3206750" y="2254052"/>
            <a:ext cx="546100" cy="546100"/>
          </a:xfrm>
          <a:prstGeom prst="roundRect">
            <a:avLst>
              <a:gd name="adj" fmla="val 3488"/>
            </a:avLst>
          </a:prstGeom>
        </p:spPr>
      </p:pic>
      <p:sp>
        <p:nvSpPr>
          <p:cNvPr id="10" name="Shape 5"/>
          <p:cNvSpPr/>
          <p:nvPr/>
        </p:nvSpPr>
        <p:spPr>
          <a:xfrm>
            <a:off x="3197225" y="2244527"/>
            <a:ext cx="565150" cy="565150"/>
          </a:xfrm>
          <a:prstGeom prst="roundRect">
            <a:avLst>
              <a:gd name="adj" fmla="val 5056"/>
            </a:avLst>
          </a:prstGeom>
          <a:noFill/>
          <a:ln w="19050">
            <a:solidFill>
              <a:srgbClr val="6CCFF6"/>
            </a:solidFill>
            <a:prstDash val="solid"/>
          </a:ln>
        </p:spPr>
      </p:sp>
      <p:pic>
        <p:nvPicPr>
          <p:cNvPr id="11" name="Image 3" descr="arrow-right">    </p:cNvPr>
          <p:cNvPicPr>
            <a:picLocks noChangeAspect="1"/>
          </p:cNvPicPr>
          <p:nvPr/>
        </p:nvPicPr>
        <p:blipFill>
          <a:blip r:embed="rId4"/>
          <a:srcRect l="0" r="0" t="0" b="0"/>
          <a:stretch/>
        </p:blipFill>
        <p:spPr>
          <a:xfrm>
            <a:off x="4413250" y="2431852"/>
            <a:ext cx="355600" cy="190500"/>
          </a:xfrm>
          <a:prstGeom prst="rect">
            <a:avLst/>
          </a:prstGeom>
        </p:spPr>
      </p:pic>
      <p:pic>
        <p:nvPicPr>
          <p:cNvPr id="12" name="Image 4" descr="Mapa de la pirámide de 128 por 128">    </p:cNvPr>
          <p:cNvPicPr>
            <a:picLocks noChangeAspect="1"/>
          </p:cNvPicPr>
          <p:nvPr/>
        </p:nvPicPr>
        <p:blipFill>
          <a:blip r:embed="rId5"/>
          <a:srcRect l="0" r="0" t="0" b="0"/>
          <a:stretch/>
        </p:blipFill>
        <p:spPr>
          <a:xfrm>
            <a:off x="5429250" y="2254052"/>
            <a:ext cx="546100" cy="546100"/>
          </a:xfrm>
          <a:prstGeom prst="roundRect">
            <a:avLst>
              <a:gd name="adj" fmla="val 3488"/>
            </a:avLst>
          </a:prstGeom>
        </p:spPr>
      </p:pic>
      <p:sp>
        <p:nvSpPr>
          <p:cNvPr id="13" name="Shape 6"/>
          <p:cNvSpPr/>
          <p:nvPr/>
        </p:nvSpPr>
        <p:spPr>
          <a:xfrm>
            <a:off x="5419725" y="2244527"/>
            <a:ext cx="565150" cy="565150"/>
          </a:xfrm>
          <a:prstGeom prst="roundRect">
            <a:avLst>
              <a:gd name="adj" fmla="val 5056"/>
            </a:avLst>
          </a:prstGeom>
          <a:noFill/>
          <a:ln w="19050">
            <a:solidFill>
              <a:srgbClr val="F4A259"/>
            </a:solidFill>
            <a:prstDash val="solid"/>
          </a:ln>
        </p:spPr>
      </p:sp>
      <p:sp>
        <p:nvSpPr>
          <p:cNvPr id="14" name="Text 7"/>
          <p:cNvSpPr/>
          <p:nvPr/>
        </p:nvSpPr>
        <p:spPr>
          <a:xfrm>
            <a:off x="6527800" y="2411512"/>
            <a:ext cx="18967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256 · 128 × 128</a:t>
            </a:r>
            <a:endParaRPr lang="en-US" sz="1300" dirty="0"/>
          </a:p>
        </p:txBody>
      </p:sp>
      <p:sp>
        <p:nvSpPr>
          <p:cNvPr id="15" name="Text 8"/>
          <p:cNvSpPr/>
          <p:nvPr/>
        </p:nvSpPr>
        <p:spPr>
          <a:xfrm>
            <a:off x="757555" y="3059212"/>
            <a:ext cx="1896745"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512 · 64 × 64</a:t>
            </a:r>
            <a:endParaRPr lang="en-US" sz="1300" dirty="0"/>
          </a:p>
        </p:txBody>
      </p:sp>
      <p:pic>
        <p:nvPicPr>
          <p:cNvPr id="16" name="Image 5" descr="Mapa de la base de 64 por 64">    </p:cNvPr>
          <p:cNvPicPr>
            <a:picLocks noChangeAspect="1"/>
          </p:cNvPicPr>
          <p:nvPr/>
        </p:nvPicPr>
        <p:blipFill>
          <a:blip r:embed="rId6"/>
          <a:srcRect l="0" r="0" t="0" b="0"/>
          <a:stretch/>
        </p:blipFill>
        <p:spPr>
          <a:xfrm>
            <a:off x="3263900" y="2958902"/>
            <a:ext cx="431800" cy="431800"/>
          </a:xfrm>
          <a:prstGeom prst="roundRect">
            <a:avLst>
              <a:gd name="adj" fmla="val 4412"/>
            </a:avLst>
          </a:prstGeom>
        </p:spPr>
      </p:pic>
      <p:sp>
        <p:nvSpPr>
          <p:cNvPr id="17" name="Shape 9"/>
          <p:cNvSpPr/>
          <p:nvPr/>
        </p:nvSpPr>
        <p:spPr>
          <a:xfrm>
            <a:off x="3254375" y="2949377"/>
            <a:ext cx="450850" cy="450850"/>
          </a:xfrm>
          <a:prstGeom prst="roundRect">
            <a:avLst>
              <a:gd name="adj" fmla="val 6338"/>
            </a:avLst>
          </a:prstGeom>
          <a:noFill/>
          <a:ln w="19050">
            <a:solidFill>
              <a:srgbClr val="6CCFF6"/>
            </a:solidFill>
            <a:prstDash val="solid"/>
          </a:ln>
        </p:spPr>
      </p:sp>
      <p:pic>
        <p:nvPicPr>
          <p:cNvPr id="18" name="Image 6" descr="arrow-right">    </p:cNvPr>
          <p:cNvPicPr>
            <a:picLocks noChangeAspect="1"/>
          </p:cNvPicPr>
          <p:nvPr/>
        </p:nvPicPr>
        <p:blipFill>
          <a:blip r:embed="rId7"/>
          <a:srcRect l="0" r="0" t="0" b="0"/>
          <a:stretch/>
        </p:blipFill>
        <p:spPr>
          <a:xfrm>
            <a:off x="4413250" y="3079552"/>
            <a:ext cx="355600" cy="190500"/>
          </a:xfrm>
          <a:prstGeom prst="rect">
            <a:avLst/>
          </a:prstGeom>
        </p:spPr>
      </p:pic>
      <p:pic>
        <p:nvPicPr>
          <p:cNvPr id="19" name="Image 7" descr="Mapa de la pirámide de 64 por 64">    </p:cNvPr>
          <p:cNvPicPr>
            <a:picLocks noChangeAspect="1"/>
          </p:cNvPicPr>
          <p:nvPr/>
        </p:nvPicPr>
        <p:blipFill>
          <a:blip r:embed="rId8"/>
          <a:srcRect l="0" r="0" t="0" b="0"/>
          <a:stretch/>
        </p:blipFill>
        <p:spPr>
          <a:xfrm>
            <a:off x="5486400" y="2958902"/>
            <a:ext cx="431800" cy="431800"/>
          </a:xfrm>
          <a:prstGeom prst="roundRect">
            <a:avLst>
              <a:gd name="adj" fmla="val 4412"/>
            </a:avLst>
          </a:prstGeom>
        </p:spPr>
      </p:pic>
      <p:sp>
        <p:nvSpPr>
          <p:cNvPr id="20" name="Shape 10"/>
          <p:cNvSpPr/>
          <p:nvPr/>
        </p:nvSpPr>
        <p:spPr>
          <a:xfrm>
            <a:off x="5476875" y="2949377"/>
            <a:ext cx="450850" cy="450850"/>
          </a:xfrm>
          <a:prstGeom prst="roundRect">
            <a:avLst>
              <a:gd name="adj" fmla="val 6338"/>
            </a:avLst>
          </a:prstGeom>
          <a:noFill/>
          <a:ln w="19050">
            <a:solidFill>
              <a:srgbClr val="F4A259"/>
            </a:solidFill>
            <a:prstDash val="solid"/>
          </a:ln>
        </p:spPr>
      </p:sp>
      <p:sp>
        <p:nvSpPr>
          <p:cNvPr id="21" name="Text 11"/>
          <p:cNvSpPr/>
          <p:nvPr/>
        </p:nvSpPr>
        <p:spPr>
          <a:xfrm>
            <a:off x="6527800" y="3059212"/>
            <a:ext cx="18967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256 · 64 × 64</a:t>
            </a:r>
            <a:endParaRPr lang="en-US" sz="1300" dirty="0"/>
          </a:p>
        </p:txBody>
      </p:sp>
      <p:sp>
        <p:nvSpPr>
          <p:cNvPr id="22" name="Text 12"/>
          <p:cNvSpPr/>
          <p:nvPr/>
        </p:nvSpPr>
        <p:spPr>
          <a:xfrm>
            <a:off x="757555" y="3706912"/>
            <a:ext cx="1896745"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1,024 · 32 × 32</a:t>
            </a:r>
            <a:endParaRPr lang="en-US" sz="1300" dirty="0"/>
          </a:p>
        </p:txBody>
      </p:sp>
      <p:pic>
        <p:nvPicPr>
          <p:cNvPr id="23" name="Image 8" descr="Mapa de la base de 32 por 32">    </p:cNvPr>
          <p:cNvPicPr>
            <a:picLocks noChangeAspect="1"/>
          </p:cNvPicPr>
          <p:nvPr/>
        </p:nvPicPr>
        <p:blipFill>
          <a:blip r:embed="rId9"/>
          <a:srcRect l="0" r="0" t="0" b="0"/>
          <a:stretch/>
        </p:blipFill>
        <p:spPr>
          <a:xfrm>
            <a:off x="3321050" y="3663752"/>
            <a:ext cx="317500" cy="317500"/>
          </a:xfrm>
          <a:prstGeom prst="roundRect">
            <a:avLst>
              <a:gd name="adj" fmla="val 4000"/>
            </a:avLst>
          </a:prstGeom>
        </p:spPr>
      </p:pic>
      <p:sp>
        <p:nvSpPr>
          <p:cNvPr id="24" name="Shape 13"/>
          <p:cNvSpPr/>
          <p:nvPr/>
        </p:nvSpPr>
        <p:spPr>
          <a:xfrm>
            <a:off x="3311525" y="3654227"/>
            <a:ext cx="336550" cy="336550"/>
          </a:xfrm>
          <a:prstGeom prst="roundRect">
            <a:avLst>
              <a:gd name="adj" fmla="val 6604"/>
            </a:avLst>
          </a:prstGeom>
          <a:noFill/>
          <a:ln w="19050">
            <a:solidFill>
              <a:srgbClr val="6CCFF6"/>
            </a:solidFill>
            <a:prstDash val="solid"/>
          </a:ln>
        </p:spPr>
      </p:sp>
      <p:pic>
        <p:nvPicPr>
          <p:cNvPr id="25" name="Image 9" descr="arrow-right">    </p:cNvPr>
          <p:cNvPicPr>
            <a:picLocks noChangeAspect="1"/>
          </p:cNvPicPr>
          <p:nvPr/>
        </p:nvPicPr>
        <p:blipFill>
          <a:blip r:embed="rId10"/>
          <a:srcRect l="0" r="0" t="0" b="0"/>
          <a:stretch/>
        </p:blipFill>
        <p:spPr>
          <a:xfrm>
            <a:off x="4413250" y="3727252"/>
            <a:ext cx="355600" cy="190500"/>
          </a:xfrm>
          <a:prstGeom prst="rect">
            <a:avLst/>
          </a:prstGeom>
        </p:spPr>
      </p:pic>
      <p:pic>
        <p:nvPicPr>
          <p:cNvPr id="26" name="Image 10" descr="Mapa de la pirámide de 32 por 32">    </p:cNvPr>
          <p:cNvPicPr>
            <a:picLocks noChangeAspect="1"/>
          </p:cNvPicPr>
          <p:nvPr/>
        </p:nvPicPr>
        <p:blipFill>
          <a:blip r:embed="rId11"/>
          <a:srcRect l="0" r="0" t="0" b="0"/>
          <a:stretch/>
        </p:blipFill>
        <p:spPr>
          <a:xfrm>
            <a:off x="5543550" y="3663752"/>
            <a:ext cx="317500" cy="317500"/>
          </a:xfrm>
          <a:prstGeom prst="roundRect">
            <a:avLst>
              <a:gd name="adj" fmla="val 4000"/>
            </a:avLst>
          </a:prstGeom>
        </p:spPr>
      </p:pic>
      <p:sp>
        <p:nvSpPr>
          <p:cNvPr id="27" name="Shape 14"/>
          <p:cNvSpPr/>
          <p:nvPr/>
        </p:nvSpPr>
        <p:spPr>
          <a:xfrm>
            <a:off x="5534025" y="3654227"/>
            <a:ext cx="336550" cy="336550"/>
          </a:xfrm>
          <a:prstGeom prst="roundRect">
            <a:avLst>
              <a:gd name="adj" fmla="val 6604"/>
            </a:avLst>
          </a:prstGeom>
          <a:noFill/>
          <a:ln w="19050">
            <a:solidFill>
              <a:srgbClr val="F4A259"/>
            </a:solidFill>
            <a:prstDash val="solid"/>
          </a:ln>
        </p:spPr>
      </p:sp>
      <p:sp>
        <p:nvSpPr>
          <p:cNvPr id="28" name="Text 15"/>
          <p:cNvSpPr/>
          <p:nvPr/>
        </p:nvSpPr>
        <p:spPr>
          <a:xfrm>
            <a:off x="6527800" y="3706912"/>
            <a:ext cx="18967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256 · 32 × 32</a:t>
            </a:r>
            <a:endParaRPr lang="en-US" sz="1300" dirty="0"/>
          </a:p>
        </p:txBody>
      </p:sp>
      <p:sp>
        <p:nvSpPr>
          <p:cNvPr id="29" name="Text 16"/>
          <p:cNvSpPr/>
          <p:nvPr/>
        </p:nvSpPr>
        <p:spPr>
          <a:xfrm>
            <a:off x="757555" y="4354612"/>
            <a:ext cx="1896745"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2,048 · 16 × 16</a:t>
            </a:r>
            <a:endParaRPr lang="en-US" sz="1300" dirty="0"/>
          </a:p>
        </p:txBody>
      </p:sp>
      <p:pic>
        <p:nvPicPr>
          <p:cNvPr id="30" name="Image 11" descr="Mapa de la base de 16 por 16">    </p:cNvPr>
          <p:cNvPicPr>
            <a:picLocks noChangeAspect="1"/>
          </p:cNvPicPr>
          <p:nvPr/>
        </p:nvPicPr>
        <p:blipFill>
          <a:blip r:embed="rId12"/>
          <a:srcRect l="0" r="0" t="0" b="0"/>
          <a:stretch/>
        </p:blipFill>
        <p:spPr>
          <a:xfrm>
            <a:off x="3365500" y="4355902"/>
            <a:ext cx="228600" cy="228600"/>
          </a:xfrm>
          <a:prstGeom prst="roundRect">
            <a:avLst>
              <a:gd name="adj" fmla="val 2778"/>
            </a:avLst>
          </a:prstGeom>
        </p:spPr>
      </p:pic>
      <p:sp>
        <p:nvSpPr>
          <p:cNvPr id="31" name="Shape 17"/>
          <p:cNvSpPr/>
          <p:nvPr/>
        </p:nvSpPr>
        <p:spPr>
          <a:xfrm>
            <a:off x="3355975" y="4346377"/>
            <a:ext cx="247650" cy="247650"/>
          </a:xfrm>
          <a:prstGeom prst="roundRect">
            <a:avLst>
              <a:gd name="adj" fmla="val 6410"/>
            </a:avLst>
          </a:prstGeom>
          <a:noFill/>
          <a:ln w="19050">
            <a:solidFill>
              <a:srgbClr val="6CCFF6"/>
            </a:solidFill>
            <a:prstDash val="solid"/>
          </a:ln>
        </p:spPr>
      </p:sp>
      <p:pic>
        <p:nvPicPr>
          <p:cNvPr id="32" name="Image 12" descr="arrow-right">    </p:cNvPr>
          <p:cNvPicPr>
            <a:picLocks noChangeAspect="1"/>
          </p:cNvPicPr>
          <p:nvPr/>
        </p:nvPicPr>
        <p:blipFill>
          <a:blip r:embed="rId13"/>
          <a:srcRect l="0" r="0" t="0" b="0"/>
          <a:stretch/>
        </p:blipFill>
        <p:spPr>
          <a:xfrm>
            <a:off x="4413250" y="4374952"/>
            <a:ext cx="355600" cy="190500"/>
          </a:xfrm>
          <a:prstGeom prst="rect">
            <a:avLst/>
          </a:prstGeom>
        </p:spPr>
      </p:pic>
      <p:pic>
        <p:nvPicPr>
          <p:cNvPr id="33" name="Image 13" descr="Mapa de la pirámide de 16 por 16">    </p:cNvPr>
          <p:cNvPicPr>
            <a:picLocks noChangeAspect="1"/>
          </p:cNvPicPr>
          <p:nvPr/>
        </p:nvPicPr>
        <p:blipFill>
          <a:blip r:embed="rId14"/>
          <a:srcRect l="0" r="0" t="0" b="0"/>
          <a:stretch/>
        </p:blipFill>
        <p:spPr>
          <a:xfrm>
            <a:off x="5588000" y="4355902"/>
            <a:ext cx="228600" cy="228600"/>
          </a:xfrm>
          <a:prstGeom prst="roundRect">
            <a:avLst>
              <a:gd name="adj" fmla="val 2778"/>
            </a:avLst>
          </a:prstGeom>
        </p:spPr>
      </p:pic>
      <p:sp>
        <p:nvSpPr>
          <p:cNvPr id="34" name="Shape 18"/>
          <p:cNvSpPr/>
          <p:nvPr/>
        </p:nvSpPr>
        <p:spPr>
          <a:xfrm>
            <a:off x="5578475" y="4346377"/>
            <a:ext cx="247650" cy="247650"/>
          </a:xfrm>
          <a:prstGeom prst="roundRect">
            <a:avLst>
              <a:gd name="adj" fmla="val 6410"/>
            </a:avLst>
          </a:prstGeom>
          <a:noFill/>
          <a:ln w="19050">
            <a:solidFill>
              <a:srgbClr val="F4A259"/>
            </a:solidFill>
            <a:prstDash val="solid"/>
          </a:ln>
        </p:spPr>
      </p:sp>
      <p:sp>
        <p:nvSpPr>
          <p:cNvPr id="35" name="Text 19"/>
          <p:cNvSpPr/>
          <p:nvPr/>
        </p:nvSpPr>
        <p:spPr>
          <a:xfrm>
            <a:off x="6527800" y="4354612"/>
            <a:ext cx="18967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256 · 16 × 16</a:t>
            </a:r>
            <a:endParaRPr lang="en-US" sz="1300" dirty="0"/>
          </a:p>
        </p:txBody>
      </p:sp>
      <p:sp>
        <p:nvSpPr>
          <p:cNvPr id="36" name="Text 20"/>
          <p:cNvSpPr/>
          <p:nvPr/>
        </p:nvSpPr>
        <p:spPr>
          <a:xfrm>
            <a:off x="757555" y="4904581"/>
            <a:ext cx="1896745" cy="45204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sale de reducir a la mitad el de 16 × 16</a:t>
            </a:r>
            <a:endParaRPr lang="en-US" sz="1200" dirty="0"/>
          </a:p>
        </p:txBody>
      </p:sp>
      <p:pic>
        <p:nvPicPr>
          <p:cNvPr id="37" name="Image 14" descr="Mapa de la pirámide de 8 por 8">    </p:cNvPr>
          <p:cNvPicPr>
            <a:picLocks noChangeAspect="1"/>
          </p:cNvPicPr>
          <p:nvPr/>
        </p:nvPicPr>
        <p:blipFill>
          <a:blip r:embed="rId15"/>
          <a:srcRect l="0" r="0" t="0" b="0"/>
          <a:stretch/>
        </p:blipFill>
        <p:spPr>
          <a:xfrm>
            <a:off x="5619750" y="5035352"/>
            <a:ext cx="165100" cy="165100"/>
          </a:xfrm>
          <a:prstGeom prst="roundRect">
            <a:avLst>
              <a:gd name="adj" fmla="val 3846"/>
            </a:avLst>
          </a:prstGeom>
        </p:spPr>
      </p:pic>
      <p:sp>
        <p:nvSpPr>
          <p:cNvPr id="38" name="Shape 21"/>
          <p:cNvSpPr/>
          <p:nvPr/>
        </p:nvSpPr>
        <p:spPr>
          <a:xfrm>
            <a:off x="5610225" y="5025827"/>
            <a:ext cx="184150" cy="184150"/>
          </a:xfrm>
          <a:prstGeom prst="roundRect">
            <a:avLst>
              <a:gd name="adj" fmla="val 8621"/>
            </a:avLst>
          </a:prstGeom>
          <a:noFill/>
          <a:ln w="19050">
            <a:solidFill>
              <a:srgbClr val="F4A259"/>
            </a:solidFill>
            <a:prstDash val="solid"/>
          </a:ln>
        </p:spPr>
      </p:sp>
      <p:sp>
        <p:nvSpPr>
          <p:cNvPr id="39" name="Text 22"/>
          <p:cNvSpPr/>
          <p:nvPr/>
        </p:nvSpPr>
        <p:spPr>
          <a:xfrm>
            <a:off x="6527800" y="5002312"/>
            <a:ext cx="18967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256 · 8 × 8</a:t>
            </a:r>
            <a:endParaRPr lang="en-US" sz="1300" dirty="0"/>
          </a:p>
        </p:txBody>
      </p:sp>
      <p:sp>
        <p:nvSpPr>
          <p:cNvPr id="40" name="Shape 23"/>
          <p:cNvSpPr/>
          <p:nvPr/>
        </p:nvSpPr>
        <p:spPr>
          <a:xfrm>
            <a:off x="8629650" y="1763911"/>
            <a:ext cx="2743200" cy="825302"/>
          </a:xfrm>
          <a:prstGeom prst="roundRect">
            <a:avLst>
              <a:gd name="adj" fmla="val 11541"/>
            </a:avLst>
          </a:prstGeom>
          <a:solidFill>
            <a:srgbClr val="12304A"/>
          </a:solidFill>
          <a:ln w="12700">
            <a:solidFill>
              <a:srgbClr val="24506E"/>
            </a:solidFill>
            <a:prstDash val="solid"/>
          </a:ln>
        </p:spPr>
      </p:sp>
      <p:sp>
        <p:nvSpPr>
          <p:cNvPr id="41" name="Text 24"/>
          <p:cNvSpPr/>
          <p:nvPr/>
        </p:nvSpPr>
        <p:spPr>
          <a:xfrm>
            <a:off x="8775700" y="1871861"/>
            <a:ext cx="252463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1F6F8"/>
                </a:solidFill>
                <a:latin typeface="IBM Plex Sans" pitchFamily="34" charset="0"/>
                <a:ea typeface="IBM Plex Sans" pitchFamily="34" charset="-122"/>
                <a:cs typeface="IBM Plex Sans" pitchFamily="34" charset="-120"/>
              </a:rPr>
              <a:t>1. Mismo número de canales</a:t>
            </a:r>
            <a:endParaRPr lang="en-US" sz="1400" dirty="0"/>
          </a:p>
        </p:txBody>
      </p:sp>
      <p:sp>
        <p:nvSpPr>
          <p:cNvPr id="42" name="Text 25"/>
          <p:cNvSpPr/>
          <p:nvPr/>
        </p:nvSpPr>
        <p:spPr>
          <a:xfrm>
            <a:off x="8775700" y="2085181"/>
            <a:ext cx="2524633"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Un filtro de 1 × 1 deja cada mapa en 256 canales.</a:t>
            </a:r>
            <a:endParaRPr lang="en-US" sz="1200" dirty="0"/>
          </a:p>
        </p:txBody>
      </p:sp>
      <p:sp>
        <p:nvSpPr>
          <p:cNvPr id="43" name="Shape 26"/>
          <p:cNvSpPr/>
          <p:nvPr/>
        </p:nvSpPr>
        <p:spPr>
          <a:xfrm>
            <a:off x="8629650" y="2690813"/>
            <a:ext cx="2743200" cy="825302"/>
          </a:xfrm>
          <a:prstGeom prst="roundRect">
            <a:avLst>
              <a:gd name="adj" fmla="val 11541"/>
            </a:avLst>
          </a:prstGeom>
          <a:solidFill>
            <a:srgbClr val="12304A"/>
          </a:solidFill>
          <a:ln w="12700">
            <a:solidFill>
              <a:srgbClr val="24506E"/>
            </a:solidFill>
            <a:prstDash val="solid"/>
          </a:ln>
        </p:spPr>
      </p:sp>
      <p:pic>
        <p:nvPicPr>
          <p:cNvPr id="44" name="Image 15" descr="arrow-up">    </p:cNvPr>
          <p:cNvPicPr>
            <a:picLocks noChangeAspect="1"/>
          </p:cNvPicPr>
          <p:nvPr/>
        </p:nvPicPr>
        <p:blipFill>
          <a:blip r:embed="rId16"/>
          <a:srcRect l="0" r="0" t="0" b="0"/>
          <a:stretch/>
        </p:blipFill>
        <p:spPr>
          <a:xfrm>
            <a:off x="8775700" y="2817713"/>
            <a:ext cx="279400" cy="571500"/>
          </a:xfrm>
          <a:prstGeom prst="rect">
            <a:avLst/>
          </a:prstGeom>
        </p:spPr>
      </p:pic>
      <p:sp>
        <p:nvSpPr>
          <p:cNvPr id="45" name="Text 27"/>
          <p:cNvSpPr/>
          <p:nvPr/>
        </p:nvSpPr>
        <p:spPr>
          <a:xfrm>
            <a:off x="9169400" y="2798763"/>
            <a:ext cx="211912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1F6F8"/>
                </a:solidFill>
                <a:latin typeface="IBM Plex Sans" pitchFamily="34" charset="0"/>
                <a:ea typeface="IBM Plex Sans" pitchFamily="34" charset="-122"/>
                <a:cs typeface="IBM Plex Sans" pitchFamily="34" charset="-120"/>
              </a:rPr>
              <a:t>2. De abajo hacia arriba</a:t>
            </a:r>
            <a:endParaRPr lang="en-US" sz="1400" dirty="0"/>
          </a:p>
        </p:txBody>
      </p:sp>
      <p:sp>
        <p:nvSpPr>
          <p:cNvPr id="46" name="Text 28"/>
          <p:cNvSpPr/>
          <p:nvPr/>
        </p:nvSpPr>
        <p:spPr>
          <a:xfrm>
            <a:off x="9169400" y="3012083"/>
            <a:ext cx="2119122"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Se amplía al doble y se suma al mapa del nivel siguiente.</a:t>
            </a:r>
            <a:endParaRPr lang="en-US" sz="1200" dirty="0"/>
          </a:p>
        </p:txBody>
      </p:sp>
      <p:sp>
        <p:nvSpPr>
          <p:cNvPr id="47" name="Shape 29"/>
          <p:cNvSpPr/>
          <p:nvPr/>
        </p:nvSpPr>
        <p:spPr>
          <a:xfrm>
            <a:off x="8629650" y="3617714"/>
            <a:ext cx="2743200" cy="825302"/>
          </a:xfrm>
          <a:prstGeom prst="roundRect">
            <a:avLst>
              <a:gd name="adj" fmla="val 11541"/>
            </a:avLst>
          </a:prstGeom>
          <a:solidFill>
            <a:srgbClr val="12304A"/>
          </a:solidFill>
          <a:ln w="12700">
            <a:solidFill>
              <a:srgbClr val="24506E"/>
            </a:solidFill>
            <a:prstDash val="solid"/>
          </a:ln>
        </p:spPr>
      </p:sp>
      <p:sp>
        <p:nvSpPr>
          <p:cNvPr id="48" name="Text 30"/>
          <p:cNvSpPr/>
          <p:nvPr/>
        </p:nvSpPr>
        <p:spPr>
          <a:xfrm>
            <a:off x="8775700" y="3725664"/>
            <a:ext cx="252463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1F6F8"/>
                </a:solidFill>
                <a:latin typeface="IBM Plex Sans" pitchFamily="34" charset="0"/>
                <a:ea typeface="IBM Plex Sans" pitchFamily="34" charset="-122"/>
                <a:cs typeface="IBM Plex Sans" pitchFamily="34" charset="-120"/>
              </a:rPr>
              <a:t>3. Se suaviza</a:t>
            </a:r>
            <a:endParaRPr lang="en-US" sz="1400" dirty="0"/>
          </a:p>
        </p:txBody>
      </p:sp>
      <p:sp>
        <p:nvSpPr>
          <p:cNvPr id="49" name="Text 31"/>
          <p:cNvSpPr/>
          <p:nvPr/>
        </p:nvSpPr>
        <p:spPr>
          <a:xfrm>
            <a:off x="8775700" y="3938984"/>
            <a:ext cx="2524633"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Un filtro de 3 × 3 sobre cada resultado.</a:t>
            </a:r>
            <a:endParaRPr lang="en-US" sz="1200" dirty="0"/>
          </a:p>
        </p:txBody>
      </p:sp>
      <p:sp>
        <p:nvSpPr>
          <p:cNvPr id="50" name="Text 3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2 · Mapas reales de una tesela de 512 × 512, sin escala exacta</a:t>
            </a:r>
            <a:endParaRPr lang="en-US" sz="1200" dirty="0"/>
          </a:p>
        </p:txBody>
      </p:sp>
      <p:sp>
        <p:nvSpPr>
          <p:cNvPr id="51" name="Text 3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4 /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CAJAS DE PRUEBA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Las anclas</a:t>
            </a:r>
            <a:endParaRPr lang="en-US" sz="3600" dirty="0"/>
          </a:p>
        </p:txBody>
      </p:sp>
      <p:pic>
        <p:nvPicPr>
          <p:cNvPr id="6" name="Image 2" descr="Cinco cajas cuadradas concéntricas, de 16, 32, 64, 128 y 256 píxeles, sobre un mismo punto">    </p:cNvPr>
          <p:cNvPicPr>
            <a:picLocks noChangeAspect="1"/>
          </p:cNvPicPr>
          <p:nvPr/>
        </p:nvPicPr>
        <p:blipFill>
          <a:blip r:embed="rId3"/>
          <a:srcRect l="0" r="0" t="0" b="0"/>
          <a:stretch/>
        </p:blipFill>
        <p:spPr>
          <a:xfrm>
            <a:off x="812800" y="1782961"/>
            <a:ext cx="2794000" cy="2794000"/>
          </a:xfrm>
          <a:prstGeom prst="rect">
            <a:avLst/>
          </a:prstGeom>
        </p:spPr>
      </p:pic>
      <p:sp>
        <p:nvSpPr>
          <p:cNvPr id="7" name="Text 2"/>
          <p:cNvSpPr/>
          <p:nvPr/>
        </p:nvSpPr>
        <p:spPr>
          <a:xfrm>
            <a:off x="812800" y="4640461"/>
            <a:ext cx="287782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Cinco tamaños sobre un mismo punto: 16, 32, 64, 128 y 256 píxeles.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873500" y="1795661"/>
          <a:ext cx="3543300" cy="2315766"/>
        </p:xfrm>
        <a:graphic>
          <a:graphicData uri="http://schemas.openxmlformats.org/drawingml/2006/table">
            <a:tbl>
              <a:tblPr/>
              <a:tblGrid>
                <a:gridCol w="1948815"/>
                <a:gridCol w="1594485"/>
              </a:tblGrid>
              <a:tr h="385961">
                <a:tc>
                  <a:txBody>
                    <a:bodyPr/>
                    <a:lstStyle/>
                    <a:p>
                      <a:pP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Mapa de la pirámide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0D1D28"/>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0D1D28"/>
                      </a:solidFill>
                      <a:prstDash val="solid"/>
                      <a:round/>
                      <a:headEnd type="none" w="med" len="med"/>
                      <a:tailEnd type="none" w="med" len="med"/>
                    </a:lnB>
                    <a:solidFill>
                      <a:srgbClr val="0B1F2E"/>
                    </a:solidFill>
                  </a:tcPr>
                </a:tc>
                <a:tc>
                  <a:txBody>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Ancla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0D1D28"/>
                      </a:solidFill>
                      <a:prstDash val="solid"/>
                      <a:round/>
                      <a:headEnd type="none" w="med" len="med"/>
                      <a:tailEnd type="none" w="med" len="med"/>
                    </a:lnL>
                    <a:lnR w="12700" cap="flat" cmpd="sng" algn="ctr">
                      <a:solidFill>
                        <a:srgbClr val="0D1D28"/>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0D1D28"/>
                      </a:solidFill>
                      <a:prstDash val="solid"/>
                      <a:round/>
                      <a:headEnd type="none" w="med" len="med"/>
                      <a:tailEnd type="none" w="med" len="med"/>
                    </a:lnB>
                    <a:solidFill>
                      <a:srgbClr val="0B1F2E"/>
                    </a:solidFill>
                  </a:tcPr>
                </a:tc>
              </a:tr>
              <a:tr h="385961">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128 × 128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0D1D28"/>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16 px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0D1D28"/>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r>
              <a:tr h="385961">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64 × 64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32 px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FC3"/>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tr>
              <a:tr h="385961">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32 × 32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64 px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r>
              <a:tr h="385961">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16 × 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128 px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FC3"/>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tr>
              <a:tr h="385961">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8 × 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256 px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r>
            </a:tbl>
          </a:graphicData>
        </a:graphic>
      </p:graphicFrame>
      <p:sp>
        <p:nvSpPr>
          <p:cNvPr id="9" name="Text 3"/>
          <p:cNvSpPr/>
          <p:nvPr/>
        </p:nvSpPr>
        <p:spPr>
          <a:xfrm>
            <a:off x="3860800" y="4174927"/>
            <a:ext cx="366268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Cada mapa se encarga de un tamaño. Nuestros espermatozoides miden de 10 a 116 px de largo.</a:t>
            </a:r>
            <a:endParaRPr lang="en-US" sz="1200" dirty="0"/>
          </a:p>
        </p:txBody>
      </p:sp>
      <p:pic>
        <p:nvPicPr>
          <p:cNvPr id="10" name="Image 3" descr="Tres cajas del mismo tamaño y distinta proporción: más ancha que alta, cuadrada y más alta que ancha">    </p:cNvPr>
          <p:cNvPicPr>
            <a:picLocks noChangeAspect="1"/>
          </p:cNvPicPr>
          <p:nvPr/>
        </p:nvPicPr>
        <p:blipFill>
          <a:blip r:embed="rId4"/>
          <a:srcRect l="0" r="0" t="0" b="0"/>
          <a:stretch/>
        </p:blipFill>
        <p:spPr>
          <a:xfrm>
            <a:off x="7670800" y="1782961"/>
            <a:ext cx="2921000" cy="1079500"/>
          </a:xfrm>
          <a:prstGeom prst="rect">
            <a:avLst/>
          </a:prstGeom>
        </p:spPr>
      </p:pic>
      <p:sp>
        <p:nvSpPr>
          <p:cNvPr id="11" name="Text 4"/>
          <p:cNvSpPr/>
          <p:nvPr/>
        </p:nvSpPr>
        <p:spPr>
          <a:xfrm>
            <a:off x="7670800" y="2951361"/>
            <a:ext cx="939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5566"/>
                </a:solidFill>
                <a:latin typeface="IBM Plex Sans" pitchFamily="34" charset="0"/>
                <a:ea typeface="IBM Plex Sans" pitchFamily="34" charset="-122"/>
                <a:cs typeface="IBM Plex Sans" pitchFamily="34" charset="-120"/>
              </a:rPr>
              <a:t>Más ancha que alta</a:t>
            </a:r>
            <a:endParaRPr lang="en-US" sz="1200" dirty="0"/>
          </a:p>
        </p:txBody>
      </p:sp>
      <p:sp>
        <p:nvSpPr>
          <p:cNvPr id="12" name="Text 5"/>
          <p:cNvSpPr/>
          <p:nvPr/>
        </p:nvSpPr>
        <p:spPr>
          <a:xfrm>
            <a:off x="8756650" y="2951361"/>
            <a:ext cx="7493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3E5566"/>
                </a:solidFill>
                <a:latin typeface="IBM Plex Sans" pitchFamily="34" charset="0"/>
                <a:ea typeface="IBM Plex Sans" pitchFamily="34" charset="-122"/>
                <a:cs typeface="IBM Plex Sans" pitchFamily="34" charset="-120"/>
              </a:rPr>
              <a:t>Cuadrada</a:t>
            </a:r>
            <a:endParaRPr lang="en-US" sz="1200" dirty="0"/>
          </a:p>
        </p:txBody>
      </p:sp>
      <p:sp>
        <p:nvSpPr>
          <p:cNvPr id="13" name="Text 6"/>
          <p:cNvSpPr/>
          <p:nvPr/>
        </p:nvSpPr>
        <p:spPr>
          <a:xfrm>
            <a:off x="9652000" y="2951361"/>
            <a:ext cx="939800" cy="4064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3E5566"/>
                </a:solidFill>
                <a:latin typeface="IBM Plex Sans" pitchFamily="34" charset="0"/>
                <a:ea typeface="IBM Plex Sans" pitchFamily="34" charset="-122"/>
                <a:cs typeface="IBM Plex Sans" pitchFamily="34" charset="-120"/>
              </a:rPr>
              <a:t>Más alta que ancha</a:t>
            </a:r>
            <a:endParaRPr lang="en-US" sz="1200" dirty="0"/>
          </a:p>
        </p:txBody>
      </p:sp>
      <p:sp>
        <p:nvSpPr>
          <p:cNvPr id="14" name="Shape 7"/>
          <p:cNvSpPr/>
          <p:nvPr/>
        </p:nvSpPr>
        <p:spPr>
          <a:xfrm>
            <a:off x="7670800" y="3421261"/>
            <a:ext cx="3708400" cy="1339652"/>
          </a:xfrm>
          <a:prstGeom prst="roundRect">
            <a:avLst>
              <a:gd name="adj" fmla="val 9480"/>
            </a:avLst>
          </a:prstGeom>
          <a:solidFill>
            <a:srgbClr val="0B1F2E"/>
          </a:solidFill>
          <a:ln/>
        </p:spPr>
      </p:sp>
      <p:sp>
        <p:nvSpPr>
          <p:cNvPr id="15" name="Text 8"/>
          <p:cNvSpPr/>
          <p:nvPr/>
        </p:nvSpPr>
        <p:spPr>
          <a:xfrm>
            <a:off x="7823200" y="3548261"/>
            <a:ext cx="350570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LA CUENTA</a:t>
            </a:r>
            <a:endParaRPr lang="en-US" sz="1200" dirty="0"/>
          </a:p>
        </p:txBody>
      </p:sp>
      <p:sp>
        <p:nvSpPr>
          <p:cNvPr id="16" name="Text 9"/>
          <p:cNvSpPr/>
          <p:nvPr/>
        </p:nvSpPr>
        <p:spPr>
          <a:xfrm>
            <a:off x="7823200" y="3812381"/>
            <a:ext cx="3505708"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C3D7E2"/>
                </a:solidFill>
                <a:latin typeface="IBM Plex Sans" pitchFamily="34" charset="0"/>
                <a:ea typeface="IBM Plex Sans" pitchFamily="34" charset="-122"/>
                <a:cs typeface="IBM Plex Sans" pitchFamily="34" charset="-120"/>
              </a:rPr>
              <a:t>128² + 64² + 32² + 16² + 8² = 21,824 puntos</a:t>
            </a:r>
            <a:endParaRPr lang="en-US" sz="1300" dirty="0"/>
          </a:p>
        </p:txBody>
      </p:sp>
      <p:sp>
        <p:nvSpPr>
          <p:cNvPr id="17" name="Text 10"/>
          <p:cNvSpPr/>
          <p:nvPr/>
        </p:nvSpPr>
        <p:spPr>
          <a:xfrm>
            <a:off x="7823200" y="4077791"/>
            <a:ext cx="3505708"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4A259"/>
                </a:solidFill>
                <a:latin typeface="EB Garamond" pitchFamily="18" charset="0"/>
                <a:ea typeface="EB Garamond" pitchFamily="18" charset="-122"/>
                <a:cs typeface="EB Garamond" pitchFamily="18" charset="-120"/>
              </a:rPr>
              <a:t>× 3 = 65,472 anclas</a:t>
            </a:r>
            <a:endParaRPr lang="en-US" sz="2200" dirty="0"/>
          </a:p>
        </p:txBody>
      </p:sp>
      <p:sp>
        <p:nvSpPr>
          <p:cNvPr id="18" name="Text 11"/>
          <p:cNvSpPr/>
          <p:nvPr/>
        </p:nvSpPr>
        <p:spPr>
          <a:xfrm>
            <a:off x="7823200" y="4435872"/>
            <a:ext cx="3505708"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9B8"/>
                </a:solidFill>
                <a:latin typeface="IBM Plex Sans" pitchFamily="34" charset="0"/>
                <a:ea typeface="IBM Plex Sans" pitchFamily="34" charset="-122"/>
                <a:cs typeface="IBM Plex Sans" pitchFamily="34" charset="-120"/>
              </a:rPr>
              <a:t>por cada recorte de 512 × 512</a:t>
            </a:r>
            <a:endParaRPr lang="en-US" sz="1200" dirty="0"/>
          </a:p>
        </p:txBody>
      </p:sp>
      <p:sp>
        <p:nvSpPr>
          <p:cNvPr id="19"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2 · Esquema ilustrativo</a:t>
            </a:r>
            <a:endParaRPr lang="en-US" sz="1200" dirty="0"/>
          </a:p>
        </p:txBody>
      </p:sp>
      <p:sp>
        <p:nvSpPr>
          <p:cNvPr id="20"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5 /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¿HAY ALGO AQUÍ?</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La red de propuestas</a:t>
            </a:r>
            <a:endParaRPr lang="en-US" sz="3600" dirty="0"/>
          </a:p>
        </p:txBody>
      </p:sp>
      <p:pic>
        <p:nvPicPr>
          <p:cNvPr id="6" name="Image 2" descr="Un espermatozoide con un ancla que no encaja, dibujada con línea punteada, y la caja corregida que sí encaja, en naranja">    </p:cNvPr>
          <p:cNvPicPr>
            <a:picLocks noChangeAspect="1"/>
          </p:cNvPicPr>
          <p:nvPr/>
        </p:nvPicPr>
        <p:blipFill>
          <a:blip r:embed="rId3"/>
          <a:srcRect l="0" r="0" t="0" b="0"/>
          <a:stretch/>
        </p:blipFill>
        <p:spPr>
          <a:xfrm>
            <a:off x="812800" y="1782961"/>
            <a:ext cx="3556000" cy="2667000"/>
          </a:xfrm>
          <a:prstGeom prst="rect">
            <a:avLst/>
          </a:prstGeom>
        </p:spPr>
      </p:pic>
      <p:sp>
        <p:nvSpPr>
          <p:cNvPr id="7" name="Shape 2"/>
          <p:cNvSpPr/>
          <p:nvPr/>
        </p:nvSpPr>
        <p:spPr>
          <a:xfrm>
            <a:off x="812800" y="4632821"/>
            <a:ext cx="215900" cy="0"/>
          </a:xfrm>
          <a:prstGeom prst="line">
            <a:avLst/>
          </a:prstGeom>
          <a:noFill/>
          <a:ln w="25400">
            <a:solidFill>
              <a:srgbClr val="6CCFF6"/>
            </a:solidFill>
            <a:prstDash val="dash"/>
          </a:ln>
        </p:spPr>
      </p:sp>
      <p:sp>
        <p:nvSpPr>
          <p:cNvPr id="8" name="Text 3"/>
          <p:cNvSpPr/>
          <p:nvPr/>
        </p:nvSpPr>
        <p:spPr>
          <a:xfrm>
            <a:off x="1117600" y="4526161"/>
            <a:ext cx="1954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7E2"/>
                </a:solidFill>
                <a:latin typeface="IBM Plex Sans" pitchFamily="34" charset="0"/>
                <a:ea typeface="IBM Plex Sans" pitchFamily="34" charset="-122"/>
                <a:cs typeface="IBM Plex Sans" pitchFamily="34" charset="-120"/>
              </a:rPr>
              <a:t>Ancla: la caja de prueba</a:t>
            </a:r>
            <a:endParaRPr lang="en-US" sz="1200" dirty="0"/>
          </a:p>
        </p:txBody>
      </p:sp>
      <p:sp>
        <p:nvSpPr>
          <p:cNvPr id="9" name="Shape 4"/>
          <p:cNvSpPr/>
          <p:nvPr/>
        </p:nvSpPr>
        <p:spPr>
          <a:xfrm>
            <a:off x="812800" y="4896941"/>
            <a:ext cx="215900" cy="0"/>
          </a:xfrm>
          <a:prstGeom prst="line">
            <a:avLst/>
          </a:prstGeom>
          <a:noFill/>
          <a:ln w="38100">
            <a:solidFill>
              <a:srgbClr val="F4A259"/>
            </a:solidFill>
            <a:prstDash val="solid"/>
          </a:ln>
        </p:spPr>
      </p:sp>
      <p:sp>
        <p:nvSpPr>
          <p:cNvPr id="10" name="Text 5"/>
          <p:cNvSpPr/>
          <p:nvPr/>
        </p:nvSpPr>
        <p:spPr>
          <a:xfrm>
            <a:off x="1117600" y="4790281"/>
            <a:ext cx="1170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7E2"/>
                </a:solidFill>
                <a:latin typeface="IBM Plex Sans" pitchFamily="34" charset="0"/>
                <a:ea typeface="IBM Plex Sans" pitchFamily="34" charset="-122"/>
                <a:cs typeface="IBM Plex Sans" pitchFamily="34" charset="-120"/>
              </a:rPr>
              <a:t>Caja corregida</a:t>
            </a:r>
            <a:endParaRPr lang="en-US" sz="1200" dirty="0"/>
          </a:p>
        </p:txBody>
      </p:sp>
      <p:sp>
        <p:nvSpPr>
          <p:cNvPr id="11" name="Shape 6"/>
          <p:cNvSpPr/>
          <p:nvPr/>
        </p:nvSpPr>
        <p:spPr>
          <a:xfrm>
            <a:off x="4629150" y="1789311"/>
            <a:ext cx="6743700" cy="699691"/>
          </a:xfrm>
          <a:prstGeom prst="roundRect">
            <a:avLst>
              <a:gd name="adj" fmla="val 17243"/>
            </a:avLst>
          </a:prstGeom>
          <a:solidFill>
            <a:srgbClr val="12304A"/>
          </a:solidFill>
          <a:ln w="12700">
            <a:solidFill>
              <a:srgbClr val="24506E"/>
            </a:solidFill>
            <a:prstDash val="solid"/>
          </a:ln>
        </p:spPr>
      </p:sp>
      <p:sp>
        <p:nvSpPr>
          <p:cNvPr id="12" name="Text 7"/>
          <p:cNvSpPr/>
          <p:nvPr/>
        </p:nvSpPr>
        <p:spPr>
          <a:xfrm>
            <a:off x="4800600" y="1986756"/>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F4A259"/>
          </a:solidFill>
          <a:ln/>
        </p:spPr>
        <p:txBody>
          <a:bodyPr wrap="square" lIns="0" tIns="0" rIns="0" bIns="0" rtlCol="0" anchor="ctr">
            <a:normAutofit/>
          </a:bodyPr>
          <a:lstStyle/>
          <a:p>
            <a:pPr algn="ctr" indent="0" marL="0">
              <a:lnSpc>
                <a:spcPts val="1960"/>
              </a:lnSpc>
              <a:buNone/>
            </a:pPr>
            <a:r>
              <a:rPr lang="en-US" sz="1400" b="1" dirty="0">
                <a:solidFill>
                  <a:srgbClr val="2A1406"/>
                </a:solidFill>
                <a:latin typeface="IBM Plex Sans" pitchFamily="34" charset="0"/>
                <a:ea typeface="IBM Plex Sans" pitchFamily="34" charset="-122"/>
                <a:cs typeface="IBM Plex Sans" pitchFamily="34" charset="-120"/>
              </a:rPr>
              <a:t>1</a:t>
            </a:r>
            <a:endParaRPr lang="en-US" sz="1400" dirty="0"/>
          </a:p>
        </p:txBody>
      </p:sp>
      <p:sp>
        <p:nvSpPr>
          <p:cNvPr id="13" name="Text 8"/>
          <p:cNvSpPr/>
          <p:nvPr/>
        </p:nvSpPr>
        <p:spPr>
          <a:xfrm>
            <a:off x="5232400" y="1909961"/>
            <a:ext cx="614807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¿Hay algo o solo fondo?</a:t>
            </a:r>
            <a:endParaRPr lang="en-US" sz="1600" dirty="0"/>
          </a:p>
        </p:txBody>
      </p:sp>
      <p:sp>
        <p:nvSpPr>
          <p:cNvPr id="14" name="Text 9"/>
          <p:cNvSpPr/>
          <p:nvPr/>
        </p:nvSpPr>
        <p:spPr>
          <a:xfrm>
            <a:off x="5232400" y="2153741"/>
            <a:ext cx="614807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C3D7E2"/>
                </a:solidFill>
                <a:latin typeface="IBM Plex Sans" pitchFamily="34" charset="0"/>
                <a:ea typeface="IBM Plex Sans" pitchFamily="34" charset="-122"/>
                <a:cs typeface="IBM Plex Sans" pitchFamily="34" charset="-120"/>
              </a:rPr>
              <a:t>Un puntaje por ancla. No dice qué es.</a:t>
            </a:r>
            <a:endParaRPr lang="en-US" sz="1300" dirty="0"/>
          </a:p>
        </p:txBody>
      </p:sp>
      <p:sp>
        <p:nvSpPr>
          <p:cNvPr id="15" name="Shape 10"/>
          <p:cNvSpPr/>
          <p:nvPr/>
        </p:nvSpPr>
        <p:spPr>
          <a:xfrm>
            <a:off x="4629150" y="2590602"/>
            <a:ext cx="6743700" cy="699691"/>
          </a:xfrm>
          <a:prstGeom prst="roundRect">
            <a:avLst>
              <a:gd name="adj" fmla="val 17243"/>
            </a:avLst>
          </a:prstGeom>
          <a:solidFill>
            <a:srgbClr val="12304A"/>
          </a:solidFill>
          <a:ln w="12700">
            <a:solidFill>
              <a:srgbClr val="24506E"/>
            </a:solidFill>
            <a:prstDash val="solid"/>
          </a:ln>
        </p:spPr>
      </p:sp>
      <p:sp>
        <p:nvSpPr>
          <p:cNvPr id="16" name="Text 11"/>
          <p:cNvSpPr/>
          <p:nvPr/>
        </p:nvSpPr>
        <p:spPr>
          <a:xfrm>
            <a:off x="4800600" y="2788047"/>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F4A259"/>
          </a:solidFill>
          <a:ln/>
        </p:spPr>
        <p:txBody>
          <a:bodyPr wrap="square" lIns="0" tIns="0" rIns="0" bIns="0" rtlCol="0" anchor="ctr">
            <a:normAutofit/>
          </a:bodyPr>
          <a:lstStyle/>
          <a:p>
            <a:pPr algn="ctr" indent="0" marL="0">
              <a:lnSpc>
                <a:spcPts val="1960"/>
              </a:lnSpc>
              <a:buNone/>
            </a:pPr>
            <a:r>
              <a:rPr lang="en-US" sz="1400" b="1" dirty="0">
                <a:solidFill>
                  <a:srgbClr val="2A1406"/>
                </a:solidFill>
                <a:latin typeface="IBM Plex Sans" pitchFamily="34" charset="0"/>
                <a:ea typeface="IBM Plex Sans" pitchFamily="34" charset="-122"/>
                <a:cs typeface="IBM Plex Sans" pitchFamily="34" charset="-120"/>
              </a:rPr>
              <a:t>2</a:t>
            </a:r>
            <a:endParaRPr lang="en-US" sz="1400" dirty="0"/>
          </a:p>
        </p:txBody>
      </p:sp>
      <p:sp>
        <p:nvSpPr>
          <p:cNvPr id="17" name="Text 12"/>
          <p:cNvSpPr/>
          <p:nvPr/>
        </p:nvSpPr>
        <p:spPr>
          <a:xfrm>
            <a:off x="5232400" y="2711252"/>
            <a:ext cx="614807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¿Cómo corregir la caja?</a:t>
            </a:r>
            <a:endParaRPr lang="en-US" sz="1600" dirty="0"/>
          </a:p>
        </p:txBody>
      </p:sp>
      <p:sp>
        <p:nvSpPr>
          <p:cNvPr id="18" name="Text 13"/>
          <p:cNvSpPr/>
          <p:nvPr/>
        </p:nvSpPr>
        <p:spPr>
          <a:xfrm>
            <a:off x="5232400" y="2955032"/>
            <a:ext cx="614807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C3D7E2"/>
                </a:solidFill>
                <a:latin typeface="IBM Plex Sans" pitchFamily="34" charset="0"/>
                <a:ea typeface="IBM Plex Sans" pitchFamily="34" charset="-122"/>
                <a:cs typeface="IBM Plex Sans" pitchFamily="34" charset="-120"/>
              </a:rPr>
              <a:t>Cuatro números por ancla: mover a los lados, estirar o encoger.</a:t>
            </a:r>
            <a:endParaRPr lang="en-US" sz="1300" dirty="0"/>
          </a:p>
        </p:txBody>
      </p:sp>
      <p:sp>
        <p:nvSpPr>
          <p:cNvPr id="19" name="Text 14"/>
          <p:cNvSpPr/>
          <p:nvPr/>
        </p:nvSpPr>
        <p:spPr>
          <a:xfrm>
            <a:off x="4826000" y="3423642"/>
            <a:ext cx="6350000" cy="401241"/>
          </a:xfrm>
          <a:prstGeom prst="roundRect">
            <a:avLst>
              <a:gd name="adj" fmla="val 18991"/>
            </a:avLst>
          </a:prstGeom>
          <a:solidFill>
            <a:srgbClr val="24506E"/>
          </a:solidFill>
          <a:ln/>
        </p:spPr>
        <p:txBody>
          <a:bodyPr wrap="square" lIns="0" tIns="53882" rIns="0" bIns="28482" rtlCol="0" anchor="t">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65,472 anclas por tesela</a:t>
            </a:r>
            <a:endParaRPr lang="en-US" sz="1400" dirty="0"/>
          </a:p>
        </p:txBody>
      </p:sp>
      <p:sp>
        <p:nvSpPr>
          <p:cNvPr id="20" name="Text 15"/>
          <p:cNvSpPr/>
          <p:nvPr/>
        </p:nvSpPr>
        <p:spPr>
          <a:xfrm>
            <a:off x="5969000" y="3875683"/>
            <a:ext cx="4064000" cy="383480"/>
          </a:xfrm>
          <a:prstGeom prst="roundRect">
            <a:avLst>
              <a:gd name="adj" fmla="val 19871"/>
            </a:avLst>
          </a:prstGeom>
          <a:solidFill>
            <a:srgbClr val="2B7BB0"/>
          </a:solidFill>
          <a:ln/>
        </p:spPr>
        <p:txBody>
          <a:bodyPr wrap="square" lIns="0" tIns="53882" rIns="0" bIns="28482" rtlCol="0" anchor="t">
            <a:normAutofit/>
          </a:bodyPr>
          <a:lstStyle/>
          <a:p>
            <a:pPr algn="ctr" indent="0" marL="0">
              <a:lnSpc>
                <a:spcPts val="1820"/>
              </a:lnSpc>
              <a:buNone/>
            </a:pPr>
            <a:r>
              <a:rPr lang="en-US" sz="1300" b="1" dirty="0">
                <a:solidFill>
                  <a:srgbClr val="F1F6F8"/>
                </a:solidFill>
                <a:latin typeface="IBM Plex Sans" pitchFamily="34" charset="0"/>
                <a:ea typeface="IBM Plex Sans" pitchFamily="34" charset="-122"/>
                <a:cs typeface="IBM Plex Sans" pitchFamily="34" charset="-120"/>
              </a:rPr>
              <a:t>Las de mayor puntaje, sin traslapes grandes</a:t>
            </a:r>
            <a:endParaRPr lang="en-US" sz="1300" dirty="0"/>
          </a:p>
        </p:txBody>
      </p:sp>
      <p:sp>
        <p:nvSpPr>
          <p:cNvPr id="21" name="Text 16"/>
          <p:cNvSpPr/>
          <p:nvPr/>
        </p:nvSpPr>
        <p:spPr>
          <a:xfrm>
            <a:off x="6794500" y="4309963"/>
            <a:ext cx="2413000" cy="401241"/>
          </a:xfrm>
          <a:prstGeom prst="roundRect">
            <a:avLst>
              <a:gd name="adj" fmla="val 18991"/>
            </a:avLst>
          </a:prstGeom>
          <a:solidFill>
            <a:srgbClr val="F4A259"/>
          </a:solidFill>
          <a:ln/>
        </p:spPr>
        <p:txBody>
          <a:bodyPr wrap="square" lIns="0" tIns="53882" rIns="0" bIns="28482" rtlCol="0" anchor="t">
            <a:normAutofit/>
          </a:bodyPr>
          <a:lstStyle/>
          <a:p>
            <a:pPr algn="ctr" indent="0" marL="0">
              <a:lnSpc>
                <a:spcPts val="1960"/>
              </a:lnSpc>
              <a:buNone/>
            </a:pPr>
            <a:r>
              <a:rPr lang="en-US" sz="1400" b="1" dirty="0">
                <a:solidFill>
                  <a:srgbClr val="2A1406"/>
                </a:solidFill>
                <a:latin typeface="IBM Plex Sans" pitchFamily="34" charset="0"/>
                <a:ea typeface="IBM Plex Sans" pitchFamily="34" charset="-122"/>
                <a:cs typeface="IBM Plex Sans" pitchFamily="34" charset="-120"/>
              </a:rPr>
              <a:t>Hasta 1,000 propuestas</a:t>
            </a:r>
            <a:endParaRPr lang="en-US" sz="1400" dirty="0"/>
          </a:p>
        </p:txBody>
      </p:sp>
      <p:sp>
        <p:nvSpPr>
          <p:cNvPr id="22" name="Text 17"/>
          <p:cNvSpPr/>
          <p:nvPr/>
        </p:nvSpPr>
        <p:spPr>
          <a:xfrm>
            <a:off x="4622800" y="4838204"/>
            <a:ext cx="6959092"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9B8"/>
                </a:solidFill>
                <a:latin typeface="IBM Plex Sans" pitchFamily="34" charset="0"/>
                <a:ea typeface="IBM Plex Sans" pitchFamily="34" charset="-122"/>
                <a:cs typeface="IBM Plex Sans" pitchFamily="34" charset="-120"/>
              </a:rPr>
              <a:t>Es una red pequeña: unos 0.6 millones de pesos.</a:t>
            </a:r>
            <a:endParaRPr lang="en-US" sz="1200" dirty="0"/>
          </a:p>
        </p:txBody>
      </p:sp>
      <p:sp>
        <p:nvSpPr>
          <p:cNvPr id="23" name="Text 1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2 · Esquema ilustrativo</a:t>
            </a:r>
            <a:endParaRPr lang="en-US" sz="1200" dirty="0"/>
          </a:p>
        </p:txBody>
      </p:sp>
      <p:sp>
        <p:nvSpPr>
          <p:cNvPr id="24"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6 /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TAMAÑO FIJO</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El recorte alineado</a:t>
            </a:r>
            <a:endParaRPr lang="en-US" sz="3600" dirty="0"/>
          </a:p>
        </p:txBody>
      </p:sp>
      <p:pic>
        <p:nvPicPr>
          <p:cNvPr id="6" name="Image 2" descr="Un mapa de características con una propuesta marcada en naranja que no coincide con la cuadrícula del mapa">    </p:cNvPr>
          <p:cNvPicPr>
            <a:picLocks noChangeAspect="1"/>
          </p:cNvPicPr>
          <p:nvPr/>
        </p:nvPicPr>
        <p:blipFill>
          <a:blip r:embed="rId3"/>
          <a:srcRect l="0" r="0" t="0" b="0"/>
          <a:stretch/>
        </p:blipFill>
        <p:spPr>
          <a:xfrm>
            <a:off x="812800" y="1782961"/>
            <a:ext cx="2667000" cy="2032000"/>
          </a:xfrm>
          <a:prstGeom prst="rect">
            <a:avLst/>
          </a:prstGeom>
        </p:spPr>
      </p:pic>
      <p:sp>
        <p:nvSpPr>
          <p:cNvPr id="7" name="Text 2"/>
          <p:cNvSpPr/>
          <p:nvPr/>
        </p:nvSpPr>
        <p:spPr>
          <a:xfrm>
            <a:off x="812800" y="3865761"/>
            <a:ext cx="274701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Propuesta sobre un mapa: sus bordes no caen justo en la cuadrícula.</a:t>
            </a:r>
            <a:endParaRPr lang="en-US" sz="1200" dirty="0"/>
          </a:p>
        </p:txBody>
      </p:sp>
      <p:pic>
        <p:nvPicPr>
          <p:cNvPr id="8" name="Image 3" descr="arrow-right">    </p:cNvPr>
          <p:cNvPicPr>
            <a:picLocks noChangeAspect="1"/>
          </p:cNvPicPr>
          <p:nvPr/>
        </p:nvPicPr>
        <p:blipFill>
          <a:blip r:embed="rId4"/>
          <a:srcRect l="0" r="0" t="0" b="0"/>
          <a:stretch/>
        </p:blipFill>
        <p:spPr>
          <a:xfrm>
            <a:off x="3708400" y="2908102"/>
            <a:ext cx="406400" cy="228600"/>
          </a:xfrm>
          <a:prstGeom prst="rect">
            <a:avLst/>
          </a:prstGeom>
        </p:spPr>
      </p:pic>
      <p:pic>
        <p:nvPicPr>
          <p:cNvPr id="9" name="Image 4" descr="Cuadrícula de siete por siete">    </p:cNvPr>
          <p:cNvPicPr>
            <a:picLocks noChangeAspect="1"/>
          </p:cNvPicPr>
          <p:nvPr/>
        </p:nvPicPr>
        <p:blipFill>
          <a:blip r:embed="rId5"/>
          <a:srcRect l="0" r="0" t="0" b="0"/>
          <a:stretch/>
        </p:blipFill>
        <p:spPr>
          <a:xfrm>
            <a:off x="4343400" y="2072481"/>
            <a:ext cx="1333500" cy="1333500"/>
          </a:xfrm>
          <a:prstGeom prst="rect">
            <a:avLst/>
          </a:prstGeom>
        </p:spPr>
      </p:pic>
      <p:sp>
        <p:nvSpPr>
          <p:cNvPr id="10" name="Text 3"/>
          <p:cNvSpPr/>
          <p:nvPr/>
        </p:nvSpPr>
        <p:spPr>
          <a:xfrm>
            <a:off x="4343400" y="3456781"/>
            <a:ext cx="138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C2A3E"/>
                </a:solidFill>
                <a:latin typeface="IBM Plex Sans" pitchFamily="34" charset="0"/>
                <a:ea typeface="IBM Plex Sans" pitchFamily="34" charset="-122"/>
                <a:cs typeface="IBM Plex Sans" pitchFamily="34" charset="-120"/>
              </a:rPr>
              <a:t>7 × 7 × 256</a:t>
            </a:r>
            <a:endParaRPr lang="en-US" sz="1500" dirty="0"/>
          </a:p>
        </p:txBody>
      </p:sp>
      <p:sp>
        <p:nvSpPr>
          <p:cNvPr id="11" name="Text 4"/>
          <p:cNvSpPr/>
          <p:nvPr/>
        </p:nvSpPr>
        <p:spPr>
          <a:xfrm>
            <a:off x="4343400" y="3774281"/>
            <a:ext cx="13843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Para la caja</a:t>
            </a:r>
            <a:endParaRPr lang="en-US" sz="1200" dirty="0"/>
          </a:p>
        </p:txBody>
      </p:sp>
      <p:pic>
        <p:nvPicPr>
          <p:cNvPr id="12" name="Image 5" descr="Cuadrícula de catorce por catorce">    </p:cNvPr>
          <p:cNvPicPr>
            <a:picLocks noChangeAspect="1"/>
          </p:cNvPicPr>
          <p:nvPr/>
        </p:nvPicPr>
        <p:blipFill>
          <a:blip r:embed="rId6"/>
          <a:srcRect l="0" r="0" t="0" b="0"/>
          <a:stretch/>
        </p:blipFill>
        <p:spPr>
          <a:xfrm>
            <a:off x="5854700" y="2072481"/>
            <a:ext cx="1333500" cy="1333500"/>
          </a:xfrm>
          <a:prstGeom prst="rect">
            <a:avLst/>
          </a:prstGeom>
        </p:spPr>
      </p:pic>
      <p:sp>
        <p:nvSpPr>
          <p:cNvPr id="13" name="Text 5"/>
          <p:cNvSpPr/>
          <p:nvPr/>
        </p:nvSpPr>
        <p:spPr>
          <a:xfrm>
            <a:off x="5854700" y="3456781"/>
            <a:ext cx="138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C2A3E"/>
                </a:solidFill>
                <a:latin typeface="IBM Plex Sans" pitchFamily="34" charset="0"/>
                <a:ea typeface="IBM Plex Sans" pitchFamily="34" charset="-122"/>
                <a:cs typeface="IBM Plex Sans" pitchFamily="34" charset="-120"/>
              </a:rPr>
              <a:t>14 × 14 × 256</a:t>
            </a:r>
            <a:endParaRPr lang="en-US" sz="1500" dirty="0"/>
          </a:p>
        </p:txBody>
      </p:sp>
      <p:sp>
        <p:nvSpPr>
          <p:cNvPr id="14" name="Text 6"/>
          <p:cNvSpPr/>
          <p:nvPr/>
        </p:nvSpPr>
        <p:spPr>
          <a:xfrm>
            <a:off x="5854700" y="3774281"/>
            <a:ext cx="13843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Para la máscara</a:t>
            </a:r>
            <a:endParaRPr lang="en-US" sz="1200" dirty="0"/>
          </a:p>
        </p:txBody>
      </p:sp>
      <p:sp>
        <p:nvSpPr>
          <p:cNvPr id="15" name="Shape 7"/>
          <p:cNvSpPr/>
          <p:nvPr/>
        </p:nvSpPr>
        <p:spPr>
          <a:xfrm>
            <a:off x="819150" y="4445992"/>
            <a:ext cx="3424734" cy="1102122"/>
          </a:xfrm>
          <a:prstGeom prst="roundRect">
            <a:avLst>
              <a:gd name="adj" fmla="val 10947"/>
            </a:avLst>
          </a:prstGeom>
          <a:solidFill>
            <a:srgbClr val="FCFDFD"/>
          </a:solidFill>
          <a:ln w="12700">
            <a:solidFill>
              <a:srgbClr val="D5E3EA"/>
            </a:solidFill>
            <a:prstDash val="solid"/>
          </a:ln>
        </p:spPr>
      </p:sp>
      <p:sp>
        <p:nvSpPr>
          <p:cNvPr id="16" name="Text 8"/>
          <p:cNvSpPr/>
          <p:nvPr/>
        </p:nvSpPr>
        <p:spPr>
          <a:xfrm>
            <a:off x="977900" y="4566642"/>
            <a:ext cx="32004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El mapa que corresponde</a:t>
            </a:r>
            <a:endParaRPr lang="en-US" sz="1500" dirty="0"/>
          </a:p>
        </p:txBody>
      </p:sp>
      <p:sp>
        <p:nvSpPr>
          <p:cNvPr id="17" name="Text 9"/>
          <p:cNvSpPr/>
          <p:nvPr/>
        </p:nvSpPr>
        <p:spPr>
          <a:xfrm>
            <a:off x="977900" y="4833342"/>
            <a:ext cx="3200451"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Propuestas chicas, de un mapa grande; grandes, de uno pequeño. El de 8 × 8 solo lo usa la red de propuestas.</a:t>
            </a:r>
            <a:endParaRPr lang="en-US" sz="1200" dirty="0"/>
          </a:p>
        </p:txBody>
      </p:sp>
      <p:sp>
        <p:nvSpPr>
          <p:cNvPr id="18" name="Shape 10"/>
          <p:cNvSpPr/>
          <p:nvPr/>
        </p:nvSpPr>
        <p:spPr>
          <a:xfrm>
            <a:off x="4377234" y="4439642"/>
            <a:ext cx="3437434" cy="1114822"/>
          </a:xfrm>
          <a:prstGeom prst="roundRect">
            <a:avLst>
              <a:gd name="adj" fmla="val 11392"/>
            </a:avLst>
          </a:prstGeom>
          <a:solidFill>
            <a:srgbClr val="0B1F2E"/>
          </a:solidFill>
          <a:ln/>
        </p:spPr>
      </p:sp>
      <p:sp>
        <p:nvSpPr>
          <p:cNvPr id="19" name="Text 11"/>
          <p:cNvSpPr/>
          <p:nvPr/>
        </p:nvSpPr>
        <p:spPr>
          <a:xfrm>
            <a:off x="4529634" y="4553942"/>
            <a:ext cx="32266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A259"/>
                </a:solidFill>
                <a:latin typeface="IBM Plex Sans" pitchFamily="34" charset="0"/>
                <a:ea typeface="IBM Plex Sans" pitchFamily="34" charset="-122"/>
                <a:cs typeface="IBM Plex Sans" pitchFamily="34" charset="-120"/>
              </a:rPr>
              <a:t>Sin redondear</a:t>
            </a:r>
            <a:endParaRPr lang="en-US" sz="1500" dirty="0"/>
          </a:p>
        </p:txBody>
      </p:sp>
      <p:sp>
        <p:nvSpPr>
          <p:cNvPr id="20" name="Text 12"/>
          <p:cNvSpPr/>
          <p:nvPr/>
        </p:nvSpPr>
        <p:spPr>
          <a:xfrm>
            <a:off x="4529634" y="4820642"/>
            <a:ext cx="3226613"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Cada valor se interpola entre los puntos vecinos, y así la máscara queda alineada con el objeto.</a:t>
            </a:r>
            <a:endParaRPr lang="en-US" sz="1200" dirty="0"/>
          </a:p>
        </p:txBody>
      </p:sp>
      <p:sp>
        <p:nvSpPr>
          <p:cNvPr id="21" name="Shape 13"/>
          <p:cNvSpPr/>
          <p:nvPr/>
        </p:nvSpPr>
        <p:spPr>
          <a:xfrm>
            <a:off x="7948017" y="4445992"/>
            <a:ext cx="3424734" cy="1102122"/>
          </a:xfrm>
          <a:prstGeom prst="roundRect">
            <a:avLst>
              <a:gd name="adj" fmla="val 10947"/>
            </a:avLst>
          </a:prstGeom>
          <a:solidFill>
            <a:srgbClr val="FCFDFD"/>
          </a:solidFill>
          <a:ln w="12700">
            <a:solidFill>
              <a:srgbClr val="D5E3EA"/>
            </a:solidFill>
            <a:prstDash val="solid"/>
          </a:ln>
        </p:spPr>
      </p:sp>
      <p:sp>
        <p:nvSpPr>
          <p:cNvPr id="22" name="Text 14"/>
          <p:cNvSpPr/>
          <p:nvPr/>
        </p:nvSpPr>
        <p:spPr>
          <a:xfrm>
            <a:off x="8106767" y="4566642"/>
            <a:ext cx="32004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Sin pesos propios</a:t>
            </a:r>
            <a:endParaRPr lang="en-US" sz="1500" dirty="0"/>
          </a:p>
        </p:txBody>
      </p:sp>
      <p:sp>
        <p:nvSpPr>
          <p:cNvPr id="23" name="Text 15"/>
          <p:cNvSpPr/>
          <p:nvPr/>
        </p:nvSpPr>
        <p:spPr>
          <a:xfrm>
            <a:off x="8106767" y="4833342"/>
            <a:ext cx="320045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Solo recorta y muestrea. Los pesos están en las etapas anteriores y siguientes.</a:t>
            </a:r>
            <a:endParaRPr lang="en-US" sz="1200" dirty="0"/>
          </a:p>
        </p:txBody>
      </p:sp>
      <p:sp>
        <p:nvSpPr>
          <p:cNvPr id="24"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2 · Esquema ilustrativo</a:t>
            </a:r>
            <a:endParaRPr lang="en-US" sz="1200" dirty="0"/>
          </a:p>
        </p:txBody>
      </p:sp>
      <p:sp>
        <p:nvSpPr>
          <p:cNvPr id="25"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7 /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¿QUÉ ES CADA PROPUESTA?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La cabeza de clasificación</a:t>
            </a:r>
            <a:endParaRPr lang="en-US" sz="3600" dirty="0"/>
          </a:p>
        </p:txBody>
      </p:sp>
      <p:sp>
        <p:nvSpPr>
          <p:cNvPr id="6" name="Shape 2"/>
          <p:cNvSpPr/>
          <p:nvPr/>
        </p:nvSpPr>
        <p:spPr>
          <a:xfrm>
            <a:off x="819150" y="1814711"/>
            <a:ext cx="1746250" cy="2019102"/>
          </a:xfrm>
          <a:prstGeom prst="roundRect">
            <a:avLst>
              <a:gd name="adj" fmla="val 6909"/>
            </a:avLst>
          </a:prstGeom>
          <a:solidFill>
            <a:srgbClr val="12304A"/>
          </a:solidFill>
          <a:ln w="12700">
            <a:solidFill>
              <a:srgbClr val="24506E"/>
            </a:solidFill>
            <a:prstDash val="solid"/>
          </a:ln>
        </p:spPr>
      </p:sp>
      <p:sp>
        <p:nvSpPr>
          <p:cNvPr id="7" name="Text 3"/>
          <p:cNvSpPr/>
          <p:nvPr/>
        </p:nvSpPr>
        <p:spPr>
          <a:xfrm>
            <a:off x="965200" y="1960761"/>
            <a:ext cx="15049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RECORTE</a:t>
            </a:r>
            <a:endParaRPr lang="en-US" sz="1200" dirty="0"/>
          </a:p>
        </p:txBody>
      </p:sp>
      <p:sp>
        <p:nvSpPr>
          <p:cNvPr id="8" name="Text 4"/>
          <p:cNvSpPr/>
          <p:nvPr/>
        </p:nvSpPr>
        <p:spPr>
          <a:xfrm>
            <a:off x="965200" y="2224881"/>
            <a:ext cx="150495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F1F6F8"/>
                </a:solidFill>
                <a:latin typeface="EB Garamond" pitchFamily="18" charset="0"/>
                <a:ea typeface="EB Garamond" pitchFamily="18" charset="-122"/>
                <a:cs typeface="EB Garamond" pitchFamily="18" charset="-120"/>
              </a:rPr>
              <a:t>7 × 7 × 256</a:t>
            </a:r>
            <a:endParaRPr lang="en-US" sz="2000" dirty="0"/>
          </a:p>
        </p:txBody>
      </p:sp>
      <p:pic>
        <p:nvPicPr>
          <p:cNvPr id="9" name="Image 2" descr="Un espermatozoide con la caja de una propuesta">    </p:cNvPr>
          <p:cNvPicPr>
            <a:picLocks noChangeAspect="1"/>
          </p:cNvPicPr>
          <p:nvPr/>
        </p:nvPicPr>
        <p:blipFill>
          <a:blip r:embed="rId3"/>
          <a:srcRect l="5660" r="5660" t="0" b="0"/>
          <a:stretch/>
        </p:blipFill>
        <p:spPr>
          <a:xfrm>
            <a:off x="965200" y="2555081"/>
            <a:ext cx="685800" cy="685800"/>
          </a:xfrm>
          <a:prstGeom prst="roundRect">
            <a:avLst>
              <a:gd name="adj" fmla="val 7407"/>
            </a:avLst>
          </a:prstGeom>
        </p:spPr>
      </p:pic>
      <p:pic>
        <p:nvPicPr>
          <p:cNvPr id="10" name="Image 3" descr="El recorte de esa propuesta como cuadrícula de 7 por 7">    </p:cNvPr>
          <p:cNvPicPr>
            <a:picLocks noChangeAspect="1"/>
          </p:cNvPicPr>
          <p:nvPr/>
        </p:nvPicPr>
        <p:blipFill>
          <a:blip r:embed="rId4"/>
          <a:srcRect l="0" r="0" t="0" b="0"/>
          <a:stretch/>
        </p:blipFill>
        <p:spPr>
          <a:xfrm>
            <a:off x="1714500" y="2555081"/>
            <a:ext cx="685800" cy="685800"/>
          </a:xfrm>
          <a:prstGeom prst="roundRect">
            <a:avLst>
              <a:gd name="adj" fmla="val 7407"/>
            </a:avLst>
          </a:prstGeom>
        </p:spPr>
      </p:pic>
      <p:sp>
        <p:nvSpPr>
          <p:cNvPr id="11" name="Text 5"/>
          <p:cNvSpPr/>
          <p:nvPr/>
        </p:nvSpPr>
        <p:spPr>
          <a:xfrm>
            <a:off x="965200" y="3291681"/>
            <a:ext cx="150495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Uno por cada propuesta.</a:t>
            </a:r>
            <a:endParaRPr lang="en-US" sz="1200" dirty="0"/>
          </a:p>
        </p:txBody>
      </p:sp>
      <p:pic>
        <p:nvPicPr>
          <p:cNvPr id="12" name="Image 4" descr="arrow-right">    </p:cNvPr>
          <p:cNvPicPr>
            <a:picLocks noChangeAspect="1"/>
          </p:cNvPicPr>
          <p:nvPr/>
        </p:nvPicPr>
        <p:blipFill>
          <a:blip r:embed="rId5"/>
          <a:srcRect l="0" r="0" t="0" b="0"/>
          <a:stretch/>
        </p:blipFill>
        <p:spPr>
          <a:xfrm>
            <a:off x="2647950" y="2754412"/>
            <a:ext cx="190500" cy="139700"/>
          </a:xfrm>
          <a:prstGeom prst="rect">
            <a:avLst/>
          </a:prstGeom>
        </p:spPr>
      </p:pic>
      <p:sp>
        <p:nvSpPr>
          <p:cNvPr id="13" name="Shape 6"/>
          <p:cNvSpPr/>
          <p:nvPr/>
        </p:nvSpPr>
        <p:spPr>
          <a:xfrm>
            <a:off x="2921000" y="2282031"/>
            <a:ext cx="1746250" cy="1084461"/>
          </a:xfrm>
          <a:prstGeom prst="roundRect">
            <a:avLst>
              <a:gd name="adj" fmla="val 11125"/>
            </a:avLst>
          </a:prstGeom>
          <a:solidFill>
            <a:srgbClr val="12304A"/>
          </a:solidFill>
          <a:ln w="12700">
            <a:solidFill>
              <a:srgbClr val="24506E"/>
            </a:solidFill>
            <a:prstDash val="solid"/>
          </a:ln>
        </p:spPr>
      </p:sp>
      <p:sp>
        <p:nvSpPr>
          <p:cNvPr id="14" name="Text 7"/>
          <p:cNvSpPr/>
          <p:nvPr/>
        </p:nvSpPr>
        <p:spPr>
          <a:xfrm>
            <a:off x="3067050" y="2428081"/>
            <a:ext cx="15049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SE ESTIRA</a:t>
            </a:r>
            <a:endParaRPr lang="en-US" sz="1200" dirty="0"/>
          </a:p>
        </p:txBody>
      </p:sp>
      <p:sp>
        <p:nvSpPr>
          <p:cNvPr id="15" name="Text 8"/>
          <p:cNvSpPr/>
          <p:nvPr/>
        </p:nvSpPr>
        <p:spPr>
          <a:xfrm>
            <a:off x="3067050" y="2692202"/>
            <a:ext cx="150495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F1F6F8"/>
                </a:solidFill>
                <a:latin typeface="EB Garamond" pitchFamily="18" charset="0"/>
                <a:ea typeface="EB Garamond" pitchFamily="18" charset="-122"/>
                <a:cs typeface="EB Garamond" pitchFamily="18" charset="-120"/>
              </a:rPr>
              <a:t>12,544</a:t>
            </a:r>
            <a:endParaRPr lang="en-US" sz="2000" dirty="0"/>
          </a:p>
        </p:txBody>
      </p:sp>
      <p:sp>
        <p:nvSpPr>
          <p:cNvPr id="16" name="Text 9"/>
          <p:cNvSpPr/>
          <p:nvPr/>
        </p:nvSpPr>
        <p:spPr>
          <a:xfrm>
            <a:off x="3067050" y="3022402"/>
            <a:ext cx="150495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Números en una fila.</a:t>
            </a:r>
            <a:endParaRPr lang="en-US" sz="1200" dirty="0"/>
          </a:p>
        </p:txBody>
      </p:sp>
      <p:pic>
        <p:nvPicPr>
          <p:cNvPr id="17" name="Image 5" descr="arrow-right">    </p:cNvPr>
          <p:cNvPicPr>
            <a:picLocks noChangeAspect="1"/>
          </p:cNvPicPr>
          <p:nvPr/>
        </p:nvPicPr>
        <p:blipFill>
          <a:blip r:embed="rId6"/>
          <a:srcRect l="0" r="0" t="0" b="0"/>
          <a:stretch/>
        </p:blipFill>
        <p:spPr>
          <a:xfrm>
            <a:off x="4749800" y="2754412"/>
            <a:ext cx="190500" cy="139700"/>
          </a:xfrm>
          <a:prstGeom prst="rect">
            <a:avLst/>
          </a:prstGeom>
        </p:spPr>
      </p:pic>
      <p:sp>
        <p:nvSpPr>
          <p:cNvPr id="18" name="Shape 10"/>
          <p:cNvSpPr/>
          <p:nvPr/>
        </p:nvSpPr>
        <p:spPr>
          <a:xfrm>
            <a:off x="5022850" y="2183011"/>
            <a:ext cx="1746250" cy="1282502"/>
          </a:xfrm>
          <a:prstGeom prst="roundRect">
            <a:avLst>
              <a:gd name="adj" fmla="val 9407"/>
            </a:avLst>
          </a:prstGeom>
          <a:solidFill>
            <a:srgbClr val="12304A"/>
          </a:solidFill>
          <a:ln w="12700">
            <a:solidFill>
              <a:srgbClr val="24506E"/>
            </a:solidFill>
            <a:prstDash val="solid"/>
          </a:ln>
        </p:spPr>
      </p:sp>
      <p:sp>
        <p:nvSpPr>
          <p:cNvPr id="19" name="Text 11"/>
          <p:cNvSpPr/>
          <p:nvPr/>
        </p:nvSpPr>
        <p:spPr>
          <a:xfrm>
            <a:off x="5168900" y="2329061"/>
            <a:ext cx="15049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CAPA 1</a:t>
            </a:r>
            <a:endParaRPr lang="en-US" sz="1200" dirty="0"/>
          </a:p>
        </p:txBody>
      </p:sp>
      <p:sp>
        <p:nvSpPr>
          <p:cNvPr id="20" name="Text 12"/>
          <p:cNvSpPr/>
          <p:nvPr/>
        </p:nvSpPr>
        <p:spPr>
          <a:xfrm>
            <a:off x="5168900" y="2593181"/>
            <a:ext cx="150495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F1F6F8"/>
                </a:solidFill>
                <a:latin typeface="EB Garamond" pitchFamily="18" charset="0"/>
                <a:ea typeface="EB Garamond" pitchFamily="18" charset="-122"/>
                <a:cs typeface="EB Garamond" pitchFamily="18" charset="-120"/>
              </a:rPr>
              <a:t>1,024</a:t>
            </a:r>
            <a:endParaRPr lang="en-US" sz="2000" dirty="0"/>
          </a:p>
        </p:txBody>
      </p:sp>
      <p:sp>
        <p:nvSpPr>
          <p:cNvPr id="21" name="Text 13"/>
          <p:cNvSpPr/>
          <p:nvPr/>
        </p:nvSpPr>
        <p:spPr>
          <a:xfrm>
            <a:off x="5168900" y="2923381"/>
            <a:ext cx="150495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Neuronas: 12.8 millones de pesos.</a:t>
            </a:r>
            <a:endParaRPr lang="en-US" sz="1200" dirty="0"/>
          </a:p>
        </p:txBody>
      </p:sp>
      <p:pic>
        <p:nvPicPr>
          <p:cNvPr id="22" name="Image 6" descr="arrow-right">    </p:cNvPr>
          <p:cNvPicPr>
            <a:picLocks noChangeAspect="1"/>
          </p:cNvPicPr>
          <p:nvPr/>
        </p:nvPicPr>
        <p:blipFill>
          <a:blip r:embed="rId7"/>
          <a:srcRect l="0" r="0" t="0" b="0"/>
          <a:stretch/>
        </p:blipFill>
        <p:spPr>
          <a:xfrm>
            <a:off x="6851650" y="2754412"/>
            <a:ext cx="190500" cy="139700"/>
          </a:xfrm>
          <a:prstGeom prst="rect">
            <a:avLst/>
          </a:prstGeom>
        </p:spPr>
      </p:pic>
      <p:sp>
        <p:nvSpPr>
          <p:cNvPr id="23" name="Shape 14"/>
          <p:cNvSpPr/>
          <p:nvPr/>
        </p:nvSpPr>
        <p:spPr>
          <a:xfrm>
            <a:off x="7124700" y="2183011"/>
            <a:ext cx="1746250" cy="1282502"/>
          </a:xfrm>
          <a:prstGeom prst="roundRect">
            <a:avLst>
              <a:gd name="adj" fmla="val 9407"/>
            </a:avLst>
          </a:prstGeom>
          <a:solidFill>
            <a:srgbClr val="12304A"/>
          </a:solidFill>
          <a:ln w="12700">
            <a:solidFill>
              <a:srgbClr val="24506E"/>
            </a:solidFill>
            <a:prstDash val="solid"/>
          </a:ln>
        </p:spPr>
      </p:sp>
      <p:sp>
        <p:nvSpPr>
          <p:cNvPr id="24" name="Text 15"/>
          <p:cNvSpPr/>
          <p:nvPr/>
        </p:nvSpPr>
        <p:spPr>
          <a:xfrm>
            <a:off x="7270750" y="2329061"/>
            <a:ext cx="15049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CAPA 2</a:t>
            </a:r>
            <a:endParaRPr lang="en-US" sz="1200" dirty="0"/>
          </a:p>
        </p:txBody>
      </p:sp>
      <p:sp>
        <p:nvSpPr>
          <p:cNvPr id="25" name="Text 16"/>
          <p:cNvSpPr/>
          <p:nvPr/>
        </p:nvSpPr>
        <p:spPr>
          <a:xfrm>
            <a:off x="7270750" y="2593181"/>
            <a:ext cx="150495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F1F6F8"/>
                </a:solidFill>
                <a:latin typeface="EB Garamond" pitchFamily="18" charset="0"/>
                <a:ea typeface="EB Garamond" pitchFamily="18" charset="-122"/>
                <a:cs typeface="EB Garamond" pitchFamily="18" charset="-120"/>
              </a:rPr>
              <a:t>1,024</a:t>
            </a:r>
            <a:endParaRPr lang="en-US" sz="2000" dirty="0"/>
          </a:p>
        </p:txBody>
      </p:sp>
      <p:sp>
        <p:nvSpPr>
          <p:cNvPr id="26" name="Text 17"/>
          <p:cNvSpPr/>
          <p:nvPr/>
        </p:nvSpPr>
        <p:spPr>
          <a:xfrm>
            <a:off x="7270750" y="2923381"/>
            <a:ext cx="150495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Neuronas: 1.0 millones de pesos.</a:t>
            </a:r>
            <a:endParaRPr lang="en-US" sz="1200" dirty="0"/>
          </a:p>
        </p:txBody>
      </p:sp>
      <p:pic>
        <p:nvPicPr>
          <p:cNvPr id="27" name="Image 7" descr="arrow-right">    </p:cNvPr>
          <p:cNvPicPr>
            <a:picLocks noChangeAspect="1"/>
          </p:cNvPicPr>
          <p:nvPr/>
        </p:nvPicPr>
        <p:blipFill>
          <a:blip r:embed="rId8"/>
          <a:srcRect l="0" r="0" t="0" b="0"/>
          <a:stretch/>
        </p:blipFill>
        <p:spPr>
          <a:xfrm>
            <a:off x="8953500" y="2754412"/>
            <a:ext cx="190500" cy="139700"/>
          </a:xfrm>
          <a:prstGeom prst="rect">
            <a:avLst/>
          </a:prstGeom>
        </p:spPr>
      </p:pic>
      <p:sp>
        <p:nvSpPr>
          <p:cNvPr id="28" name="Shape 18"/>
          <p:cNvSpPr/>
          <p:nvPr/>
        </p:nvSpPr>
        <p:spPr>
          <a:xfrm>
            <a:off x="9229725" y="1951335"/>
            <a:ext cx="2139950" cy="831652"/>
          </a:xfrm>
          <a:prstGeom prst="roundRect">
            <a:avLst>
              <a:gd name="adj" fmla="val 11071"/>
            </a:avLst>
          </a:prstGeom>
          <a:solidFill>
            <a:srgbClr val="12304A"/>
          </a:solidFill>
          <a:ln w="19050">
            <a:solidFill>
              <a:srgbClr val="F4A259"/>
            </a:solidFill>
            <a:prstDash val="solid"/>
          </a:ln>
        </p:spPr>
      </p:sp>
      <p:sp>
        <p:nvSpPr>
          <p:cNvPr id="29" name="Text 19"/>
          <p:cNvSpPr/>
          <p:nvPr/>
        </p:nvSpPr>
        <p:spPr>
          <a:xfrm>
            <a:off x="9353550" y="2049760"/>
            <a:ext cx="194906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A259"/>
                </a:solidFill>
                <a:latin typeface="IBM Plex Sans" pitchFamily="34" charset="0"/>
                <a:ea typeface="IBM Plex Sans" pitchFamily="34" charset="-122"/>
                <a:cs typeface="IBM Plex Sans" pitchFamily="34" charset="-120"/>
              </a:rPr>
              <a:t>Qué es</a:t>
            </a:r>
            <a:endParaRPr lang="en-US" sz="1200" dirty="0"/>
          </a:p>
        </p:txBody>
      </p:sp>
      <p:sp>
        <p:nvSpPr>
          <p:cNvPr id="30" name="Text 20"/>
          <p:cNvSpPr/>
          <p:nvPr/>
        </p:nvSpPr>
        <p:spPr>
          <a:xfrm>
            <a:off x="9353550" y="2288480"/>
            <a:ext cx="194906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Fondo 0.03</a:t>
            </a:r>
            <a:endParaRPr lang="en-US" sz="1200" dirty="0"/>
          </a:p>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Espermatozoide 0.97</a:t>
            </a:r>
            <a:endParaRPr lang="en-US" sz="1200" dirty="0"/>
          </a:p>
        </p:txBody>
      </p:sp>
      <p:sp>
        <p:nvSpPr>
          <p:cNvPr id="31" name="Shape 21"/>
          <p:cNvSpPr/>
          <p:nvPr/>
        </p:nvSpPr>
        <p:spPr>
          <a:xfrm>
            <a:off x="9229725" y="2865537"/>
            <a:ext cx="2139950" cy="831652"/>
          </a:xfrm>
          <a:prstGeom prst="roundRect">
            <a:avLst>
              <a:gd name="adj" fmla="val 11071"/>
            </a:avLst>
          </a:prstGeom>
          <a:solidFill>
            <a:srgbClr val="12304A"/>
          </a:solidFill>
          <a:ln w="19050">
            <a:solidFill>
              <a:srgbClr val="F4A259"/>
            </a:solidFill>
            <a:prstDash val="solid"/>
          </a:ln>
        </p:spPr>
      </p:sp>
      <p:sp>
        <p:nvSpPr>
          <p:cNvPr id="32" name="Text 22"/>
          <p:cNvSpPr/>
          <p:nvPr/>
        </p:nvSpPr>
        <p:spPr>
          <a:xfrm>
            <a:off x="9353550" y="2963962"/>
            <a:ext cx="194906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A259"/>
                </a:solidFill>
                <a:latin typeface="IBM Plex Sans" pitchFamily="34" charset="0"/>
                <a:ea typeface="IBM Plex Sans" pitchFamily="34" charset="-122"/>
                <a:cs typeface="IBM Plex Sans" pitchFamily="34" charset="-120"/>
              </a:rPr>
              <a:t>Caja afinada</a:t>
            </a:r>
            <a:endParaRPr lang="en-US" sz="1200" dirty="0"/>
          </a:p>
        </p:txBody>
      </p:sp>
      <p:sp>
        <p:nvSpPr>
          <p:cNvPr id="33" name="Text 23"/>
          <p:cNvSpPr/>
          <p:nvPr/>
        </p:nvSpPr>
        <p:spPr>
          <a:xfrm>
            <a:off x="9353550" y="3202682"/>
            <a:ext cx="194906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4 números · 10,250 pesos en la última capa</a:t>
            </a:r>
            <a:endParaRPr lang="en-US" sz="1200" dirty="0"/>
          </a:p>
        </p:txBody>
      </p:sp>
      <p:sp>
        <p:nvSpPr>
          <p:cNvPr id="34" name="Shape 24"/>
          <p:cNvSpPr/>
          <p:nvPr/>
        </p:nvSpPr>
        <p:spPr>
          <a:xfrm>
            <a:off x="812800" y="4043363"/>
            <a:ext cx="5219700" cy="848221"/>
          </a:xfrm>
          <a:prstGeom prst="roundRect">
            <a:avLst>
              <a:gd name="adj" fmla="val 14973"/>
            </a:avLst>
          </a:prstGeom>
          <a:solidFill>
            <a:srgbClr val="F4A259"/>
          </a:solidFill>
          <a:ln/>
        </p:spPr>
      </p:sp>
      <p:pic>
        <p:nvPicPr>
          <p:cNvPr id="35" name="Image 8" descr="Lightbulb">    </p:cNvPr>
          <p:cNvPicPr>
            <a:picLocks noChangeAspect="1"/>
          </p:cNvPicPr>
          <p:nvPr/>
        </p:nvPicPr>
        <p:blipFill>
          <a:blip r:embed="rId9"/>
          <a:srcRect l="0" r="0" t="0" b="0"/>
          <a:stretch/>
        </p:blipFill>
        <p:spPr>
          <a:xfrm>
            <a:off x="990600" y="4315023"/>
            <a:ext cx="304800" cy="304800"/>
          </a:xfrm>
          <a:prstGeom prst="rect">
            <a:avLst/>
          </a:prstGeom>
        </p:spPr>
      </p:pic>
      <p:sp>
        <p:nvSpPr>
          <p:cNvPr id="36" name="Text 25"/>
          <p:cNvSpPr/>
          <p:nvPr/>
        </p:nvSpPr>
        <p:spPr>
          <a:xfrm>
            <a:off x="1422400" y="4244578"/>
            <a:ext cx="456526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A1406"/>
                </a:solidFill>
                <a:latin typeface="IBM Plex Sans" pitchFamily="34" charset="0"/>
                <a:ea typeface="IBM Plex Sans" pitchFamily="34" charset="-122"/>
                <a:cs typeface="IBM Plex Sans" pitchFamily="34" charset="-120"/>
              </a:rPr>
              <a:t>Aquí sí hay neuronas conectadas con todo, pero sobre un resumen pequeño y no sobre la foto completa.</a:t>
            </a:r>
            <a:endParaRPr lang="en-US" sz="1300" dirty="0"/>
          </a:p>
        </p:txBody>
      </p:sp>
      <p:sp>
        <p:nvSpPr>
          <p:cNvPr id="37" name="Shape 26"/>
          <p:cNvSpPr/>
          <p:nvPr/>
        </p:nvSpPr>
        <p:spPr>
          <a:xfrm>
            <a:off x="6165850" y="4049713"/>
            <a:ext cx="5207000" cy="835521"/>
          </a:xfrm>
          <a:prstGeom prst="roundRect">
            <a:avLst>
              <a:gd name="adj" fmla="val 14440"/>
            </a:avLst>
          </a:prstGeom>
          <a:solidFill>
            <a:srgbClr val="12304A"/>
          </a:solidFill>
          <a:ln w="12700">
            <a:solidFill>
              <a:srgbClr val="24506E"/>
            </a:solidFill>
            <a:prstDash val="solid"/>
          </a:ln>
        </p:spPr>
      </p:sp>
      <p:sp>
        <p:nvSpPr>
          <p:cNvPr id="38" name="Text 27"/>
          <p:cNvSpPr/>
          <p:nvPr/>
        </p:nvSpPr>
        <p:spPr>
          <a:xfrm>
            <a:off x="6350000" y="4195763"/>
            <a:ext cx="4983861"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1F6F8"/>
                </a:solidFill>
                <a:latin typeface="EB Garamond" pitchFamily="18" charset="0"/>
                <a:ea typeface="EB Garamond" pitchFamily="18" charset="-122"/>
                <a:cs typeface="EB Garamond" pitchFamily="18" charset="-120"/>
              </a:rPr>
              <a:t>13.9 millones de pesos</a:t>
            </a:r>
            <a:endParaRPr lang="en-US" sz="2200" dirty="0"/>
          </a:p>
        </p:txBody>
      </p:sp>
      <p:sp>
        <p:nvSpPr>
          <p:cNvPr id="39" name="Text 28"/>
          <p:cNvSpPr/>
          <p:nvPr/>
        </p:nvSpPr>
        <p:spPr>
          <a:xfrm>
            <a:off x="6350000" y="4541143"/>
            <a:ext cx="498386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Después de la base, es la parte con más pesos.</a:t>
            </a:r>
            <a:endParaRPr lang="en-US" sz="1200" dirty="0"/>
          </a:p>
        </p:txBody>
      </p:sp>
      <p:sp>
        <p:nvSpPr>
          <p:cNvPr id="40" name="Text 2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2 · Los puntajes de la salida son un ejemplo · Recorte: una propuesta real</a:t>
            </a:r>
            <a:endParaRPr lang="en-US" sz="1200" dirty="0"/>
          </a:p>
        </p:txBody>
      </p:sp>
      <p:sp>
        <p:nvSpPr>
          <p:cNvPr id="41" name="Text 3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8 / 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LA FORMA DE CADA UNO</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La cabeza de máscara</a:t>
            </a:r>
            <a:endParaRPr lang="en-US" sz="3600" dirty="0"/>
          </a:p>
        </p:txBody>
      </p:sp>
      <p:sp>
        <p:nvSpPr>
          <p:cNvPr id="6" name="Text 2"/>
          <p:cNvSpPr/>
          <p:nvPr/>
        </p:nvSpPr>
        <p:spPr>
          <a:xfrm>
            <a:off x="812800" y="2123877"/>
            <a:ext cx="219760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EL ESPERMATOZOIDE</a:t>
            </a:r>
            <a:endParaRPr lang="en-US" sz="1200" dirty="0"/>
          </a:p>
        </p:txBody>
      </p:sp>
      <p:pic>
        <p:nvPicPr>
          <p:cNvPr id="7" name="Image 2" descr="Recorte de un espermatozoide de la imagen de muestra">    </p:cNvPr>
          <p:cNvPicPr>
            <a:picLocks noChangeAspect="1"/>
          </p:cNvPicPr>
          <p:nvPr/>
        </p:nvPicPr>
        <p:blipFill>
          <a:blip r:embed="rId3"/>
          <a:srcRect l="0" r="0" t="266" b="266"/>
          <a:stretch/>
        </p:blipFill>
        <p:spPr>
          <a:xfrm>
            <a:off x="825500" y="2413397"/>
            <a:ext cx="2108200" cy="1454150"/>
          </a:xfrm>
          <a:prstGeom prst="roundRect">
            <a:avLst>
              <a:gd name="adj" fmla="val 4367"/>
            </a:avLst>
          </a:prstGeom>
        </p:spPr>
      </p:pic>
      <p:sp>
        <p:nvSpPr>
          <p:cNvPr id="8" name="Shape 3"/>
          <p:cNvSpPr/>
          <p:nvPr/>
        </p:nvSpPr>
        <p:spPr>
          <a:xfrm>
            <a:off x="819150" y="2407047"/>
            <a:ext cx="2120900" cy="1466850"/>
          </a:xfrm>
          <a:prstGeom prst="roundRect">
            <a:avLst>
              <a:gd name="adj" fmla="val 4762"/>
            </a:avLst>
          </a:prstGeom>
          <a:noFill/>
          <a:ln w="12700">
            <a:solidFill>
              <a:srgbClr val="D5E3EA"/>
            </a:solidFill>
            <a:prstDash val="solid"/>
          </a:ln>
        </p:spPr>
      </p:sp>
      <p:sp>
        <p:nvSpPr>
          <p:cNvPr id="9" name="Text 4"/>
          <p:cNvSpPr/>
          <p:nvPr/>
        </p:nvSpPr>
        <p:spPr>
          <a:xfrm>
            <a:off x="812800" y="3943747"/>
            <a:ext cx="219760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Recorte de la imagen de muestra.</a:t>
            </a:r>
            <a:endParaRPr lang="en-US" sz="1200" dirty="0"/>
          </a:p>
        </p:txBody>
      </p:sp>
      <p:sp>
        <p:nvSpPr>
          <p:cNvPr id="10" name="Text 5"/>
          <p:cNvSpPr/>
          <p:nvPr/>
        </p:nvSpPr>
        <p:spPr>
          <a:xfrm>
            <a:off x="3181350" y="1789311"/>
            <a:ext cx="2527300" cy="421580"/>
          </a:xfrm>
          <a:prstGeom prst="roundRect">
            <a:avLst>
              <a:gd name="adj" fmla="val 19581"/>
            </a:avLst>
          </a:prstGeom>
          <a:solidFill>
            <a:srgbClr val="FCFDFD"/>
          </a:solidFill>
          <a:ln w="12700">
            <a:solidFill>
              <a:srgbClr val="D5E3EA"/>
            </a:solidFill>
            <a:prstDash val="solid"/>
          </a:ln>
        </p:spPr>
        <p:txBody>
          <a:bodyPr wrap="square" lIns="109172" tIns="71072" rIns="41354" bIns="45672" rtlCol="0" anchor="t">
            <a:normAutofit/>
          </a:bodyPr>
          <a:lstStyle/>
          <a:p>
            <a:pPr algn="l" indent="0" marL="0">
              <a:lnSpc>
                <a:spcPts val="1820"/>
              </a:lnSpc>
              <a:buNone/>
            </a:pPr>
            <a:r>
              <a:rPr lang="en-US" sz="1300" b="1" dirty="0">
                <a:solidFill>
                  <a:srgbClr val="0C2A3E"/>
                </a:solidFill>
                <a:latin typeface="IBM Plex Sans" pitchFamily="34" charset="0"/>
                <a:ea typeface="IBM Plex Sans" pitchFamily="34" charset="-122"/>
                <a:cs typeface="IBM Plex Sans" pitchFamily="34" charset="-120"/>
              </a:rPr>
              <a:t>Recorte de 14 × 14 × 256</a:t>
            </a:r>
            <a:endParaRPr lang="en-US" sz="1300" dirty="0"/>
          </a:p>
        </p:txBody>
      </p:sp>
      <p:pic>
        <p:nvPicPr>
          <p:cNvPr id="11" name="Image 3" descr="arrow-down">    </p:cNvPr>
          <p:cNvPicPr>
            <a:picLocks noChangeAspect="1"/>
          </p:cNvPicPr>
          <p:nvPr/>
        </p:nvPicPr>
        <p:blipFill>
          <a:blip r:embed="rId4"/>
          <a:srcRect l="0" r="0" t="0" b="0"/>
          <a:stretch/>
        </p:blipFill>
        <p:spPr>
          <a:xfrm>
            <a:off x="4362450" y="2268041"/>
            <a:ext cx="165100" cy="139700"/>
          </a:xfrm>
          <a:prstGeom prst="rect">
            <a:avLst/>
          </a:prstGeom>
        </p:spPr>
      </p:pic>
      <p:sp>
        <p:nvSpPr>
          <p:cNvPr id="12" name="Text 6"/>
          <p:cNvSpPr/>
          <p:nvPr/>
        </p:nvSpPr>
        <p:spPr>
          <a:xfrm>
            <a:off x="3181350" y="2464891"/>
            <a:ext cx="2527300" cy="652661"/>
          </a:xfrm>
          <a:prstGeom prst="roundRect">
            <a:avLst>
              <a:gd name="adj" fmla="val 12648"/>
            </a:avLst>
          </a:prstGeom>
          <a:solidFill>
            <a:srgbClr val="FCFDFD"/>
          </a:solidFill>
          <a:ln w="12700">
            <a:solidFill>
              <a:srgbClr val="D5E3EA"/>
            </a:solidFill>
            <a:prstDash val="solid"/>
          </a:ln>
        </p:spPr>
        <p:txBody>
          <a:bodyPr wrap="square" lIns="109172" tIns="71072" rIns="41354" bIns="45672" rtlCol="0" anchor="t">
            <a:normAutofit/>
          </a:bodyPr>
          <a:lstStyle/>
          <a:p>
            <a:pPr algn="l" indent="0" marL="0">
              <a:lnSpc>
                <a:spcPts val="1820"/>
              </a:lnSpc>
              <a:buNone/>
            </a:pPr>
            <a:r>
              <a:rPr lang="en-US" sz="1300" b="1" dirty="0">
                <a:solidFill>
                  <a:srgbClr val="0C2A3E"/>
                </a:solidFill>
                <a:latin typeface="IBM Plex Sans" pitchFamily="34" charset="0"/>
                <a:ea typeface="IBM Plex Sans" pitchFamily="34" charset="-122"/>
                <a:cs typeface="IBM Plex Sans" pitchFamily="34" charset="-120"/>
              </a:rPr>
              <a:t>Cuatro capas de filtros de 3 × 3</a:t>
            </a:r>
            <a:endParaRPr lang="en-US" sz="1300" dirty="0"/>
          </a:p>
        </p:txBody>
      </p:sp>
      <p:pic>
        <p:nvPicPr>
          <p:cNvPr id="13" name="Image 4" descr="arrow-down">    </p:cNvPr>
          <p:cNvPicPr>
            <a:picLocks noChangeAspect="1"/>
          </p:cNvPicPr>
          <p:nvPr/>
        </p:nvPicPr>
        <p:blipFill>
          <a:blip r:embed="rId5"/>
          <a:srcRect l="0" r="0" t="0" b="0"/>
          <a:stretch/>
        </p:blipFill>
        <p:spPr>
          <a:xfrm>
            <a:off x="4362450" y="3174702"/>
            <a:ext cx="165100" cy="139700"/>
          </a:xfrm>
          <a:prstGeom prst="rect">
            <a:avLst/>
          </a:prstGeom>
        </p:spPr>
      </p:pic>
      <p:sp>
        <p:nvSpPr>
          <p:cNvPr id="14" name="Text 7"/>
          <p:cNvSpPr/>
          <p:nvPr/>
        </p:nvSpPr>
        <p:spPr>
          <a:xfrm>
            <a:off x="3181350" y="3371552"/>
            <a:ext cx="2527300" cy="421580"/>
          </a:xfrm>
          <a:prstGeom prst="roundRect">
            <a:avLst>
              <a:gd name="adj" fmla="val 19581"/>
            </a:avLst>
          </a:prstGeom>
          <a:solidFill>
            <a:srgbClr val="FCFDFD"/>
          </a:solidFill>
          <a:ln w="12700">
            <a:solidFill>
              <a:srgbClr val="D5E3EA"/>
            </a:solidFill>
            <a:prstDash val="solid"/>
          </a:ln>
        </p:spPr>
        <p:txBody>
          <a:bodyPr wrap="square" lIns="109172" tIns="71072" rIns="41354" bIns="45672" rtlCol="0" anchor="t">
            <a:normAutofit/>
          </a:bodyPr>
          <a:lstStyle/>
          <a:p>
            <a:pPr algn="l" indent="0" marL="0">
              <a:lnSpc>
                <a:spcPts val="1820"/>
              </a:lnSpc>
              <a:buNone/>
            </a:pPr>
            <a:r>
              <a:rPr lang="en-US" sz="1300" b="1" dirty="0">
                <a:solidFill>
                  <a:srgbClr val="0C2A3E"/>
                </a:solidFill>
                <a:latin typeface="IBM Plex Sans" pitchFamily="34" charset="0"/>
                <a:ea typeface="IBM Plex Sans" pitchFamily="34" charset="-122"/>
                <a:cs typeface="IBM Plex Sans" pitchFamily="34" charset="-120"/>
              </a:rPr>
              <a:t>Ampliación al doble: 28 × 28</a:t>
            </a:r>
            <a:endParaRPr lang="en-US" sz="1300" dirty="0"/>
          </a:p>
        </p:txBody>
      </p:sp>
      <p:pic>
        <p:nvPicPr>
          <p:cNvPr id="15" name="Image 5" descr="arrow-down">    </p:cNvPr>
          <p:cNvPicPr>
            <a:picLocks noChangeAspect="1"/>
          </p:cNvPicPr>
          <p:nvPr/>
        </p:nvPicPr>
        <p:blipFill>
          <a:blip r:embed="rId6"/>
          <a:srcRect l="0" r="0" t="0" b="0"/>
          <a:stretch/>
        </p:blipFill>
        <p:spPr>
          <a:xfrm>
            <a:off x="4362450" y="3850283"/>
            <a:ext cx="165100" cy="139700"/>
          </a:xfrm>
          <a:prstGeom prst="rect">
            <a:avLst/>
          </a:prstGeom>
        </p:spPr>
      </p:pic>
      <p:sp>
        <p:nvSpPr>
          <p:cNvPr id="16" name="Text 8"/>
          <p:cNvSpPr/>
          <p:nvPr/>
        </p:nvSpPr>
        <p:spPr>
          <a:xfrm>
            <a:off x="3175000" y="4040783"/>
            <a:ext cx="2540000" cy="639961"/>
          </a:xfrm>
          <a:prstGeom prst="roundRect">
            <a:avLst>
              <a:gd name="adj" fmla="val 13891"/>
            </a:avLst>
          </a:prstGeom>
          <a:solidFill>
            <a:srgbClr val="0B1F2E"/>
          </a:solidFill>
          <a:ln/>
        </p:spPr>
        <p:txBody>
          <a:bodyPr wrap="square" lIns="100962" tIns="62862" rIns="32382" bIns="37462" rtlCol="0" anchor="t">
            <a:normAutofit/>
          </a:bodyPr>
          <a:lstStyle/>
          <a:p>
            <a:pPr algn="l" indent="0" marL="0">
              <a:lnSpc>
                <a:spcPts val="1820"/>
              </a:lnSpc>
              <a:buNone/>
            </a:pPr>
            <a:r>
              <a:rPr lang="en-US" sz="1300" b="1" dirty="0">
                <a:solidFill>
                  <a:srgbClr val="F4A259"/>
                </a:solidFill>
                <a:latin typeface="IBM Plex Sans" pitchFamily="34" charset="0"/>
                <a:ea typeface="IBM Plex Sans" pitchFamily="34" charset="-122"/>
                <a:cs typeface="IBM Plex Sans" pitchFamily="34" charset="-120"/>
              </a:rPr>
              <a:t>Una máscara por clase, con valores de 0 a 1</a:t>
            </a:r>
            <a:endParaRPr lang="en-US" sz="1300" dirty="0"/>
          </a:p>
        </p:txBody>
      </p:sp>
      <p:sp>
        <p:nvSpPr>
          <p:cNvPr id="17" name="Text 9"/>
          <p:cNvSpPr/>
          <p:nvPr/>
        </p:nvSpPr>
        <p:spPr>
          <a:xfrm>
            <a:off x="5943600" y="1796852"/>
            <a:ext cx="219760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MÁSCARA DE 28 × 28</a:t>
            </a:r>
            <a:endParaRPr lang="en-US" sz="1200" dirty="0"/>
          </a:p>
        </p:txBody>
      </p:sp>
      <p:pic>
        <p:nvPicPr>
          <p:cNvPr id="18" name="Image 6" descr="Máscara de 28 por 28 como mapa de calor, con los puntos más probables en naranja y una línea blanca en el umbral de 0.5">    </p:cNvPr>
          <p:cNvPicPr>
            <a:picLocks noChangeAspect="1"/>
          </p:cNvPicPr>
          <p:nvPr/>
        </p:nvPicPr>
        <p:blipFill>
          <a:blip r:embed="rId7"/>
          <a:srcRect l="0" r="0" t="0" b="0"/>
          <a:stretch/>
        </p:blipFill>
        <p:spPr>
          <a:xfrm>
            <a:off x="5943600" y="2073672"/>
            <a:ext cx="2133600" cy="2133600"/>
          </a:xfrm>
          <a:prstGeom prst="roundRect">
            <a:avLst>
              <a:gd name="adj" fmla="val 3571"/>
            </a:avLst>
          </a:prstGeom>
        </p:spPr>
      </p:pic>
      <p:sp>
        <p:nvSpPr>
          <p:cNvPr id="19" name="Text 10"/>
          <p:cNvSpPr/>
          <p:nvPr/>
        </p:nvSpPr>
        <p:spPr>
          <a:xfrm>
            <a:off x="5943600" y="4270772"/>
            <a:ext cx="219760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Naranja: más probable. Línea blanca: el umbral de 0.5.</a:t>
            </a:r>
            <a:endParaRPr lang="en-US" sz="1200" dirty="0"/>
          </a:p>
        </p:txBody>
      </p:sp>
      <p:sp>
        <p:nvSpPr>
          <p:cNvPr id="20" name="Shape 11"/>
          <p:cNvSpPr/>
          <p:nvPr/>
        </p:nvSpPr>
        <p:spPr>
          <a:xfrm>
            <a:off x="8312150" y="2016720"/>
            <a:ext cx="3060700" cy="825302"/>
          </a:xfrm>
          <a:prstGeom prst="roundRect">
            <a:avLst>
              <a:gd name="adj" fmla="val 11541"/>
            </a:avLst>
          </a:prstGeom>
          <a:solidFill>
            <a:srgbClr val="FCFDFD"/>
          </a:solidFill>
          <a:ln w="12700">
            <a:solidFill>
              <a:srgbClr val="D5E3EA"/>
            </a:solidFill>
            <a:prstDash val="solid"/>
          </a:ln>
        </p:spPr>
      </p:sp>
      <p:sp>
        <p:nvSpPr>
          <p:cNvPr id="21" name="Text 12"/>
          <p:cNvSpPr/>
          <p:nvPr/>
        </p:nvSpPr>
        <p:spPr>
          <a:xfrm>
            <a:off x="8458200" y="2124670"/>
            <a:ext cx="285165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C2A3E"/>
                </a:solidFill>
                <a:latin typeface="IBM Plex Sans" pitchFamily="34" charset="0"/>
                <a:ea typeface="IBM Plex Sans" pitchFamily="34" charset="-122"/>
                <a:cs typeface="IBM Plex Sans" pitchFamily="34" charset="-120"/>
              </a:rPr>
              <a:t>Umbral de 0.5</a:t>
            </a:r>
            <a:endParaRPr lang="en-US" sz="1400" dirty="0"/>
          </a:p>
        </p:txBody>
      </p:sp>
      <p:sp>
        <p:nvSpPr>
          <p:cNvPr id="22" name="Text 13"/>
          <p:cNvSpPr/>
          <p:nvPr/>
        </p:nvSpPr>
        <p:spPr>
          <a:xfrm>
            <a:off x="8458200" y="2337991"/>
            <a:ext cx="285165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Por encima, espermatozoide. Por debajo, fondo.</a:t>
            </a:r>
            <a:endParaRPr lang="en-US" sz="1200" dirty="0"/>
          </a:p>
        </p:txBody>
      </p:sp>
      <p:sp>
        <p:nvSpPr>
          <p:cNvPr id="23" name="Shape 14"/>
          <p:cNvSpPr/>
          <p:nvPr/>
        </p:nvSpPr>
        <p:spPr>
          <a:xfrm>
            <a:off x="8312150" y="2930922"/>
            <a:ext cx="3060700" cy="825302"/>
          </a:xfrm>
          <a:prstGeom prst="roundRect">
            <a:avLst>
              <a:gd name="adj" fmla="val 11541"/>
            </a:avLst>
          </a:prstGeom>
          <a:solidFill>
            <a:srgbClr val="FCFDFD"/>
          </a:solidFill>
          <a:ln w="12700">
            <a:solidFill>
              <a:srgbClr val="D5E3EA"/>
            </a:solidFill>
            <a:prstDash val="solid"/>
          </a:ln>
        </p:spPr>
      </p:sp>
      <p:sp>
        <p:nvSpPr>
          <p:cNvPr id="24" name="Text 15"/>
          <p:cNvSpPr/>
          <p:nvPr/>
        </p:nvSpPr>
        <p:spPr>
          <a:xfrm>
            <a:off x="8458200" y="3038872"/>
            <a:ext cx="285165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C2A3E"/>
                </a:solidFill>
                <a:latin typeface="IBM Plex Sans" pitchFamily="34" charset="0"/>
                <a:ea typeface="IBM Plex Sans" pitchFamily="34" charset="-122"/>
                <a:cs typeface="IBM Plex Sans" pitchFamily="34" charset="-120"/>
              </a:rPr>
              <a:t>Se estira y se pega</a:t>
            </a:r>
            <a:endParaRPr lang="en-US" sz="1400" dirty="0"/>
          </a:p>
        </p:txBody>
      </p:sp>
      <p:sp>
        <p:nvSpPr>
          <p:cNvPr id="25" name="Text 16"/>
          <p:cNvSpPr/>
          <p:nvPr/>
        </p:nvSpPr>
        <p:spPr>
          <a:xfrm>
            <a:off x="8458200" y="3252192"/>
            <a:ext cx="285165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Al tamaño de la caja, en su lugar de la foto. De ahí sale el contorno.</a:t>
            </a:r>
            <a:endParaRPr lang="en-US" sz="1200" dirty="0"/>
          </a:p>
        </p:txBody>
      </p:sp>
      <p:sp>
        <p:nvSpPr>
          <p:cNvPr id="26" name="Shape 17"/>
          <p:cNvSpPr/>
          <p:nvPr/>
        </p:nvSpPr>
        <p:spPr>
          <a:xfrm>
            <a:off x="8305800" y="3838773"/>
            <a:ext cx="3073400" cy="614561"/>
          </a:xfrm>
          <a:prstGeom prst="roundRect">
            <a:avLst>
              <a:gd name="adj" fmla="val 16532"/>
            </a:avLst>
          </a:prstGeom>
          <a:solidFill>
            <a:srgbClr val="0B1F2E"/>
          </a:solidFill>
          <a:ln/>
        </p:spPr>
      </p:sp>
      <p:sp>
        <p:nvSpPr>
          <p:cNvPr id="27" name="Text 18"/>
          <p:cNvSpPr/>
          <p:nvPr/>
        </p:nvSpPr>
        <p:spPr>
          <a:xfrm>
            <a:off x="8445500" y="3940373"/>
            <a:ext cx="287782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A259"/>
                </a:solidFill>
                <a:latin typeface="IBM Plex Sans" pitchFamily="34" charset="0"/>
                <a:ea typeface="IBM Plex Sans" pitchFamily="34" charset="-122"/>
                <a:cs typeface="IBM Plex Sans" pitchFamily="34" charset="-120"/>
              </a:rPr>
              <a:t>2.6 millones de pesos</a:t>
            </a:r>
            <a:endParaRPr lang="en-US" sz="1400" dirty="0"/>
          </a:p>
        </p:txBody>
      </p:sp>
      <p:sp>
        <p:nvSpPr>
          <p:cNvPr id="28" name="Text 19"/>
          <p:cNvSpPr/>
          <p:nvPr/>
        </p:nvSpPr>
        <p:spPr>
          <a:xfrm>
            <a:off x="8445500" y="4153694"/>
            <a:ext cx="287782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La pieza que agrega Mask R-CNN.</a:t>
            </a:r>
            <a:endParaRPr lang="en-US" sz="1200" dirty="0"/>
          </a:p>
        </p:txBody>
      </p:sp>
      <p:sp>
        <p:nvSpPr>
          <p:cNvPr id="29" name="Text 2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2 · Máscara calculada con el modelo real de fluorescencia</a:t>
            </a:r>
            <a:endParaRPr lang="en-US" sz="1200" dirty="0"/>
          </a:p>
        </p:txBody>
      </p:sp>
      <p:sp>
        <p:nvSpPr>
          <p:cNvPr id="30"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9 / 16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¿QUÉ TAN SEGURO ESTÁ?</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El puntaje de seguridad</a:t>
            </a:r>
            <a:endParaRPr lang="en-US" sz="3600" dirty="0"/>
          </a:p>
        </p:txBody>
      </p:sp>
      <p:sp>
        <p:nvSpPr>
          <p:cNvPr id="6" name="Text 2"/>
          <p:cNvSpPr/>
          <p:nvPr/>
        </p:nvSpPr>
        <p:spPr>
          <a:xfrm>
            <a:off x="812800" y="1757561"/>
            <a:ext cx="2158365"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6CCFF6"/>
                </a:solidFill>
                <a:latin typeface="EB Garamond" pitchFamily="18" charset="0"/>
                <a:ea typeface="EB Garamond" pitchFamily="18" charset="-122"/>
                <a:cs typeface="EB Garamond" pitchFamily="18" charset="-120"/>
              </a:rPr>
              <a:t>0.99</a:t>
            </a:r>
            <a:endParaRPr lang="en-US" sz="2400" dirty="0"/>
          </a:p>
        </p:txBody>
      </p:sp>
      <p:pic>
        <p:nvPicPr>
          <p:cNvPr id="7" name="Image 2" descr="Contorno de un espermatozoide con puntaje 0.99">    </p:cNvPr>
          <p:cNvPicPr>
            <a:picLocks noChangeAspect="1"/>
          </p:cNvPicPr>
          <p:nvPr/>
        </p:nvPicPr>
        <p:blipFill>
          <a:blip r:embed="rId3"/>
          <a:srcRect l="0" r="0" t="0" b="0"/>
          <a:stretch/>
        </p:blipFill>
        <p:spPr>
          <a:xfrm>
            <a:off x="812800" y="2113161"/>
            <a:ext cx="2095500" cy="2095500"/>
          </a:xfrm>
          <a:prstGeom prst="roundRect">
            <a:avLst>
              <a:gd name="adj" fmla="val 3636"/>
            </a:avLst>
          </a:prstGeom>
        </p:spPr>
      </p:pic>
      <p:sp>
        <p:nvSpPr>
          <p:cNvPr id="8" name="Text 3"/>
          <p:cNvSpPr/>
          <p:nvPr/>
        </p:nvSpPr>
        <p:spPr>
          <a:xfrm>
            <a:off x="812800" y="4259461"/>
            <a:ext cx="215836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CCFF6"/>
                </a:solidFill>
                <a:latin typeface="IBM Plex Sans" pitchFamily="34" charset="0"/>
                <a:ea typeface="IBM Plex Sans" pitchFamily="34" charset="-122"/>
                <a:cs typeface="IBM Plex Sans" pitchFamily="34" charset="-120"/>
              </a:rPr>
              <a:t>Se queda</a:t>
            </a:r>
            <a:endParaRPr lang="en-US" sz="1300" dirty="0"/>
          </a:p>
        </p:txBody>
      </p:sp>
      <p:sp>
        <p:nvSpPr>
          <p:cNvPr id="9" name="Text 4"/>
          <p:cNvSpPr/>
          <p:nvPr/>
        </p:nvSpPr>
        <p:spPr>
          <a:xfrm>
            <a:off x="3035300" y="1757561"/>
            <a:ext cx="2158365"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6CCFF6"/>
                </a:solidFill>
                <a:latin typeface="EB Garamond" pitchFamily="18" charset="0"/>
                <a:ea typeface="EB Garamond" pitchFamily="18" charset="-122"/>
                <a:cs typeface="EB Garamond" pitchFamily="18" charset="-120"/>
              </a:rPr>
              <a:t>0.93</a:t>
            </a:r>
            <a:endParaRPr lang="en-US" sz="2400" dirty="0"/>
          </a:p>
        </p:txBody>
      </p:sp>
      <p:pic>
        <p:nvPicPr>
          <p:cNvPr id="10" name="Image 3" descr="Contorno de un espermatozoide con puntaje 0.93">    </p:cNvPr>
          <p:cNvPicPr>
            <a:picLocks noChangeAspect="1"/>
          </p:cNvPicPr>
          <p:nvPr/>
        </p:nvPicPr>
        <p:blipFill>
          <a:blip r:embed="rId4"/>
          <a:srcRect l="0" r="0" t="0" b="0"/>
          <a:stretch/>
        </p:blipFill>
        <p:spPr>
          <a:xfrm>
            <a:off x="3035300" y="2113161"/>
            <a:ext cx="2095500" cy="2095500"/>
          </a:xfrm>
          <a:prstGeom prst="roundRect">
            <a:avLst>
              <a:gd name="adj" fmla="val 3636"/>
            </a:avLst>
          </a:prstGeom>
        </p:spPr>
      </p:pic>
      <p:sp>
        <p:nvSpPr>
          <p:cNvPr id="11" name="Text 5"/>
          <p:cNvSpPr/>
          <p:nvPr/>
        </p:nvSpPr>
        <p:spPr>
          <a:xfrm>
            <a:off x="3035300" y="4259461"/>
            <a:ext cx="215836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CCFF6"/>
                </a:solidFill>
                <a:latin typeface="IBM Plex Sans" pitchFamily="34" charset="0"/>
                <a:ea typeface="IBM Plex Sans" pitchFamily="34" charset="-122"/>
                <a:cs typeface="IBM Plex Sans" pitchFamily="34" charset="-120"/>
              </a:rPr>
              <a:t>Se queda</a:t>
            </a:r>
            <a:endParaRPr lang="en-US" sz="1300" dirty="0"/>
          </a:p>
        </p:txBody>
      </p:sp>
      <p:sp>
        <p:nvSpPr>
          <p:cNvPr id="12" name="Text 6"/>
          <p:cNvSpPr/>
          <p:nvPr/>
        </p:nvSpPr>
        <p:spPr>
          <a:xfrm>
            <a:off x="5257800" y="1757561"/>
            <a:ext cx="2158365"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4A259"/>
                </a:solidFill>
                <a:latin typeface="EB Garamond" pitchFamily="18" charset="0"/>
                <a:ea typeface="EB Garamond" pitchFamily="18" charset="-122"/>
                <a:cs typeface="EB Garamond" pitchFamily="18" charset="-120"/>
              </a:rPr>
              <a:t>0.30</a:t>
            </a:r>
            <a:endParaRPr lang="en-US" sz="2400" dirty="0"/>
          </a:p>
        </p:txBody>
      </p:sp>
      <p:pic>
        <p:nvPicPr>
          <p:cNvPr id="13" name="Image 4" descr="Contorno de un filamento con puntaje 0.30">    </p:cNvPr>
          <p:cNvPicPr>
            <a:picLocks noChangeAspect="1"/>
          </p:cNvPicPr>
          <p:nvPr/>
        </p:nvPicPr>
        <p:blipFill>
          <a:blip r:embed="rId5"/>
          <a:srcRect l="0" r="0" t="0" b="0"/>
          <a:stretch/>
        </p:blipFill>
        <p:spPr>
          <a:xfrm>
            <a:off x="5257800" y="2113161"/>
            <a:ext cx="2095500" cy="2095500"/>
          </a:xfrm>
          <a:prstGeom prst="roundRect">
            <a:avLst>
              <a:gd name="adj" fmla="val 3636"/>
            </a:avLst>
          </a:prstGeom>
        </p:spPr>
      </p:pic>
      <p:sp>
        <p:nvSpPr>
          <p:cNvPr id="14" name="Text 7"/>
          <p:cNvSpPr/>
          <p:nvPr/>
        </p:nvSpPr>
        <p:spPr>
          <a:xfrm>
            <a:off x="5257800" y="4259461"/>
            <a:ext cx="215836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A259"/>
                </a:solidFill>
                <a:latin typeface="IBM Plex Sans" pitchFamily="34" charset="0"/>
                <a:ea typeface="IBM Plex Sans" pitchFamily="34" charset="-122"/>
                <a:cs typeface="IBM Plex Sans" pitchFamily="34" charset="-120"/>
              </a:rPr>
              <a:t>Se descarta</a:t>
            </a:r>
            <a:endParaRPr lang="en-US" sz="1300" dirty="0"/>
          </a:p>
        </p:txBody>
      </p:sp>
      <p:sp>
        <p:nvSpPr>
          <p:cNvPr id="15" name="Shape 8"/>
          <p:cNvSpPr/>
          <p:nvPr/>
        </p:nvSpPr>
        <p:spPr>
          <a:xfrm>
            <a:off x="1003300" y="4896941"/>
            <a:ext cx="6159500" cy="38100"/>
          </a:xfrm>
          <a:prstGeom prst="rect">
            <a:avLst/>
          </a:prstGeom>
          <a:solidFill>
            <a:srgbClr val="24506E"/>
          </a:solidFill>
          <a:ln/>
        </p:spPr>
      </p:sp>
      <p:sp>
        <p:nvSpPr>
          <p:cNvPr id="16" name="Shape 9"/>
          <p:cNvSpPr/>
          <p:nvPr/>
        </p:nvSpPr>
        <p:spPr>
          <a:xfrm>
            <a:off x="6534150" y="4808041"/>
            <a:ext cx="25400" cy="215900"/>
          </a:xfrm>
          <a:prstGeom prst="rect">
            <a:avLst/>
          </a:prstGeom>
          <a:solidFill>
            <a:srgbClr val="F4A259"/>
          </a:solidFill>
          <a:ln/>
        </p:spPr>
      </p:sp>
      <p:sp>
        <p:nvSpPr>
          <p:cNvPr id="17" name="Shape 10"/>
          <p:cNvSpPr/>
          <p:nvPr/>
        </p:nvSpPr>
        <p:spPr>
          <a:xfrm>
            <a:off x="2781300" y="4846141"/>
            <a:ext cx="139700" cy="139700"/>
          </a:xfrm>
          <a:prstGeom prst="roundRect">
            <a:avLst>
              <a:gd name="adj" fmla="val 50000"/>
            </a:avLst>
          </a:prstGeom>
          <a:solidFill>
            <a:srgbClr val="F4A259"/>
          </a:solidFill>
          <a:ln/>
        </p:spPr>
      </p:sp>
      <p:sp>
        <p:nvSpPr>
          <p:cNvPr id="18" name="Shape 11"/>
          <p:cNvSpPr/>
          <p:nvPr/>
        </p:nvSpPr>
        <p:spPr>
          <a:xfrm>
            <a:off x="6661150" y="4846141"/>
            <a:ext cx="139700" cy="139700"/>
          </a:xfrm>
          <a:prstGeom prst="roundRect">
            <a:avLst>
              <a:gd name="adj" fmla="val 50000"/>
            </a:avLst>
          </a:prstGeom>
          <a:solidFill>
            <a:srgbClr val="6CCFF6"/>
          </a:solidFill>
          <a:ln/>
        </p:spPr>
      </p:sp>
      <p:sp>
        <p:nvSpPr>
          <p:cNvPr id="19" name="Shape 12"/>
          <p:cNvSpPr/>
          <p:nvPr/>
        </p:nvSpPr>
        <p:spPr>
          <a:xfrm>
            <a:off x="7029450" y="4846141"/>
            <a:ext cx="139700" cy="139700"/>
          </a:xfrm>
          <a:prstGeom prst="roundRect">
            <a:avLst>
              <a:gd name="adj" fmla="val 50000"/>
            </a:avLst>
          </a:prstGeom>
          <a:solidFill>
            <a:srgbClr val="6CCFF6"/>
          </a:solidFill>
          <a:ln/>
        </p:spPr>
      </p:sp>
      <p:sp>
        <p:nvSpPr>
          <p:cNvPr id="20" name="Text 13"/>
          <p:cNvSpPr/>
          <p:nvPr/>
        </p:nvSpPr>
        <p:spPr>
          <a:xfrm>
            <a:off x="5207000" y="4617541"/>
            <a:ext cx="13081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4A259"/>
                </a:solidFill>
                <a:latin typeface="IBM Plex Sans" pitchFamily="34" charset="0"/>
                <a:ea typeface="IBM Plex Sans" pitchFamily="34" charset="-122"/>
                <a:cs typeface="IBM Plex Sans" pitchFamily="34" charset="-120"/>
              </a:rPr>
              <a:t>Umbral: 0.9</a:t>
            </a:r>
            <a:endParaRPr lang="en-US" sz="1200" dirty="0"/>
          </a:p>
        </p:txBody>
      </p:sp>
      <p:sp>
        <p:nvSpPr>
          <p:cNvPr id="21" name="Text 14"/>
          <p:cNvSpPr/>
          <p:nvPr/>
        </p:nvSpPr>
        <p:spPr>
          <a:xfrm>
            <a:off x="939800" y="5011241"/>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0</a:t>
            </a:r>
            <a:endParaRPr lang="en-US" sz="1200" dirty="0"/>
          </a:p>
        </p:txBody>
      </p:sp>
      <p:sp>
        <p:nvSpPr>
          <p:cNvPr id="22" name="Text 15"/>
          <p:cNvSpPr/>
          <p:nvPr/>
        </p:nvSpPr>
        <p:spPr>
          <a:xfrm>
            <a:off x="3924300" y="5011241"/>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0.5</a:t>
            </a:r>
            <a:endParaRPr lang="en-US" sz="1200" dirty="0"/>
          </a:p>
        </p:txBody>
      </p:sp>
      <p:sp>
        <p:nvSpPr>
          <p:cNvPr id="23" name="Text 16"/>
          <p:cNvSpPr/>
          <p:nvPr/>
        </p:nvSpPr>
        <p:spPr>
          <a:xfrm>
            <a:off x="7035800" y="5011241"/>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a:t>
            </a:r>
            <a:endParaRPr lang="en-US" sz="1200" dirty="0"/>
          </a:p>
        </p:txBody>
      </p:sp>
      <p:sp>
        <p:nvSpPr>
          <p:cNvPr id="24" name="Shape 17"/>
          <p:cNvSpPr/>
          <p:nvPr/>
        </p:nvSpPr>
        <p:spPr>
          <a:xfrm>
            <a:off x="7613650" y="1763911"/>
            <a:ext cx="3759200" cy="850702"/>
          </a:xfrm>
          <a:prstGeom prst="roundRect">
            <a:avLst>
              <a:gd name="adj" fmla="val 11197"/>
            </a:avLst>
          </a:prstGeom>
          <a:solidFill>
            <a:srgbClr val="12304A"/>
          </a:solidFill>
          <a:ln w="12700">
            <a:solidFill>
              <a:srgbClr val="24506E"/>
            </a:solidFill>
            <a:prstDash val="solid"/>
          </a:ln>
        </p:spPr>
      </p:sp>
      <p:sp>
        <p:nvSpPr>
          <p:cNvPr id="25" name="Text 18"/>
          <p:cNvSpPr/>
          <p:nvPr/>
        </p:nvSpPr>
        <p:spPr>
          <a:xfrm>
            <a:off x="7772400" y="1884561"/>
            <a:ext cx="354495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1F6F8"/>
                </a:solidFill>
                <a:latin typeface="IBM Plex Sans" pitchFamily="34" charset="0"/>
                <a:ea typeface="IBM Plex Sans" pitchFamily="34" charset="-122"/>
                <a:cs typeface="IBM Plex Sans" pitchFamily="34" charset="-120"/>
              </a:rPr>
              <a:t>Umbral alto</a:t>
            </a:r>
            <a:endParaRPr lang="en-US" sz="1400" dirty="0"/>
          </a:p>
        </p:txBody>
      </p:sp>
      <p:sp>
        <p:nvSpPr>
          <p:cNvPr id="26" name="Text 19"/>
          <p:cNvSpPr/>
          <p:nvPr/>
        </p:nvSpPr>
        <p:spPr>
          <a:xfrm>
            <a:off x="7772400" y="2097881"/>
            <a:ext cx="354495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Menos falsos, pero se pierden espermatozoides reales.</a:t>
            </a:r>
            <a:endParaRPr lang="en-US" sz="1200" dirty="0"/>
          </a:p>
        </p:txBody>
      </p:sp>
      <p:sp>
        <p:nvSpPr>
          <p:cNvPr id="27" name="Shape 20"/>
          <p:cNvSpPr/>
          <p:nvPr/>
        </p:nvSpPr>
        <p:spPr>
          <a:xfrm>
            <a:off x="7613650" y="2716213"/>
            <a:ext cx="3759200" cy="850702"/>
          </a:xfrm>
          <a:prstGeom prst="roundRect">
            <a:avLst>
              <a:gd name="adj" fmla="val 11197"/>
            </a:avLst>
          </a:prstGeom>
          <a:solidFill>
            <a:srgbClr val="12304A"/>
          </a:solidFill>
          <a:ln w="12700">
            <a:solidFill>
              <a:srgbClr val="24506E"/>
            </a:solidFill>
            <a:prstDash val="solid"/>
          </a:ln>
        </p:spPr>
      </p:sp>
      <p:sp>
        <p:nvSpPr>
          <p:cNvPr id="28" name="Text 21"/>
          <p:cNvSpPr/>
          <p:nvPr/>
        </p:nvSpPr>
        <p:spPr>
          <a:xfrm>
            <a:off x="7772400" y="2836863"/>
            <a:ext cx="354495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1F6F8"/>
                </a:solidFill>
                <a:latin typeface="IBM Plex Sans" pitchFamily="34" charset="0"/>
                <a:ea typeface="IBM Plex Sans" pitchFamily="34" charset="-122"/>
                <a:cs typeface="IBM Plex Sans" pitchFamily="34" charset="-120"/>
              </a:rPr>
              <a:t>Umbral bajo</a:t>
            </a:r>
            <a:endParaRPr lang="en-US" sz="1400" dirty="0"/>
          </a:p>
        </p:txBody>
      </p:sp>
      <p:sp>
        <p:nvSpPr>
          <p:cNvPr id="29" name="Text 22"/>
          <p:cNvSpPr/>
          <p:nvPr/>
        </p:nvSpPr>
        <p:spPr>
          <a:xfrm>
            <a:off x="7772400" y="3050183"/>
            <a:ext cx="354495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Se encuentran más, pero se cuelan manchas y fibras.</a:t>
            </a:r>
            <a:endParaRPr lang="en-US" sz="1200" dirty="0"/>
          </a:p>
        </p:txBody>
      </p:sp>
      <p:sp>
        <p:nvSpPr>
          <p:cNvPr id="30" name="Shape 23"/>
          <p:cNvSpPr/>
          <p:nvPr/>
        </p:nvSpPr>
        <p:spPr>
          <a:xfrm>
            <a:off x="7613650" y="3668514"/>
            <a:ext cx="3759200" cy="850702"/>
          </a:xfrm>
          <a:prstGeom prst="roundRect">
            <a:avLst>
              <a:gd name="adj" fmla="val 11197"/>
            </a:avLst>
          </a:prstGeom>
          <a:solidFill>
            <a:srgbClr val="12304A"/>
          </a:solidFill>
          <a:ln w="12700">
            <a:solidFill>
              <a:srgbClr val="24506E"/>
            </a:solidFill>
            <a:prstDash val="solid"/>
          </a:ln>
        </p:spPr>
      </p:sp>
      <p:sp>
        <p:nvSpPr>
          <p:cNvPr id="31" name="Text 24"/>
          <p:cNvSpPr/>
          <p:nvPr/>
        </p:nvSpPr>
        <p:spPr>
          <a:xfrm>
            <a:off x="7772400" y="3789164"/>
            <a:ext cx="354495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1F6F8"/>
                </a:solidFill>
                <a:latin typeface="IBM Plex Sans" pitchFamily="34" charset="0"/>
                <a:ea typeface="IBM Plex Sans" pitchFamily="34" charset="-122"/>
                <a:cs typeface="IBM Plex Sans" pitchFamily="34" charset="-120"/>
              </a:rPr>
              <a:t>En nuestro sistema</a:t>
            </a:r>
            <a:endParaRPr lang="en-US" sz="1400" dirty="0"/>
          </a:p>
        </p:txBody>
      </p:sp>
      <p:sp>
        <p:nvSpPr>
          <p:cNvPr id="32" name="Text 25"/>
          <p:cNvSpPr/>
          <p:nvPr/>
        </p:nvSpPr>
        <p:spPr>
          <a:xfrm>
            <a:off x="7772400" y="4002484"/>
            <a:ext cx="354495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La red devuelve todo desde 0.05. El modelo de fluorescencia guarda un umbral de 0.9.</a:t>
            </a:r>
            <a:endParaRPr lang="en-US" sz="1200" dirty="0"/>
          </a:p>
        </p:txBody>
      </p:sp>
      <p:sp>
        <p:nvSpPr>
          <p:cNvPr id="33" name="Shape 26"/>
          <p:cNvSpPr/>
          <p:nvPr/>
        </p:nvSpPr>
        <p:spPr>
          <a:xfrm>
            <a:off x="7607300" y="4614466"/>
            <a:ext cx="3771900" cy="838002"/>
          </a:xfrm>
          <a:prstGeom prst="roundRect">
            <a:avLst>
              <a:gd name="adj" fmla="val 12124"/>
            </a:avLst>
          </a:prstGeom>
          <a:solidFill>
            <a:srgbClr val="F4A259"/>
          </a:solidFill>
          <a:ln/>
        </p:spPr>
      </p:sp>
      <p:sp>
        <p:nvSpPr>
          <p:cNvPr id="34" name="Text 27"/>
          <p:cNvSpPr/>
          <p:nvPr/>
        </p:nvSpPr>
        <p:spPr>
          <a:xfrm>
            <a:off x="7759700" y="4728766"/>
            <a:ext cx="35711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A1406"/>
                </a:solidFill>
                <a:latin typeface="IBM Plex Sans" pitchFamily="34" charset="0"/>
                <a:ea typeface="IBM Plex Sans" pitchFamily="34" charset="-122"/>
                <a:cs typeface="IBM Plex Sans" pitchFamily="34" charset="-120"/>
              </a:rPr>
              <a:t>Dos umbrales distintos</a:t>
            </a:r>
            <a:endParaRPr lang="en-US" sz="1400" dirty="0"/>
          </a:p>
        </p:txBody>
      </p:sp>
      <p:sp>
        <p:nvSpPr>
          <p:cNvPr id="35" name="Text 28"/>
          <p:cNvSpPr/>
          <p:nvPr/>
        </p:nvSpPr>
        <p:spPr>
          <a:xfrm>
            <a:off x="7759700" y="4942086"/>
            <a:ext cx="3571113"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406"/>
                </a:solidFill>
                <a:latin typeface="IBM Plex Sans" pitchFamily="34" charset="0"/>
                <a:ea typeface="IBM Plex Sans" pitchFamily="34" charset="-122"/>
                <a:cs typeface="IBM Plex Sans" pitchFamily="34" charset="-120"/>
              </a:rPr>
              <a:t>0.5 decide cada punto de la máscara. 0.9 decide si la detección se queda.</a:t>
            </a:r>
            <a:endParaRPr lang="en-US" sz="1200" dirty="0"/>
          </a:p>
        </p:txBody>
      </p:sp>
      <p:sp>
        <p:nvSpPr>
          <p:cNvPr id="36" name="Text 2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2 · Imagen de muestra, procesada con el modelo real</a:t>
            </a:r>
            <a:endParaRPr lang="en-US" sz="1200" dirty="0"/>
          </a:p>
        </p:txBody>
      </p:sp>
      <p:sp>
        <p:nvSpPr>
          <p:cNvPr id="37" name="Text 3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10 / 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INTERSECCIÓN SOBRE UNIÓN</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IoU: qué tanto coinciden dos contornos</a:t>
            </a:r>
            <a:endParaRPr lang="en-US" sz="3600" dirty="0"/>
          </a:p>
        </p:txBody>
      </p:sp>
      <p:sp>
        <p:nvSpPr>
          <p:cNvPr id="6" name="Shape 2"/>
          <p:cNvSpPr/>
          <p:nvPr/>
        </p:nvSpPr>
        <p:spPr>
          <a:xfrm>
            <a:off x="812800" y="1757561"/>
            <a:ext cx="10566400" cy="584200"/>
          </a:xfrm>
          <a:prstGeom prst="roundRect">
            <a:avLst>
              <a:gd name="adj" fmla="val 17391"/>
            </a:avLst>
          </a:prstGeom>
          <a:solidFill>
            <a:srgbClr val="0B1F2E"/>
          </a:solidFill>
          <a:ln/>
        </p:spPr>
      </p:sp>
      <p:sp>
        <p:nvSpPr>
          <p:cNvPr id="7" name="Text 3"/>
          <p:cNvSpPr/>
          <p:nvPr/>
        </p:nvSpPr>
        <p:spPr>
          <a:xfrm>
            <a:off x="990600" y="1871861"/>
            <a:ext cx="48708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4A259"/>
                </a:solidFill>
                <a:latin typeface="EB Garamond" pitchFamily="18" charset="0"/>
                <a:ea typeface="EB Garamond" pitchFamily="18" charset="-122"/>
                <a:cs typeface="EB Garamond" pitchFamily="18" charset="-120"/>
              </a:rPr>
              <a:t>IoU</a:t>
            </a:r>
            <a:endParaRPr lang="en-US" sz="2000" dirty="0"/>
          </a:p>
        </p:txBody>
      </p:sp>
      <p:sp>
        <p:nvSpPr>
          <p:cNvPr id="8" name="Text 4"/>
          <p:cNvSpPr/>
          <p:nvPr/>
        </p:nvSpPr>
        <p:spPr>
          <a:xfrm>
            <a:off x="1523504" y="1942306"/>
            <a:ext cx="9968233"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1F6F8"/>
                </a:solidFill>
                <a:latin typeface="IBM Plex Sans" pitchFamily="34" charset="0"/>
                <a:ea typeface="IBM Plex Sans" pitchFamily="34" charset="-122"/>
                <a:cs typeface="IBM Plex Sans" pitchFamily="34" charset="-120"/>
              </a:rPr>
              <a:t>= el área que comparten dos contornos, entre el área que cubren juntos (la parte compartida cuenta una sola vez). De 0 a 1.</a:t>
            </a:r>
            <a:endParaRPr lang="en-US" sz="1300" dirty="0"/>
          </a:p>
        </p:txBody>
      </p:sp>
      <p:sp>
        <p:nvSpPr>
          <p:cNvPr id="9" name="Shape 5"/>
          <p:cNvSpPr/>
          <p:nvPr/>
        </p:nvSpPr>
        <p:spPr>
          <a:xfrm>
            <a:off x="819150" y="2500511"/>
            <a:ext cx="3289300" cy="3160911"/>
          </a:xfrm>
          <a:prstGeom prst="roundRect">
            <a:avLst>
              <a:gd name="adj" fmla="val 3817"/>
            </a:avLst>
          </a:prstGeom>
          <a:solidFill>
            <a:srgbClr val="FCFDFD"/>
          </a:solidFill>
          <a:ln w="12700">
            <a:solidFill>
              <a:srgbClr val="D5E3EA"/>
            </a:solidFill>
            <a:prstDash val="solid"/>
          </a:ln>
        </p:spPr>
      </p:sp>
      <p:sp>
        <p:nvSpPr>
          <p:cNvPr id="10" name="Text 6"/>
          <p:cNvSpPr/>
          <p:nvPr/>
        </p:nvSpPr>
        <p:spPr>
          <a:xfrm>
            <a:off x="1651675" y="2633861"/>
            <a:ext cx="1624251"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COMPARTEN 60</a:t>
            </a:r>
            <a:endParaRPr lang="en-US" sz="1200" dirty="0"/>
          </a:p>
        </p:txBody>
      </p:sp>
      <p:pic>
        <p:nvPicPr>
          <p:cNvPr id="11" name="Image 2" descr="Dos contornos de 100 píxeles de área que se traslapan en 60">    </p:cNvPr>
          <p:cNvPicPr>
            <a:picLocks noChangeAspect="1"/>
          </p:cNvPicPr>
          <p:nvPr/>
        </p:nvPicPr>
        <p:blipFill>
          <a:blip r:embed="rId3"/>
          <a:srcRect l="0" r="0" t="0" b="0"/>
          <a:stretch/>
        </p:blipFill>
        <p:spPr>
          <a:xfrm>
            <a:off x="1485900" y="2923381"/>
            <a:ext cx="1955800" cy="1397000"/>
          </a:xfrm>
          <a:prstGeom prst="rect">
            <a:avLst/>
          </a:prstGeom>
        </p:spPr>
      </p:pic>
      <p:sp>
        <p:nvSpPr>
          <p:cNvPr id="12" name="Text 7"/>
          <p:cNvSpPr/>
          <p:nvPr/>
        </p:nvSpPr>
        <p:spPr>
          <a:xfrm>
            <a:off x="1017905" y="4396581"/>
            <a:ext cx="2891790" cy="240010"/>
          </a:xfrm>
          <a:prstGeom prst="rect">
            <a:avLst/>
          </a:prstGeom>
          <a:noFill/>
          <a:ln/>
        </p:spPr>
        <p:txBody>
          <a:bodyPr wrap="square" lIns="0" tIns="0" rIns="0" bIns="0" rtlCol="0" anchor="t">
            <a:normAutofit/>
          </a:bodyPr>
          <a:lstStyle/>
          <a:p>
            <a:pPr algn="ctr"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60 / (100 + 100 − 60) = 60 / 140</a:t>
            </a:r>
            <a:endParaRPr lang="en-US" sz="1300" dirty="0"/>
          </a:p>
        </p:txBody>
      </p:sp>
      <p:sp>
        <p:nvSpPr>
          <p:cNvPr id="13" name="Text 8"/>
          <p:cNvSpPr/>
          <p:nvPr/>
        </p:nvSpPr>
        <p:spPr>
          <a:xfrm>
            <a:off x="1975177" y="4687391"/>
            <a:ext cx="977146" cy="482600"/>
          </a:xfrm>
          <a:prstGeom prst="rect">
            <a:avLst/>
          </a:prstGeom>
          <a:noFill/>
          <a:ln/>
        </p:spPr>
        <p:txBody>
          <a:bodyPr wrap="square" lIns="0" tIns="0" rIns="0" bIns="0" rtlCol="0" anchor="t">
            <a:normAutofit/>
          </a:bodyPr>
          <a:lstStyle/>
          <a:p>
            <a:pPr algn="ctr" indent="0" marL="0">
              <a:lnSpc>
                <a:spcPts val="3600"/>
              </a:lnSpc>
              <a:buNone/>
            </a:pPr>
            <a:r>
              <a:rPr lang="en-US" sz="3600" b="1" dirty="0">
                <a:solidFill>
                  <a:srgbClr val="A3480F"/>
                </a:solidFill>
                <a:latin typeface="EB Garamond" pitchFamily="18" charset="0"/>
                <a:ea typeface="EB Garamond" pitchFamily="18" charset="-122"/>
                <a:cs typeface="EB Garamond" pitchFamily="18" charset="-120"/>
              </a:rPr>
              <a:t>0.43</a:t>
            </a:r>
            <a:endParaRPr lang="en-US" sz="3600" dirty="0"/>
          </a:p>
        </p:txBody>
      </p:sp>
      <p:sp>
        <p:nvSpPr>
          <p:cNvPr id="14" name="Text 9"/>
          <p:cNvSpPr/>
          <p:nvPr/>
        </p:nvSpPr>
        <p:spPr>
          <a:xfrm>
            <a:off x="1412875" y="5220791"/>
            <a:ext cx="2101850" cy="307280"/>
          </a:xfrm>
          <a:prstGeom prst="roundRect">
            <a:avLst>
              <a:gd name="adj" fmla="val 24798"/>
            </a:avLst>
          </a:prstGeom>
          <a:solidFill>
            <a:srgbClr val="F4A259"/>
          </a:solidFill>
          <a:ln/>
        </p:spPr>
        <p:txBody>
          <a:bodyPr wrap="none" lIns="0" tIns="0" rIns="0" bIns="0" rtlCol="0" anchor="ctr">
            <a:normAutofit/>
          </a:bodyPr>
          <a:lstStyle/>
          <a:p>
            <a:pPr algn="ctr" indent="0" marL="0">
              <a:lnSpc>
                <a:spcPts val="1820"/>
              </a:lnSpc>
              <a:buNone/>
            </a:pPr>
            <a:r>
              <a:rPr lang="en-US" sz="1300" b="1" dirty="0">
                <a:solidFill>
                  <a:srgbClr val="2A1406"/>
                </a:solidFill>
                <a:latin typeface="IBM Plex Sans" pitchFamily="34" charset="0"/>
                <a:ea typeface="IBM Plex Sans" pitchFamily="34" charset="-122"/>
                <a:cs typeface="IBM Plex Sans" pitchFamily="34" charset="-120"/>
              </a:rPr>
              <a:t>No cuenta como acierto</a:t>
            </a:r>
            <a:endParaRPr lang="en-US" sz="1300" dirty="0"/>
          </a:p>
        </p:txBody>
      </p:sp>
      <p:sp>
        <p:nvSpPr>
          <p:cNvPr id="15" name="Shape 10"/>
          <p:cNvSpPr/>
          <p:nvPr/>
        </p:nvSpPr>
        <p:spPr>
          <a:xfrm>
            <a:off x="4273550" y="2500511"/>
            <a:ext cx="3289300" cy="3160911"/>
          </a:xfrm>
          <a:prstGeom prst="roundRect">
            <a:avLst>
              <a:gd name="adj" fmla="val 3817"/>
            </a:avLst>
          </a:prstGeom>
          <a:solidFill>
            <a:srgbClr val="FCFDFD"/>
          </a:solidFill>
          <a:ln w="12700">
            <a:solidFill>
              <a:srgbClr val="D5E3EA"/>
            </a:solidFill>
            <a:prstDash val="solid"/>
          </a:ln>
        </p:spPr>
      </p:sp>
      <p:sp>
        <p:nvSpPr>
          <p:cNvPr id="16" name="Text 11"/>
          <p:cNvSpPr/>
          <p:nvPr/>
        </p:nvSpPr>
        <p:spPr>
          <a:xfrm>
            <a:off x="5106075" y="2633861"/>
            <a:ext cx="1624251"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COMPARTEN 80</a:t>
            </a:r>
            <a:endParaRPr lang="en-US" sz="1200" dirty="0"/>
          </a:p>
        </p:txBody>
      </p:sp>
      <p:pic>
        <p:nvPicPr>
          <p:cNvPr id="17" name="Image 3" descr="Dos contornos de 100 píxeles de área que se traslapan en 80">    </p:cNvPr>
          <p:cNvPicPr>
            <a:picLocks noChangeAspect="1"/>
          </p:cNvPicPr>
          <p:nvPr/>
        </p:nvPicPr>
        <p:blipFill>
          <a:blip r:embed="rId4"/>
          <a:srcRect l="0" r="0" t="0" b="0"/>
          <a:stretch/>
        </p:blipFill>
        <p:spPr>
          <a:xfrm>
            <a:off x="5080000" y="2923381"/>
            <a:ext cx="1676400" cy="1397000"/>
          </a:xfrm>
          <a:prstGeom prst="rect">
            <a:avLst/>
          </a:prstGeom>
        </p:spPr>
      </p:pic>
      <p:sp>
        <p:nvSpPr>
          <p:cNvPr id="18" name="Text 12"/>
          <p:cNvSpPr/>
          <p:nvPr/>
        </p:nvSpPr>
        <p:spPr>
          <a:xfrm>
            <a:off x="4472305" y="4396581"/>
            <a:ext cx="2891790" cy="240010"/>
          </a:xfrm>
          <a:prstGeom prst="rect">
            <a:avLst/>
          </a:prstGeom>
          <a:noFill/>
          <a:ln/>
        </p:spPr>
        <p:txBody>
          <a:bodyPr wrap="square" lIns="0" tIns="0" rIns="0" bIns="0" rtlCol="0" anchor="t">
            <a:normAutofit/>
          </a:bodyPr>
          <a:lstStyle/>
          <a:p>
            <a:pPr algn="ctr"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80 / (100 + 100 − 80) = 80 / 120</a:t>
            </a:r>
            <a:endParaRPr lang="en-US" sz="1300" dirty="0"/>
          </a:p>
        </p:txBody>
      </p:sp>
      <p:sp>
        <p:nvSpPr>
          <p:cNvPr id="19" name="Text 13"/>
          <p:cNvSpPr/>
          <p:nvPr/>
        </p:nvSpPr>
        <p:spPr>
          <a:xfrm>
            <a:off x="5429577" y="4687391"/>
            <a:ext cx="977146" cy="482600"/>
          </a:xfrm>
          <a:prstGeom prst="rect">
            <a:avLst/>
          </a:prstGeom>
          <a:noFill/>
          <a:ln/>
        </p:spPr>
        <p:txBody>
          <a:bodyPr wrap="square" lIns="0" tIns="0" rIns="0" bIns="0" rtlCol="0" anchor="t">
            <a:normAutofit/>
          </a:bodyPr>
          <a:lstStyle/>
          <a:p>
            <a:pPr algn="ctr" indent="0" marL="0">
              <a:lnSpc>
                <a:spcPts val="3600"/>
              </a:lnSpc>
              <a:buNone/>
            </a:pPr>
            <a:r>
              <a:rPr lang="en-US" sz="3600" b="1" dirty="0">
                <a:solidFill>
                  <a:srgbClr val="0E6E9C"/>
                </a:solidFill>
                <a:latin typeface="EB Garamond" pitchFamily="18" charset="0"/>
                <a:ea typeface="EB Garamond" pitchFamily="18" charset="-122"/>
                <a:cs typeface="EB Garamond" pitchFamily="18" charset="-120"/>
              </a:rPr>
              <a:t>0.67</a:t>
            </a:r>
            <a:endParaRPr lang="en-US" sz="3600" dirty="0"/>
          </a:p>
        </p:txBody>
      </p:sp>
      <p:sp>
        <p:nvSpPr>
          <p:cNvPr id="20" name="Text 14"/>
          <p:cNvSpPr/>
          <p:nvPr/>
        </p:nvSpPr>
        <p:spPr>
          <a:xfrm>
            <a:off x="4981972" y="5220791"/>
            <a:ext cx="1872357" cy="307280"/>
          </a:xfrm>
          <a:prstGeom prst="roundRect">
            <a:avLst>
              <a:gd name="adj" fmla="val 24798"/>
            </a:avLst>
          </a:prstGeom>
          <a:solidFill>
            <a:srgbClr val="0B1F2E"/>
          </a:solidFill>
          <a:ln/>
        </p:spPr>
        <p:txBody>
          <a:bodyPr wrap="none" lIns="0" tIns="0" rIns="0" bIns="0" rtlCol="0" anchor="ctr">
            <a:normAutofit/>
          </a:bodyPr>
          <a:lstStyle/>
          <a:p>
            <a:pPr algn="ctr" indent="0" marL="0">
              <a:lnSpc>
                <a:spcPts val="1820"/>
              </a:lnSpc>
              <a:buNone/>
            </a:pPr>
            <a:r>
              <a:rPr lang="en-US" sz="1300" b="1" dirty="0">
                <a:solidFill>
                  <a:srgbClr val="6CCFF6"/>
                </a:solidFill>
                <a:latin typeface="IBM Plex Sans" pitchFamily="34" charset="0"/>
                <a:ea typeface="IBM Plex Sans" pitchFamily="34" charset="-122"/>
                <a:cs typeface="IBM Plex Sans" pitchFamily="34" charset="-120"/>
              </a:rPr>
              <a:t>Cuenta como acierto</a:t>
            </a:r>
            <a:endParaRPr lang="en-US" sz="1300" dirty="0"/>
          </a:p>
        </p:txBody>
      </p:sp>
      <p:sp>
        <p:nvSpPr>
          <p:cNvPr id="21" name="Shape 15"/>
          <p:cNvSpPr/>
          <p:nvPr/>
        </p:nvSpPr>
        <p:spPr>
          <a:xfrm>
            <a:off x="7721600" y="2494161"/>
            <a:ext cx="3657600" cy="967581"/>
          </a:xfrm>
          <a:prstGeom prst="roundRect">
            <a:avLst>
              <a:gd name="adj" fmla="val 13126"/>
            </a:avLst>
          </a:prstGeom>
          <a:solidFill>
            <a:srgbClr val="F4A259"/>
          </a:solidFill>
          <a:ln/>
        </p:spPr>
      </p:sp>
      <p:sp>
        <p:nvSpPr>
          <p:cNvPr id="22" name="Text 16"/>
          <p:cNvSpPr/>
          <p:nvPr/>
        </p:nvSpPr>
        <p:spPr>
          <a:xfrm>
            <a:off x="7874000" y="2621161"/>
            <a:ext cx="34533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1406"/>
                </a:solidFill>
                <a:latin typeface="IBM Plex Sans" pitchFamily="34" charset="0"/>
                <a:ea typeface="IBM Plex Sans" pitchFamily="34" charset="-122"/>
                <a:cs typeface="IBM Plex Sans" pitchFamily="34" charset="-120"/>
              </a:rPr>
              <a:t>CRITERIO</a:t>
            </a:r>
            <a:endParaRPr lang="en-US" sz="1200" dirty="0"/>
          </a:p>
        </p:txBody>
      </p:sp>
      <p:sp>
        <p:nvSpPr>
          <p:cNvPr id="23" name="Text 17"/>
          <p:cNvSpPr/>
          <p:nvPr/>
        </p:nvSpPr>
        <p:spPr>
          <a:xfrm>
            <a:off x="7874000" y="2872581"/>
            <a:ext cx="3453384"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A1406"/>
                </a:solidFill>
                <a:latin typeface="IBM Plex Sans" pitchFamily="34" charset="0"/>
                <a:ea typeface="IBM Plex Sans" pitchFamily="34" charset="-122"/>
                <a:cs typeface="IBM Plex Sans" pitchFamily="34" charset="-120"/>
              </a:rPr>
              <a:t>IoU de 0.5 o más con el contorno que etiquetó una persona.</a:t>
            </a:r>
            <a:endParaRPr lang="en-US" sz="1400" dirty="0"/>
          </a:p>
        </p:txBody>
      </p:sp>
      <p:sp>
        <p:nvSpPr>
          <p:cNvPr id="24" name="Shape 18"/>
          <p:cNvSpPr/>
          <p:nvPr/>
        </p:nvSpPr>
        <p:spPr>
          <a:xfrm>
            <a:off x="7727950" y="3556992"/>
            <a:ext cx="3644900" cy="1705471"/>
          </a:xfrm>
          <a:prstGeom prst="roundRect">
            <a:avLst>
              <a:gd name="adj" fmla="val 7074"/>
            </a:avLst>
          </a:prstGeom>
          <a:solidFill>
            <a:srgbClr val="FCFDFD"/>
          </a:solidFill>
          <a:ln w="12700">
            <a:solidFill>
              <a:srgbClr val="D5E3EA"/>
            </a:solidFill>
            <a:prstDash val="solid"/>
          </a:ln>
        </p:spPr>
      </p:sp>
      <p:sp>
        <p:nvSpPr>
          <p:cNvPr id="25" name="Text 19"/>
          <p:cNvSpPr/>
          <p:nvPr/>
        </p:nvSpPr>
        <p:spPr>
          <a:xfrm>
            <a:off x="7886700" y="3690342"/>
            <a:ext cx="342722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TRES USOS</a:t>
            </a:r>
            <a:endParaRPr lang="en-US" sz="1200" dirty="0"/>
          </a:p>
        </p:txBody>
      </p:sp>
      <p:sp>
        <p:nvSpPr>
          <p:cNvPr id="26" name="Text 20"/>
          <p:cNvSpPr/>
          <p:nvPr/>
        </p:nvSpPr>
        <p:spPr>
          <a:xfrm>
            <a:off x="7886700" y="3954463"/>
            <a:ext cx="3427222" cy="45462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C2A3E"/>
                </a:solidFill>
                <a:latin typeface="IBM Plex Sans" pitchFamily="34" charset="0"/>
                <a:ea typeface="IBM Plex Sans" pitchFamily="34" charset="-122"/>
                <a:cs typeface="IBM Plex Sans" pitchFamily="34" charset="-120"/>
              </a:rPr>
              <a:t>Entrenar:</a:t>
            </a:r>
            <a:r>
              <a:rPr lang="en-US" sz="1300" dirty="0">
                <a:solidFill>
                  <a:srgbClr val="0C2A3E"/>
                </a:solidFill>
                <a:latin typeface="IBM Plex Sans" pitchFamily="34" charset="0"/>
                <a:ea typeface="IBM Plex Sans" pitchFamily="34" charset="-122"/>
                <a:cs typeface="IBM Plex Sans" pitchFamily="34" charset="-120"/>
              </a:rPr>
              <a:t> qué anclas coinciden con un espermatozoide etiquetado.</a:t>
            </a:r>
            <a:endParaRPr lang="en-US" sz="1300" dirty="0"/>
          </a:p>
        </p:txBody>
      </p:sp>
      <p:sp>
        <p:nvSpPr>
          <p:cNvPr id="27" name="Text 21"/>
          <p:cNvSpPr/>
          <p:nvPr/>
        </p:nvSpPr>
        <p:spPr>
          <a:xfrm>
            <a:off x="7886700" y="4434483"/>
            <a:ext cx="3427222"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C2A3E"/>
                </a:solidFill>
                <a:latin typeface="IBM Plex Sans" pitchFamily="34" charset="0"/>
                <a:ea typeface="IBM Plex Sans" pitchFamily="34" charset="-122"/>
                <a:cs typeface="IBM Plex Sans" pitchFamily="34" charset="-120"/>
              </a:rPr>
              <a:t>Detectar:</a:t>
            </a:r>
            <a:r>
              <a:rPr lang="en-US" sz="1300" dirty="0">
                <a:solidFill>
                  <a:srgbClr val="0C2A3E"/>
                </a:solidFill>
                <a:latin typeface="IBM Plex Sans" pitchFamily="34" charset="0"/>
                <a:ea typeface="IBM Plex Sans" pitchFamily="34" charset="-122"/>
                <a:cs typeface="IBM Plex Sans" pitchFamily="34" charset="-120"/>
              </a:rPr>
              <a:t> quitar repetidos.</a:t>
            </a:r>
            <a:endParaRPr lang="en-US" sz="1300" dirty="0"/>
          </a:p>
        </p:txBody>
      </p:sp>
      <p:sp>
        <p:nvSpPr>
          <p:cNvPr id="28" name="Text 22"/>
          <p:cNvSpPr/>
          <p:nvPr/>
        </p:nvSpPr>
        <p:spPr>
          <a:xfrm>
            <a:off x="7886700" y="4699893"/>
            <a:ext cx="3427222" cy="45462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C2A3E"/>
                </a:solidFill>
                <a:latin typeface="IBM Plex Sans" pitchFamily="34" charset="0"/>
                <a:ea typeface="IBM Plex Sans" pitchFamily="34" charset="-122"/>
                <a:cs typeface="IBM Plex Sans" pitchFamily="34" charset="-120"/>
              </a:rPr>
              <a:t>Validar:</a:t>
            </a:r>
            <a:r>
              <a:rPr lang="en-US" sz="1300" dirty="0">
                <a:solidFill>
                  <a:srgbClr val="0C2A3E"/>
                </a:solidFill>
                <a:latin typeface="IBM Plex Sans" pitchFamily="34" charset="0"/>
                <a:ea typeface="IBM Plex Sans" pitchFamily="34" charset="-122"/>
                <a:cs typeface="IBM Plex Sans" pitchFamily="34" charset="-120"/>
              </a:rPr>
              <a:t> decidir si una detección es un acierto.</a:t>
            </a:r>
            <a:endParaRPr lang="en-US" sz="1300" dirty="0"/>
          </a:p>
        </p:txBody>
      </p:sp>
      <p:sp>
        <p:nvSpPr>
          <p:cNvPr id="29" name="Text 23"/>
          <p:cNvSpPr/>
          <p:nvPr/>
        </p:nvSpPr>
        <p:spPr>
          <a:xfrm>
            <a:off x="812800" y="6238280"/>
            <a:ext cx="6858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2 · Dos contornos de 100 píxeles de área</a:t>
            </a:r>
            <a:endParaRPr lang="en-US" sz="1200" dirty="0"/>
          </a:p>
        </p:txBody>
      </p:sp>
      <p:sp>
        <p:nvSpPr>
          <p:cNvPr id="30"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11 / 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TRES FILTROS</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Los repetidos</a:t>
            </a:r>
            <a:endParaRPr lang="en-US" sz="3600" dirty="0"/>
          </a:p>
        </p:txBody>
      </p:sp>
      <p:sp>
        <p:nvSpPr>
          <p:cNvPr id="6" name="Shape 2"/>
          <p:cNvSpPr/>
          <p:nvPr/>
        </p:nvSpPr>
        <p:spPr>
          <a:xfrm>
            <a:off x="819150" y="1789311"/>
            <a:ext cx="3407767" cy="3336627"/>
          </a:xfrm>
          <a:prstGeom prst="roundRect">
            <a:avLst>
              <a:gd name="adj" fmla="val 3616"/>
            </a:avLst>
          </a:prstGeom>
          <a:solidFill>
            <a:srgbClr val="12304A"/>
          </a:solidFill>
          <a:ln w="12700">
            <a:solidFill>
              <a:srgbClr val="24506E"/>
            </a:solidFill>
            <a:prstDash val="solid"/>
          </a:ln>
        </p:spPr>
      </p:sp>
      <p:sp>
        <p:nvSpPr>
          <p:cNvPr id="7" name="Text 3"/>
          <p:cNvSpPr/>
          <p:nvPr/>
        </p:nvSpPr>
        <p:spPr>
          <a:xfrm>
            <a:off x="977900" y="1948061"/>
            <a:ext cx="318297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FILTRO 1</a:t>
            </a:r>
            <a:endParaRPr lang="en-US" sz="1200" dirty="0"/>
          </a:p>
        </p:txBody>
      </p:sp>
      <p:sp>
        <p:nvSpPr>
          <p:cNvPr id="8" name="Text 4"/>
          <p:cNvSpPr/>
          <p:nvPr/>
        </p:nvSpPr>
        <p:spPr>
          <a:xfrm>
            <a:off x="977900" y="2237581"/>
            <a:ext cx="318297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Dentro de la red</a:t>
            </a:r>
            <a:endParaRPr lang="en-US" sz="1600" dirty="0"/>
          </a:p>
        </p:txBody>
      </p:sp>
      <p:pic>
        <p:nvPicPr>
          <p:cNvPr id="9" name="Image 2" descr="Dos cajas muy traslapadas sobre el mismo espermatozoide: una en naranja que se queda y otra punteada en celeste que se descarta">    </p:cNvPr>
          <p:cNvPicPr>
            <a:picLocks noChangeAspect="1"/>
          </p:cNvPicPr>
          <p:nvPr/>
        </p:nvPicPr>
        <p:blipFill>
          <a:blip r:embed="rId3"/>
          <a:srcRect l="0" r="0" t="0" b="0"/>
          <a:stretch/>
        </p:blipFill>
        <p:spPr>
          <a:xfrm>
            <a:off x="977900" y="2557562"/>
            <a:ext cx="3048000" cy="1206500"/>
          </a:xfrm>
          <a:prstGeom prst="rect">
            <a:avLst/>
          </a:prstGeom>
        </p:spPr>
      </p:pic>
      <p:sp>
        <p:nvSpPr>
          <p:cNvPr id="10" name="Text 5"/>
          <p:cNvSpPr/>
          <p:nvPr/>
        </p:nvSpPr>
        <p:spPr>
          <a:xfrm>
            <a:off x="977900" y="3840262"/>
            <a:ext cx="318297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Supresión de cajas: con un IoU de más de 0.6, se queda la de mayor puntaje.</a:t>
            </a:r>
            <a:endParaRPr lang="en-US" sz="1300" dirty="0"/>
          </a:p>
        </p:txBody>
      </p:sp>
      <p:sp>
        <p:nvSpPr>
          <p:cNvPr id="11" name="Shape 6"/>
          <p:cNvSpPr/>
          <p:nvPr/>
        </p:nvSpPr>
        <p:spPr>
          <a:xfrm>
            <a:off x="4392017" y="1789311"/>
            <a:ext cx="3407866" cy="3336627"/>
          </a:xfrm>
          <a:prstGeom prst="roundRect">
            <a:avLst>
              <a:gd name="adj" fmla="val 3616"/>
            </a:avLst>
          </a:prstGeom>
          <a:solidFill>
            <a:srgbClr val="12304A"/>
          </a:solidFill>
          <a:ln w="12700">
            <a:solidFill>
              <a:srgbClr val="24506E"/>
            </a:solidFill>
            <a:prstDash val="solid"/>
          </a:ln>
        </p:spPr>
      </p:sp>
      <p:sp>
        <p:nvSpPr>
          <p:cNvPr id="12" name="Text 7"/>
          <p:cNvSpPr/>
          <p:nvPr/>
        </p:nvSpPr>
        <p:spPr>
          <a:xfrm>
            <a:off x="4550767" y="1948061"/>
            <a:ext cx="318307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FILTRO 2</a:t>
            </a:r>
            <a:endParaRPr lang="en-US" sz="1200" dirty="0"/>
          </a:p>
        </p:txBody>
      </p:sp>
      <p:sp>
        <p:nvSpPr>
          <p:cNvPr id="13" name="Text 8"/>
          <p:cNvSpPr/>
          <p:nvPr/>
        </p:nvSpPr>
        <p:spPr>
          <a:xfrm>
            <a:off x="4550767" y="2237581"/>
            <a:ext cx="318307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Entre teselas</a:t>
            </a:r>
            <a:endParaRPr lang="en-US" sz="1600" dirty="0"/>
          </a:p>
        </p:txBody>
      </p:sp>
      <p:pic>
        <p:nvPicPr>
          <p:cNvPr id="14" name="Image 3" descr="Dos teselas que se traslapan en una franja, con un espermatozoide en la zona compartida">    </p:cNvPr>
          <p:cNvPicPr>
            <a:picLocks noChangeAspect="1"/>
          </p:cNvPicPr>
          <p:nvPr/>
        </p:nvPicPr>
        <p:blipFill>
          <a:blip r:embed="rId4"/>
          <a:srcRect l="0" r="0" t="0" b="0"/>
          <a:stretch/>
        </p:blipFill>
        <p:spPr>
          <a:xfrm>
            <a:off x="4550767" y="2557562"/>
            <a:ext cx="3048000" cy="1206500"/>
          </a:xfrm>
          <a:prstGeom prst="rect">
            <a:avLst/>
          </a:prstGeom>
        </p:spPr>
      </p:pic>
      <p:sp>
        <p:nvSpPr>
          <p:cNvPr id="15" name="Text 9"/>
          <p:cNvSpPr/>
          <p:nvPr/>
        </p:nvSpPr>
        <p:spPr>
          <a:xfrm>
            <a:off x="4550767" y="3840262"/>
            <a:ext cx="3183077"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Teselas de 512 con traslape de 128. Con IoU de 0.5 o más, se queda la de mayor puntaje. Las que tocan el borde interno se descartan.</a:t>
            </a:r>
            <a:endParaRPr lang="en-US" sz="1300" dirty="0"/>
          </a:p>
        </p:txBody>
      </p:sp>
      <p:sp>
        <p:nvSpPr>
          <p:cNvPr id="16" name="Shape 10"/>
          <p:cNvSpPr/>
          <p:nvPr/>
        </p:nvSpPr>
        <p:spPr>
          <a:xfrm>
            <a:off x="7968159" y="1792486"/>
            <a:ext cx="3401516" cy="3330277"/>
          </a:xfrm>
          <a:prstGeom prst="roundRect">
            <a:avLst>
              <a:gd name="adj" fmla="val 3527"/>
            </a:avLst>
          </a:prstGeom>
          <a:solidFill>
            <a:srgbClr val="12304A"/>
          </a:solidFill>
          <a:ln w="19050">
            <a:solidFill>
              <a:srgbClr val="F4A259"/>
            </a:solidFill>
            <a:prstDash val="solid"/>
          </a:ln>
        </p:spPr>
      </p:sp>
      <p:sp>
        <p:nvSpPr>
          <p:cNvPr id="17" name="Text 11"/>
          <p:cNvSpPr/>
          <p:nvPr/>
        </p:nvSpPr>
        <p:spPr>
          <a:xfrm>
            <a:off x="8130084" y="1954411"/>
            <a:ext cx="31699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FILTRO 3</a:t>
            </a:r>
            <a:endParaRPr lang="en-US" sz="1200" dirty="0"/>
          </a:p>
        </p:txBody>
      </p:sp>
      <p:sp>
        <p:nvSpPr>
          <p:cNvPr id="18" name="Text 12"/>
          <p:cNvSpPr/>
          <p:nvPr/>
        </p:nvSpPr>
        <p:spPr>
          <a:xfrm>
            <a:off x="8130084" y="2243931"/>
            <a:ext cx="316999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Filtro de contenido</a:t>
            </a:r>
            <a:endParaRPr lang="en-US" sz="1600" dirty="0"/>
          </a:p>
        </p:txBody>
      </p:sp>
      <p:pic>
        <p:nvPicPr>
          <p:cNvPr id="19" name="Image 4" descr="Un contorno pequeño completamente dentro de otro más grande">    </p:cNvPr>
          <p:cNvPicPr>
            <a:picLocks noChangeAspect="1"/>
          </p:cNvPicPr>
          <p:nvPr/>
        </p:nvPicPr>
        <p:blipFill>
          <a:blip r:embed="rId5"/>
          <a:srcRect l="0" r="0" t="0" b="0"/>
          <a:stretch/>
        </p:blipFill>
        <p:spPr>
          <a:xfrm>
            <a:off x="8130084" y="2563912"/>
            <a:ext cx="3048000" cy="1206500"/>
          </a:xfrm>
          <a:prstGeom prst="rect">
            <a:avLst/>
          </a:prstGeom>
        </p:spPr>
      </p:pic>
      <p:sp>
        <p:nvSpPr>
          <p:cNvPr id="20" name="Text 13"/>
          <p:cNvSpPr/>
          <p:nvPr/>
        </p:nvSpPr>
        <p:spPr>
          <a:xfrm>
            <a:off x="8130084" y="3846612"/>
            <a:ext cx="3169996" cy="113962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Un contorno de 40 px dentro de otro de 100 tiene IoU de 0.4, pero está contenido por completo. Si la mitad o más está dentro de uno conservado, se descarta.</a:t>
            </a:r>
            <a:endParaRPr lang="en-US" sz="1300" dirty="0"/>
          </a:p>
        </p:txBody>
      </p:sp>
      <p:sp>
        <p:nvSpPr>
          <p:cNvPr id="21"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2 · Esquema ilustrativo</a:t>
            </a:r>
            <a:endParaRPr lang="en-US" sz="1200" dirty="0"/>
          </a:p>
        </p:txBody>
      </p:sp>
      <p:sp>
        <p:nvSpPr>
          <p:cNvPr id="22"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12 / 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UNA POR CADA DECISIÓN</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Las cinco pérdidas</a:t>
            </a:r>
            <a:endParaRPr lang="en-US" sz="3600" dirty="0"/>
          </a:p>
        </p:txBody>
      </p:sp>
      <p:sp>
        <p:nvSpPr>
          <p:cNvPr id="6" name="Shape 2"/>
          <p:cNvSpPr/>
          <p:nvPr/>
        </p:nvSpPr>
        <p:spPr>
          <a:xfrm>
            <a:off x="819150" y="1789311"/>
            <a:ext cx="6718300" cy="673100"/>
          </a:xfrm>
          <a:prstGeom prst="roundRect">
            <a:avLst>
              <a:gd name="adj" fmla="val 14151"/>
            </a:avLst>
          </a:prstGeom>
          <a:solidFill>
            <a:srgbClr val="FCFDFD"/>
          </a:solidFill>
          <a:ln w="12700">
            <a:solidFill>
              <a:srgbClr val="D5E3EA"/>
            </a:solidFill>
            <a:prstDash val="solid"/>
          </a:ln>
        </p:spPr>
      </p:sp>
      <p:pic>
        <p:nvPicPr>
          <p:cNvPr id="7" name="Image 2" descr="Un espermatozoide con una ancla encima y otra ancla sobre el fondo oscuro">    </p:cNvPr>
          <p:cNvPicPr>
            <a:picLocks noChangeAspect="1"/>
          </p:cNvPicPr>
          <p:nvPr/>
        </p:nvPicPr>
        <p:blipFill>
          <a:blip r:embed="rId3"/>
          <a:srcRect l="0" r="0" t="12000" b="12000"/>
          <a:stretch/>
        </p:blipFill>
        <p:spPr>
          <a:xfrm>
            <a:off x="952500" y="1884561"/>
            <a:ext cx="635000" cy="482600"/>
          </a:xfrm>
          <a:prstGeom prst="roundRect">
            <a:avLst>
              <a:gd name="adj" fmla="val 10526"/>
            </a:avLst>
          </a:prstGeom>
        </p:spPr>
      </p:pic>
      <p:sp>
        <p:nvSpPr>
          <p:cNvPr id="8" name="Text 3"/>
          <p:cNvSpPr/>
          <p:nvPr/>
        </p:nvSpPr>
        <p:spPr>
          <a:xfrm>
            <a:off x="1714500" y="1968401"/>
            <a:ext cx="1905000" cy="314920"/>
          </a:xfrm>
          <a:custGeom>
            <a:avLst/>
            <a:gdLst/>
            <a:ahLst/>
            <a:cxnLst/>
            <a:rect l="l" t="t" r="r" b="b"/>
            <a:pathLst>
              <a:path w="1905000" h="314920">
                <a:moveTo>
                  <a:pt x="63500" y="0"/>
                </a:moveTo>
                <a:lnTo>
                  <a:pt x="1841500" y="0"/>
                </a:lnTo>
                <a:arcTo hR="63500" wR="63500" stAng="16200000" swAng="5400000"/>
                <a:lnTo>
                  <a:pt x="1905000" y="251420"/>
                </a:lnTo>
                <a:arcTo hR="63500" wR="63500" stAng="0" swAng="5400000"/>
                <a:lnTo>
                  <a:pt x="63500" y="314920"/>
                </a:lnTo>
                <a:arcTo hR="63500" wR="63500" stAng="5400000" swAng="5400000"/>
                <a:lnTo>
                  <a:pt x="0" y="63500"/>
                </a:lnTo>
                <a:arcTo hR="63500" wR="63500" stAng="10800000" swAng="5400000"/>
                <a:close/>
              </a:path>
            </a:pathLst>
          </a:custGeom>
          <a:solidFill>
            <a:srgbClr val="0E6E9C"/>
          </a:solidFill>
          <a:ln/>
        </p:spPr>
        <p:txBody>
          <a:bodyPr wrap="square" lIns="0" tIns="50800" rIns="0" bIns="25400" rtlCol="0" anchor="t">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Red de propuestas</a:t>
            </a:r>
            <a:endParaRPr lang="en-US" sz="1200" dirty="0"/>
          </a:p>
        </p:txBody>
      </p:sp>
      <p:sp>
        <p:nvSpPr>
          <p:cNvPr id="9" name="Text 4"/>
          <p:cNvSpPr/>
          <p:nvPr/>
        </p:nvSpPr>
        <p:spPr>
          <a:xfrm>
            <a:off x="3746500" y="2018506"/>
            <a:ext cx="354229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¿Había algo en esta ancla?</a:t>
            </a:r>
            <a:endParaRPr lang="en-US" sz="1300" dirty="0"/>
          </a:p>
        </p:txBody>
      </p:sp>
      <p:sp>
        <p:nvSpPr>
          <p:cNvPr id="10" name="Text 5"/>
          <p:cNvSpPr/>
          <p:nvPr/>
        </p:nvSpPr>
        <p:spPr>
          <a:xfrm>
            <a:off x="7312620" y="2019201"/>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480F"/>
                </a:solidFill>
                <a:latin typeface="IBM Plex Sans" pitchFamily="34" charset="0"/>
                <a:ea typeface="IBM Plex Sans" pitchFamily="34" charset="-122"/>
                <a:cs typeface="IBM Plex Sans" pitchFamily="34" charset="-120"/>
              </a:rPr>
              <a:t>1</a:t>
            </a:r>
            <a:endParaRPr lang="en-US" sz="1200" dirty="0"/>
          </a:p>
        </p:txBody>
      </p:sp>
      <p:sp>
        <p:nvSpPr>
          <p:cNvPr id="11" name="Shape 6"/>
          <p:cNvSpPr/>
          <p:nvPr/>
        </p:nvSpPr>
        <p:spPr>
          <a:xfrm>
            <a:off x="819150" y="2538611"/>
            <a:ext cx="6718300" cy="673100"/>
          </a:xfrm>
          <a:prstGeom prst="roundRect">
            <a:avLst>
              <a:gd name="adj" fmla="val 14151"/>
            </a:avLst>
          </a:prstGeom>
          <a:solidFill>
            <a:srgbClr val="FCFDFD"/>
          </a:solidFill>
          <a:ln w="12700">
            <a:solidFill>
              <a:srgbClr val="D5E3EA"/>
            </a:solidFill>
            <a:prstDash val="solid"/>
          </a:ln>
        </p:spPr>
      </p:sp>
      <p:pic>
        <p:nvPicPr>
          <p:cNvPr id="12" name="Image 3" descr="Una ancla que no encaja con el espermatozoide y la caja corregida que sí encaja">    </p:cNvPr>
          <p:cNvPicPr>
            <a:picLocks noChangeAspect="1"/>
          </p:cNvPicPr>
          <p:nvPr/>
        </p:nvPicPr>
        <p:blipFill>
          <a:blip r:embed="rId4"/>
          <a:srcRect l="0" r="0" t="12000" b="12000"/>
          <a:stretch/>
        </p:blipFill>
        <p:spPr>
          <a:xfrm>
            <a:off x="952500" y="2633861"/>
            <a:ext cx="635000" cy="482600"/>
          </a:xfrm>
          <a:prstGeom prst="roundRect">
            <a:avLst>
              <a:gd name="adj" fmla="val 10526"/>
            </a:avLst>
          </a:prstGeom>
        </p:spPr>
      </p:pic>
      <p:sp>
        <p:nvSpPr>
          <p:cNvPr id="13" name="Text 7"/>
          <p:cNvSpPr/>
          <p:nvPr/>
        </p:nvSpPr>
        <p:spPr>
          <a:xfrm>
            <a:off x="1714500" y="2717701"/>
            <a:ext cx="1905000" cy="314920"/>
          </a:xfrm>
          <a:custGeom>
            <a:avLst/>
            <a:gdLst/>
            <a:ahLst/>
            <a:cxnLst/>
            <a:rect l="l" t="t" r="r" b="b"/>
            <a:pathLst>
              <a:path w="1905000" h="314920">
                <a:moveTo>
                  <a:pt x="63500" y="0"/>
                </a:moveTo>
                <a:lnTo>
                  <a:pt x="1841500" y="0"/>
                </a:lnTo>
                <a:arcTo hR="63500" wR="63500" stAng="16200000" swAng="5400000"/>
                <a:lnTo>
                  <a:pt x="1905000" y="251420"/>
                </a:lnTo>
                <a:arcTo hR="63500" wR="63500" stAng="0" swAng="5400000"/>
                <a:lnTo>
                  <a:pt x="63500" y="314920"/>
                </a:lnTo>
                <a:arcTo hR="63500" wR="63500" stAng="5400000" swAng="5400000"/>
                <a:lnTo>
                  <a:pt x="0" y="63500"/>
                </a:lnTo>
                <a:arcTo hR="63500" wR="63500" stAng="10800000" swAng="5400000"/>
                <a:close/>
              </a:path>
            </a:pathLst>
          </a:custGeom>
          <a:solidFill>
            <a:srgbClr val="0E6E9C"/>
          </a:solidFill>
          <a:ln/>
        </p:spPr>
        <p:txBody>
          <a:bodyPr wrap="square" lIns="0" tIns="50800" rIns="0" bIns="25400" rtlCol="0" anchor="t">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Red de propuestas</a:t>
            </a:r>
            <a:endParaRPr lang="en-US" sz="1200" dirty="0"/>
          </a:p>
        </p:txBody>
      </p:sp>
      <p:sp>
        <p:nvSpPr>
          <p:cNvPr id="14" name="Text 8"/>
          <p:cNvSpPr/>
          <p:nvPr/>
        </p:nvSpPr>
        <p:spPr>
          <a:xfrm>
            <a:off x="3746500" y="2767806"/>
            <a:ext cx="354229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¿La caja encaja con el objeto?</a:t>
            </a:r>
            <a:endParaRPr lang="en-US" sz="1300" dirty="0"/>
          </a:p>
        </p:txBody>
      </p:sp>
      <p:sp>
        <p:nvSpPr>
          <p:cNvPr id="15" name="Text 9"/>
          <p:cNvSpPr/>
          <p:nvPr/>
        </p:nvSpPr>
        <p:spPr>
          <a:xfrm>
            <a:off x="7312620" y="2768501"/>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480F"/>
                </a:solidFill>
                <a:latin typeface="IBM Plex Sans" pitchFamily="34" charset="0"/>
                <a:ea typeface="IBM Plex Sans" pitchFamily="34" charset="-122"/>
                <a:cs typeface="IBM Plex Sans" pitchFamily="34" charset="-120"/>
              </a:rPr>
              <a:t>2</a:t>
            </a:r>
            <a:endParaRPr lang="en-US" sz="1200" dirty="0"/>
          </a:p>
        </p:txBody>
      </p:sp>
      <p:sp>
        <p:nvSpPr>
          <p:cNvPr id="16" name="Shape 10"/>
          <p:cNvSpPr/>
          <p:nvPr/>
        </p:nvSpPr>
        <p:spPr>
          <a:xfrm>
            <a:off x="819150" y="3287911"/>
            <a:ext cx="6718300" cy="673100"/>
          </a:xfrm>
          <a:prstGeom prst="roundRect">
            <a:avLst>
              <a:gd name="adj" fmla="val 14151"/>
            </a:avLst>
          </a:prstGeom>
          <a:solidFill>
            <a:srgbClr val="FCFDFD"/>
          </a:solidFill>
          <a:ln w="12700">
            <a:solidFill>
              <a:srgbClr val="D5E3EA"/>
            </a:solidFill>
            <a:prstDash val="solid"/>
          </a:ln>
        </p:spPr>
      </p:sp>
      <p:pic>
        <p:nvPicPr>
          <p:cNvPr id="17" name="Image 4" descr="La propuesta sobre un espermatozoide: ¿es un espermatozoide o fondo?">    </p:cNvPr>
          <p:cNvPicPr>
            <a:picLocks noChangeAspect="1"/>
          </p:cNvPicPr>
          <p:nvPr/>
        </p:nvPicPr>
        <p:blipFill>
          <a:blip r:embed="rId5"/>
          <a:srcRect l="0" r="0" t="12000" b="12000"/>
          <a:stretch/>
        </p:blipFill>
        <p:spPr>
          <a:xfrm>
            <a:off x="952500" y="3383161"/>
            <a:ext cx="635000" cy="482600"/>
          </a:xfrm>
          <a:prstGeom prst="roundRect">
            <a:avLst>
              <a:gd name="adj" fmla="val 10526"/>
            </a:avLst>
          </a:prstGeom>
        </p:spPr>
      </p:pic>
      <p:sp>
        <p:nvSpPr>
          <p:cNvPr id="18" name="Text 11"/>
          <p:cNvSpPr/>
          <p:nvPr/>
        </p:nvSpPr>
        <p:spPr>
          <a:xfrm>
            <a:off x="1714500" y="3467001"/>
            <a:ext cx="1905000" cy="314920"/>
          </a:xfrm>
          <a:custGeom>
            <a:avLst/>
            <a:gdLst/>
            <a:ahLst/>
            <a:cxnLst/>
            <a:rect l="l" t="t" r="r" b="b"/>
            <a:pathLst>
              <a:path w="1905000" h="314920">
                <a:moveTo>
                  <a:pt x="63500" y="0"/>
                </a:moveTo>
                <a:lnTo>
                  <a:pt x="1841500" y="0"/>
                </a:lnTo>
                <a:arcTo hR="63500" wR="63500" stAng="16200000" swAng="5400000"/>
                <a:lnTo>
                  <a:pt x="1905000" y="251420"/>
                </a:lnTo>
                <a:arcTo hR="63500" wR="63500" stAng="0" swAng="5400000"/>
                <a:lnTo>
                  <a:pt x="63500" y="314920"/>
                </a:lnTo>
                <a:arcTo hR="63500" wR="63500" stAng="5400000" swAng="5400000"/>
                <a:lnTo>
                  <a:pt x="0" y="63500"/>
                </a:lnTo>
                <a:arcTo hR="63500" wR="63500" stAng="10800000" swAng="5400000"/>
                <a:close/>
              </a:path>
            </a:pathLst>
          </a:custGeom>
          <a:solidFill>
            <a:srgbClr val="A3480F"/>
          </a:solidFill>
          <a:ln/>
        </p:spPr>
        <p:txBody>
          <a:bodyPr wrap="square" lIns="0" tIns="50800" rIns="0" bIns="25400" rtlCol="0" anchor="t">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Cabeza de clasificación</a:t>
            </a:r>
            <a:endParaRPr lang="en-US" sz="1200" dirty="0"/>
          </a:p>
        </p:txBody>
      </p:sp>
      <p:sp>
        <p:nvSpPr>
          <p:cNvPr id="19" name="Text 12"/>
          <p:cNvSpPr/>
          <p:nvPr/>
        </p:nvSpPr>
        <p:spPr>
          <a:xfrm>
            <a:off x="3746500" y="3517106"/>
            <a:ext cx="354229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¿Espermatozoide o fondo?</a:t>
            </a:r>
            <a:endParaRPr lang="en-US" sz="1300" dirty="0"/>
          </a:p>
        </p:txBody>
      </p:sp>
      <p:sp>
        <p:nvSpPr>
          <p:cNvPr id="20" name="Text 13"/>
          <p:cNvSpPr/>
          <p:nvPr/>
        </p:nvSpPr>
        <p:spPr>
          <a:xfrm>
            <a:off x="7312620" y="3517801"/>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480F"/>
                </a:solidFill>
                <a:latin typeface="IBM Plex Sans" pitchFamily="34" charset="0"/>
                <a:ea typeface="IBM Plex Sans" pitchFamily="34" charset="-122"/>
                <a:cs typeface="IBM Plex Sans" pitchFamily="34" charset="-120"/>
              </a:rPr>
              <a:t>3</a:t>
            </a:r>
            <a:endParaRPr lang="en-US" sz="1200" dirty="0"/>
          </a:p>
        </p:txBody>
      </p:sp>
      <p:sp>
        <p:nvSpPr>
          <p:cNvPr id="21" name="Shape 14"/>
          <p:cNvSpPr/>
          <p:nvPr/>
        </p:nvSpPr>
        <p:spPr>
          <a:xfrm>
            <a:off x="819150" y="4037211"/>
            <a:ext cx="6718300" cy="673100"/>
          </a:xfrm>
          <a:prstGeom prst="roundRect">
            <a:avLst>
              <a:gd name="adj" fmla="val 14151"/>
            </a:avLst>
          </a:prstGeom>
          <a:solidFill>
            <a:srgbClr val="FCFDFD"/>
          </a:solidFill>
          <a:ln w="12700">
            <a:solidFill>
              <a:srgbClr val="D5E3EA"/>
            </a:solidFill>
            <a:prstDash val="solid"/>
          </a:ln>
        </p:spPr>
      </p:sp>
      <p:pic>
        <p:nvPicPr>
          <p:cNvPr id="22" name="Image 5" descr="La caja de la propuesta y la caja final, más ajustada al espermatozoide">    </p:cNvPr>
          <p:cNvPicPr>
            <a:picLocks noChangeAspect="1"/>
          </p:cNvPicPr>
          <p:nvPr/>
        </p:nvPicPr>
        <p:blipFill>
          <a:blip r:embed="rId6"/>
          <a:srcRect l="0" r="0" t="12000" b="12000"/>
          <a:stretch/>
        </p:blipFill>
        <p:spPr>
          <a:xfrm>
            <a:off x="952500" y="4132461"/>
            <a:ext cx="635000" cy="482600"/>
          </a:xfrm>
          <a:prstGeom prst="roundRect">
            <a:avLst>
              <a:gd name="adj" fmla="val 10526"/>
            </a:avLst>
          </a:prstGeom>
        </p:spPr>
      </p:pic>
      <p:sp>
        <p:nvSpPr>
          <p:cNvPr id="23" name="Text 15"/>
          <p:cNvSpPr/>
          <p:nvPr/>
        </p:nvSpPr>
        <p:spPr>
          <a:xfrm>
            <a:off x="1714500" y="4216301"/>
            <a:ext cx="1905000" cy="314920"/>
          </a:xfrm>
          <a:custGeom>
            <a:avLst/>
            <a:gdLst/>
            <a:ahLst/>
            <a:cxnLst/>
            <a:rect l="l" t="t" r="r" b="b"/>
            <a:pathLst>
              <a:path w="1905000" h="314920">
                <a:moveTo>
                  <a:pt x="63500" y="0"/>
                </a:moveTo>
                <a:lnTo>
                  <a:pt x="1841500" y="0"/>
                </a:lnTo>
                <a:arcTo hR="63500" wR="63500" stAng="16200000" swAng="5400000"/>
                <a:lnTo>
                  <a:pt x="1905000" y="251420"/>
                </a:lnTo>
                <a:arcTo hR="63500" wR="63500" stAng="0" swAng="5400000"/>
                <a:lnTo>
                  <a:pt x="63500" y="314920"/>
                </a:lnTo>
                <a:arcTo hR="63500" wR="63500" stAng="5400000" swAng="5400000"/>
                <a:lnTo>
                  <a:pt x="0" y="63500"/>
                </a:lnTo>
                <a:arcTo hR="63500" wR="63500" stAng="10800000" swAng="5400000"/>
                <a:close/>
              </a:path>
            </a:pathLst>
          </a:custGeom>
          <a:solidFill>
            <a:srgbClr val="A3480F"/>
          </a:solidFill>
          <a:ln/>
        </p:spPr>
        <p:txBody>
          <a:bodyPr wrap="square" lIns="0" tIns="50800" rIns="0" bIns="25400" rtlCol="0" anchor="t">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Cabeza de clasificación</a:t>
            </a:r>
            <a:endParaRPr lang="en-US" sz="1200" dirty="0"/>
          </a:p>
        </p:txBody>
      </p:sp>
      <p:sp>
        <p:nvSpPr>
          <p:cNvPr id="24" name="Text 16"/>
          <p:cNvSpPr/>
          <p:nvPr/>
        </p:nvSpPr>
        <p:spPr>
          <a:xfrm>
            <a:off x="3746500" y="4266406"/>
            <a:ext cx="354229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¿La caja final quedó afinada?</a:t>
            </a:r>
            <a:endParaRPr lang="en-US" sz="1300" dirty="0"/>
          </a:p>
        </p:txBody>
      </p:sp>
      <p:sp>
        <p:nvSpPr>
          <p:cNvPr id="25" name="Text 17"/>
          <p:cNvSpPr/>
          <p:nvPr/>
        </p:nvSpPr>
        <p:spPr>
          <a:xfrm>
            <a:off x="7312620" y="4267101"/>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480F"/>
                </a:solidFill>
                <a:latin typeface="IBM Plex Sans" pitchFamily="34" charset="0"/>
                <a:ea typeface="IBM Plex Sans" pitchFamily="34" charset="-122"/>
                <a:cs typeface="IBM Plex Sans" pitchFamily="34" charset="-120"/>
              </a:rPr>
              <a:t>4</a:t>
            </a:r>
            <a:endParaRPr lang="en-US" sz="1200" dirty="0"/>
          </a:p>
        </p:txBody>
      </p:sp>
      <p:sp>
        <p:nvSpPr>
          <p:cNvPr id="26" name="Shape 18"/>
          <p:cNvSpPr/>
          <p:nvPr/>
        </p:nvSpPr>
        <p:spPr>
          <a:xfrm>
            <a:off x="819150" y="4786511"/>
            <a:ext cx="6718300" cy="673100"/>
          </a:xfrm>
          <a:prstGeom prst="roundRect">
            <a:avLst>
              <a:gd name="adj" fmla="val 14151"/>
            </a:avLst>
          </a:prstGeom>
          <a:solidFill>
            <a:srgbClr val="FCFDFD"/>
          </a:solidFill>
          <a:ln w="12700">
            <a:solidFill>
              <a:srgbClr val="D5E3EA"/>
            </a:solidFill>
            <a:prstDash val="solid"/>
          </a:ln>
        </p:spPr>
      </p:sp>
      <p:pic>
        <p:nvPicPr>
          <p:cNvPr id="27" name="Image 6" descr="La máscara de 28 por 28 de un espermatozoide, como mapa de calor">    </p:cNvPr>
          <p:cNvPicPr>
            <a:picLocks noChangeAspect="1"/>
          </p:cNvPicPr>
          <p:nvPr/>
        </p:nvPicPr>
        <p:blipFill>
          <a:blip r:embed="rId7"/>
          <a:srcRect l="0" r="0" t="12000" b="12000"/>
          <a:stretch/>
        </p:blipFill>
        <p:spPr>
          <a:xfrm>
            <a:off x="952500" y="4881761"/>
            <a:ext cx="635000" cy="482600"/>
          </a:xfrm>
          <a:prstGeom prst="roundRect">
            <a:avLst>
              <a:gd name="adj" fmla="val 10526"/>
            </a:avLst>
          </a:prstGeom>
        </p:spPr>
      </p:pic>
      <p:sp>
        <p:nvSpPr>
          <p:cNvPr id="28" name="Text 19"/>
          <p:cNvSpPr/>
          <p:nvPr/>
        </p:nvSpPr>
        <p:spPr>
          <a:xfrm>
            <a:off x="1714500" y="4965601"/>
            <a:ext cx="1905000" cy="314920"/>
          </a:xfrm>
          <a:custGeom>
            <a:avLst/>
            <a:gdLst/>
            <a:ahLst/>
            <a:cxnLst/>
            <a:rect l="l" t="t" r="r" b="b"/>
            <a:pathLst>
              <a:path w="1905000" h="314920">
                <a:moveTo>
                  <a:pt x="63500" y="0"/>
                </a:moveTo>
                <a:lnTo>
                  <a:pt x="1841500" y="0"/>
                </a:lnTo>
                <a:arcTo hR="63500" wR="63500" stAng="16200000" swAng="5400000"/>
                <a:lnTo>
                  <a:pt x="1905000" y="251420"/>
                </a:lnTo>
                <a:arcTo hR="63500" wR="63500" stAng="0" swAng="5400000"/>
                <a:lnTo>
                  <a:pt x="63500" y="314920"/>
                </a:lnTo>
                <a:arcTo hR="63500" wR="63500" stAng="5400000" swAng="5400000"/>
                <a:lnTo>
                  <a:pt x="0" y="63500"/>
                </a:lnTo>
                <a:arcTo hR="63500" wR="63500" stAng="10800000" swAng="5400000"/>
                <a:close/>
              </a:path>
            </a:pathLst>
          </a:custGeom>
          <a:solidFill>
            <a:srgbClr val="0B1F2E"/>
          </a:solidFill>
          <a:ln/>
        </p:spPr>
        <p:txBody>
          <a:bodyPr wrap="square" lIns="0" tIns="50800" rIns="0" bIns="25400" rtlCol="0" anchor="t">
            <a:normAutofit/>
          </a:bodyPr>
          <a:lstStyle/>
          <a:p>
            <a:pPr algn="ctr" indent="0" marL="0">
              <a:lnSpc>
                <a:spcPts val="1680"/>
              </a:lnSpc>
              <a:buNone/>
            </a:pPr>
            <a:r>
              <a:rPr lang="en-US" sz="1200" b="1" dirty="0">
                <a:solidFill>
                  <a:srgbClr val="F4A259"/>
                </a:solidFill>
                <a:latin typeface="IBM Plex Sans" pitchFamily="34" charset="0"/>
                <a:ea typeface="IBM Plex Sans" pitchFamily="34" charset="-122"/>
                <a:cs typeface="IBM Plex Sans" pitchFamily="34" charset="-120"/>
              </a:rPr>
              <a:t>Cabeza de máscara</a:t>
            </a:r>
            <a:endParaRPr lang="en-US" sz="1200" dirty="0"/>
          </a:p>
        </p:txBody>
      </p:sp>
      <p:sp>
        <p:nvSpPr>
          <p:cNvPr id="29" name="Text 20"/>
          <p:cNvSpPr/>
          <p:nvPr/>
        </p:nvSpPr>
        <p:spPr>
          <a:xfrm>
            <a:off x="3746500" y="4908451"/>
            <a:ext cx="3542294"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¿La forma coincide con la que dibujaron las personas, punto por punto?</a:t>
            </a:r>
            <a:endParaRPr lang="en-US" sz="1300" dirty="0"/>
          </a:p>
        </p:txBody>
      </p:sp>
      <p:sp>
        <p:nvSpPr>
          <p:cNvPr id="30" name="Text 21"/>
          <p:cNvSpPr/>
          <p:nvPr/>
        </p:nvSpPr>
        <p:spPr>
          <a:xfrm>
            <a:off x="7312620" y="5016401"/>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480F"/>
                </a:solidFill>
                <a:latin typeface="IBM Plex Sans" pitchFamily="34" charset="0"/>
                <a:ea typeface="IBM Plex Sans" pitchFamily="34" charset="-122"/>
                <a:cs typeface="IBM Plex Sans" pitchFamily="34" charset="-120"/>
              </a:rPr>
              <a:t>5</a:t>
            </a:r>
            <a:endParaRPr lang="en-US" sz="1200" dirty="0"/>
          </a:p>
        </p:txBody>
      </p:sp>
      <p:sp>
        <p:nvSpPr>
          <p:cNvPr id="31" name="Shape 22"/>
          <p:cNvSpPr/>
          <p:nvPr/>
        </p:nvSpPr>
        <p:spPr>
          <a:xfrm>
            <a:off x="7772400" y="2488505"/>
            <a:ext cx="3606800" cy="1532830"/>
          </a:xfrm>
          <a:prstGeom prst="roundRect">
            <a:avLst>
              <a:gd name="adj" fmla="val 8285"/>
            </a:avLst>
          </a:prstGeom>
          <a:solidFill>
            <a:srgbClr val="0B1F2E"/>
          </a:solidFill>
          <a:ln/>
        </p:spPr>
      </p:sp>
      <p:sp>
        <p:nvSpPr>
          <p:cNvPr id="32" name="Text 23"/>
          <p:cNvSpPr/>
          <p:nvPr/>
        </p:nvSpPr>
        <p:spPr>
          <a:xfrm>
            <a:off x="8854758" y="2653605"/>
            <a:ext cx="1442085"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SE SUMAN EN</a:t>
            </a:r>
            <a:endParaRPr lang="en-US" sz="1200" dirty="0"/>
          </a:p>
        </p:txBody>
      </p:sp>
      <p:sp>
        <p:nvSpPr>
          <p:cNvPr id="33" name="Text 24"/>
          <p:cNvSpPr/>
          <p:nvPr/>
        </p:nvSpPr>
        <p:spPr>
          <a:xfrm>
            <a:off x="9360773" y="2905026"/>
            <a:ext cx="430054" cy="723900"/>
          </a:xfrm>
          <a:prstGeom prst="rect">
            <a:avLst/>
          </a:prstGeom>
          <a:noFill/>
          <a:ln/>
        </p:spPr>
        <p:txBody>
          <a:bodyPr wrap="square" lIns="0" tIns="0" rIns="0" bIns="0" rtlCol="0" anchor="t">
            <a:normAutofit/>
          </a:bodyPr>
          <a:lstStyle/>
          <a:p>
            <a:pPr algn="ctr" indent="0" marL="0">
              <a:lnSpc>
                <a:spcPts val="5500"/>
              </a:lnSpc>
              <a:buNone/>
            </a:pPr>
            <a:r>
              <a:rPr lang="en-US" sz="5500" b="1" dirty="0">
                <a:solidFill>
                  <a:srgbClr val="F4A259"/>
                </a:solidFill>
                <a:latin typeface="EB Garamond" pitchFamily="18" charset="0"/>
                <a:ea typeface="EB Garamond" pitchFamily="18" charset="-122"/>
                <a:cs typeface="EB Garamond" pitchFamily="18" charset="-120"/>
              </a:rPr>
              <a:t>1</a:t>
            </a:r>
            <a:endParaRPr lang="en-US" sz="5500" dirty="0"/>
          </a:p>
        </p:txBody>
      </p:sp>
      <p:sp>
        <p:nvSpPr>
          <p:cNvPr id="34" name="Text 25"/>
          <p:cNvSpPr/>
          <p:nvPr/>
        </p:nvSpPr>
        <p:spPr>
          <a:xfrm>
            <a:off x="7772400" y="3641626"/>
            <a:ext cx="3606701" cy="240010"/>
          </a:xfrm>
          <a:prstGeom prst="rect">
            <a:avLst/>
          </a:prstGeom>
          <a:noFill/>
          <a:ln/>
        </p:spPr>
        <p:txBody>
          <a:bodyPr wrap="square" lIns="0" tIns="0" rIns="0" bIns="0" rtlCol="0" anchor="t">
            <a:normAutofit/>
          </a:bodyPr>
          <a:lstStyle/>
          <a:p>
            <a:pPr algn="ctr" indent="0" marL="0">
              <a:lnSpc>
                <a:spcPts val="1690"/>
              </a:lnSpc>
              <a:buNone/>
            </a:pPr>
            <a:r>
              <a:rPr lang="en-US" sz="1300" dirty="0">
                <a:solidFill>
                  <a:srgbClr val="C3D7E2"/>
                </a:solidFill>
                <a:latin typeface="IBM Plex Sans" pitchFamily="34" charset="0"/>
                <a:ea typeface="IBM Plex Sans" pitchFamily="34" charset="-122"/>
                <a:cs typeface="IBM Plex Sans" pitchFamily="34" charset="-120"/>
              </a:rPr>
              <a:t>solo número: el que el entrenamiento baja.</a:t>
            </a:r>
            <a:endParaRPr lang="en-US" sz="1300" dirty="0"/>
          </a:p>
        </p:txBody>
      </p:sp>
      <p:sp>
        <p:nvSpPr>
          <p:cNvPr id="35" name="Shape 26"/>
          <p:cNvSpPr/>
          <p:nvPr/>
        </p:nvSpPr>
        <p:spPr>
          <a:xfrm>
            <a:off x="7778750" y="4116586"/>
            <a:ext cx="3594100" cy="637381"/>
          </a:xfrm>
          <a:prstGeom prst="roundRect">
            <a:avLst>
              <a:gd name="adj" fmla="val 14944"/>
            </a:avLst>
          </a:prstGeom>
          <a:solidFill>
            <a:srgbClr val="FCFDFD"/>
          </a:solidFill>
          <a:ln w="12700">
            <a:solidFill>
              <a:srgbClr val="D5E3EA"/>
            </a:solidFill>
            <a:prstDash val="solid"/>
          </a:ln>
        </p:spPr>
      </p:sp>
      <p:pic>
        <p:nvPicPr>
          <p:cNvPr id="36" name="Image 7" descr="Warning">    </p:cNvPr>
          <p:cNvPicPr>
            <a:picLocks noChangeAspect="1"/>
          </p:cNvPicPr>
          <p:nvPr/>
        </p:nvPicPr>
        <p:blipFill>
          <a:blip r:embed="rId8"/>
          <a:srcRect l="0" r="0" t="0" b="0"/>
          <a:stretch/>
        </p:blipFill>
        <p:spPr>
          <a:xfrm>
            <a:off x="7924800" y="4308277"/>
            <a:ext cx="254000" cy="254000"/>
          </a:xfrm>
          <a:prstGeom prst="rect">
            <a:avLst/>
          </a:prstGeom>
        </p:spPr>
      </p:pic>
      <p:sp>
        <p:nvSpPr>
          <p:cNvPr id="37" name="Text 27"/>
          <p:cNvSpPr/>
          <p:nvPr/>
        </p:nvSpPr>
        <p:spPr>
          <a:xfrm>
            <a:off x="8280400" y="4237236"/>
            <a:ext cx="3034792"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C2A3E"/>
                </a:solidFill>
                <a:latin typeface="IBM Plex Sans" pitchFamily="34" charset="0"/>
                <a:ea typeface="IBM Plex Sans" pitchFamily="34" charset="-122"/>
                <a:cs typeface="IBM Plex Sans" pitchFamily="34" charset="-120"/>
              </a:rPr>
              <a:t>Una etiqueta descuidada afecta a las cinco a la vez.</a:t>
            </a:r>
            <a:endParaRPr lang="en-US" sz="1200" dirty="0"/>
          </a:p>
        </p:txBody>
      </p:sp>
      <p:sp>
        <p:nvSpPr>
          <p:cNvPr id="38" name="Text 2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2 · Anclas y cajas dibujadas como ilustración</a:t>
            </a:r>
            <a:endParaRPr lang="en-US" sz="1200" dirty="0"/>
          </a:p>
        </p:txBody>
      </p:sp>
      <p:sp>
        <p:nvSpPr>
          <p:cNvPr id="39" name="Text 2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13 /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EL RECORRIDO COMPLETO</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Un ejemplo con la imagen de muestra</a:t>
            </a:r>
            <a:endParaRPr lang="en-US" sz="3600" dirty="0"/>
          </a:p>
        </p:txBody>
      </p:sp>
      <p:pic>
        <p:nvPicPr>
          <p:cNvPr id="6" name="Image 2" descr="Imagen de muestra con los 41 contornos que dibujó la red: en celeste sobre cabezas, en naranja sobre filamentos largos y con un círculo blanco en las cabezas sin contorno">    </p:cNvPr>
          <p:cNvPicPr>
            <a:picLocks noChangeAspect="1"/>
          </p:cNvPicPr>
          <p:nvPr/>
        </p:nvPicPr>
        <p:blipFill>
          <a:blip r:embed="rId3"/>
          <a:srcRect l="0" r="0" t="0" b="0"/>
          <a:stretch/>
        </p:blipFill>
        <p:spPr>
          <a:xfrm>
            <a:off x="812800" y="1757561"/>
            <a:ext cx="4953000" cy="3714750"/>
          </a:xfrm>
          <a:prstGeom prst="roundRect">
            <a:avLst>
              <a:gd name="adj" fmla="val 2051"/>
            </a:avLst>
          </a:prstGeom>
        </p:spPr>
      </p:pic>
      <p:sp>
        <p:nvSpPr>
          <p:cNvPr id="7" name="Shape 2"/>
          <p:cNvSpPr/>
          <p:nvPr/>
        </p:nvSpPr>
        <p:spPr>
          <a:xfrm>
            <a:off x="6026150" y="1763911"/>
            <a:ext cx="1714500" cy="977900"/>
          </a:xfrm>
          <a:prstGeom prst="roundRect">
            <a:avLst>
              <a:gd name="adj" fmla="val 9740"/>
            </a:avLst>
          </a:prstGeom>
          <a:solidFill>
            <a:srgbClr val="12304A"/>
          </a:solidFill>
          <a:ln w="12700">
            <a:solidFill>
              <a:srgbClr val="24506E"/>
            </a:solidFill>
            <a:prstDash val="solid"/>
          </a:ln>
        </p:spPr>
      </p:sp>
      <p:sp>
        <p:nvSpPr>
          <p:cNvPr id="8" name="Text 3"/>
          <p:cNvSpPr/>
          <p:nvPr/>
        </p:nvSpPr>
        <p:spPr>
          <a:xfrm>
            <a:off x="6146800" y="1871861"/>
            <a:ext cx="15240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1F6F8"/>
                </a:solidFill>
                <a:latin typeface="EB Garamond" pitchFamily="18" charset="0"/>
                <a:ea typeface="EB Garamond" pitchFamily="18" charset="-122"/>
                <a:cs typeface="EB Garamond" pitchFamily="18" charset="-120"/>
              </a:rPr>
              <a:t>46</a:t>
            </a:r>
            <a:endParaRPr lang="en-US" sz="2800" dirty="0"/>
          </a:p>
        </p:txBody>
      </p:sp>
      <p:sp>
        <p:nvSpPr>
          <p:cNvPr id="9" name="Text 4"/>
          <p:cNvSpPr/>
          <p:nvPr/>
        </p:nvSpPr>
        <p:spPr>
          <a:xfrm>
            <a:off x="6146800" y="2252861"/>
            <a:ext cx="15240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cabezas, contadas por su color</a:t>
            </a:r>
            <a:endParaRPr lang="en-US" sz="1200" dirty="0"/>
          </a:p>
        </p:txBody>
      </p:sp>
      <p:sp>
        <p:nvSpPr>
          <p:cNvPr id="10" name="Shape 5"/>
          <p:cNvSpPr/>
          <p:nvPr/>
        </p:nvSpPr>
        <p:spPr>
          <a:xfrm>
            <a:off x="7842250" y="1763911"/>
            <a:ext cx="1714500" cy="977900"/>
          </a:xfrm>
          <a:prstGeom prst="roundRect">
            <a:avLst>
              <a:gd name="adj" fmla="val 9740"/>
            </a:avLst>
          </a:prstGeom>
          <a:solidFill>
            <a:srgbClr val="12304A"/>
          </a:solidFill>
          <a:ln w="12700">
            <a:solidFill>
              <a:srgbClr val="24506E"/>
            </a:solidFill>
            <a:prstDash val="solid"/>
          </a:ln>
        </p:spPr>
      </p:sp>
      <p:sp>
        <p:nvSpPr>
          <p:cNvPr id="11" name="Text 6"/>
          <p:cNvSpPr/>
          <p:nvPr/>
        </p:nvSpPr>
        <p:spPr>
          <a:xfrm>
            <a:off x="7962900" y="1871861"/>
            <a:ext cx="15240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1F6F8"/>
                </a:solidFill>
                <a:latin typeface="EB Garamond" pitchFamily="18" charset="0"/>
                <a:ea typeface="EB Garamond" pitchFamily="18" charset="-122"/>
                <a:cs typeface="EB Garamond" pitchFamily="18" charset="-120"/>
              </a:rPr>
              <a:t>41</a:t>
            </a:r>
            <a:endParaRPr lang="en-US" sz="2800" dirty="0"/>
          </a:p>
        </p:txBody>
      </p:sp>
      <p:sp>
        <p:nvSpPr>
          <p:cNvPr id="12" name="Text 7"/>
          <p:cNvSpPr/>
          <p:nvPr/>
        </p:nvSpPr>
        <p:spPr>
          <a:xfrm>
            <a:off x="7962900" y="2252861"/>
            <a:ext cx="15240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contornos con puntaje de 0.9 o más</a:t>
            </a:r>
            <a:endParaRPr lang="en-US" sz="1200" dirty="0"/>
          </a:p>
        </p:txBody>
      </p:sp>
      <p:sp>
        <p:nvSpPr>
          <p:cNvPr id="13" name="Shape 8"/>
          <p:cNvSpPr/>
          <p:nvPr/>
        </p:nvSpPr>
        <p:spPr>
          <a:xfrm>
            <a:off x="9661525" y="1767086"/>
            <a:ext cx="1708150" cy="971550"/>
          </a:xfrm>
          <a:prstGeom prst="roundRect">
            <a:avLst>
              <a:gd name="adj" fmla="val 9477"/>
            </a:avLst>
          </a:prstGeom>
          <a:solidFill>
            <a:srgbClr val="12304A"/>
          </a:solidFill>
          <a:ln w="19050">
            <a:solidFill>
              <a:srgbClr val="6CCFF6"/>
            </a:solidFill>
            <a:prstDash val="solid"/>
          </a:ln>
        </p:spPr>
      </p:sp>
      <p:sp>
        <p:nvSpPr>
          <p:cNvPr id="14" name="Text 9"/>
          <p:cNvSpPr/>
          <p:nvPr/>
        </p:nvSpPr>
        <p:spPr>
          <a:xfrm>
            <a:off x="9785350" y="1878211"/>
            <a:ext cx="15113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6CCFF6"/>
                </a:solidFill>
                <a:latin typeface="EB Garamond" pitchFamily="18" charset="0"/>
                <a:ea typeface="EB Garamond" pitchFamily="18" charset="-122"/>
                <a:cs typeface="EB Garamond" pitchFamily="18" charset="-120"/>
              </a:rPr>
              <a:t>37</a:t>
            </a:r>
            <a:endParaRPr lang="en-US" sz="2800" dirty="0"/>
          </a:p>
        </p:txBody>
      </p:sp>
      <p:sp>
        <p:nvSpPr>
          <p:cNvPr id="15" name="Text 10"/>
          <p:cNvSpPr/>
          <p:nvPr/>
        </p:nvSpPr>
        <p:spPr>
          <a:xfrm>
            <a:off x="9785350" y="2259211"/>
            <a:ext cx="1511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sobre cabezas</a:t>
            </a:r>
            <a:endParaRPr lang="en-US" sz="1200" dirty="0"/>
          </a:p>
        </p:txBody>
      </p:sp>
      <p:sp>
        <p:nvSpPr>
          <p:cNvPr id="16" name="Shape 11"/>
          <p:cNvSpPr/>
          <p:nvPr/>
        </p:nvSpPr>
        <p:spPr>
          <a:xfrm>
            <a:off x="6029325" y="2846586"/>
            <a:ext cx="1708150" cy="984250"/>
          </a:xfrm>
          <a:prstGeom prst="roundRect">
            <a:avLst>
              <a:gd name="adj" fmla="val 9355"/>
            </a:avLst>
          </a:prstGeom>
          <a:solidFill>
            <a:srgbClr val="12304A"/>
          </a:solidFill>
          <a:ln w="19050">
            <a:solidFill>
              <a:srgbClr val="F4A259"/>
            </a:solidFill>
            <a:prstDash val="solid"/>
          </a:ln>
        </p:spPr>
      </p:sp>
      <p:sp>
        <p:nvSpPr>
          <p:cNvPr id="17" name="Text 12"/>
          <p:cNvSpPr/>
          <p:nvPr/>
        </p:nvSpPr>
        <p:spPr>
          <a:xfrm>
            <a:off x="6153150" y="2957711"/>
            <a:ext cx="15113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4</a:t>
            </a:r>
            <a:endParaRPr lang="en-US" sz="2800" dirty="0"/>
          </a:p>
        </p:txBody>
      </p:sp>
      <p:sp>
        <p:nvSpPr>
          <p:cNvPr id="18" name="Text 13"/>
          <p:cNvSpPr/>
          <p:nvPr/>
        </p:nvSpPr>
        <p:spPr>
          <a:xfrm>
            <a:off x="6153150" y="3338711"/>
            <a:ext cx="1511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sobre filamentos largos</a:t>
            </a:r>
            <a:endParaRPr lang="en-US" sz="1200" dirty="0"/>
          </a:p>
        </p:txBody>
      </p:sp>
      <p:sp>
        <p:nvSpPr>
          <p:cNvPr id="19" name="Shape 14"/>
          <p:cNvSpPr/>
          <p:nvPr/>
        </p:nvSpPr>
        <p:spPr>
          <a:xfrm>
            <a:off x="7845425" y="2846586"/>
            <a:ext cx="1708150" cy="984250"/>
          </a:xfrm>
          <a:prstGeom prst="roundRect">
            <a:avLst>
              <a:gd name="adj" fmla="val 9355"/>
            </a:avLst>
          </a:prstGeom>
          <a:solidFill>
            <a:srgbClr val="12304A"/>
          </a:solidFill>
          <a:ln w="19050">
            <a:solidFill>
              <a:srgbClr val="F1F6F8"/>
            </a:solidFill>
            <a:prstDash val="solid"/>
          </a:ln>
        </p:spPr>
      </p:sp>
      <p:sp>
        <p:nvSpPr>
          <p:cNvPr id="20" name="Text 15"/>
          <p:cNvSpPr/>
          <p:nvPr/>
        </p:nvSpPr>
        <p:spPr>
          <a:xfrm>
            <a:off x="7969250" y="2957711"/>
            <a:ext cx="15113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1F6F8"/>
                </a:solidFill>
                <a:latin typeface="EB Garamond" pitchFamily="18" charset="0"/>
                <a:ea typeface="EB Garamond" pitchFamily="18" charset="-122"/>
                <a:cs typeface="EB Garamond" pitchFamily="18" charset="-120"/>
              </a:rPr>
              <a:t>9</a:t>
            </a:r>
            <a:endParaRPr lang="en-US" sz="2800" dirty="0"/>
          </a:p>
        </p:txBody>
      </p:sp>
      <p:sp>
        <p:nvSpPr>
          <p:cNvPr id="21" name="Text 16"/>
          <p:cNvSpPr/>
          <p:nvPr/>
        </p:nvSpPr>
        <p:spPr>
          <a:xfrm>
            <a:off x="7969250" y="3338711"/>
            <a:ext cx="1574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cabezas sin contorno</a:t>
            </a:r>
            <a:endParaRPr lang="en-US" sz="1200" dirty="0"/>
          </a:p>
        </p:txBody>
      </p:sp>
      <p:sp>
        <p:nvSpPr>
          <p:cNvPr id="22" name="Shape 17"/>
          <p:cNvSpPr/>
          <p:nvPr/>
        </p:nvSpPr>
        <p:spPr>
          <a:xfrm>
            <a:off x="9658350" y="2843411"/>
            <a:ext cx="1714500" cy="990600"/>
          </a:xfrm>
          <a:prstGeom prst="roundRect">
            <a:avLst>
              <a:gd name="adj" fmla="val 9615"/>
            </a:avLst>
          </a:prstGeom>
          <a:solidFill>
            <a:srgbClr val="12304A"/>
          </a:solidFill>
          <a:ln w="12700">
            <a:solidFill>
              <a:srgbClr val="24506E"/>
            </a:solidFill>
            <a:prstDash val="solid"/>
          </a:ln>
        </p:spPr>
      </p:sp>
      <p:sp>
        <p:nvSpPr>
          <p:cNvPr id="23" name="Text 18"/>
          <p:cNvSpPr/>
          <p:nvPr/>
        </p:nvSpPr>
        <p:spPr>
          <a:xfrm>
            <a:off x="9779000" y="2951361"/>
            <a:ext cx="1524000"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8FA9B8"/>
                </a:solidFill>
                <a:latin typeface="EB Garamond" pitchFamily="18" charset="0"/>
                <a:ea typeface="EB Garamond" pitchFamily="18" charset="-122"/>
                <a:cs typeface="EB Garamond" pitchFamily="18" charset="-120"/>
              </a:rPr>
              <a:t>1200 × 900</a:t>
            </a:r>
            <a:endParaRPr lang="en-US" sz="2000" dirty="0"/>
          </a:p>
        </p:txBody>
      </p:sp>
      <p:sp>
        <p:nvSpPr>
          <p:cNvPr id="24" name="Text 19"/>
          <p:cNvSpPr/>
          <p:nvPr/>
        </p:nvSpPr>
        <p:spPr>
          <a:xfrm>
            <a:off x="9779000" y="3294261"/>
            <a:ext cx="15240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píxeles</a:t>
            </a:r>
            <a:endParaRPr lang="en-US" sz="1200" dirty="0"/>
          </a:p>
        </p:txBody>
      </p:sp>
      <p:sp>
        <p:nvSpPr>
          <p:cNvPr id="25" name="Shape 20"/>
          <p:cNvSpPr/>
          <p:nvPr/>
        </p:nvSpPr>
        <p:spPr>
          <a:xfrm>
            <a:off x="6019800" y="3941961"/>
            <a:ext cx="5359400" cy="457200"/>
          </a:xfrm>
          <a:prstGeom prst="roundRect">
            <a:avLst>
              <a:gd name="adj" fmla="val 22222"/>
            </a:avLst>
          </a:prstGeom>
          <a:solidFill>
            <a:srgbClr val="F4A259"/>
          </a:solidFill>
          <a:ln/>
        </p:spPr>
      </p:sp>
      <p:pic>
        <p:nvPicPr>
          <p:cNvPr id="26" name="Image 3" descr="Warning">    </p:cNvPr>
          <p:cNvPicPr>
            <a:picLocks noChangeAspect="1"/>
          </p:cNvPicPr>
          <p:nvPr/>
        </p:nvPicPr>
        <p:blipFill>
          <a:blip r:embed="rId4"/>
          <a:srcRect l="0" r="0" t="0" b="0"/>
          <a:stretch/>
        </p:blipFill>
        <p:spPr>
          <a:xfrm>
            <a:off x="6159500" y="4043561"/>
            <a:ext cx="254000" cy="254000"/>
          </a:xfrm>
          <a:prstGeom prst="rect">
            <a:avLst/>
          </a:prstGeom>
        </p:spPr>
      </p:pic>
      <p:sp>
        <p:nvSpPr>
          <p:cNvPr id="27" name="Text 21"/>
          <p:cNvSpPr/>
          <p:nvPr/>
        </p:nvSpPr>
        <p:spPr>
          <a:xfrm>
            <a:off x="6527800" y="4071541"/>
            <a:ext cx="485305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406"/>
                </a:solidFill>
                <a:latin typeface="IBM Plex Sans" pitchFamily="34" charset="0"/>
                <a:ea typeface="IBM Plex Sans" pitchFamily="34" charset="-122"/>
                <a:cs typeface="IBM Plex Sans" pitchFamily="34" charset="-120"/>
              </a:rPr>
              <a:t>Imagen dibujada por computadora, no es una foto real.</a:t>
            </a:r>
            <a:endParaRPr lang="en-US" sz="1200" dirty="0"/>
          </a:p>
        </p:txBody>
      </p:sp>
      <p:sp>
        <p:nvSpPr>
          <p:cNvPr id="28" name="Text 22"/>
          <p:cNvSpPr/>
          <p:nvPr/>
        </p:nvSpPr>
        <p:spPr>
          <a:xfrm>
            <a:off x="6026150" y="4507111"/>
            <a:ext cx="5346700" cy="909836"/>
          </a:xfrm>
          <a:prstGeom prst="roundRect">
            <a:avLst>
              <a:gd name="adj" fmla="val 10469"/>
            </a:avLst>
          </a:prstGeom>
          <a:solidFill>
            <a:srgbClr val="12304A"/>
          </a:solidFill>
          <a:ln w="12700">
            <a:solidFill>
              <a:srgbClr val="24506E"/>
            </a:solidFill>
            <a:prstDash val="solid"/>
          </a:ln>
        </p:spPr>
        <p:txBody>
          <a:bodyPr wrap="square" lIns="118152" tIns="92752" rIns="0" bIns="67352"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La red decide dónde hay un espermatozoide y qué forma tiene. El área, el largo y la distribución de tamaños se calculan después, con código: un mismo contorno siempre da las mismas medidas.</a:t>
            </a:r>
            <a:endParaRPr lang="en-US" sz="1300" dirty="0"/>
          </a:p>
        </p:txBody>
      </p:sp>
      <p:sp>
        <p:nvSpPr>
          <p:cNvPr id="29" name="Text 2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2 · Modelo de fluorescencia, umbral de 0.9 · Conteo de cabezas: propio, por color</a:t>
            </a:r>
            <a:endParaRPr lang="en-US" sz="1200" dirty="0"/>
          </a:p>
        </p:txBody>
      </p:sp>
      <p:sp>
        <p:nvSpPr>
          <p:cNvPr id="30"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14 / 16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CUÁNDO DESCONFIAR</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Límites</a:t>
            </a:r>
            <a:endParaRPr lang="en-US" sz="3600" dirty="0"/>
          </a:p>
        </p:txBody>
      </p:sp>
      <p:pic>
        <p:nvPicPr>
          <p:cNvPr id="6" name="Image 2" descr="Acercamiento de la imagen de muestra con dos filamentos largos marcados en naranja como si fueran espermatozoides">    </p:cNvPr>
          <p:cNvPicPr>
            <a:picLocks noChangeAspect="1"/>
          </p:cNvPicPr>
          <p:nvPr/>
        </p:nvPicPr>
        <p:blipFill>
          <a:blip r:embed="rId3"/>
          <a:srcRect l="0" r="0" t="31" b="31"/>
          <a:stretch/>
        </p:blipFill>
        <p:spPr>
          <a:xfrm>
            <a:off x="812800" y="1757561"/>
            <a:ext cx="3048000" cy="2343150"/>
          </a:xfrm>
          <a:prstGeom prst="roundRect">
            <a:avLst>
              <a:gd name="adj" fmla="val 3252"/>
            </a:avLst>
          </a:prstGeom>
        </p:spPr>
      </p:pic>
      <p:sp>
        <p:nvSpPr>
          <p:cNvPr id="7" name="Text 2"/>
          <p:cNvSpPr/>
          <p:nvPr/>
        </p:nvSpPr>
        <p:spPr>
          <a:xfrm>
            <a:off x="812800" y="4164211"/>
            <a:ext cx="3139440"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Imagen de muestra: la red marcó filamentos largos (naranja) como si fueran espermatozoides.</a:t>
            </a:r>
            <a:endParaRPr lang="en-US" sz="1200" dirty="0"/>
          </a:p>
        </p:txBody>
      </p:sp>
      <p:pic>
        <p:nvPicPr>
          <p:cNvPr id="8" name="Image 3" descr="Recorte de una foto de células con núcleos fluorescentes, con las detecciones del modelo de espermatozoides">    </p:cNvPr>
          <p:cNvPicPr>
            <a:picLocks noChangeAspect="1"/>
          </p:cNvPicPr>
          <p:nvPr/>
        </p:nvPicPr>
        <p:blipFill>
          <a:blip r:embed="rId4"/>
          <a:srcRect l="0" r="0" t="0" b="0"/>
          <a:stretch/>
        </p:blipFill>
        <p:spPr>
          <a:xfrm>
            <a:off x="4064000" y="1757561"/>
            <a:ext cx="2343150" cy="2343150"/>
          </a:xfrm>
          <a:prstGeom prst="roundRect">
            <a:avLst>
              <a:gd name="adj" fmla="val 3252"/>
            </a:avLst>
          </a:prstGeom>
        </p:spPr>
      </p:pic>
      <p:sp>
        <p:nvSpPr>
          <p:cNvPr id="9" name="Text 3"/>
          <p:cNvSpPr/>
          <p:nvPr/>
        </p:nvSpPr>
        <p:spPr>
          <a:xfrm>
            <a:off x="4064000" y="4164211"/>
            <a:ext cx="2413445"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Foto de células, sin espermatozoides: núcleo con 0.96 y fibra con 1.00.</a:t>
            </a:r>
            <a:endParaRPr lang="en-US" sz="1200" dirty="0"/>
          </a:p>
        </p:txBody>
      </p:sp>
      <p:sp>
        <p:nvSpPr>
          <p:cNvPr id="10" name="Shape 4"/>
          <p:cNvSpPr/>
          <p:nvPr/>
        </p:nvSpPr>
        <p:spPr>
          <a:xfrm>
            <a:off x="6667500" y="1763911"/>
            <a:ext cx="4705350" cy="1846064"/>
          </a:xfrm>
          <a:prstGeom prst="roundRect">
            <a:avLst>
              <a:gd name="adj" fmla="val 6536"/>
            </a:avLst>
          </a:prstGeom>
          <a:solidFill>
            <a:srgbClr val="FCFDFD"/>
          </a:solidFill>
          <a:ln w="12700">
            <a:solidFill>
              <a:srgbClr val="D5E3EA"/>
            </a:solidFill>
            <a:prstDash val="solid"/>
          </a:ln>
        </p:spPr>
      </p:sp>
      <p:sp>
        <p:nvSpPr>
          <p:cNvPr id="11" name="Text 5"/>
          <p:cNvSpPr/>
          <p:nvPr/>
        </p:nvSpPr>
        <p:spPr>
          <a:xfrm>
            <a:off x="6826250" y="1884561"/>
            <a:ext cx="451948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CON FOTOS REALES</a:t>
            </a:r>
            <a:endParaRPr lang="en-US" sz="1200" dirty="0"/>
          </a:p>
        </p:txBody>
      </p:sp>
      <p:sp>
        <p:nvSpPr>
          <p:cNvPr id="12" name="Text 6"/>
          <p:cNvSpPr/>
          <p:nvPr/>
        </p:nvSpPr>
        <p:spPr>
          <a:xfrm>
            <a:off x="6826250" y="2148681"/>
            <a:ext cx="4519486"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C2A3E"/>
                </a:solidFill>
                <a:latin typeface="IBM Plex Sans" pitchFamily="34" charset="0"/>
                <a:ea typeface="IBM Plex Sans" pitchFamily="34" charset="-122"/>
                <a:cs typeface="IBM Plex Sans" pitchFamily="34" charset="-120"/>
              </a:rPr>
              <a:t>Empalmados: un solo contorno, o dos con una frontera inventada.</a:t>
            </a:r>
            <a:endParaRPr lang="en-US" sz="1200" dirty="0"/>
          </a:p>
        </p:txBody>
      </p:sp>
      <p:sp>
        <p:nvSpPr>
          <p:cNvPr id="13" name="Text 7"/>
          <p:cNvSpPr/>
          <p:nvPr/>
        </p:nvSpPr>
        <p:spPr>
          <a:xfrm>
            <a:off x="6826250" y="2595563"/>
            <a:ext cx="4519486"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C2A3E"/>
                </a:solidFill>
                <a:latin typeface="IBM Plex Sans" pitchFamily="34" charset="0"/>
                <a:ea typeface="IBM Plex Sans" pitchFamily="34" charset="-122"/>
                <a:cs typeface="IBM Plex Sans" pitchFamily="34" charset="-120"/>
              </a:rPr>
              <a:t>Racimos que se confunden más.</a:t>
            </a:r>
            <a:endParaRPr lang="en-US" sz="1200" dirty="0"/>
          </a:p>
        </p:txBody>
      </p:sp>
      <p:sp>
        <p:nvSpPr>
          <p:cNvPr id="14" name="Text 8"/>
          <p:cNvSpPr/>
          <p:nvPr/>
        </p:nvSpPr>
        <p:spPr>
          <a:xfrm>
            <a:off x="6826250" y="2844403"/>
            <a:ext cx="4519486"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C2A3E"/>
                </a:solidFill>
                <a:latin typeface="IBM Plex Sans" pitchFamily="34" charset="0"/>
                <a:ea typeface="IBM Plex Sans" pitchFamily="34" charset="-122"/>
                <a:cs typeface="IBM Plex Sans" pitchFamily="34" charset="-120"/>
              </a:rPr>
              <a:t>Fibras y manchas que se parecen a una cabeza.</a:t>
            </a:r>
            <a:endParaRPr lang="en-US" sz="1200" dirty="0"/>
          </a:p>
        </p:txBody>
      </p:sp>
      <p:sp>
        <p:nvSpPr>
          <p:cNvPr id="15" name="Text 9"/>
          <p:cNvSpPr/>
          <p:nvPr/>
        </p:nvSpPr>
        <p:spPr>
          <a:xfrm>
            <a:off x="6826250" y="3093244"/>
            <a:ext cx="4519486"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C2A3E"/>
                </a:solidFill>
                <a:latin typeface="IBM Plex Sans" pitchFamily="34" charset="0"/>
                <a:ea typeface="IBM Plex Sans" pitchFamily="34" charset="-122"/>
                <a:cs typeface="IBM Plex Sans" pitchFamily="34" charset="-120"/>
              </a:rPr>
              <a:t>Contornos partidos o repetidos que los filtros no siempre corrigen.</a:t>
            </a:r>
            <a:endParaRPr lang="en-US" sz="1200" dirty="0"/>
          </a:p>
        </p:txBody>
      </p:sp>
      <p:sp>
        <p:nvSpPr>
          <p:cNvPr id="16" name="Shape 10"/>
          <p:cNvSpPr/>
          <p:nvPr/>
        </p:nvSpPr>
        <p:spPr>
          <a:xfrm>
            <a:off x="6661150" y="3705225"/>
            <a:ext cx="4718050" cy="1109762"/>
          </a:xfrm>
          <a:prstGeom prst="roundRect">
            <a:avLst>
              <a:gd name="adj" fmla="val 11444"/>
            </a:avLst>
          </a:prstGeom>
          <a:solidFill>
            <a:srgbClr val="0B1F2E"/>
          </a:solidFill>
          <a:ln/>
        </p:spPr>
      </p:sp>
      <p:sp>
        <p:nvSpPr>
          <p:cNvPr id="17" name="Text 11"/>
          <p:cNvSpPr/>
          <p:nvPr/>
        </p:nvSpPr>
        <p:spPr>
          <a:xfrm>
            <a:off x="6813550" y="3819525"/>
            <a:ext cx="454564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SIEMPRE CONTESTA</a:t>
            </a:r>
            <a:endParaRPr lang="en-US" sz="1200" dirty="0"/>
          </a:p>
        </p:txBody>
      </p:sp>
      <p:sp>
        <p:nvSpPr>
          <p:cNvPr id="18" name="Text 12"/>
          <p:cNvSpPr/>
          <p:nvPr/>
        </p:nvSpPr>
        <p:spPr>
          <a:xfrm>
            <a:off x="6813550" y="4083645"/>
            <a:ext cx="4545648"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D7E2"/>
                </a:solidFill>
                <a:latin typeface="IBM Plex Sans" pitchFamily="34" charset="0"/>
                <a:ea typeface="IBM Plex Sans" pitchFamily="34" charset="-122"/>
                <a:cs typeface="IBM Plex Sans" pitchFamily="34" charset="-120"/>
              </a:rPr>
              <a:t>En la foto de células salieron cinco detecciones con 0.9 o más. Un puntaje alto en una foto que el modelo no conoce no garantiza nada.</a:t>
            </a:r>
            <a:endParaRPr lang="en-US" sz="1200" dirty="0"/>
          </a:p>
        </p:txBody>
      </p:sp>
      <p:sp>
        <p:nvSpPr>
          <p:cNvPr id="19" name="Shape 13"/>
          <p:cNvSpPr/>
          <p:nvPr/>
        </p:nvSpPr>
        <p:spPr>
          <a:xfrm>
            <a:off x="812800" y="4967387"/>
            <a:ext cx="10566400" cy="533400"/>
          </a:xfrm>
          <a:prstGeom prst="roundRect">
            <a:avLst>
              <a:gd name="adj" fmla="val 23810"/>
            </a:avLst>
          </a:prstGeom>
          <a:solidFill>
            <a:srgbClr val="F4A259"/>
          </a:solidFill>
          <a:ln/>
        </p:spPr>
      </p:sp>
      <p:pic>
        <p:nvPicPr>
          <p:cNvPr id="20" name="Image 4" descr="Lightbulb">    </p:cNvPr>
          <p:cNvPicPr>
            <a:picLocks noChangeAspect="1"/>
          </p:cNvPicPr>
          <p:nvPr/>
        </p:nvPicPr>
        <p:blipFill>
          <a:blip r:embed="rId5"/>
          <a:srcRect l="0" r="0" t="0" b="0"/>
          <a:stretch/>
        </p:blipFill>
        <p:spPr>
          <a:xfrm>
            <a:off x="990600" y="5094387"/>
            <a:ext cx="279400" cy="279400"/>
          </a:xfrm>
          <a:prstGeom prst="rect">
            <a:avLst/>
          </a:prstGeom>
        </p:spPr>
      </p:pic>
      <p:sp>
        <p:nvSpPr>
          <p:cNvPr id="21" name="Text 14"/>
          <p:cNvSpPr/>
          <p:nvPr/>
        </p:nvSpPr>
        <p:spPr>
          <a:xfrm>
            <a:off x="1397000" y="5118497"/>
            <a:ext cx="1009853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2A1406"/>
                </a:solidFill>
                <a:latin typeface="IBM Plex Sans" pitchFamily="34" charset="0"/>
                <a:ea typeface="IBM Plex Sans" pitchFamily="34" charset="-122"/>
                <a:cs typeface="IBM Plex Sans" pitchFamily="34" charset="-120"/>
              </a:rPr>
              <a:t>El modelo ayuda a contar y medir, y su resultado se revisa.</a:t>
            </a:r>
            <a:endParaRPr lang="en-US" sz="1400" dirty="0"/>
          </a:p>
        </p:txBody>
      </p:sp>
      <p:sp>
        <p:nvSpPr>
          <p:cNvPr id="22" name="Text 1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2 · Foto de células: Erin Rod, CC BY 4.0, Wikimedia Commons</a:t>
            </a:r>
            <a:endParaRPr lang="en-US" sz="1200" dirty="0"/>
          </a:p>
        </p:txBody>
      </p:sp>
      <p:sp>
        <p:nvSpPr>
          <p:cNvPr id="23"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15 / 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CIERRE</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Lo que vimos y lo que sigue</a:t>
            </a:r>
            <a:endParaRPr lang="en-US" sz="3600" dirty="0"/>
          </a:p>
        </p:txBody>
      </p:sp>
      <p:sp>
        <p:nvSpPr>
          <p:cNvPr id="6" name="Shape 2"/>
          <p:cNvSpPr/>
          <p:nvPr/>
        </p:nvSpPr>
        <p:spPr>
          <a:xfrm>
            <a:off x="819150" y="1789311"/>
            <a:ext cx="6870700" cy="406400"/>
          </a:xfrm>
          <a:prstGeom prst="roundRect">
            <a:avLst>
              <a:gd name="adj" fmla="val 20313"/>
            </a:avLst>
          </a:prstGeom>
          <a:solidFill>
            <a:srgbClr val="12304A"/>
          </a:solidFill>
          <a:ln w="12700">
            <a:solidFill>
              <a:srgbClr val="24506E"/>
            </a:solidFill>
            <a:prstDash val="solid"/>
          </a:ln>
        </p:spPr>
      </p:sp>
      <p:pic>
        <p:nvPicPr>
          <p:cNvPr id="7" name="Image 2" descr="Check">    </p:cNvPr>
          <p:cNvPicPr>
            <a:picLocks noChangeAspect="1"/>
          </p:cNvPicPr>
          <p:nvPr/>
        </p:nvPicPr>
        <p:blipFill>
          <a:blip r:embed="rId3"/>
          <a:srcRect l="0" r="0" t="0" b="0"/>
          <a:stretch/>
        </p:blipFill>
        <p:spPr>
          <a:xfrm>
            <a:off x="965200" y="1884561"/>
            <a:ext cx="215900" cy="215900"/>
          </a:xfrm>
          <a:prstGeom prst="rect">
            <a:avLst/>
          </a:prstGeom>
        </p:spPr>
      </p:pic>
      <p:sp>
        <p:nvSpPr>
          <p:cNvPr id="8" name="Text 3"/>
          <p:cNvSpPr/>
          <p:nvPr/>
        </p:nvSpPr>
        <p:spPr>
          <a:xfrm>
            <a:off x="1308100" y="1893491"/>
            <a:ext cx="642277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A la red se le pide encontrar, encuadrar y delinear cada espermatozoide por separado.</a:t>
            </a:r>
            <a:endParaRPr lang="en-US" sz="1200" dirty="0"/>
          </a:p>
        </p:txBody>
      </p:sp>
      <p:sp>
        <p:nvSpPr>
          <p:cNvPr id="9" name="Shape 4"/>
          <p:cNvSpPr/>
          <p:nvPr/>
        </p:nvSpPr>
        <p:spPr>
          <a:xfrm>
            <a:off x="819150" y="2271911"/>
            <a:ext cx="6870700" cy="406400"/>
          </a:xfrm>
          <a:prstGeom prst="roundRect">
            <a:avLst>
              <a:gd name="adj" fmla="val 20313"/>
            </a:avLst>
          </a:prstGeom>
          <a:solidFill>
            <a:srgbClr val="12304A"/>
          </a:solidFill>
          <a:ln w="12700">
            <a:solidFill>
              <a:srgbClr val="24506E"/>
            </a:solidFill>
            <a:prstDash val="solid"/>
          </a:ln>
        </p:spPr>
      </p:sp>
      <p:pic>
        <p:nvPicPr>
          <p:cNvPr id="10" name="Image 3" descr="Check">    </p:cNvPr>
          <p:cNvPicPr>
            <a:picLocks noChangeAspect="1"/>
          </p:cNvPicPr>
          <p:nvPr/>
        </p:nvPicPr>
        <p:blipFill>
          <a:blip r:embed="rId4"/>
          <a:srcRect l="0" r="0" t="0" b="0"/>
          <a:stretch/>
        </p:blipFill>
        <p:spPr>
          <a:xfrm>
            <a:off x="965200" y="2367161"/>
            <a:ext cx="215900" cy="215900"/>
          </a:xfrm>
          <a:prstGeom prst="rect">
            <a:avLst/>
          </a:prstGeom>
        </p:spPr>
      </p:pic>
      <p:sp>
        <p:nvSpPr>
          <p:cNvPr id="11" name="Text 5"/>
          <p:cNvSpPr/>
          <p:nvPr/>
        </p:nvSpPr>
        <p:spPr>
          <a:xfrm>
            <a:off x="1308100" y="2376091"/>
            <a:ext cx="642277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Cinco etapas: base, pirámide, propuestas, recorte alineado y cabezas.</a:t>
            </a:r>
            <a:endParaRPr lang="en-US" sz="1200" dirty="0"/>
          </a:p>
        </p:txBody>
      </p:sp>
      <p:sp>
        <p:nvSpPr>
          <p:cNvPr id="12" name="Shape 6"/>
          <p:cNvSpPr/>
          <p:nvPr/>
        </p:nvSpPr>
        <p:spPr>
          <a:xfrm>
            <a:off x="819150" y="2754511"/>
            <a:ext cx="6870700" cy="406400"/>
          </a:xfrm>
          <a:prstGeom prst="roundRect">
            <a:avLst>
              <a:gd name="adj" fmla="val 20313"/>
            </a:avLst>
          </a:prstGeom>
          <a:solidFill>
            <a:srgbClr val="12304A"/>
          </a:solidFill>
          <a:ln w="12700">
            <a:solidFill>
              <a:srgbClr val="24506E"/>
            </a:solidFill>
            <a:prstDash val="solid"/>
          </a:ln>
        </p:spPr>
      </p:sp>
      <p:pic>
        <p:nvPicPr>
          <p:cNvPr id="13" name="Image 4" descr="Check">    </p:cNvPr>
          <p:cNvPicPr>
            <a:picLocks noChangeAspect="1"/>
          </p:cNvPicPr>
          <p:nvPr/>
        </p:nvPicPr>
        <p:blipFill>
          <a:blip r:embed="rId5"/>
          <a:srcRect l="0" r="0" t="0" b="0"/>
          <a:stretch/>
        </p:blipFill>
        <p:spPr>
          <a:xfrm>
            <a:off x="965200" y="2849761"/>
            <a:ext cx="215900" cy="215900"/>
          </a:xfrm>
          <a:prstGeom prst="rect">
            <a:avLst/>
          </a:prstGeom>
        </p:spPr>
      </p:pic>
      <p:sp>
        <p:nvSpPr>
          <p:cNvPr id="14" name="Text 7"/>
          <p:cNvSpPr/>
          <p:nvPr/>
        </p:nvSpPr>
        <p:spPr>
          <a:xfrm>
            <a:off x="1308100" y="2858691"/>
            <a:ext cx="642277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Anclas fijas que la red corrige. Cada detección trae un puntaje.</a:t>
            </a:r>
            <a:endParaRPr lang="en-US" sz="1200" dirty="0"/>
          </a:p>
        </p:txBody>
      </p:sp>
      <p:sp>
        <p:nvSpPr>
          <p:cNvPr id="15" name="Shape 8"/>
          <p:cNvSpPr/>
          <p:nvPr/>
        </p:nvSpPr>
        <p:spPr>
          <a:xfrm>
            <a:off x="819150" y="3237111"/>
            <a:ext cx="6870700" cy="406400"/>
          </a:xfrm>
          <a:prstGeom prst="roundRect">
            <a:avLst>
              <a:gd name="adj" fmla="val 20313"/>
            </a:avLst>
          </a:prstGeom>
          <a:solidFill>
            <a:srgbClr val="12304A"/>
          </a:solidFill>
          <a:ln w="12700">
            <a:solidFill>
              <a:srgbClr val="24506E"/>
            </a:solidFill>
            <a:prstDash val="solid"/>
          </a:ln>
        </p:spPr>
      </p:sp>
      <p:pic>
        <p:nvPicPr>
          <p:cNvPr id="16" name="Image 5" descr="Check">    </p:cNvPr>
          <p:cNvPicPr>
            <a:picLocks noChangeAspect="1"/>
          </p:cNvPicPr>
          <p:nvPr/>
        </p:nvPicPr>
        <p:blipFill>
          <a:blip r:embed="rId6"/>
          <a:srcRect l="0" r="0" t="0" b="0"/>
          <a:stretch/>
        </p:blipFill>
        <p:spPr>
          <a:xfrm>
            <a:off x="965200" y="3332361"/>
            <a:ext cx="215900" cy="215900"/>
          </a:xfrm>
          <a:prstGeom prst="rect">
            <a:avLst/>
          </a:prstGeom>
        </p:spPr>
      </p:pic>
      <p:sp>
        <p:nvSpPr>
          <p:cNvPr id="17" name="Text 9"/>
          <p:cNvSpPr/>
          <p:nvPr/>
        </p:nvSpPr>
        <p:spPr>
          <a:xfrm>
            <a:off x="1308100" y="3341291"/>
            <a:ext cx="642277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Dos umbrales: 0.5 por punto de la máscara y 0.9 por detección.</a:t>
            </a:r>
            <a:endParaRPr lang="en-US" sz="1200" dirty="0"/>
          </a:p>
        </p:txBody>
      </p:sp>
      <p:sp>
        <p:nvSpPr>
          <p:cNvPr id="18" name="Shape 10"/>
          <p:cNvSpPr/>
          <p:nvPr/>
        </p:nvSpPr>
        <p:spPr>
          <a:xfrm>
            <a:off x="819150" y="3719711"/>
            <a:ext cx="6870700" cy="406400"/>
          </a:xfrm>
          <a:prstGeom prst="roundRect">
            <a:avLst>
              <a:gd name="adj" fmla="val 20313"/>
            </a:avLst>
          </a:prstGeom>
          <a:solidFill>
            <a:srgbClr val="12304A"/>
          </a:solidFill>
          <a:ln w="12700">
            <a:solidFill>
              <a:srgbClr val="24506E"/>
            </a:solidFill>
            <a:prstDash val="solid"/>
          </a:ln>
        </p:spPr>
      </p:sp>
      <p:pic>
        <p:nvPicPr>
          <p:cNvPr id="19" name="Image 6" descr="Check">    </p:cNvPr>
          <p:cNvPicPr>
            <a:picLocks noChangeAspect="1"/>
          </p:cNvPicPr>
          <p:nvPr/>
        </p:nvPicPr>
        <p:blipFill>
          <a:blip r:embed="rId7"/>
          <a:srcRect l="0" r="0" t="0" b="0"/>
          <a:stretch/>
        </p:blipFill>
        <p:spPr>
          <a:xfrm>
            <a:off x="965200" y="3814961"/>
            <a:ext cx="215900" cy="215900"/>
          </a:xfrm>
          <a:prstGeom prst="rect">
            <a:avLst/>
          </a:prstGeom>
        </p:spPr>
      </p:pic>
      <p:sp>
        <p:nvSpPr>
          <p:cNvPr id="20" name="Text 11"/>
          <p:cNvSpPr/>
          <p:nvPr/>
        </p:nvSpPr>
        <p:spPr>
          <a:xfrm>
            <a:off x="1308100" y="3823891"/>
            <a:ext cx="642277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El IoU mide cuánto coinciden dos contornos, y tres filtros quitan repetidos.</a:t>
            </a:r>
            <a:endParaRPr lang="en-US" sz="1200" dirty="0"/>
          </a:p>
        </p:txBody>
      </p:sp>
      <p:sp>
        <p:nvSpPr>
          <p:cNvPr id="21" name="Shape 12"/>
          <p:cNvSpPr/>
          <p:nvPr/>
        </p:nvSpPr>
        <p:spPr>
          <a:xfrm>
            <a:off x="819150" y="4202311"/>
            <a:ext cx="6870700" cy="586581"/>
          </a:xfrm>
          <a:prstGeom prst="roundRect">
            <a:avLst>
              <a:gd name="adj" fmla="val 14073"/>
            </a:avLst>
          </a:prstGeom>
          <a:solidFill>
            <a:srgbClr val="12304A"/>
          </a:solidFill>
          <a:ln w="12700">
            <a:solidFill>
              <a:srgbClr val="24506E"/>
            </a:solidFill>
            <a:prstDash val="solid"/>
          </a:ln>
        </p:spPr>
      </p:sp>
      <p:pic>
        <p:nvPicPr>
          <p:cNvPr id="22" name="Image 7" descr="Check">    </p:cNvPr>
          <p:cNvPicPr>
            <a:picLocks noChangeAspect="1"/>
          </p:cNvPicPr>
          <p:nvPr/>
        </p:nvPicPr>
        <p:blipFill>
          <a:blip r:embed="rId8"/>
          <a:srcRect l="0" r="0" t="0" b="0"/>
          <a:stretch/>
        </p:blipFill>
        <p:spPr>
          <a:xfrm>
            <a:off x="965200" y="4387652"/>
            <a:ext cx="215900" cy="215900"/>
          </a:xfrm>
          <a:prstGeom prst="rect">
            <a:avLst/>
          </a:prstGeom>
        </p:spPr>
      </p:pic>
      <p:sp>
        <p:nvSpPr>
          <p:cNvPr id="23" name="Text 13"/>
          <p:cNvSpPr/>
          <p:nvPr/>
        </p:nvSpPr>
        <p:spPr>
          <a:xfrm>
            <a:off x="1308100" y="4297561"/>
            <a:ext cx="642277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Cinco pérdidas que se suman en una. La red marca de más, deja cabezas sin contorno y contesta aunque no conozca la foto: se revisa.</a:t>
            </a:r>
            <a:endParaRPr lang="en-US" sz="1200" dirty="0"/>
          </a:p>
        </p:txBody>
      </p:sp>
      <p:sp>
        <p:nvSpPr>
          <p:cNvPr id="24" name="Shape 14"/>
          <p:cNvSpPr/>
          <p:nvPr/>
        </p:nvSpPr>
        <p:spPr>
          <a:xfrm>
            <a:off x="7950200" y="1782961"/>
            <a:ext cx="3429000" cy="3012281"/>
          </a:xfrm>
          <a:prstGeom prst="roundRect">
            <a:avLst>
              <a:gd name="adj" fmla="val 5059"/>
            </a:avLst>
          </a:prstGeom>
          <a:solidFill>
            <a:srgbClr val="F4A259"/>
          </a:solidFill>
          <a:ln/>
        </p:spPr>
      </p:sp>
      <p:sp>
        <p:nvSpPr>
          <p:cNvPr id="25" name="Text 15"/>
          <p:cNvSpPr/>
          <p:nvPr/>
        </p:nvSpPr>
        <p:spPr>
          <a:xfrm>
            <a:off x="8178800" y="2048371"/>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1406"/>
                </a:solidFill>
                <a:latin typeface="IBM Plex Sans" pitchFamily="34" charset="0"/>
                <a:ea typeface="IBM Plex Sans" pitchFamily="34" charset="-122"/>
                <a:cs typeface="IBM Plex Sans" pitchFamily="34" charset="-120"/>
              </a:rPr>
              <a:t>SIGUIENTE VIDEO</a:t>
            </a:r>
            <a:endParaRPr lang="en-US" sz="1200" dirty="0"/>
          </a:p>
        </p:txBody>
      </p:sp>
      <p:sp>
        <p:nvSpPr>
          <p:cNvPr id="26" name="Text 16"/>
          <p:cNvSpPr/>
          <p:nvPr/>
        </p:nvSpPr>
        <p:spPr>
          <a:xfrm>
            <a:off x="8178800" y="2350591"/>
            <a:ext cx="3060954" cy="82550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2A1406"/>
                </a:solidFill>
                <a:latin typeface="EB Garamond" pitchFamily="18" charset="0"/>
                <a:ea typeface="EB Garamond" pitchFamily="18" charset="-122"/>
                <a:cs typeface="EB Garamond" pitchFamily="18" charset="-120"/>
              </a:rPr>
              <a:t>Aprendizaje por transferencia</a:t>
            </a:r>
            <a:endParaRPr lang="en-US" sz="3000" dirty="0"/>
          </a:p>
        </p:txBody>
      </p:sp>
      <p:sp>
        <p:nvSpPr>
          <p:cNvPr id="27" name="Text 17"/>
          <p:cNvSpPr/>
          <p:nvPr/>
        </p:nvSpPr>
        <p:spPr>
          <a:xfrm>
            <a:off x="8178800" y="3239591"/>
            <a:ext cx="3060954"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A1406"/>
                </a:solidFill>
                <a:latin typeface="IBM Plex Sans" pitchFamily="34" charset="0"/>
                <a:ea typeface="IBM Plex Sans" pitchFamily="34" charset="-122"/>
                <a:cs typeface="IBM Plex Sans" pitchFamily="34" charset="-120"/>
              </a:rPr>
              <a:t>La red tiene casi 44 millones de pesos y tenemos muy pocas fotos. ¿Cómo aprende?</a:t>
            </a:r>
            <a:endParaRPr lang="en-US" sz="1300" dirty="0"/>
          </a:p>
        </p:txBody>
      </p:sp>
      <p:pic>
        <p:nvPicPr>
          <p:cNvPr id="28" name="Image 8" descr="Tres espermatozoides con su caja y su contorno">    </p:cNvPr>
          <p:cNvPicPr>
            <a:picLocks noChangeAspect="1"/>
          </p:cNvPicPr>
          <p:nvPr/>
        </p:nvPicPr>
        <p:blipFill>
          <a:blip r:embed="rId9"/>
          <a:srcRect l="500" r="500" t="0" b="0"/>
          <a:stretch/>
        </p:blipFill>
        <p:spPr>
          <a:xfrm>
            <a:off x="8178800" y="4021733"/>
            <a:ext cx="685800" cy="508000"/>
          </a:xfrm>
          <a:prstGeom prst="roundRect">
            <a:avLst>
              <a:gd name="adj" fmla="val 10000"/>
            </a:avLst>
          </a:prstGeom>
        </p:spPr>
      </p:pic>
      <p:pic>
        <p:nvPicPr>
          <p:cNvPr id="29" name="Image 9" descr="La máscara de 28 por 28 de un espermatozoide">    </p:cNvPr>
          <p:cNvPicPr>
            <a:picLocks noChangeAspect="1"/>
          </p:cNvPicPr>
          <p:nvPr/>
        </p:nvPicPr>
        <p:blipFill>
          <a:blip r:embed="rId10"/>
          <a:srcRect l="0" r="0" t="12963" b="12963"/>
          <a:stretch/>
        </p:blipFill>
        <p:spPr>
          <a:xfrm>
            <a:off x="8940800" y="4021733"/>
            <a:ext cx="685800" cy="508000"/>
          </a:xfrm>
          <a:prstGeom prst="roundRect">
            <a:avLst>
              <a:gd name="adj" fmla="val 10000"/>
            </a:avLst>
          </a:prstGeom>
        </p:spPr>
      </p:pic>
      <p:pic>
        <p:nvPicPr>
          <p:cNvPr id="30" name="Image 10" descr="Un contorno con su puntaje">    </p:cNvPr>
          <p:cNvPicPr>
            <a:picLocks noChangeAspect="1"/>
          </p:cNvPicPr>
          <p:nvPr/>
        </p:nvPicPr>
        <p:blipFill>
          <a:blip r:embed="rId11"/>
          <a:srcRect l="0" r="0" t="12963" b="12963"/>
          <a:stretch/>
        </p:blipFill>
        <p:spPr>
          <a:xfrm>
            <a:off x="9702800" y="4021733"/>
            <a:ext cx="685800" cy="508000"/>
          </a:xfrm>
          <a:prstGeom prst="roundRect">
            <a:avLst>
              <a:gd name="adj" fmla="val 10000"/>
            </a:avLst>
          </a:prstGeom>
        </p:spPr>
      </p:pic>
      <p:pic>
        <p:nvPicPr>
          <p:cNvPr id="31" name="Image 11" descr="La imagen de muestra con los 41 contornos de la red">    </p:cNvPr>
          <p:cNvPicPr>
            <a:picLocks noChangeAspect="1"/>
          </p:cNvPicPr>
          <p:nvPr/>
        </p:nvPicPr>
        <p:blipFill>
          <a:blip r:embed="rId12"/>
          <a:srcRect l="0" r="0" t="617" b="617"/>
          <a:stretch/>
        </p:blipFill>
        <p:spPr>
          <a:xfrm>
            <a:off x="10464800" y="4021733"/>
            <a:ext cx="685800" cy="508000"/>
          </a:xfrm>
          <a:prstGeom prst="roundRect">
            <a:avLst>
              <a:gd name="adj" fmla="val 10000"/>
            </a:avLst>
          </a:prstGeom>
        </p:spPr>
      </p:pic>
      <p:sp>
        <p:nvSpPr>
          <p:cNvPr id="32" name="Text 1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2</a:t>
            </a:r>
            <a:endParaRPr lang="en-US" sz="1200" dirty="0"/>
          </a:p>
        </p:txBody>
      </p:sp>
      <p:sp>
        <p:nvSpPr>
          <p:cNvPr id="33"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16 / 16</a:t>
            </a:r>
            <a:endParaRPr lang="en-US" sz="1200" dirty="0"/>
          </a:p>
        </p:txBody>
      </p:sp>
    </p:spTree>
  </p:cSld>
  <p:clrMapOvr>
    <a:masterClrMapping/>
  </p:clrMapOvr>
</p:sld>
</file>

<file path=ppt/theme/theme1.xml><?xml version="1.0" encoding="utf-8"?>
<a:theme xmlns:a="http://schemas.openxmlformats.org/drawingml/2006/main" name="Image Bio Pro · Módulo 2 · Video 2 Mask R-CNN, la red completa">
  <a:themeElements>
    <a:clrScheme name="Image Bio Pro · Módulo 2 · Video 2 Mask R-CNN, la red completa">
      <a:dk1>
        <a:srgbClr val="0B1F2E"/>
      </a:dk1>
      <a:lt1>
        <a:srgbClr val="F1F6F8"/>
      </a:lt1>
      <a:dk2>
        <a:srgbClr val="223542"/>
      </a:dk2>
      <a:lt2>
        <a:srgbClr val="B8C0C6"/>
      </a:lt2>
      <a:accent1>
        <a:srgbClr val="F4A259"/>
      </a:accent1>
      <a:accent2>
        <a:srgbClr val="12304A"/>
      </a:accent2>
      <a:accent3>
        <a:srgbClr val="3E5566"/>
      </a:accent3>
      <a:accent4>
        <a:srgbClr val="6CCFF6"/>
      </a:accent4>
      <a:accent5>
        <a:srgbClr val="8FA9B8"/>
      </a:accent5>
      <a:accent6>
        <a:srgbClr val="A3480F"/>
      </a:accent6>
      <a:hlink>
        <a:srgbClr val="0563C1"/>
      </a:hlink>
      <a:folHlink>
        <a:srgbClr val="954F72"/>
      </a:folHlink>
    </a:clrScheme>
    <a:fontScheme name="Image Bio Pro · Módulo 2 · Video 2 Mask R-CNN, la red completa">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Bio Pro · Módulo 2 · Video 2 Mask R-CNN, la red completa</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EB Garamond
Copyright 2017 The EB Garamond Project Authors (https://github.com/octaviopardo/EBGaramond12)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2026-10-28T00:04:01Z</dcterms:created>
  <dcterms:modified xsi:type="dcterms:W3CDTF">2026-10-28T00:04:01Z</dcterms:modified>
</cp:coreProperties>
</file>