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EB Garamond" pitchFamily="18"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(decir): «En el video anterior vimos que, gracias a la transferencia, una red de casi 44 millones de pesos se puede ajustar con muy pocas fotos. Esas pocas fotos son el tema de este video: de dónde salen, cómo se anotan, cómo se separan para entrenar y para comprobar, y cómo se lee un entrenamiento para saber si salió bien.» Idea central: un modelo vale lo que valen sus datos y lo que vale la forma de medirlo. Si las etiquetas son descuidadas, el modelo aprende el descuido; si la prueba es débil, una cifra bonita no dice nada. En pantalla están las tres piezas del video, cada una con una imagen: una foto con su contorno (datos), la curva de la pérdida de un entrenamiento (entrenamiento) y las zonas en que se divide una foto para apartar la validación (validación). Orden del video: qué es un dato y cuántos hacen falta; la anotación y su criterio; cómo se separan las fotos, cómo se entrena y qué se mide; y al final el sobreajuste, la gráfica de curvas y qué tan confiables son los números. Las cifras salen del cuaderno de entrenamiento que veremos en el módulo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cada dato es una foto con el contorno dibujado de cada espermatozoide. En el cuaderno de ejemplo hay 4 fotos de fluorescencia con 258 contornos, y casi todos vienen de dos fotos. Sin el contorno, la foto no le sirve a la red para aprender. Tres fotos son de 1792 por 1374 píxeles y una está en vertical, de 1374 por 1792. El reparto de contornos: la primera foto tiene 6, la segunda 10, la tercera 120 y la cuarta 122. Dos fotos aportan 242 de los 258 contornos, más del 90 por ciento; las otras dos casi no cuentan. Cuatro fotos son menos variedad de la que parece: lo que la red ve es sobre todo dos escenas densas. Los espermatozoides miden entre 10 y 116 píxeles de lado mayor, con una mediana de 63. La foto es la unidad de variedad (otra iluminación, otra tinción, otro campo) y el contorno es la unidad de ejemplo. Con poca variedad y muchos contornos, la red aprende muy bien lo que ya vio, y no sabemos cuánto sabe de lo que no vio. La foto de la pantalla es la imagen de muestra del sitio, dibujada por computadora; las fotos del cliente no se publican.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no hay un número fijo. Depende de qué tan parecidas sean las fotos nuevas a las de entrenamiento y de qué tan difícil sea la tarea. Con transferencia se necesitan menos. La forma de saberlo es medir, con una validación honesta. Tres factores, cada uno con su dibujo: la variedad de las fotos con las que se va a usar el modelo (tres recortes con distinta luz y orientación; mismo microscopio, tinción e iluminación: menos; si cambian, esa variedad tiene que estar en el entrenamiento), la dificultad de la tarea (espermatozoides aislados contra espermatozoides que se encima o se cruzan: lo segundo pide más ejemplos que contar puntos aislados) y si se parte de una red preentrenada (los filtros de una red que ya aprendió a ver). Una forma práctica de averiguarlo sin adivinar: se entrena con una parte de las fotos, por ejemplo la mitad, y se mide; luego se entrena con todas y se vuelve a medir. Si la validación mejora bastante, más datos es el camino; si casi no cambia, el límite está en otro lado: en las etiquetas, en el tipo de foto o en la propia tarea. El esquema de la pantalla no tiene cifras: es un método, no un resultado del proyecto. Para nuestro caso, el cuaderno con cuatro fotos funciona como un modelo preliminar; más fotos, y sobre todo más variadas, son la mejora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las fotos se anotan en CVAT, una herramienta que no publica los datos. Se define la etiqueta, se dibuja un polígono por espermatozoide y se exporta en formato COCO. Un borrador automático ahorra dibujar desde cero, pero hay que corregirlo. Las fotos son del cliente y no se publican: se anotan en CVAT, que se puede usar sin subir los datos a un servicio público, y se guardan solo en Google Drive, no en el repositorio. El flujo: se crea una tarea con las fotos; se define la etiqueta, que en nuestro caso es una sola; para cada espermatozoide se dibuja un polígono, punto por punto, siguiendo su contorno; y al terminar se exporta en formato COCO, un archivo de texto con las fotos y los polígonos que el cuaderno lee. Dibujar un contorno a mano es lento y una foto densa trae más de cien. Por eso el proyecto tiene un pre-anotador, un script que propone el contorno de cada cabeza con técnicas clásicas de imagen, sin red neuronal; su resultado se importa en CVAT como borrador y la persona lo corrige. Deja casi solo cabezas de verdad, pero se le pasan las más tenues, que se agregan a mano; y en fotos con un solo espermatozoide marca puntos sueltos del fondo, así que ahí no se usa. En pantalla, a la izquierda está lo que propone el pre-anotador sobre un espermatozoide de la imagen de muestra, con un contorno en la cabeza y unos puntos sueltos sobre la cola que habría que borrar; a la derecha, el mismo espermatozoide con su contorno corregido, como un polígono de pocos vértices. El contorno corregido es el que calculó el modelo del sitio, usado aquí como ejemplo; no es un dibujo hecho en CVAT. Riesgo: si se acepta el borrador sin revisar, la red aprende sus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cada decisión al anotar es una decisión que la red aprende. Hace falta un criterio escrito y alguien con conocimiento biológico que valide. El cuaderno revisa antes de entrenar que las fotos y las etiquetas cuadren. En el módulo 1 dijimos que lo más delicado de anotar es el criterio; aquí los casos concretos. En nuestro cuaderno un espermatozoide se anota completo: la cabeza y el primer tramo de la cola; en pantalla, arriba a la izquierda, está un ejemplo con el contorno completo. Eso fija lo que la red va a contornear y lo que el sitio va a medir. Quedan cuatro casos que alguien tiene que decidir, dibujados en la fila de en medio: una mancha roja difusa y fuera de foco, una cabeza medio tapada por una cola, dos cabezas pegadas (un contorno o dos), un espermatozoide cortado por el borde. Cada respuesta es una regla que la red aprende; si dos personas contestan distinto, la red recibe señales que se contradicen. Se recomiendan un criterio escrito de una o dos páginas con ejemplos y una persona del grupo con conocimiento biológico que valide. Una forma de medirlo: dos personas anotan las mismas diez fotos y se compara con el IoU del video 2; si los dos contornos de un mismo espermatozoide coinciden poco, como en el dibujo de abajo, el criterio no está claro. Antes de entrenar el cuaderno se detiene si falta una foto, si una foto no mide lo que dice el archivo o si no existe la etiqueta, y dibuja recortes de entrenamiento con su contorno encima: si un contorno no coincide con su espermatozoide, el error está en los datos. Los dibujos de los cuatro casos son ilustraciones, no fotos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parte de las fotos se aparta para comprobar el modelo con datos que no vio al aprender. Con 10 o más fotos se reservan fotos completas; con menos, una franja de cada foto. Con 4 fotos, la validación sale de las mismas fotos: es una prueba más fácil. No se puede probar un modelo con las mismas fotos con las que aprendió: sería como evaluar a un estudiante con las preguntas que ya se sabe de memoria. El cuaderno tiene dos reglas. Con diez fotos o más reserva fotos completas, una de cada cinco y como mínimo una. Con menos de diez reserva de cada foto una franja de una cuarta parte de su lado más largo y deja un margen de 100 píxeles entre lo que se entrena y lo que se valida, para que un mismo espermatozoide no quede mitad en cada lado. Con cuatro fotos aplica la segunda regla: 163 espermatozoides para entrenar y 64 para validar; los 31 restantes quedan en el margen y no se usan. Por foto (entrenar y validar): foto 1, 5 y 0; foto 2, 3 y 5; foto 3, 77 y 28; foto 4, 78 y 31. La debilidad: la validación sale de una franja de las mismas cuatro fotos, una prueba más fácil que una foto de otro día o de otro microscopio, y casi toda cae en dos fotos. Con más fotos la regla cambia a fotos completas y la prueba se vuelve más exigente. El esquema muestra las zonas a escala de cada foto, no las fotos.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durante el entrenamiento se arman recortes al azar con variaciones: volteos, giros, acercar o alejar, brillo, contraste y ruido. Así la red aprende la forma de un espermatozoide y no las fotos de memoria. Es una manera de ver más variedad con las mismas fotos. En cada paso, el cuaderno no le da a la red las fotos completas: le da recortes de 512 por 512 píxeles tomados al azar, y a cada uno le hace cambios pequeños. Se voltea de izquierda a derecha o de arriba abajo, cada uno con una probabilidad de la mitad; se gira un múltiplo de 90 grados; se acerca o se aleja la imagen entre 0.8 y 1.25 veces; se cambian el brillo y el contraste, con un factor entre 0.7 y 1.3 y un desplazamiento de hasta 20 niveles; y se agrega un poco de ruido. Un espermatozoide girado, más oscuro o más grande sigue siendo un espermatozoide: eso es lo que se le enseña a la red, para que no se aprenda la posición ni el brillo exactos de las fotos. Además, el 80 por ciento de los recortes se centran en un espermatozoide y el resto son al azar, con fibras y fondo. Un espermatozoide cortado por el borde del recorte cuenta si se ve al menos el 30 por ciento de él. Es variedad artificial: ayuda, pero no sustituye a fotos nuevas de verdad. Las seis imágenes son un recorte de la imagen de muestra con las mismas operaciones; el ruido de la última es el máximo del cuaderno, y por eso casi no se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entrenamiento corre en Google Colab con una GPU gratuita: 60 épocas de 400 recortes, en lotes de 4. Una época tarda unos 0.6 minutos y el total, unos 36. El cuaderno valida cada 5 épocas y guarda el mejor modelo, no el último. Configuración del perfil de fluorescencia: sesenta épocas; en cada época, 400 recortes de 512 por 512 píxeles en lotes de 4, o sea 100 pasos por época, los mismos 100 pasos del calentamiento que vimos en el video anterior. El descenso del gradiente usa un momento de 0.9, que suaviza los pasos, y una tasa de aprendizaje de 0.005, la que corresponde a lotes de 4. Cada época tarda unos 0.6 minutos, las 60 duran alrededor de 36. A la derecha está la salida real del cuaderno en esta corrida: cada época imprime su pérdida y el tiempo acumulado, y cada cinco épocas, la validación. Se ven la época 1 (1.3901), la 2 (0.8677) y la 5 (0.7036, con un AP50 de 0.857), y la 20 (0.4589, con un AP50 de 0.888); las dos marcadas "mejor" son las épocas en que el AP50 mejoró y se guardó el modelo. Cada diez épocas el cuaderno guarda un archivo más grande, de unos 350 megabytes, que sirve para continuar si Colab se corta: basta volver a correr el cuaderno desde el principio y retoma en la última época guardada. También hay un modo de prueba que entrena dos épocas muy cortas, solo para comprobar que todo funciona; es el que se muestra en el módulo 4. El modelo que se exporta al sitio es el mejor según la validación, no el de la última época, y se guarda con su configuración: el tamaño de las teselas, las anclas y el umbral de seguridad. Por eso el servidor no necesita saber nada del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acierto es una detección con IoU de 0.5 o más con un contorno etiquetado. Precisión es qué parte de lo marcado es correcto; exhaustividad, qué parte de lo etiquetado se encontró; F1 las combina. Con umbral 0.5, la validación da 60 aciertos de 75 marcas y 66 etiquetados. Para medir un modelo hay que decidir qué es un acierto. Usamos el IoU del video 2: una detección es un acierto si su contorno coincide al menos el 50 por ciento con uno etiquetado. Con eso se cuentan los aciertos, las marcas de más y los espermatozoides que se escaparon; a la derecha hay un recorte de la imagen de muestra con los tres casos, solo para verlos: un contorno celeste sobre una cabeza es un acierto, uno naranja sobre un filamento es una marca falsa y un círculo blanco rodea una cabeza que la red dejó sin contorno. Las cifras de las barras son otras: son las de la validación del cuaderno. Hay 66 espermatozoides etiquetados, la red marcó 75; de esas 75, 60 son aciertos y 15 son falsas; y se escaparon 6 de los 66. Precisión: 60 entre 75, 0.80; de cada 100 marcas, 80 son espermatozoides. Exhaustividad, o recall: 60 entre 66, 0.91; de cada 100 espermatozoides, encuentra 91. F1: combina las dos con un promedio que castiga que una sea muy baja; aquí es 0.85. AP50 resume la calidad en todos los umbrales de seguridad a la vez, sin elegir uno, y va de 0 a 1; en esta corrida, el mejor modelo tiene 0.888, y con esa medida se elige cuál guardar. Las dos primeras medidas tiran en sentidos opuestos: si se pide más seguridad, la red marca menos, casi todo lo que marca es correcto, pero se le escapan más espermatozoides. Las dos barras están dibujadas con la misma escala.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umbral de seguridad se elige con la validación: se prueban varios y se toma el de mejor F1. En el cuaderno de ejemplo sale 0.8, pero las diferencias son de uno o dos espermatozoides. El modelo del sitio guarda 0.9 y viene de otra corrida. Al final del entrenamiento el cuaderno prueba umbrales de 0.3 a 0.9 sobre la validación y calcula las medidas para cada uno; en pantalla están la tabla y, al lado, una gráfica con las tres medidas. Con 0.3 la red marca 79: precisión 0.76, exhaustividad 0.91. Al subir el umbral la precisión mejora y la exhaustividad se mantiene en 0.91 hasta 0.7. Con 0.8 marca 70: precisión 0.84, exhaustividad 0.89. Con 0.9 marca 65: precisión 0.86, exhaustividad 0.85. El F1 más alto es el de 0.8, 0.868, y por eso el cuaderno elige ese valor. En la gráfica se ve que el F1 sube despacio y que la diferencia entre unos umbrales y otros es pequeña. Entre 0.5 y 0.9 la red pasa de 60 aciertos a 56, cuatro espermatozoides de 66: con tan pocos ejemplos una diferencia así puede venir del azar. El umbral elegido es una estimación y el propio cuaderno lo avisa cuando la validación tiene menos de 50. Aclaración: el modelo que está hoy en el sitio guarda un umbral de 0.9 y un AP50 de 0.9148, de la época 25; viene de otra corrida del cuaderno, no de la del ejemplo, y por eso los números no coinciden. Cada corrida produce su propio mejor modelo y su propio umbral, y en los dos casos la prueba es la misma validación pequeña.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sobreajuste es cuando la red se aprende los datos de entrenamiento en lugar de aprender lo general. La pérdida de entrenamiento sigue bajando, pero la validación deja de mejorar o empeora. Se combate con más datos, aumento, transferencia y guardando el mejor modelo. Es cuando la red aprende tan bien los datos de entrenamiento que se los sabe de memoria, y por eso falla con datos nuevos: el estudiante que se aprende las respuestas del examen pasado en lugar de entender el tema. Se reconoce porque las dos medidas se separan: la pérdida de entrenamiento, que mide el error con las fotos que la red ve, sigue bajando, pero la medida de validación, que mira fotos que no vio, deja de mejorar o incluso empeora. Mientras las dos mejoran juntas, la red está aprendiendo; cuando se separan, está memorizando. Lo arriesgan más las redes con muchos pesos y pocos datos, como la nuestra. Defensas: más datos y variados; el aumento de datos; la transferencia, que parte de una red que ya sabe ver y se mueve poco; y guardar el mejor modelo según la validación en lugar del último, que atrapa el sobreajuste cuando ya pasó: aunque el entrenamiento siga después de la época 20, el modelo guardado es el de la época 20. El dibujo es un esquema, no los datos del proyecto; los datos reales están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pérdida debe bajar. Si la validación deja de mejorar mientras la pérdida sigue bajando, hay sobreajuste. En el ejemplo la pérdida baja de 1.39 a 0.36 en 46 épocas, y el AP50 llega a su mejor valor en la época 20 y oscila después. Con 66 espermatozoides, no se puede afirmar. El cuaderno termina con dos gráficas, la pérdida de entrenamiento y las medidas de validación, y se leen con tres reglas: la pérdida debe bajar (si sube, o se queda plana desde el principio, algo anda mal); las medidas de validación deben subir; y si la pérdida baja pero la validación no mejora, o empeora, la red se está aprendiendo las fotos de memoria. En pantalla están las dos curvas de la corrida de ejemplo, las mismas del video anterior, con una línea en la época 20. La pérdida baja de 1.39 en la primera época a 0.46 en la veinte y a 0.36 en la 46: siempre hacia abajo, cada vez más despacio. La validación sube hasta 0.888 en la época 20 y después oscila entre 0.81 y 0.87, sin superar ese valor. Una lectura posible es que a partir de la época 20 la red empezó a memorizar, pero hay que ser prudentes: con 66 espermatozoides en la validación un solo acierto más o menos mueve las medidas y la curva tiene saltos que son ruido. Lo que sí se puede decir es que seguir entrenando después de la época 20 no mejoró la validación y que el cuaderno guardó el modelo de esa época. La salida del cuaderno que se conserva llega hasta la época 46, por eso la gráfica termina ahí. La utilidad práctica de la gráfica: decidir cuántas épocas entrenar y si hace falta más datos, más que presumir una cifra.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las cifras son preliminares: la validación sale de las mismas fotos, el mejor modelo y el umbral se eligen con ella y, en campo claro, solo hay 2 espermatozoides, así que su 1.00 no prueba nada. Un número solo vale con la prueba que lo respalda. Tienen tres debilidades, cada una con un esquema: la validación sale de franjas de las mismas fotos de entrenamiento, no de fotos independientes; el mejor modelo y el umbral se eligieron con esa misma validación, así que las cifras son algo optimistas, como elegir la mejor de varias pruebas y presentar su nota; y son 66 espermatozoides, y con eso una diferencia de unas centésimas no significa nada. Un ejemplo extremo es el modelo de campo claro: su validación tiene solo 2 espermatozoides, por eso todas sus medidas dan 1.00, y un 1.00 no prueba nada; el propio cuaderno avisa que con menos de 10 espermatozoides no se puede elegir nada con la validación y deja el umbral en 0.5. También se cuentan fotos completas, y en pantalla están como pares de barras, el número de etiquetados y el de detectados: en dos fotos con pocas células la red marcó de más (11 donde hay 6 etiquetados y 16 donde hay 10); en las dos fotos densas quedó cerca (119 contra 120 y 119 contra 122), pero esas fotos incluyen zonas con las que se entrenó, así que no prueban calidad. Lo que cambiaría la confianza son fotos nuevas de verdad, de otro día o de otro equipo, etiquetadas por alguien más. Hasta entonces el sitio dice lo que es: un modelo preliminar, y sus resultados se revisan.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mejorar el modelo es mejorar los datos: más fotos variadas, fotos sin espermatozoides para que aprenda a no marcar nada, validación con fotos nuevas y una corrida nueva que se compara con la anterior. El sitio no aprende de lo que suben los usuarios. Cuatro pasos, cada uno con un esquema. Primero, reunir más fotos, y variadas: densas y escasas, con fibras, de distinta iluminación y de más de un día; la variedad pesa más que la cantidad. Segundo, agregar fotos sin espermatozoides, como de otros tejidos: el cuaderno tiene una opción para usar fotos sin etiquetas como ejemplos de que aquí no hay nada; por defecto no las incluye, y hoy el modelo no tiene fotos así, de ahí que pueda marcar manchas o sombras. Tercero, validar con fotos que la red no haya visto, con la regla de fotos completas cuando haya diez o más. Cuarto, entrenar una corrida nueva, con otro nombre, que vuelve a partir de los pesos de COCO con todas las fotos juntas; se compara con la anterior sobre la misma validación y se queda la mejor; el archivo del modelo se cambia en el servidor. Aclaración sobre algo que se pregunta mucho: el sitio no aprende de las fotos que suben los usuarios, no se vuelve mejor solo ni se reentrena en el servidor. Mejorar exige etiquetar fotos nuevas, reentrenar en Colab y cambiar el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el módulo 2 vimos cómo ve una red convolucional, cómo trabaja Mask R-CNN, cómo la transferencia permite entrenar con pocas fotos y cómo se anotan, separan y miden los datos. En el módulo 3, el sitio funcionando y el código. En pantalla, arriba, una imagen de cada video del módulo: los filtros de la primera capa (video 1), los contornos de la red de cinco etapas (video 2), un mapa de una red preentrenada (video 3) y un espermatozoide con su contorno (video 4). Resumen de este video: un dato es una foto con el contorno de cada espermatozoide, y no hay un número fijo de fotos, depende de la variedad y de cómo se mida. Vimos cómo se anota en CVAT, por qué el criterio es lo más delicado y cómo un borrador automático ayuda si se corrige. Vimos cómo se separan los datos y por qué, con cuatro fotos, la validación es débil. Vimos el aumento de datos, el entrenamiento en Colab y las medidas de precisión, exhaustividad, F1 y AP50 con su ejemplo numérico; el umbral, el sobreajuste y la gráfica de curvas. Y que las cifras actuales son preliminares y que mejorar el modelo es, sobre todo, mejorar los datos. De todo el módulo, lo que une los cuatro videos: un filtro que recorre la imagen, una red de cinco etapas que encuentra y contornea, una red preentrenada que ahorra fotos, y unas fotos bien anotadas y bien medidas. En el módulo 3 cambiamos de lugar: abrimos el sitio funcionando, con una cuenta, un análisis y sus resultados, y después vemos cómo está hecho por dentro, en código. Gracias por acompañarme.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2.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2.xml"/><Relationship Id="rId1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MÓDULO 2 · VIDEO 4</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Datos, entrenamiento y validación</a:t>
            </a:r>
            <a:endParaRPr lang="en-US" sz="3600" dirty="0"/>
          </a:p>
        </p:txBody>
      </p:sp>
      <p:sp>
        <p:nvSpPr>
          <p:cNvPr id="6" name="Shape 2"/>
          <p:cNvSpPr/>
          <p:nvPr/>
        </p:nvSpPr>
        <p:spPr>
          <a:xfrm>
            <a:off x="812800" y="1782961"/>
            <a:ext cx="3175000" cy="2500511"/>
          </a:xfrm>
          <a:prstGeom prst="roundRect">
            <a:avLst>
              <a:gd name="adj" fmla="val 6095"/>
            </a:avLst>
          </a:prstGeom>
          <a:solidFill>
            <a:srgbClr val="0B1F2E"/>
          </a:solidFill>
          <a:ln/>
        </p:spPr>
      </p:sp>
      <p:pic>
        <p:nvPicPr>
          <p:cNvPr id="7" name="Image 2" descr="Un espermatozoide con su contorno dibujado">    </p:cNvPr>
          <p:cNvPicPr>
            <a:picLocks noChangeAspect="1"/>
          </p:cNvPicPr>
          <p:nvPr/>
        </p:nvPicPr>
        <p:blipFill>
          <a:blip r:embed="rId3"/>
          <a:srcRect l="0" r="0" t="32639" b="32639"/>
          <a:stretch/>
        </p:blipFill>
        <p:spPr>
          <a:xfrm>
            <a:off x="1003300" y="1948061"/>
            <a:ext cx="2743200" cy="952500"/>
          </a:xfrm>
          <a:prstGeom prst="roundRect">
            <a:avLst>
              <a:gd name="adj" fmla="val 8000"/>
            </a:avLst>
          </a:prstGeom>
        </p:spPr>
      </p:pic>
      <p:sp>
        <p:nvSpPr>
          <p:cNvPr id="8" name="Text 3"/>
          <p:cNvSpPr/>
          <p:nvPr/>
        </p:nvSpPr>
        <p:spPr>
          <a:xfrm>
            <a:off x="1003300" y="2964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DATOS</a:t>
            </a:r>
            <a:endParaRPr lang="en-US" sz="1200" dirty="0"/>
          </a:p>
        </p:txBody>
      </p:sp>
      <p:sp>
        <p:nvSpPr>
          <p:cNvPr id="9" name="Text 4"/>
          <p:cNvSpPr/>
          <p:nvPr/>
        </p:nvSpPr>
        <p:spPr>
          <a:xfrm>
            <a:off x="1003300" y="3240881"/>
            <a:ext cx="2877820" cy="372070"/>
          </a:xfrm>
          <a:prstGeom prst="rect">
            <a:avLst/>
          </a:prstGeom>
          <a:noFill/>
          <a:ln/>
        </p:spPr>
        <p:txBody>
          <a:bodyPr wrap="square" lIns="0" tIns="0" rIns="0" bIns="0" rtlCol="0" anchor="t">
            <a:normAutofit/>
          </a:bodyPr>
          <a:lstStyle/>
          <a:p>
            <a:pPr algn="l" indent="0" marL="0">
              <a:lnSpc>
                <a:spcPts val="2730"/>
              </a:lnSpc>
              <a:buNone/>
            </a:pPr>
            <a:r>
              <a:rPr lang="en-US" sz="2600" b="1" dirty="0">
                <a:solidFill>
                  <a:srgbClr val="F1F6F8"/>
                </a:solidFill>
                <a:latin typeface="EB Garamond" pitchFamily="18" charset="0"/>
                <a:ea typeface="EB Garamond" pitchFamily="18" charset="-122"/>
                <a:cs typeface="EB Garamond" pitchFamily="18" charset="-120"/>
              </a:rPr>
              <a:t>Foto y contorno</a:t>
            </a:r>
            <a:endParaRPr lang="en-US" sz="2600" dirty="0"/>
          </a:p>
        </p:txBody>
      </p:sp>
      <p:sp>
        <p:nvSpPr>
          <p:cNvPr id="10" name="Text 5"/>
          <p:cNvSpPr/>
          <p:nvPr/>
        </p:nvSpPr>
        <p:spPr>
          <a:xfrm>
            <a:off x="1003300" y="3651052"/>
            <a:ext cx="287782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Cada espermatozoide, dibujado por una persona.</a:t>
            </a:r>
            <a:endParaRPr lang="en-US" sz="1300" dirty="0"/>
          </a:p>
        </p:txBody>
      </p:sp>
      <p:pic>
        <p:nvPicPr>
          <p:cNvPr id="11" name="Image 3" descr="arrow-right">    </p:cNvPr>
          <p:cNvPicPr>
            <a:picLocks noChangeAspect="1"/>
          </p:cNvPicPr>
          <p:nvPr/>
        </p:nvPicPr>
        <p:blipFill>
          <a:blip r:embed="rId4"/>
          <a:srcRect l="0" r="0" t="0" b="0"/>
          <a:stretch/>
        </p:blipFill>
        <p:spPr>
          <a:xfrm>
            <a:off x="4089400" y="2937966"/>
            <a:ext cx="279400" cy="190500"/>
          </a:xfrm>
          <a:prstGeom prst="rect">
            <a:avLst/>
          </a:prstGeom>
        </p:spPr>
      </p:pic>
      <p:sp>
        <p:nvSpPr>
          <p:cNvPr id="12" name="Shape 6"/>
          <p:cNvSpPr/>
          <p:nvPr/>
        </p:nvSpPr>
        <p:spPr>
          <a:xfrm>
            <a:off x="4479925" y="1792486"/>
            <a:ext cx="3194050" cy="2481461"/>
          </a:xfrm>
          <a:prstGeom prst="roundRect">
            <a:avLst>
              <a:gd name="adj" fmla="val 5758"/>
            </a:avLst>
          </a:prstGeom>
          <a:solidFill>
            <a:srgbClr val="FCFDFD"/>
          </a:solidFill>
          <a:ln w="19050">
            <a:solidFill>
              <a:srgbClr val="0E6E9C"/>
            </a:solidFill>
            <a:prstDash val="solid"/>
          </a:ln>
        </p:spPr>
      </p:sp>
      <p:pic>
        <p:nvPicPr>
          <p:cNvPr id="13" name="Image 4" descr="La curva de la pérdida de un entrenamiento, que baja época tras época">    </p:cNvPr>
          <p:cNvPicPr>
            <a:picLocks noChangeAspect="1"/>
          </p:cNvPicPr>
          <p:nvPr/>
        </p:nvPicPr>
        <p:blipFill>
          <a:blip r:embed="rId5"/>
          <a:srcRect l="0" r="0" t="23291" b="23291"/>
          <a:stretch/>
        </p:blipFill>
        <p:spPr>
          <a:xfrm>
            <a:off x="4679950" y="1967111"/>
            <a:ext cx="2743200" cy="952500"/>
          </a:xfrm>
          <a:prstGeom prst="roundRect">
            <a:avLst>
              <a:gd name="adj" fmla="val 8000"/>
            </a:avLst>
          </a:prstGeom>
        </p:spPr>
      </p:pic>
      <p:sp>
        <p:nvSpPr>
          <p:cNvPr id="14" name="Text 7"/>
          <p:cNvSpPr/>
          <p:nvPr/>
        </p:nvSpPr>
        <p:spPr>
          <a:xfrm>
            <a:off x="4679950" y="29831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ENTRENAMIENTO</a:t>
            </a:r>
            <a:endParaRPr lang="en-US" sz="1200" dirty="0"/>
          </a:p>
        </p:txBody>
      </p:sp>
      <p:sp>
        <p:nvSpPr>
          <p:cNvPr id="15" name="Text 8"/>
          <p:cNvSpPr/>
          <p:nvPr/>
        </p:nvSpPr>
        <p:spPr>
          <a:xfrm>
            <a:off x="4679950" y="3259931"/>
            <a:ext cx="2877820" cy="372070"/>
          </a:xfrm>
          <a:prstGeom prst="rect">
            <a:avLst/>
          </a:prstGeom>
          <a:noFill/>
          <a:ln/>
        </p:spPr>
        <p:txBody>
          <a:bodyPr wrap="square" lIns="0" tIns="0" rIns="0" bIns="0" rtlCol="0" anchor="t">
            <a:normAutofit/>
          </a:bodyPr>
          <a:lstStyle/>
          <a:p>
            <a:pPr algn="l" indent="0" marL="0">
              <a:lnSpc>
                <a:spcPts val="2730"/>
              </a:lnSpc>
              <a:buNone/>
            </a:pPr>
            <a:r>
              <a:rPr lang="en-US" sz="2600" b="1" dirty="0">
                <a:solidFill>
                  <a:srgbClr val="0C2A3E"/>
                </a:solidFill>
                <a:latin typeface="EB Garamond" pitchFamily="18" charset="0"/>
                <a:ea typeface="EB Garamond" pitchFamily="18" charset="-122"/>
                <a:cs typeface="EB Garamond" pitchFamily="18" charset="-120"/>
              </a:rPr>
              <a:t>La red ajusta</a:t>
            </a:r>
            <a:endParaRPr lang="en-US" sz="2600" dirty="0"/>
          </a:p>
        </p:txBody>
      </p:sp>
      <p:sp>
        <p:nvSpPr>
          <p:cNvPr id="16" name="Text 9"/>
          <p:cNvSpPr/>
          <p:nvPr/>
        </p:nvSpPr>
        <p:spPr>
          <a:xfrm>
            <a:off x="4679950" y="3670102"/>
            <a:ext cx="287782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E5566"/>
                </a:solidFill>
                <a:latin typeface="IBM Plex Sans" pitchFamily="34" charset="0"/>
                <a:ea typeface="IBM Plex Sans" pitchFamily="34" charset="-122"/>
                <a:cs typeface="IBM Plex Sans" pitchFamily="34" charset="-120"/>
              </a:rPr>
              <a:t>Sus pesos, época tras época, con esos datos.</a:t>
            </a:r>
            <a:endParaRPr lang="en-US" sz="1300" dirty="0"/>
          </a:p>
        </p:txBody>
      </p:sp>
      <p:pic>
        <p:nvPicPr>
          <p:cNvPr id="17" name="Image 5" descr="arrow-right">    </p:cNvPr>
          <p:cNvPicPr>
            <a:picLocks noChangeAspect="1"/>
          </p:cNvPicPr>
          <p:nvPr/>
        </p:nvPicPr>
        <p:blipFill>
          <a:blip r:embed="rId6"/>
          <a:srcRect l="0" r="0" t="0" b="0"/>
          <a:stretch/>
        </p:blipFill>
        <p:spPr>
          <a:xfrm>
            <a:off x="7785100" y="2937966"/>
            <a:ext cx="279400" cy="190500"/>
          </a:xfrm>
          <a:prstGeom prst="rect">
            <a:avLst/>
          </a:prstGeom>
        </p:spPr>
      </p:pic>
      <p:sp>
        <p:nvSpPr>
          <p:cNvPr id="18" name="Shape 10"/>
          <p:cNvSpPr/>
          <p:nvPr/>
        </p:nvSpPr>
        <p:spPr>
          <a:xfrm>
            <a:off x="8175625" y="1792486"/>
            <a:ext cx="3194050" cy="2481461"/>
          </a:xfrm>
          <a:prstGeom prst="roundRect">
            <a:avLst>
              <a:gd name="adj" fmla="val 5758"/>
            </a:avLst>
          </a:prstGeom>
          <a:solidFill>
            <a:srgbClr val="FCFDFD"/>
          </a:solidFill>
          <a:ln w="19050">
            <a:solidFill>
              <a:srgbClr val="A3480F"/>
            </a:solidFill>
            <a:prstDash val="solid"/>
          </a:ln>
        </p:spPr>
      </p:sp>
      <p:pic>
        <p:nvPicPr>
          <p:cNvPr id="19" name="Image 6" descr="Una foto dividida en zona de entrenamiento, margen y franja de validación">    </p:cNvPr>
          <p:cNvPicPr>
            <a:picLocks noChangeAspect="1"/>
          </p:cNvPicPr>
          <p:nvPr/>
        </p:nvPicPr>
        <p:blipFill>
          <a:blip r:embed="rId7"/>
          <a:srcRect l="0" r="0" t="0" b="0"/>
          <a:stretch/>
        </p:blipFill>
        <p:spPr>
          <a:xfrm>
            <a:off x="8375650" y="1967111"/>
            <a:ext cx="2743200" cy="952500"/>
          </a:xfrm>
          <a:prstGeom prst="rect">
            <a:avLst/>
          </a:prstGeom>
        </p:spPr>
      </p:pic>
      <p:sp>
        <p:nvSpPr>
          <p:cNvPr id="20" name="Text 11"/>
          <p:cNvSpPr/>
          <p:nvPr/>
        </p:nvSpPr>
        <p:spPr>
          <a:xfrm>
            <a:off x="8375650" y="29831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VALIDACIÓN</a:t>
            </a:r>
            <a:endParaRPr lang="en-US" sz="1200" dirty="0"/>
          </a:p>
        </p:txBody>
      </p:sp>
      <p:sp>
        <p:nvSpPr>
          <p:cNvPr id="21" name="Text 12"/>
          <p:cNvSpPr/>
          <p:nvPr/>
        </p:nvSpPr>
        <p:spPr>
          <a:xfrm>
            <a:off x="8375650" y="3259931"/>
            <a:ext cx="2877820" cy="372070"/>
          </a:xfrm>
          <a:prstGeom prst="rect">
            <a:avLst/>
          </a:prstGeom>
          <a:noFill/>
          <a:ln/>
        </p:spPr>
        <p:txBody>
          <a:bodyPr wrap="square" lIns="0" tIns="0" rIns="0" bIns="0" rtlCol="0" anchor="t">
            <a:normAutofit/>
          </a:bodyPr>
          <a:lstStyle/>
          <a:p>
            <a:pPr algn="l" indent="0" marL="0">
              <a:lnSpc>
                <a:spcPts val="2730"/>
              </a:lnSpc>
              <a:buNone/>
            </a:pPr>
            <a:r>
              <a:rPr lang="en-US" sz="2600" b="1" dirty="0">
                <a:solidFill>
                  <a:srgbClr val="0C2A3E"/>
                </a:solidFill>
                <a:latin typeface="EB Garamond" pitchFamily="18" charset="0"/>
                <a:ea typeface="EB Garamond" pitchFamily="18" charset="-122"/>
                <a:cs typeface="EB Garamond" pitchFamily="18" charset="-120"/>
              </a:rPr>
              <a:t>Una prueba</a:t>
            </a:r>
            <a:endParaRPr lang="en-US" sz="2600" dirty="0"/>
          </a:p>
        </p:txBody>
      </p:sp>
      <p:sp>
        <p:nvSpPr>
          <p:cNvPr id="22" name="Text 13"/>
          <p:cNvSpPr/>
          <p:nvPr/>
        </p:nvSpPr>
        <p:spPr>
          <a:xfrm>
            <a:off x="8375650" y="3670102"/>
            <a:ext cx="287782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E5566"/>
                </a:solidFill>
                <a:latin typeface="IBM Plex Sans" pitchFamily="34" charset="0"/>
                <a:ea typeface="IBM Plex Sans" pitchFamily="34" charset="-122"/>
                <a:cs typeface="IBM Plex Sans" pitchFamily="34" charset="-120"/>
              </a:rPr>
              <a:t>Con fotos que la red no vio al aprender.</a:t>
            </a:r>
            <a:endParaRPr lang="en-US" sz="1300" dirty="0"/>
          </a:p>
        </p:txBody>
      </p:sp>
      <p:sp>
        <p:nvSpPr>
          <p:cNvPr id="23" name="Shape 14"/>
          <p:cNvSpPr/>
          <p:nvPr/>
        </p:nvSpPr>
        <p:spPr>
          <a:xfrm>
            <a:off x="812800" y="4461272"/>
            <a:ext cx="10566400" cy="584200"/>
          </a:xfrm>
          <a:prstGeom prst="roundRect">
            <a:avLst>
              <a:gd name="adj" fmla="val 21739"/>
            </a:avLst>
          </a:prstGeom>
          <a:solidFill>
            <a:srgbClr val="0B1F2E"/>
          </a:solidFill>
          <a:ln/>
        </p:spPr>
      </p:sp>
      <p:pic>
        <p:nvPicPr>
          <p:cNvPr id="24" name="Image 7" descr="Lightbulb">    </p:cNvPr>
          <p:cNvPicPr>
            <a:picLocks noChangeAspect="1"/>
          </p:cNvPicPr>
          <p:nvPr/>
        </p:nvPicPr>
        <p:blipFill>
          <a:blip r:embed="rId8"/>
          <a:srcRect l="0" r="0" t="0" b="0"/>
          <a:stretch/>
        </p:blipFill>
        <p:spPr>
          <a:xfrm>
            <a:off x="1016000" y="4600972"/>
            <a:ext cx="304800" cy="304800"/>
          </a:xfrm>
          <a:prstGeom prst="rect">
            <a:avLst/>
          </a:prstGeom>
        </p:spPr>
      </p:pic>
      <p:sp>
        <p:nvSpPr>
          <p:cNvPr id="25" name="Text 15"/>
          <p:cNvSpPr/>
          <p:nvPr/>
        </p:nvSpPr>
        <p:spPr>
          <a:xfrm>
            <a:off x="1447800" y="4624784"/>
            <a:ext cx="100200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Un modelo vale lo que valen sus datos y la forma de medirlo.</a:t>
            </a:r>
            <a:endParaRPr lang="en-US" sz="1500" dirty="0"/>
          </a:p>
        </p:txBody>
      </p:sp>
      <p:sp>
        <p:nvSpPr>
          <p:cNvPr id="26" name="Text 1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Cifras de la corrida de ejemplo del cuaderno</a:t>
            </a:r>
            <a:endParaRPr lang="en-US" sz="1200" dirty="0"/>
          </a:p>
        </p:txBody>
      </p:sp>
      <p:sp>
        <p:nvSpPr>
          <p:cNvPr id="27"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LO QUE APRENDE LA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Qué es un dato</a:t>
            </a:r>
            <a:endParaRPr lang="en-US" sz="3600" dirty="0"/>
          </a:p>
        </p:txBody>
      </p:sp>
      <p:pic>
        <p:nvPicPr>
          <p:cNvPr id="6" name="Image 2" descr="Una foto con tres espermatozoides y el contorno de cada uno dibujado">    </p:cNvPr>
          <p:cNvPicPr>
            <a:picLocks noChangeAspect="1"/>
          </p:cNvPicPr>
          <p:nvPr/>
        </p:nvPicPr>
        <p:blipFill>
          <a:blip r:embed="rId3"/>
          <a:srcRect l="0" r="0" t="36" b="36"/>
          <a:stretch/>
        </p:blipFill>
        <p:spPr>
          <a:xfrm>
            <a:off x="812800" y="1782961"/>
            <a:ext cx="4064000" cy="2978150"/>
          </a:xfrm>
          <a:prstGeom prst="roundRect">
            <a:avLst>
              <a:gd name="adj" fmla="val 2985"/>
            </a:avLst>
          </a:prstGeom>
        </p:spPr>
      </p:pic>
      <p:sp>
        <p:nvSpPr>
          <p:cNvPr id="7" name="Text 2"/>
          <p:cNvSpPr/>
          <p:nvPr/>
        </p:nvSpPr>
        <p:spPr>
          <a:xfrm>
            <a:off x="812800" y="4824611"/>
            <a:ext cx="418592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Foto y contorno de cada espermatozoide. Imagen de muestra, dibujada por computadora.</a:t>
            </a:r>
            <a:endParaRPr lang="en-US" sz="1200" dirty="0"/>
          </a:p>
        </p:txBody>
      </p:sp>
      <p:sp>
        <p:nvSpPr>
          <p:cNvPr id="8" name="Text 3"/>
          <p:cNvSpPr/>
          <p:nvPr/>
        </p:nvSpPr>
        <p:spPr>
          <a:xfrm>
            <a:off x="5130800" y="1782961"/>
            <a:ext cx="64358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CONTORNOS POR FOTO (4 FOTOS, 258 EN TOTAL)</a:t>
            </a:r>
            <a:endParaRPr lang="en-US" sz="1200" dirty="0"/>
          </a:p>
        </p:txBody>
      </p:sp>
      <p:sp>
        <p:nvSpPr>
          <p:cNvPr id="9" name="Text 4"/>
          <p:cNvSpPr/>
          <p:nvPr/>
        </p:nvSpPr>
        <p:spPr>
          <a:xfrm>
            <a:off x="5130800" y="2109291"/>
            <a:ext cx="1003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Foto 1</a:t>
            </a:r>
            <a:endParaRPr lang="en-US" sz="1300" dirty="0"/>
          </a:p>
        </p:txBody>
      </p:sp>
      <p:sp>
        <p:nvSpPr>
          <p:cNvPr id="10" name="Shape 5"/>
          <p:cNvSpPr/>
          <p:nvPr/>
        </p:nvSpPr>
        <p:spPr>
          <a:xfrm>
            <a:off x="6184900" y="2085181"/>
            <a:ext cx="158750" cy="279400"/>
          </a:xfrm>
          <a:prstGeom prst="roundRect">
            <a:avLst>
              <a:gd name="adj" fmla="val 24000"/>
            </a:avLst>
          </a:prstGeom>
          <a:solidFill>
            <a:srgbClr val="6CCFF6"/>
          </a:solidFill>
          <a:ln/>
        </p:spPr>
      </p:sp>
      <p:sp>
        <p:nvSpPr>
          <p:cNvPr id="11" name="Text 6"/>
          <p:cNvSpPr/>
          <p:nvPr/>
        </p:nvSpPr>
        <p:spPr>
          <a:xfrm>
            <a:off x="6445250" y="2100461"/>
            <a:ext cx="15755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6</a:t>
            </a:r>
            <a:endParaRPr lang="en-US" sz="1400" dirty="0"/>
          </a:p>
        </p:txBody>
      </p:sp>
      <p:sp>
        <p:nvSpPr>
          <p:cNvPr id="12" name="Text 7"/>
          <p:cNvSpPr/>
          <p:nvPr/>
        </p:nvSpPr>
        <p:spPr>
          <a:xfrm>
            <a:off x="5130800" y="2477591"/>
            <a:ext cx="1003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Foto 2</a:t>
            </a:r>
            <a:endParaRPr lang="en-US" sz="1300" dirty="0"/>
          </a:p>
        </p:txBody>
      </p:sp>
      <p:sp>
        <p:nvSpPr>
          <p:cNvPr id="13" name="Shape 8"/>
          <p:cNvSpPr/>
          <p:nvPr/>
        </p:nvSpPr>
        <p:spPr>
          <a:xfrm>
            <a:off x="6184900" y="2453481"/>
            <a:ext cx="266700" cy="279400"/>
          </a:xfrm>
          <a:prstGeom prst="roundRect">
            <a:avLst>
              <a:gd name="adj" fmla="val 14286"/>
            </a:avLst>
          </a:prstGeom>
          <a:solidFill>
            <a:srgbClr val="6CCFF6"/>
          </a:solidFill>
          <a:ln/>
        </p:spPr>
      </p:sp>
      <p:sp>
        <p:nvSpPr>
          <p:cNvPr id="14" name="Text 9"/>
          <p:cNvSpPr/>
          <p:nvPr/>
        </p:nvSpPr>
        <p:spPr>
          <a:xfrm>
            <a:off x="6553200" y="2468761"/>
            <a:ext cx="2642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10</a:t>
            </a:r>
            <a:endParaRPr lang="en-US" sz="1400" dirty="0"/>
          </a:p>
        </p:txBody>
      </p:sp>
      <p:sp>
        <p:nvSpPr>
          <p:cNvPr id="15" name="Text 10"/>
          <p:cNvSpPr/>
          <p:nvPr/>
        </p:nvSpPr>
        <p:spPr>
          <a:xfrm>
            <a:off x="5130800" y="2845891"/>
            <a:ext cx="1003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Foto 3</a:t>
            </a:r>
            <a:endParaRPr lang="en-US" sz="1300" dirty="0"/>
          </a:p>
        </p:txBody>
      </p:sp>
      <p:sp>
        <p:nvSpPr>
          <p:cNvPr id="16" name="Shape 11"/>
          <p:cNvSpPr/>
          <p:nvPr/>
        </p:nvSpPr>
        <p:spPr>
          <a:xfrm>
            <a:off x="6184900" y="2821781"/>
            <a:ext cx="3200400" cy="279400"/>
          </a:xfrm>
          <a:prstGeom prst="roundRect">
            <a:avLst>
              <a:gd name="adj" fmla="val 13636"/>
            </a:avLst>
          </a:prstGeom>
          <a:solidFill>
            <a:srgbClr val="F4A259"/>
          </a:solidFill>
          <a:ln/>
        </p:spPr>
      </p:sp>
      <p:sp>
        <p:nvSpPr>
          <p:cNvPr id="17" name="Text 12"/>
          <p:cNvSpPr/>
          <p:nvPr/>
        </p:nvSpPr>
        <p:spPr>
          <a:xfrm>
            <a:off x="9486900" y="2837061"/>
            <a:ext cx="3840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A259"/>
                </a:solidFill>
                <a:latin typeface="IBM Plex Sans" pitchFamily="34" charset="0"/>
                <a:ea typeface="IBM Plex Sans" pitchFamily="34" charset="-122"/>
                <a:cs typeface="IBM Plex Sans" pitchFamily="34" charset="-120"/>
              </a:rPr>
              <a:t>120</a:t>
            </a:r>
            <a:endParaRPr lang="en-US" sz="1400" dirty="0"/>
          </a:p>
        </p:txBody>
      </p:sp>
      <p:sp>
        <p:nvSpPr>
          <p:cNvPr id="18" name="Text 13"/>
          <p:cNvSpPr/>
          <p:nvPr/>
        </p:nvSpPr>
        <p:spPr>
          <a:xfrm>
            <a:off x="5130800" y="3214191"/>
            <a:ext cx="1003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Foto 4</a:t>
            </a:r>
            <a:endParaRPr lang="en-US" sz="1300" dirty="0"/>
          </a:p>
        </p:txBody>
      </p:sp>
      <p:sp>
        <p:nvSpPr>
          <p:cNvPr id="19" name="Shape 14"/>
          <p:cNvSpPr/>
          <p:nvPr/>
        </p:nvSpPr>
        <p:spPr>
          <a:xfrm>
            <a:off x="6184900" y="3190081"/>
            <a:ext cx="3251200" cy="279400"/>
          </a:xfrm>
          <a:prstGeom prst="roundRect">
            <a:avLst>
              <a:gd name="adj" fmla="val 13636"/>
            </a:avLst>
          </a:prstGeom>
          <a:solidFill>
            <a:srgbClr val="F4A259"/>
          </a:solidFill>
          <a:ln/>
        </p:spPr>
      </p:sp>
      <p:sp>
        <p:nvSpPr>
          <p:cNvPr id="20" name="Text 15"/>
          <p:cNvSpPr/>
          <p:nvPr/>
        </p:nvSpPr>
        <p:spPr>
          <a:xfrm>
            <a:off x="9537700" y="3205361"/>
            <a:ext cx="3840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A259"/>
                </a:solidFill>
                <a:latin typeface="IBM Plex Sans" pitchFamily="34" charset="0"/>
                <a:ea typeface="IBM Plex Sans" pitchFamily="34" charset="-122"/>
                <a:cs typeface="IBM Plex Sans" pitchFamily="34" charset="-120"/>
              </a:rPr>
              <a:t>122</a:t>
            </a:r>
            <a:endParaRPr lang="en-US" sz="1400" dirty="0"/>
          </a:p>
        </p:txBody>
      </p:sp>
      <p:sp>
        <p:nvSpPr>
          <p:cNvPr id="21" name="Shape 16"/>
          <p:cNvSpPr/>
          <p:nvPr/>
        </p:nvSpPr>
        <p:spPr>
          <a:xfrm>
            <a:off x="5140325" y="3567906"/>
            <a:ext cx="3067050" cy="720030"/>
          </a:xfrm>
          <a:prstGeom prst="roundRect">
            <a:avLst>
              <a:gd name="adj" fmla="val 12788"/>
            </a:avLst>
          </a:prstGeom>
          <a:solidFill>
            <a:srgbClr val="12304A"/>
          </a:solidFill>
          <a:ln w="19050">
            <a:solidFill>
              <a:srgbClr val="F4A259"/>
            </a:solidFill>
            <a:prstDash val="solid"/>
          </a:ln>
        </p:spPr>
      </p:sp>
      <p:sp>
        <p:nvSpPr>
          <p:cNvPr id="22" name="Text 17"/>
          <p:cNvSpPr/>
          <p:nvPr/>
        </p:nvSpPr>
        <p:spPr>
          <a:xfrm>
            <a:off x="5276850" y="3666331"/>
            <a:ext cx="2877820"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F4A259"/>
                </a:solidFill>
                <a:latin typeface="EB Garamond" pitchFamily="18" charset="0"/>
                <a:ea typeface="EB Garamond" pitchFamily="18" charset="-122"/>
                <a:cs typeface="EB Garamond" pitchFamily="18" charset="-120"/>
              </a:rPr>
              <a:t>242 de 258</a:t>
            </a:r>
            <a:endParaRPr lang="en-US" sz="2400" dirty="0"/>
          </a:p>
        </p:txBody>
      </p:sp>
      <p:sp>
        <p:nvSpPr>
          <p:cNvPr id="23" name="Text 18"/>
          <p:cNvSpPr/>
          <p:nvPr/>
        </p:nvSpPr>
        <p:spPr>
          <a:xfrm>
            <a:off x="5276850" y="3999012"/>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contornos, en dos fotos densas</a:t>
            </a:r>
            <a:endParaRPr lang="en-US" sz="1200" dirty="0"/>
          </a:p>
        </p:txBody>
      </p:sp>
      <p:sp>
        <p:nvSpPr>
          <p:cNvPr id="24" name="Shape 19"/>
          <p:cNvSpPr/>
          <p:nvPr/>
        </p:nvSpPr>
        <p:spPr>
          <a:xfrm>
            <a:off x="8312150" y="3564731"/>
            <a:ext cx="3060700" cy="726380"/>
          </a:xfrm>
          <a:prstGeom prst="roundRect">
            <a:avLst>
              <a:gd name="adj" fmla="val 13113"/>
            </a:avLst>
          </a:prstGeom>
          <a:solidFill>
            <a:srgbClr val="12304A"/>
          </a:solidFill>
          <a:ln w="12700">
            <a:solidFill>
              <a:srgbClr val="24506E"/>
            </a:solidFill>
            <a:prstDash val="solid"/>
          </a:ln>
        </p:spPr>
      </p:sp>
      <p:sp>
        <p:nvSpPr>
          <p:cNvPr id="25" name="Text 20"/>
          <p:cNvSpPr/>
          <p:nvPr/>
        </p:nvSpPr>
        <p:spPr>
          <a:xfrm>
            <a:off x="8445500" y="3659981"/>
            <a:ext cx="2877820"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F1F6F8"/>
                </a:solidFill>
                <a:latin typeface="EB Garamond" pitchFamily="18" charset="0"/>
                <a:ea typeface="EB Garamond" pitchFamily="18" charset="-122"/>
                <a:cs typeface="EB Garamond" pitchFamily="18" charset="-120"/>
              </a:rPr>
              <a:t>10 a 116 px</a:t>
            </a:r>
            <a:endParaRPr lang="en-US" sz="2400" dirty="0"/>
          </a:p>
        </p:txBody>
      </p:sp>
      <p:sp>
        <p:nvSpPr>
          <p:cNvPr id="26" name="Text 21"/>
          <p:cNvSpPr/>
          <p:nvPr/>
        </p:nvSpPr>
        <p:spPr>
          <a:xfrm>
            <a:off x="8445500" y="3992662"/>
            <a:ext cx="28778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lado mayor; mediana de 63</a:t>
            </a:r>
            <a:endParaRPr lang="en-US" sz="1200" dirty="0"/>
          </a:p>
        </p:txBody>
      </p:sp>
      <p:sp>
        <p:nvSpPr>
          <p:cNvPr id="27" name="Text 22"/>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Fotos de 1792 × 1374 px (la 4, de 1374 × 1792)</a:t>
            </a:r>
            <a:endParaRPr lang="en-US" sz="1200" dirty="0"/>
          </a:p>
        </p:txBody>
      </p:sp>
      <p:sp>
        <p:nvSpPr>
          <p:cNvPr id="28"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UNA PREGUNTA FRECUENTE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¿Cuántas fotos hacen falta?</a:t>
            </a:r>
            <a:endParaRPr lang="en-US" sz="3600" dirty="0"/>
          </a:p>
        </p:txBody>
      </p:sp>
      <p:sp>
        <p:nvSpPr>
          <p:cNvPr id="6" name="Shape 2"/>
          <p:cNvSpPr/>
          <p:nvPr/>
        </p:nvSpPr>
        <p:spPr>
          <a:xfrm>
            <a:off x="819150" y="1751211"/>
            <a:ext cx="3441700" cy="1689497"/>
          </a:xfrm>
          <a:prstGeom prst="roundRect">
            <a:avLst>
              <a:gd name="adj" fmla="val 6389"/>
            </a:avLst>
          </a:prstGeom>
          <a:solidFill>
            <a:srgbClr val="FCFDFD"/>
          </a:solidFill>
          <a:ln w="12700">
            <a:solidFill>
              <a:srgbClr val="D5E3EA"/>
            </a:solidFill>
            <a:prstDash val="solid"/>
          </a:ln>
        </p:spPr>
      </p:sp>
      <p:pic>
        <p:nvPicPr>
          <p:cNvPr id="7" name="Image 2" descr="Tres recortes con distinta iluminación y orientación">    </p:cNvPr>
          <p:cNvPicPr>
            <a:picLocks noChangeAspect="1"/>
          </p:cNvPicPr>
          <p:nvPr/>
        </p:nvPicPr>
        <p:blipFill>
          <a:blip r:embed="rId3"/>
          <a:srcRect l="0" r="0" t="0" b="0"/>
          <a:stretch/>
        </p:blipFill>
        <p:spPr>
          <a:xfrm>
            <a:off x="965200" y="1871861"/>
            <a:ext cx="3048000" cy="533400"/>
          </a:xfrm>
          <a:prstGeom prst="rect">
            <a:avLst/>
          </a:prstGeom>
        </p:spPr>
      </p:pic>
      <p:sp>
        <p:nvSpPr>
          <p:cNvPr id="8" name="Text 3"/>
          <p:cNvSpPr/>
          <p:nvPr/>
        </p:nvSpPr>
        <p:spPr>
          <a:xfrm>
            <a:off x="965200" y="2456061"/>
            <a:ext cx="3244088"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C2A3E"/>
                </a:solidFill>
                <a:latin typeface="IBM Plex Sans" pitchFamily="34" charset="0"/>
                <a:ea typeface="IBM Plex Sans" pitchFamily="34" charset="-122"/>
                <a:cs typeface="IBM Plex Sans" pitchFamily="34" charset="-120"/>
              </a:rPr>
              <a:t>1 · Variedad de las fotos</a:t>
            </a:r>
            <a:endParaRPr lang="en-US" sz="1500" dirty="0"/>
          </a:p>
        </p:txBody>
      </p:sp>
      <p:sp>
        <p:nvSpPr>
          <p:cNvPr id="9" name="Text 4"/>
          <p:cNvSpPr/>
          <p:nvPr/>
        </p:nvSpPr>
        <p:spPr>
          <a:xfrm>
            <a:off x="965200" y="2725936"/>
            <a:ext cx="3244088"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Mismo microscopio y tinción, menos. Si cambian, esa variedad debe estar en el entrenamiento.</a:t>
            </a:r>
            <a:endParaRPr lang="en-US" sz="1200" dirty="0"/>
          </a:p>
        </p:txBody>
      </p:sp>
      <p:sp>
        <p:nvSpPr>
          <p:cNvPr id="10" name="Shape 5"/>
          <p:cNvSpPr/>
          <p:nvPr/>
        </p:nvSpPr>
        <p:spPr>
          <a:xfrm>
            <a:off x="4375150" y="1751211"/>
            <a:ext cx="3441700" cy="1689497"/>
          </a:xfrm>
          <a:prstGeom prst="roundRect">
            <a:avLst>
              <a:gd name="adj" fmla="val 6389"/>
            </a:avLst>
          </a:prstGeom>
          <a:solidFill>
            <a:srgbClr val="FCFDFD"/>
          </a:solidFill>
          <a:ln w="12700">
            <a:solidFill>
              <a:srgbClr val="D5E3EA"/>
            </a:solidFill>
            <a:prstDash val="solid"/>
          </a:ln>
        </p:spPr>
      </p:sp>
      <p:pic>
        <p:nvPicPr>
          <p:cNvPr id="11" name="Image 3" descr="Espermatozoides aislados a la izquierda y encimados a la derecha">    </p:cNvPr>
          <p:cNvPicPr>
            <a:picLocks noChangeAspect="1"/>
          </p:cNvPicPr>
          <p:nvPr/>
        </p:nvPicPr>
        <p:blipFill>
          <a:blip r:embed="rId4"/>
          <a:srcRect l="0" r="0" t="0" b="0"/>
          <a:stretch/>
        </p:blipFill>
        <p:spPr>
          <a:xfrm>
            <a:off x="4521200" y="1871861"/>
            <a:ext cx="3048000" cy="533400"/>
          </a:xfrm>
          <a:prstGeom prst="rect">
            <a:avLst/>
          </a:prstGeom>
        </p:spPr>
      </p:pic>
      <p:sp>
        <p:nvSpPr>
          <p:cNvPr id="12" name="Text 6"/>
          <p:cNvSpPr/>
          <p:nvPr/>
        </p:nvSpPr>
        <p:spPr>
          <a:xfrm>
            <a:off x="4521200" y="2456061"/>
            <a:ext cx="3244088"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C2A3E"/>
                </a:solidFill>
                <a:latin typeface="IBM Plex Sans" pitchFamily="34" charset="0"/>
                <a:ea typeface="IBM Plex Sans" pitchFamily="34" charset="-122"/>
                <a:cs typeface="IBM Plex Sans" pitchFamily="34" charset="-120"/>
              </a:rPr>
              <a:t>2 · Dificultad de la tarea</a:t>
            </a:r>
            <a:endParaRPr lang="en-US" sz="1500" dirty="0"/>
          </a:p>
        </p:txBody>
      </p:sp>
      <p:sp>
        <p:nvSpPr>
          <p:cNvPr id="13" name="Text 7"/>
          <p:cNvSpPr/>
          <p:nvPr/>
        </p:nvSpPr>
        <p:spPr>
          <a:xfrm>
            <a:off x="4521200" y="2725936"/>
            <a:ext cx="3244088"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Contornear espermatozoides que se encima pide más ejemplos que contar puntos aislados.</a:t>
            </a:r>
            <a:endParaRPr lang="en-US" sz="1200" dirty="0"/>
          </a:p>
        </p:txBody>
      </p:sp>
      <p:sp>
        <p:nvSpPr>
          <p:cNvPr id="14" name="Shape 8"/>
          <p:cNvSpPr/>
          <p:nvPr/>
        </p:nvSpPr>
        <p:spPr>
          <a:xfrm>
            <a:off x="7931150" y="1751211"/>
            <a:ext cx="3441700" cy="1689497"/>
          </a:xfrm>
          <a:prstGeom prst="roundRect">
            <a:avLst>
              <a:gd name="adj" fmla="val 6389"/>
            </a:avLst>
          </a:prstGeom>
          <a:solidFill>
            <a:srgbClr val="FCFDFD"/>
          </a:solidFill>
          <a:ln w="12700">
            <a:solidFill>
              <a:srgbClr val="D5E3EA"/>
            </a:solidFill>
            <a:prstDash val="solid"/>
          </a:ln>
        </p:spPr>
      </p:sp>
      <p:pic>
        <p:nvPicPr>
          <p:cNvPr id="15" name="Image 4" descr="Los 64 filtros de la primera capa de una red ya entrenada">    </p:cNvPr>
          <p:cNvPicPr>
            <a:picLocks noChangeAspect="1"/>
          </p:cNvPicPr>
          <p:nvPr/>
        </p:nvPicPr>
        <p:blipFill>
          <a:blip r:embed="rId5"/>
          <a:srcRect l="0" r="0" t="41250" b="41250"/>
          <a:stretch/>
        </p:blipFill>
        <p:spPr>
          <a:xfrm>
            <a:off x="8077200" y="1871861"/>
            <a:ext cx="3048000" cy="533400"/>
          </a:xfrm>
          <a:prstGeom prst="roundRect">
            <a:avLst>
              <a:gd name="adj" fmla="val 9524"/>
            </a:avLst>
          </a:prstGeom>
        </p:spPr>
      </p:pic>
      <p:sp>
        <p:nvSpPr>
          <p:cNvPr id="16" name="Text 9"/>
          <p:cNvSpPr/>
          <p:nvPr/>
        </p:nvSpPr>
        <p:spPr>
          <a:xfrm>
            <a:off x="8077200" y="2456061"/>
            <a:ext cx="3244088"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C2A3E"/>
                </a:solidFill>
                <a:latin typeface="IBM Plex Sans" pitchFamily="34" charset="0"/>
                <a:ea typeface="IBM Plex Sans" pitchFamily="34" charset="-122"/>
                <a:cs typeface="IBM Plex Sans" pitchFamily="34" charset="-120"/>
              </a:rPr>
              <a:t>3 · Red preentrenada</a:t>
            </a:r>
            <a:endParaRPr lang="en-US" sz="1500" dirty="0"/>
          </a:p>
        </p:txBody>
      </p:sp>
      <p:sp>
        <p:nvSpPr>
          <p:cNvPr id="17" name="Text 10"/>
          <p:cNvSpPr/>
          <p:nvPr/>
        </p:nvSpPr>
        <p:spPr>
          <a:xfrm>
            <a:off x="8077200" y="2725936"/>
            <a:ext cx="324408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Partir de COCO baja mucho lo que hace falta, como vimos en el video 3.</a:t>
            </a:r>
            <a:endParaRPr lang="en-US" sz="1200" dirty="0"/>
          </a:p>
        </p:txBody>
      </p:sp>
      <p:sp>
        <p:nvSpPr>
          <p:cNvPr id="18" name="Shape 11"/>
          <p:cNvSpPr/>
          <p:nvPr/>
        </p:nvSpPr>
        <p:spPr>
          <a:xfrm>
            <a:off x="812800" y="3586758"/>
            <a:ext cx="10566400" cy="1299071"/>
          </a:xfrm>
          <a:prstGeom prst="roundRect">
            <a:avLst>
              <a:gd name="adj" fmla="val 9776"/>
            </a:avLst>
          </a:prstGeom>
          <a:solidFill>
            <a:srgbClr val="0B1F2E"/>
          </a:solidFill>
          <a:ln/>
        </p:spPr>
      </p:sp>
      <p:sp>
        <p:nvSpPr>
          <p:cNvPr id="19" name="Text 12"/>
          <p:cNvSpPr/>
          <p:nvPr/>
        </p:nvSpPr>
        <p:spPr>
          <a:xfrm>
            <a:off x="1003300" y="3713758"/>
            <a:ext cx="104909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CÓMO AVERIGUARLO: ESQUEMA, SIN CIFRAS</a:t>
            </a:r>
            <a:endParaRPr lang="en-US" sz="1200" dirty="0"/>
          </a:p>
        </p:txBody>
      </p:sp>
      <p:sp>
        <p:nvSpPr>
          <p:cNvPr id="20" name="Text 13"/>
          <p:cNvSpPr/>
          <p:nvPr/>
        </p:nvSpPr>
        <p:spPr>
          <a:xfrm>
            <a:off x="1003300" y="3990578"/>
            <a:ext cx="21583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F6F8"/>
                </a:solidFill>
                <a:latin typeface="IBM Plex Sans" pitchFamily="34" charset="0"/>
                <a:ea typeface="IBM Plex Sans" pitchFamily="34" charset="-122"/>
                <a:cs typeface="IBM Plex Sans" pitchFamily="34" charset="-120"/>
              </a:rPr>
              <a:t>Con la mitad de las fotos</a:t>
            </a:r>
            <a:endParaRPr lang="en-US" sz="1200" dirty="0"/>
          </a:p>
        </p:txBody>
      </p:sp>
      <p:sp>
        <p:nvSpPr>
          <p:cNvPr id="21" name="Shape 14"/>
          <p:cNvSpPr/>
          <p:nvPr/>
        </p:nvSpPr>
        <p:spPr>
          <a:xfrm>
            <a:off x="3225800" y="4008338"/>
            <a:ext cx="3175000" cy="177800"/>
          </a:xfrm>
          <a:prstGeom prst="roundRect">
            <a:avLst>
              <a:gd name="adj" fmla="val 21429"/>
            </a:avLst>
          </a:prstGeom>
          <a:solidFill>
            <a:srgbClr val="6CCFF6"/>
          </a:solidFill>
          <a:ln/>
        </p:spPr>
      </p:sp>
      <p:sp>
        <p:nvSpPr>
          <p:cNvPr id="22" name="Text 15"/>
          <p:cNvSpPr/>
          <p:nvPr/>
        </p:nvSpPr>
        <p:spPr>
          <a:xfrm>
            <a:off x="6527800" y="3990578"/>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Validación A</a:t>
            </a:r>
            <a:endParaRPr lang="en-US" sz="1200" dirty="0"/>
          </a:p>
        </p:txBody>
      </p:sp>
      <p:sp>
        <p:nvSpPr>
          <p:cNvPr id="23" name="Text 16"/>
          <p:cNvSpPr/>
          <p:nvPr/>
        </p:nvSpPr>
        <p:spPr>
          <a:xfrm>
            <a:off x="1003300" y="4267398"/>
            <a:ext cx="21583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F6F8"/>
                </a:solidFill>
                <a:latin typeface="IBM Plex Sans" pitchFamily="34" charset="0"/>
                <a:ea typeface="IBM Plex Sans" pitchFamily="34" charset="-122"/>
                <a:cs typeface="IBM Plex Sans" pitchFamily="34" charset="-120"/>
              </a:rPr>
              <a:t>Con todas las fotos</a:t>
            </a:r>
            <a:endParaRPr lang="en-US" sz="1200" dirty="0"/>
          </a:p>
        </p:txBody>
      </p:sp>
      <p:sp>
        <p:nvSpPr>
          <p:cNvPr id="24" name="Shape 17"/>
          <p:cNvSpPr/>
          <p:nvPr/>
        </p:nvSpPr>
        <p:spPr>
          <a:xfrm>
            <a:off x="3225800" y="4285159"/>
            <a:ext cx="4445000" cy="177800"/>
          </a:xfrm>
          <a:prstGeom prst="roundRect">
            <a:avLst>
              <a:gd name="adj" fmla="val 21429"/>
            </a:avLst>
          </a:prstGeom>
          <a:solidFill>
            <a:srgbClr val="F4A259"/>
          </a:solidFill>
          <a:ln/>
        </p:spPr>
      </p:sp>
      <p:sp>
        <p:nvSpPr>
          <p:cNvPr id="25" name="Text 18"/>
          <p:cNvSpPr/>
          <p:nvPr/>
        </p:nvSpPr>
        <p:spPr>
          <a:xfrm>
            <a:off x="7797800" y="4267398"/>
            <a:ext cx="34926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Validación B</a:t>
            </a:r>
            <a:endParaRPr lang="en-US" sz="1200" dirty="0"/>
          </a:p>
        </p:txBody>
      </p:sp>
      <p:sp>
        <p:nvSpPr>
          <p:cNvPr id="26" name="Text 19"/>
          <p:cNvSpPr/>
          <p:nvPr/>
        </p:nvSpPr>
        <p:spPr>
          <a:xfrm>
            <a:off x="1003300" y="4544219"/>
            <a:ext cx="1049096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1F6F8"/>
                </a:solidFill>
                <a:latin typeface="IBM Plex Sans" pitchFamily="34" charset="0"/>
                <a:ea typeface="IBM Plex Sans" pitchFamily="34" charset="-122"/>
                <a:cs typeface="IBM Plex Sans" pitchFamily="34" charset="-120"/>
              </a:rPr>
              <a:t>Si B mejora mucho, más datos es el camino. Si casi no cambia, el límite está en otro lado: las etiquetas, el tipo de foto o la tarea.</a:t>
            </a:r>
            <a:endParaRPr lang="en-US" sz="1300" dirty="0"/>
          </a:p>
        </p:txBody>
      </p:sp>
      <p:sp>
        <p:nvSpPr>
          <p:cNvPr id="27" name="Text 20"/>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Los dibujos y el esquema son ilustraciones: el esquema no tiene datos, es un método</a:t>
            </a:r>
            <a:endParaRPr lang="en-US" sz="1200" dirty="0"/>
          </a:p>
        </p:txBody>
      </p:sp>
      <p:sp>
        <p:nvSpPr>
          <p:cNvPr id="28"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DE DÓNDE SALEN LAS RESPUESTAS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Anotar en CVAT</a:t>
            </a:r>
            <a:endParaRPr lang="en-US" sz="3600" dirty="0"/>
          </a:p>
        </p:txBody>
      </p:sp>
      <p:sp>
        <p:nvSpPr>
          <p:cNvPr id="6" name="Shape 2"/>
          <p:cNvSpPr/>
          <p:nvPr/>
        </p:nvSpPr>
        <p:spPr>
          <a:xfrm>
            <a:off x="819150" y="1751211"/>
            <a:ext cx="2568575" cy="571500"/>
          </a:xfrm>
          <a:prstGeom prst="roundRect">
            <a:avLst>
              <a:gd name="adj" fmla="val 16667"/>
            </a:avLst>
          </a:prstGeom>
          <a:solidFill>
            <a:srgbClr val="12304A"/>
          </a:solidFill>
          <a:ln w="12700">
            <a:solidFill>
              <a:srgbClr val="24506E"/>
            </a:solidFill>
            <a:prstDash val="solid"/>
          </a:ln>
        </p:spPr>
      </p:sp>
      <p:sp>
        <p:nvSpPr>
          <p:cNvPr id="7" name="Text 3"/>
          <p:cNvSpPr/>
          <p:nvPr/>
        </p:nvSpPr>
        <p:spPr>
          <a:xfrm>
            <a:off x="939800" y="1897261"/>
            <a:ext cx="194171"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6CCFF6"/>
                </a:solidFill>
                <a:latin typeface="EB Garamond" pitchFamily="18" charset="0"/>
                <a:ea typeface="EB Garamond" pitchFamily="18" charset="-122"/>
                <a:cs typeface="EB Garamond" pitchFamily="18" charset="-120"/>
              </a:rPr>
              <a:t>1</a:t>
            </a:r>
            <a:endParaRPr lang="en-US" sz="2200" dirty="0"/>
          </a:p>
        </p:txBody>
      </p:sp>
      <p:sp>
        <p:nvSpPr>
          <p:cNvPr id="8" name="Text 4"/>
          <p:cNvSpPr/>
          <p:nvPr/>
        </p:nvSpPr>
        <p:spPr>
          <a:xfrm>
            <a:off x="1172071" y="1941711"/>
            <a:ext cx="21578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Crear la tarea con las fotos.</a:t>
            </a:r>
            <a:endParaRPr lang="en-US" sz="1200" dirty="0"/>
          </a:p>
        </p:txBody>
      </p:sp>
      <p:sp>
        <p:nvSpPr>
          <p:cNvPr id="9" name="Shape 5"/>
          <p:cNvSpPr/>
          <p:nvPr/>
        </p:nvSpPr>
        <p:spPr>
          <a:xfrm>
            <a:off x="3476625" y="1751211"/>
            <a:ext cx="2568575" cy="571500"/>
          </a:xfrm>
          <a:prstGeom prst="roundRect">
            <a:avLst>
              <a:gd name="adj" fmla="val 16667"/>
            </a:avLst>
          </a:prstGeom>
          <a:solidFill>
            <a:srgbClr val="12304A"/>
          </a:solidFill>
          <a:ln w="12700">
            <a:solidFill>
              <a:srgbClr val="24506E"/>
            </a:solidFill>
            <a:prstDash val="solid"/>
          </a:ln>
        </p:spPr>
      </p:sp>
      <p:sp>
        <p:nvSpPr>
          <p:cNvPr id="10" name="Text 6"/>
          <p:cNvSpPr/>
          <p:nvPr/>
        </p:nvSpPr>
        <p:spPr>
          <a:xfrm>
            <a:off x="3597275" y="1897261"/>
            <a:ext cx="194171"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6CCFF6"/>
                </a:solidFill>
                <a:latin typeface="EB Garamond" pitchFamily="18" charset="0"/>
                <a:ea typeface="EB Garamond" pitchFamily="18" charset="-122"/>
                <a:cs typeface="EB Garamond" pitchFamily="18" charset="-120"/>
              </a:rPr>
              <a:t>2</a:t>
            </a:r>
            <a:endParaRPr lang="en-US" sz="2200" dirty="0"/>
          </a:p>
        </p:txBody>
      </p:sp>
      <p:sp>
        <p:nvSpPr>
          <p:cNvPr id="11" name="Text 7"/>
          <p:cNvSpPr/>
          <p:nvPr/>
        </p:nvSpPr>
        <p:spPr>
          <a:xfrm>
            <a:off x="3829546" y="1941711"/>
            <a:ext cx="21578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Definir la etiqueta: una sola.</a:t>
            </a:r>
            <a:endParaRPr lang="en-US" sz="1200" dirty="0"/>
          </a:p>
        </p:txBody>
      </p:sp>
      <p:sp>
        <p:nvSpPr>
          <p:cNvPr id="12" name="Shape 8"/>
          <p:cNvSpPr/>
          <p:nvPr/>
        </p:nvSpPr>
        <p:spPr>
          <a:xfrm>
            <a:off x="6134100" y="1751211"/>
            <a:ext cx="2568575" cy="571500"/>
          </a:xfrm>
          <a:prstGeom prst="roundRect">
            <a:avLst>
              <a:gd name="adj" fmla="val 16667"/>
            </a:avLst>
          </a:prstGeom>
          <a:solidFill>
            <a:srgbClr val="12304A"/>
          </a:solidFill>
          <a:ln w="12700">
            <a:solidFill>
              <a:srgbClr val="24506E"/>
            </a:solidFill>
            <a:prstDash val="solid"/>
          </a:ln>
        </p:spPr>
      </p:sp>
      <p:sp>
        <p:nvSpPr>
          <p:cNvPr id="13" name="Text 9"/>
          <p:cNvSpPr/>
          <p:nvPr/>
        </p:nvSpPr>
        <p:spPr>
          <a:xfrm>
            <a:off x="6254750" y="1897261"/>
            <a:ext cx="194171"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6CCFF6"/>
                </a:solidFill>
                <a:latin typeface="EB Garamond" pitchFamily="18" charset="0"/>
                <a:ea typeface="EB Garamond" pitchFamily="18" charset="-122"/>
                <a:cs typeface="EB Garamond" pitchFamily="18" charset="-120"/>
              </a:rPr>
              <a:t>3</a:t>
            </a:r>
            <a:endParaRPr lang="en-US" sz="2200" dirty="0"/>
          </a:p>
        </p:txBody>
      </p:sp>
      <p:sp>
        <p:nvSpPr>
          <p:cNvPr id="14" name="Text 10"/>
          <p:cNvSpPr/>
          <p:nvPr/>
        </p:nvSpPr>
        <p:spPr>
          <a:xfrm>
            <a:off x="6487021" y="1846461"/>
            <a:ext cx="215785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Dibujar un polígono por espermatozoide.</a:t>
            </a:r>
            <a:endParaRPr lang="en-US" sz="1200" dirty="0"/>
          </a:p>
        </p:txBody>
      </p:sp>
      <p:sp>
        <p:nvSpPr>
          <p:cNvPr id="15" name="Shape 11"/>
          <p:cNvSpPr/>
          <p:nvPr/>
        </p:nvSpPr>
        <p:spPr>
          <a:xfrm>
            <a:off x="8794750" y="1754386"/>
            <a:ext cx="2574925" cy="565150"/>
          </a:xfrm>
          <a:prstGeom prst="roundRect">
            <a:avLst>
              <a:gd name="adj" fmla="val 16292"/>
            </a:avLst>
          </a:prstGeom>
          <a:solidFill>
            <a:srgbClr val="12304A"/>
          </a:solidFill>
          <a:ln w="19050">
            <a:solidFill>
              <a:srgbClr val="F4A259"/>
            </a:solidFill>
            <a:prstDash val="solid"/>
          </a:ln>
        </p:spPr>
      </p:sp>
      <p:sp>
        <p:nvSpPr>
          <p:cNvPr id="16" name="Text 12"/>
          <p:cNvSpPr/>
          <p:nvPr/>
        </p:nvSpPr>
        <p:spPr>
          <a:xfrm>
            <a:off x="8918575" y="1897261"/>
            <a:ext cx="194171"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4A259"/>
                </a:solidFill>
                <a:latin typeface="EB Garamond" pitchFamily="18" charset="0"/>
                <a:ea typeface="EB Garamond" pitchFamily="18" charset="-122"/>
                <a:cs typeface="EB Garamond" pitchFamily="18" charset="-120"/>
              </a:rPr>
              <a:t>4</a:t>
            </a:r>
            <a:endParaRPr lang="en-US" sz="2200" dirty="0"/>
          </a:p>
        </p:txBody>
      </p:sp>
      <p:sp>
        <p:nvSpPr>
          <p:cNvPr id="17" name="Text 13"/>
          <p:cNvSpPr/>
          <p:nvPr/>
        </p:nvSpPr>
        <p:spPr>
          <a:xfrm>
            <a:off x="9150846" y="1941711"/>
            <a:ext cx="21578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Exportar en formato COCO.</a:t>
            </a:r>
            <a:endParaRPr lang="en-US" sz="1200" dirty="0"/>
          </a:p>
        </p:txBody>
      </p:sp>
      <p:pic>
        <p:nvPicPr>
          <p:cNvPr id="18" name="Image 2" descr="Un espermatozoide con el contorno que propone el pre-anotador, en naranja, y puntos sueltos sobre la cola">    </p:cNvPr>
          <p:cNvPicPr>
            <a:picLocks noChangeAspect="1"/>
          </p:cNvPicPr>
          <p:nvPr/>
        </p:nvPicPr>
        <p:blipFill>
          <a:blip r:embed="rId3"/>
          <a:srcRect l="0" r="0" t="0" b="0"/>
          <a:stretch/>
        </p:blipFill>
        <p:spPr>
          <a:xfrm>
            <a:off x="812800" y="2468761"/>
            <a:ext cx="2032000" cy="2032000"/>
          </a:xfrm>
          <a:prstGeom prst="roundRect">
            <a:avLst>
              <a:gd name="adj" fmla="val 4375"/>
            </a:avLst>
          </a:prstGeom>
        </p:spPr>
      </p:pic>
      <p:sp>
        <p:nvSpPr>
          <p:cNvPr id="19" name="Text 14"/>
          <p:cNvSpPr/>
          <p:nvPr/>
        </p:nvSpPr>
        <p:spPr>
          <a:xfrm>
            <a:off x="812800" y="4551561"/>
            <a:ext cx="2092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4A259"/>
                </a:solidFill>
                <a:latin typeface="IBM Plex Sans" pitchFamily="34" charset="0"/>
                <a:ea typeface="IBM Plex Sans" pitchFamily="34" charset="-122"/>
                <a:cs typeface="IBM Plex Sans" pitchFamily="34" charset="-120"/>
              </a:rPr>
              <a:t>Borrador del pre-anotador</a:t>
            </a:r>
            <a:endParaRPr lang="en-US" sz="1200" dirty="0"/>
          </a:p>
        </p:txBody>
      </p:sp>
      <p:pic>
        <p:nvPicPr>
          <p:cNvPr id="20" name="Image 3" descr="arrow-right">    </p:cNvPr>
          <p:cNvPicPr>
            <a:picLocks noChangeAspect="1"/>
          </p:cNvPicPr>
          <p:nvPr/>
        </p:nvPicPr>
        <p:blipFill>
          <a:blip r:embed="rId4"/>
          <a:srcRect l="0" r="0" t="0" b="0"/>
          <a:stretch/>
        </p:blipFill>
        <p:spPr>
          <a:xfrm>
            <a:off x="2971800" y="2468761"/>
            <a:ext cx="254000" cy="165100"/>
          </a:xfrm>
          <a:prstGeom prst="rect">
            <a:avLst/>
          </a:prstGeom>
        </p:spPr>
      </p:pic>
      <p:pic>
        <p:nvPicPr>
          <p:cNvPr id="21" name="Image 4" descr="El mismo espermatozoide con su contorno corregido, como un polígono de siete vértices">    </p:cNvPr>
          <p:cNvPicPr>
            <a:picLocks noChangeAspect="1"/>
          </p:cNvPicPr>
          <p:nvPr/>
        </p:nvPicPr>
        <p:blipFill>
          <a:blip r:embed="rId5"/>
          <a:srcRect l="0" r="0" t="0" b="0"/>
          <a:stretch/>
        </p:blipFill>
        <p:spPr>
          <a:xfrm>
            <a:off x="3352800" y="2468761"/>
            <a:ext cx="2032000" cy="2032000"/>
          </a:xfrm>
          <a:prstGeom prst="roundRect">
            <a:avLst>
              <a:gd name="adj" fmla="val 4375"/>
            </a:avLst>
          </a:prstGeom>
        </p:spPr>
      </p:pic>
      <p:sp>
        <p:nvSpPr>
          <p:cNvPr id="22" name="Text 15"/>
          <p:cNvSpPr/>
          <p:nvPr/>
        </p:nvSpPr>
        <p:spPr>
          <a:xfrm>
            <a:off x="3352800" y="4551561"/>
            <a:ext cx="209296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6CCFF6"/>
                </a:solidFill>
                <a:latin typeface="IBM Plex Sans" pitchFamily="34" charset="0"/>
                <a:ea typeface="IBM Plex Sans" pitchFamily="34" charset="-122"/>
                <a:cs typeface="IBM Plex Sans" pitchFamily="34" charset="-120"/>
              </a:rPr>
              <a:t>Corregido: un polígono, punto por punto</a:t>
            </a:r>
            <a:endParaRPr lang="en-US" sz="1200" dirty="0"/>
          </a:p>
        </p:txBody>
      </p:sp>
      <p:sp>
        <p:nvSpPr>
          <p:cNvPr id="23" name="Shape 16"/>
          <p:cNvSpPr/>
          <p:nvPr/>
        </p:nvSpPr>
        <p:spPr>
          <a:xfrm>
            <a:off x="5521325" y="2478286"/>
            <a:ext cx="5848350" cy="869752"/>
          </a:xfrm>
          <a:prstGeom prst="roundRect">
            <a:avLst>
              <a:gd name="adj" fmla="val 12047"/>
            </a:avLst>
          </a:prstGeom>
          <a:solidFill>
            <a:srgbClr val="12304A"/>
          </a:solidFill>
          <a:ln w="19050">
            <a:solidFill>
              <a:srgbClr val="F4A259"/>
            </a:solidFill>
            <a:prstDash val="solid"/>
          </a:ln>
        </p:spPr>
      </p:sp>
      <p:sp>
        <p:nvSpPr>
          <p:cNvPr id="24" name="Text 17"/>
          <p:cNvSpPr/>
          <p:nvPr/>
        </p:nvSpPr>
        <p:spPr>
          <a:xfrm>
            <a:off x="5670550" y="2589411"/>
            <a:ext cx="57163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PRE-ANOTADOR</a:t>
            </a:r>
            <a:endParaRPr lang="en-US" sz="1200" dirty="0"/>
          </a:p>
        </p:txBody>
      </p:sp>
      <p:sp>
        <p:nvSpPr>
          <p:cNvPr id="25" name="Text 18"/>
          <p:cNvSpPr/>
          <p:nvPr/>
        </p:nvSpPr>
        <p:spPr>
          <a:xfrm>
            <a:off x="5670550" y="2840831"/>
            <a:ext cx="571639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Un script propone cada contorno con técnicas clásicas de imagen. Se importa en CVAT como borrador y se corrige a mano.</a:t>
            </a:r>
            <a:endParaRPr lang="en-US" sz="1200" dirty="0"/>
          </a:p>
        </p:txBody>
      </p:sp>
      <p:sp>
        <p:nvSpPr>
          <p:cNvPr id="26" name="Shape 19"/>
          <p:cNvSpPr/>
          <p:nvPr/>
        </p:nvSpPr>
        <p:spPr>
          <a:xfrm>
            <a:off x="5511800" y="3433763"/>
            <a:ext cx="5867400" cy="457200"/>
          </a:xfrm>
          <a:prstGeom prst="roundRect">
            <a:avLst>
              <a:gd name="adj" fmla="val 25000"/>
            </a:avLst>
          </a:prstGeom>
          <a:solidFill>
            <a:srgbClr val="F4A259"/>
          </a:solidFill>
          <a:ln/>
        </p:spPr>
      </p:sp>
      <p:pic>
        <p:nvPicPr>
          <p:cNvPr id="27" name="Image 5" descr="Warning">    </p:cNvPr>
          <p:cNvPicPr>
            <a:picLocks noChangeAspect="1"/>
          </p:cNvPicPr>
          <p:nvPr/>
        </p:nvPicPr>
        <p:blipFill>
          <a:blip r:embed="rId6"/>
          <a:srcRect l="0" r="0" t="0" b="0"/>
          <a:stretch/>
        </p:blipFill>
        <p:spPr>
          <a:xfrm>
            <a:off x="5651500" y="3535363"/>
            <a:ext cx="254000" cy="254000"/>
          </a:xfrm>
          <a:prstGeom prst="rect">
            <a:avLst/>
          </a:prstGeom>
        </p:spPr>
      </p:pic>
      <p:sp>
        <p:nvSpPr>
          <p:cNvPr id="28" name="Text 20"/>
          <p:cNvSpPr/>
          <p:nvPr/>
        </p:nvSpPr>
        <p:spPr>
          <a:xfrm>
            <a:off x="6007100" y="3563342"/>
            <a:ext cx="5389372"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406"/>
                </a:solidFill>
                <a:latin typeface="IBM Plex Sans" pitchFamily="34" charset="0"/>
                <a:ea typeface="IBM Plex Sans" pitchFamily="34" charset="-122"/>
                <a:cs typeface="IBM Plex Sans" pitchFamily="34" charset="-120"/>
              </a:rPr>
              <a:t>Si el borrador se acepta sin revisar, la red aprende sus errores.</a:t>
            </a:r>
            <a:endParaRPr lang="en-US" sz="1200" dirty="0"/>
          </a:p>
        </p:txBody>
      </p:sp>
      <p:sp>
        <p:nvSpPr>
          <p:cNvPr id="29" name="Shape 21"/>
          <p:cNvSpPr/>
          <p:nvPr/>
        </p:nvSpPr>
        <p:spPr>
          <a:xfrm>
            <a:off x="5518150" y="3973512"/>
            <a:ext cx="5854700" cy="444500"/>
          </a:xfrm>
          <a:prstGeom prst="roundRect">
            <a:avLst>
              <a:gd name="adj" fmla="val 24286"/>
            </a:avLst>
          </a:prstGeom>
          <a:solidFill>
            <a:srgbClr val="12304A"/>
          </a:solidFill>
          <a:ln w="12700">
            <a:solidFill>
              <a:srgbClr val="24506E"/>
            </a:solidFill>
            <a:prstDash val="solid"/>
          </a:ln>
        </p:spPr>
      </p:sp>
      <p:pic>
        <p:nvPicPr>
          <p:cNvPr id="30" name="Image 6" descr="Lock">    </p:cNvPr>
          <p:cNvPicPr>
            <a:picLocks noChangeAspect="1"/>
          </p:cNvPicPr>
          <p:nvPr/>
        </p:nvPicPr>
        <p:blipFill>
          <a:blip r:embed="rId7"/>
          <a:srcRect l="0" r="0" t="0" b="0"/>
          <a:stretch/>
        </p:blipFill>
        <p:spPr>
          <a:xfrm>
            <a:off x="5664200" y="4081463"/>
            <a:ext cx="228600" cy="228600"/>
          </a:xfrm>
          <a:prstGeom prst="rect">
            <a:avLst/>
          </a:prstGeom>
        </p:spPr>
      </p:pic>
      <p:sp>
        <p:nvSpPr>
          <p:cNvPr id="31" name="Text 22"/>
          <p:cNvSpPr/>
          <p:nvPr/>
        </p:nvSpPr>
        <p:spPr>
          <a:xfrm>
            <a:off x="5994400" y="4096742"/>
            <a:ext cx="5389372"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Las fotos son del cliente: solo en Google Drive, no en el repositorio.</a:t>
            </a:r>
            <a:endParaRPr lang="en-US" sz="1200" dirty="0"/>
          </a:p>
        </p:txBody>
      </p:sp>
      <p:sp>
        <p:nvSpPr>
          <p:cNvPr id="32" name="Text 23"/>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Imagen de muestra; el contorno es del modelo, como ejemplo</a:t>
            </a:r>
            <a:endParaRPr lang="en-US" sz="1200" dirty="0"/>
          </a:p>
        </p:txBody>
      </p:sp>
      <p:sp>
        <p:nvSpPr>
          <p:cNvPr id="33"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CADA DECISIÓN LA APRENDE LA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criterio de anotación</a:t>
            </a:r>
            <a:endParaRPr lang="en-US" sz="3600" dirty="0"/>
          </a:p>
        </p:txBody>
      </p:sp>
      <p:sp>
        <p:nvSpPr>
          <p:cNvPr id="6" name="Shape 2"/>
          <p:cNvSpPr/>
          <p:nvPr/>
        </p:nvSpPr>
        <p:spPr>
          <a:xfrm>
            <a:off x="812800" y="1744861"/>
            <a:ext cx="3556000" cy="1130300"/>
          </a:xfrm>
          <a:prstGeom prst="roundRect">
            <a:avLst>
              <a:gd name="adj" fmla="val 8989"/>
            </a:avLst>
          </a:prstGeom>
          <a:solidFill>
            <a:srgbClr val="0B1F2E"/>
          </a:solidFill>
          <a:ln/>
        </p:spPr>
      </p:sp>
      <p:pic>
        <p:nvPicPr>
          <p:cNvPr id="7" name="Image 2" descr="Un espermatozoide con el contorno que abarca la cabeza y el primer tramo de la cola">    </p:cNvPr>
          <p:cNvPicPr>
            <a:picLocks noChangeAspect="1"/>
          </p:cNvPicPr>
          <p:nvPr/>
        </p:nvPicPr>
        <p:blipFill>
          <a:blip r:embed="rId3"/>
          <a:srcRect l="0" r="0" t="0" b="0"/>
          <a:stretch/>
        </p:blipFill>
        <p:spPr>
          <a:xfrm>
            <a:off x="901700" y="1833761"/>
            <a:ext cx="952500" cy="952500"/>
          </a:xfrm>
          <a:prstGeom prst="roundRect">
            <a:avLst>
              <a:gd name="adj" fmla="val 6667"/>
            </a:avLst>
          </a:prstGeom>
        </p:spPr>
      </p:pic>
      <p:sp>
        <p:nvSpPr>
          <p:cNvPr id="8" name="Text 3"/>
          <p:cNvSpPr/>
          <p:nvPr/>
        </p:nvSpPr>
        <p:spPr>
          <a:xfrm>
            <a:off x="1968500" y="1976041"/>
            <a:ext cx="23414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CCFF6"/>
                </a:solidFill>
                <a:latin typeface="IBM Plex Sans" pitchFamily="34" charset="0"/>
                <a:ea typeface="IBM Plex Sans" pitchFamily="34" charset="-122"/>
                <a:cs typeface="IBM Plex Sans" pitchFamily="34" charset="-120"/>
              </a:rPr>
              <a:t>SE ANOTA COMPLETO</a:t>
            </a:r>
            <a:endParaRPr lang="en-US" sz="1200" dirty="0"/>
          </a:p>
        </p:txBody>
      </p:sp>
      <p:sp>
        <p:nvSpPr>
          <p:cNvPr id="9" name="Text 4"/>
          <p:cNvSpPr/>
          <p:nvPr/>
        </p:nvSpPr>
        <p:spPr>
          <a:xfrm>
            <a:off x="1968500" y="2214761"/>
            <a:ext cx="2341499"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1F6F8"/>
                </a:solidFill>
                <a:latin typeface="IBM Plex Sans" pitchFamily="34" charset="0"/>
                <a:ea typeface="IBM Plex Sans" pitchFamily="34" charset="-122"/>
                <a:cs typeface="IBM Plex Sans" pitchFamily="34" charset="-120"/>
              </a:rPr>
              <a:t>La cabeza y el primer tramo de la cola.</a:t>
            </a:r>
            <a:endParaRPr lang="en-US" sz="1300" dirty="0"/>
          </a:p>
        </p:txBody>
      </p:sp>
      <p:sp>
        <p:nvSpPr>
          <p:cNvPr id="10" name="Shape 5"/>
          <p:cNvSpPr/>
          <p:nvPr/>
        </p:nvSpPr>
        <p:spPr>
          <a:xfrm>
            <a:off x="4464050" y="1751211"/>
            <a:ext cx="3403600" cy="1117600"/>
          </a:xfrm>
          <a:prstGeom prst="roundRect">
            <a:avLst>
              <a:gd name="adj" fmla="val 8523"/>
            </a:avLst>
          </a:prstGeom>
          <a:solidFill>
            <a:srgbClr val="FCFDFD"/>
          </a:solidFill>
          <a:ln w="12700">
            <a:solidFill>
              <a:srgbClr val="D5E3EA"/>
            </a:solidFill>
            <a:prstDash val="solid"/>
          </a:ln>
        </p:spPr>
      </p:sp>
      <p:sp>
        <p:nvSpPr>
          <p:cNvPr id="11" name="Text 6"/>
          <p:cNvSpPr/>
          <p:nvPr/>
        </p:nvSpPr>
        <p:spPr>
          <a:xfrm>
            <a:off x="4597400" y="1859161"/>
            <a:ext cx="32310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E9C"/>
                </a:solidFill>
                <a:latin typeface="IBM Plex Sans" pitchFamily="34" charset="0"/>
                <a:ea typeface="IBM Plex Sans" pitchFamily="34" charset="-122"/>
                <a:cs typeface="IBM Plex Sans" pitchFamily="34" charset="-120"/>
              </a:rPr>
              <a:t>CRITERIO ESCRITO</a:t>
            </a:r>
            <a:endParaRPr lang="en-US" sz="1200" dirty="0"/>
          </a:p>
        </p:txBody>
      </p:sp>
      <p:sp>
        <p:nvSpPr>
          <p:cNvPr id="12" name="Text 7"/>
          <p:cNvSpPr/>
          <p:nvPr/>
        </p:nvSpPr>
        <p:spPr>
          <a:xfrm>
            <a:off x="4597400" y="2110581"/>
            <a:ext cx="323100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Una o dos páginas, con un ejemplo de cada caso.</a:t>
            </a:r>
            <a:endParaRPr lang="en-US" sz="1200" dirty="0"/>
          </a:p>
        </p:txBody>
      </p:sp>
      <p:sp>
        <p:nvSpPr>
          <p:cNvPr id="13" name="Shape 8"/>
          <p:cNvSpPr/>
          <p:nvPr/>
        </p:nvSpPr>
        <p:spPr>
          <a:xfrm>
            <a:off x="7969250" y="1751211"/>
            <a:ext cx="3403600" cy="1117600"/>
          </a:xfrm>
          <a:prstGeom prst="roundRect">
            <a:avLst>
              <a:gd name="adj" fmla="val 8523"/>
            </a:avLst>
          </a:prstGeom>
          <a:solidFill>
            <a:srgbClr val="FCFDFD"/>
          </a:solidFill>
          <a:ln w="12700">
            <a:solidFill>
              <a:srgbClr val="D5E3EA"/>
            </a:solidFill>
            <a:prstDash val="solid"/>
          </a:ln>
        </p:spPr>
      </p:sp>
      <p:sp>
        <p:nvSpPr>
          <p:cNvPr id="14" name="Text 9"/>
          <p:cNvSpPr/>
          <p:nvPr/>
        </p:nvSpPr>
        <p:spPr>
          <a:xfrm>
            <a:off x="8102600" y="1859161"/>
            <a:ext cx="32310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6E9C"/>
                </a:solidFill>
                <a:latin typeface="IBM Plex Sans" pitchFamily="34" charset="0"/>
                <a:ea typeface="IBM Plex Sans" pitchFamily="34" charset="-122"/>
                <a:cs typeface="IBM Plex Sans" pitchFamily="34" charset="-120"/>
              </a:rPr>
              <a:t>QUIÉN VALIDA</a:t>
            </a:r>
            <a:endParaRPr lang="en-US" sz="1200" dirty="0"/>
          </a:p>
        </p:txBody>
      </p:sp>
      <p:sp>
        <p:nvSpPr>
          <p:cNvPr id="15" name="Text 10"/>
          <p:cNvSpPr/>
          <p:nvPr/>
        </p:nvSpPr>
        <p:spPr>
          <a:xfrm>
            <a:off x="8102600" y="2110581"/>
            <a:ext cx="323100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Una persona del grupo con conocimiento biológico.</a:t>
            </a:r>
            <a:endParaRPr lang="en-US" sz="1200" dirty="0"/>
          </a:p>
        </p:txBody>
      </p:sp>
      <p:sp>
        <p:nvSpPr>
          <p:cNvPr id="16" name="Text 11"/>
          <p:cNvSpPr/>
          <p:nvPr/>
        </p:nvSpPr>
        <p:spPr>
          <a:xfrm>
            <a:off x="812800" y="30148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CUATRO CASOS QUE ALGUIEN TIENE QUE DECIDIR</a:t>
            </a:r>
            <a:endParaRPr lang="en-US" sz="1200" dirty="0"/>
          </a:p>
        </p:txBody>
      </p:sp>
      <p:sp>
        <p:nvSpPr>
          <p:cNvPr id="17" name="Shape 12"/>
          <p:cNvSpPr/>
          <p:nvPr/>
        </p:nvSpPr>
        <p:spPr>
          <a:xfrm>
            <a:off x="819150" y="3374231"/>
            <a:ext cx="2562225" cy="1348581"/>
          </a:xfrm>
          <a:prstGeom prst="roundRect">
            <a:avLst>
              <a:gd name="adj" fmla="val 7063"/>
            </a:avLst>
          </a:prstGeom>
          <a:solidFill>
            <a:srgbClr val="FCFDFD"/>
          </a:solidFill>
          <a:ln w="12700">
            <a:solidFill>
              <a:srgbClr val="D5E3EA"/>
            </a:solidFill>
            <a:prstDash val="solid"/>
          </a:ln>
        </p:spPr>
      </p:sp>
      <p:pic>
        <p:nvPicPr>
          <p:cNvPr id="18" name="Image 3" descr="Una mancha roja difusa y fuera de foco">    </p:cNvPr>
          <p:cNvPicPr>
            <a:picLocks noChangeAspect="1"/>
          </p:cNvPicPr>
          <p:nvPr/>
        </p:nvPicPr>
        <p:blipFill>
          <a:blip r:embed="rId4"/>
          <a:srcRect l="0" r="0" t="0" b="0"/>
          <a:stretch/>
        </p:blipFill>
        <p:spPr>
          <a:xfrm>
            <a:off x="901700" y="3456781"/>
            <a:ext cx="2159000" cy="698500"/>
          </a:xfrm>
          <a:prstGeom prst="rect">
            <a:avLst/>
          </a:prstGeom>
        </p:spPr>
      </p:pic>
      <p:sp>
        <p:nvSpPr>
          <p:cNvPr id="19" name="Text 13"/>
          <p:cNvSpPr/>
          <p:nvPr/>
        </p:nvSpPr>
        <p:spPr>
          <a:xfrm>
            <a:off x="901700" y="4218781"/>
            <a:ext cx="246903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¿Una mancha difusa y fuera de foco cuenta?</a:t>
            </a:r>
            <a:endParaRPr lang="en-US" sz="1200" dirty="0"/>
          </a:p>
        </p:txBody>
      </p:sp>
      <p:sp>
        <p:nvSpPr>
          <p:cNvPr id="20" name="Shape 14"/>
          <p:cNvSpPr/>
          <p:nvPr/>
        </p:nvSpPr>
        <p:spPr>
          <a:xfrm>
            <a:off x="3482975" y="3374231"/>
            <a:ext cx="2562225" cy="1348581"/>
          </a:xfrm>
          <a:prstGeom prst="roundRect">
            <a:avLst>
              <a:gd name="adj" fmla="val 7063"/>
            </a:avLst>
          </a:prstGeom>
          <a:solidFill>
            <a:srgbClr val="FCFDFD"/>
          </a:solidFill>
          <a:ln w="12700">
            <a:solidFill>
              <a:srgbClr val="D5E3EA"/>
            </a:solidFill>
            <a:prstDash val="solid"/>
          </a:ln>
        </p:spPr>
      </p:sp>
      <p:pic>
        <p:nvPicPr>
          <p:cNvPr id="21" name="Image 4" descr="Una cabeza roja medio tapada por una cola verde">    </p:cNvPr>
          <p:cNvPicPr>
            <a:picLocks noChangeAspect="1"/>
          </p:cNvPicPr>
          <p:nvPr/>
        </p:nvPicPr>
        <p:blipFill>
          <a:blip r:embed="rId5"/>
          <a:srcRect l="0" r="0" t="0" b="0"/>
          <a:stretch/>
        </p:blipFill>
        <p:spPr>
          <a:xfrm>
            <a:off x="3565525" y="3456781"/>
            <a:ext cx="2159000" cy="698500"/>
          </a:xfrm>
          <a:prstGeom prst="rect">
            <a:avLst/>
          </a:prstGeom>
        </p:spPr>
      </p:pic>
      <p:sp>
        <p:nvSpPr>
          <p:cNvPr id="22" name="Text 15"/>
          <p:cNvSpPr/>
          <p:nvPr/>
        </p:nvSpPr>
        <p:spPr>
          <a:xfrm>
            <a:off x="3565525" y="4218781"/>
            <a:ext cx="246903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¿Una cabeza medio tapada por una cola se dibuja?</a:t>
            </a:r>
            <a:endParaRPr lang="en-US" sz="1200" dirty="0"/>
          </a:p>
        </p:txBody>
      </p:sp>
      <p:sp>
        <p:nvSpPr>
          <p:cNvPr id="23" name="Shape 16"/>
          <p:cNvSpPr/>
          <p:nvPr/>
        </p:nvSpPr>
        <p:spPr>
          <a:xfrm>
            <a:off x="6146800" y="3374231"/>
            <a:ext cx="2562225" cy="1348581"/>
          </a:xfrm>
          <a:prstGeom prst="roundRect">
            <a:avLst>
              <a:gd name="adj" fmla="val 7063"/>
            </a:avLst>
          </a:prstGeom>
          <a:solidFill>
            <a:srgbClr val="FCFDFD"/>
          </a:solidFill>
          <a:ln w="12700">
            <a:solidFill>
              <a:srgbClr val="D5E3EA"/>
            </a:solidFill>
            <a:prstDash val="solid"/>
          </a:ln>
        </p:spPr>
      </p:sp>
      <p:pic>
        <p:nvPicPr>
          <p:cNvPr id="24" name="Image 5" descr="Dos cabezas rojas pegadas">    </p:cNvPr>
          <p:cNvPicPr>
            <a:picLocks noChangeAspect="1"/>
          </p:cNvPicPr>
          <p:nvPr/>
        </p:nvPicPr>
        <p:blipFill>
          <a:blip r:embed="rId6"/>
          <a:srcRect l="0" r="0" t="0" b="0"/>
          <a:stretch/>
        </p:blipFill>
        <p:spPr>
          <a:xfrm>
            <a:off x="6229350" y="3456781"/>
            <a:ext cx="2159000" cy="698500"/>
          </a:xfrm>
          <a:prstGeom prst="rect">
            <a:avLst/>
          </a:prstGeom>
        </p:spPr>
      </p:pic>
      <p:sp>
        <p:nvSpPr>
          <p:cNvPr id="25" name="Text 17"/>
          <p:cNvSpPr/>
          <p:nvPr/>
        </p:nvSpPr>
        <p:spPr>
          <a:xfrm>
            <a:off x="6229350" y="4218781"/>
            <a:ext cx="246903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Dos cabezas pegadas: ¿un contorno o dos?</a:t>
            </a:r>
            <a:endParaRPr lang="en-US" sz="1200" dirty="0"/>
          </a:p>
        </p:txBody>
      </p:sp>
      <p:sp>
        <p:nvSpPr>
          <p:cNvPr id="26" name="Shape 18"/>
          <p:cNvSpPr/>
          <p:nvPr/>
        </p:nvSpPr>
        <p:spPr>
          <a:xfrm>
            <a:off x="8810625" y="3374231"/>
            <a:ext cx="2562225" cy="1348581"/>
          </a:xfrm>
          <a:prstGeom prst="roundRect">
            <a:avLst>
              <a:gd name="adj" fmla="val 7063"/>
            </a:avLst>
          </a:prstGeom>
          <a:solidFill>
            <a:srgbClr val="FCFDFD"/>
          </a:solidFill>
          <a:ln w="12700">
            <a:solidFill>
              <a:srgbClr val="D5E3EA"/>
            </a:solidFill>
            <a:prstDash val="solid"/>
          </a:ln>
        </p:spPr>
      </p:sp>
      <p:pic>
        <p:nvPicPr>
          <p:cNvPr id="27" name="Image 6" descr="Un espermatozoide cortado por el borde de la foto">    </p:cNvPr>
          <p:cNvPicPr>
            <a:picLocks noChangeAspect="1"/>
          </p:cNvPicPr>
          <p:nvPr/>
        </p:nvPicPr>
        <p:blipFill>
          <a:blip r:embed="rId7"/>
          <a:srcRect l="0" r="0" t="0" b="0"/>
          <a:stretch/>
        </p:blipFill>
        <p:spPr>
          <a:xfrm>
            <a:off x="8893175" y="3456781"/>
            <a:ext cx="2159000" cy="698500"/>
          </a:xfrm>
          <a:prstGeom prst="rect">
            <a:avLst/>
          </a:prstGeom>
        </p:spPr>
      </p:pic>
      <p:sp>
        <p:nvSpPr>
          <p:cNvPr id="28" name="Text 19"/>
          <p:cNvSpPr/>
          <p:nvPr/>
        </p:nvSpPr>
        <p:spPr>
          <a:xfrm>
            <a:off x="8893175" y="4218781"/>
            <a:ext cx="246903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Cortado por el borde de la foto: ¿entra?</a:t>
            </a:r>
            <a:endParaRPr lang="en-US" sz="1200" dirty="0"/>
          </a:p>
        </p:txBody>
      </p:sp>
      <p:sp>
        <p:nvSpPr>
          <p:cNvPr id="29" name="Shape 20"/>
          <p:cNvSpPr/>
          <p:nvPr/>
        </p:nvSpPr>
        <p:spPr>
          <a:xfrm>
            <a:off x="812800" y="4868863"/>
            <a:ext cx="4826000" cy="660400"/>
          </a:xfrm>
          <a:prstGeom prst="roundRect">
            <a:avLst>
              <a:gd name="adj" fmla="val 15385"/>
            </a:avLst>
          </a:prstGeom>
          <a:solidFill>
            <a:srgbClr val="0B1F2E"/>
          </a:solidFill>
          <a:ln/>
        </p:spPr>
      </p:sp>
      <p:pic>
        <p:nvPicPr>
          <p:cNvPr id="30" name="Image 7" descr="Dos contornos de dos personas que se traslapan casi por completo">    </p:cNvPr>
          <p:cNvPicPr>
            <a:picLocks noChangeAspect="1"/>
          </p:cNvPicPr>
          <p:nvPr/>
        </p:nvPicPr>
        <p:blipFill>
          <a:blip r:embed="rId8"/>
          <a:srcRect l="0" r="0" t="0" b="0"/>
          <a:stretch/>
        </p:blipFill>
        <p:spPr>
          <a:xfrm>
            <a:off x="952500" y="4957763"/>
            <a:ext cx="952500" cy="482600"/>
          </a:xfrm>
          <a:prstGeom prst="rect">
            <a:avLst/>
          </a:prstGeom>
        </p:spPr>
      </p:pic>
      <p:sp>
        <p:nvSpPr>
          <p:cNvPr id="31" name="Text 21"/>
          <p:cNvSpPr/>
          <p:nvPr/>
        </p:nvSpPr>
        <p:spPr>
          <a:xfrm>
            <a:off x="2006600" y="5001022"/>
            <a:ext cx="35972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6CCFF6"/>
                </a:solidFill>
                <a:latin typeface="IBM Plex Sans" pitchFamily="34" charset="0"/>
                <a:ea typeface="IBM Plex Sans" pitchFamily="34" charset="-122"/>
                <a:cs typeface="IBM Plex Sans" pitchFamily="34" charset="-120"/>
              </a:rPr>
              <a:t>Cómo medirlo:</a:t>
            </a:r>
            <a:r>
              <a:rPr lang="en-US" sz="1200" dirty="0">
                <a:solidFill>
                  <a:srgbClr val="F1F6F8"/>
                </a:solidFill>
                <a:latin typeface="IBM Plex Sans" pitchFamily="34" charset="0"/>
                <a:ea typeface="IBM Plex Sans" pitchFamily="34" charset="-122"/>
                <a:cs typeface="IBM Plex Sans" pitchFamily="34" charset="-120"/>
              </a:rPr>
              <a:t> dos personas anotan las mismas 10 fotos y se compara con el IoU.</a:t>
            </a:r>
            <a:endParaRPr lang="en-US" sz="1200" dirty="0"/>
          </a:p>
        </p:txBody>
      </p:sp>
      <p:sp>
        <p:nvSpPr>
          <p:cNvPr id="32" name="Shape 22"/>
          <p:cNvSpPr/>
          <p:nvPr/>
        </p:nvSpPr>
        <p:spPr>
          <a:xfrm>
            <a:off x="5734050" y="4875213"/>
            <a:ext cx="5638800" cy="647700"/>
          </a:xfrm>
          <a:prstGeom prst="roundRect">
            <a:avLst>
              <a:gd name="adj" fmla="val 14706"/>
            </a:avLst>
          </a:prstGeom>
          <a:solidFill>
            <a:srgbClr val="FCFDFD"/>
          </a:solidFill>
          <a:ln w="12700">
            <a:solidFill>
              <a:srgbClr val="D5E3EA"/>
            </a:solidFill>
            <a:prstDash val="solid"/>
          </a:ln>
        </p:spPr>
      </p:sp>
      <p:pic>
        <p:nvPicPr>
          <p:cNvPr id="33" name="Image 8" descr="Check">    </p:cNvPr>
          <p:cNvPicPr>
            <a:picLocks noChangeAspect="1"/>
          </p:cNvPicPr>
          <p:nvPr/>
        </p:nvPicPr>
        <p:blipFill>
          <a:blip r:embed="rId9"/>
          <a:srcRect l="0" r="0" t="0" b="0"/>
          <a:stretch/>
        </p:blipFill>
        <p:spPr>
          <a:xfrm>
            <a:off x="5880100" y="5091113"/>
            <a:ext cx="215900" cy="215900"/>
          </a:xfrm>
          <a:prstGeom prst="rect">
            <a:avLst/>
          </a:prstGeom>
        </p:spPr>
      </p:pic>
      <p:sp>
        <p:nvSpPr>
          <p:cNvPr id="34" name="Text 23"/>
          <p:cNvSpPr/>
          <p:nvPr/>
        </p:nvSpPr>
        <p:spPr>
          <a:xfrm>
            <a:off x="6197600" y="5001022"/>
            <a:ext cx="518007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A3E"/>
                </a:solidFill>
                <a:latin typeface="IBM Plex Sans" pitchFamily="34" charset="0"/>
                <a:ea typeface="IBM Plex Sans" pitchFamily="34" charset="-122"/>
                <a:cs typeface="IBM Plex Sans" pitchFamily="34" charset="-120"/>
              </a:rPr>
              <a:t>Antes de entrenar, el cuaderno revisa que fotos y etiquetas cuadren y dibuja recortes con su contorno.</a:t>
            </a:r>
            <a:endParaRPr lang="en-US" sz="1200" dirty="0"/>
          </a:p>
        </p:txBody>
      </p:sp>
      <p:sp>
        <p:nvSpPr>
          <p:cNvPr id="35" name="Text 24"/>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Casos: ilustraciones. Contorno: del modelo, en la imagen de muestra</a:t>
            </a:r>
            <a:endParaRPr lang="en-US" sz="1200" dirty="0"/>
          </a:p>
        </p:txBody>
      </p:sp>
      <p:sp>
        <p:nvSpPr>
          <p:cNvPr id="36"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UNA PRUEBA CON LO QUE NO VIO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Separar entrenamiento y validación</a:t>
            </a:r>
            <a:endParaRPr lang="en-US" sz="3600" dirty="0"/>
          </a:p>
        </p:txBody>
      </p:sp>
      <p:pic>
        <p:nvPicPr>
          <p:cNvPr id="6" name="Image 2" descr="Foto 1: zona de entrenamiento a la izquierda, margen y franja de validación a la derecha">    </p:cNvPr>
          <p:cNvPicPr>
            <a:picLocks noChangeAspect="1"/>
          </p:cNvPicPr>
          <p:nvPr/>
        </p:nvPicPr>
        <p:blipFill>
          <a:blip r:embed="rId3"/>
          <a:srcRect l="0" r="0" t="0" b="0"/>
          <a:stretch/>
        </p:blipFill>
        <p:spPr>
          <a:xfrm>
            <a:off x="1038225" y="1744861"/>
            <a:ext cx="2095500" cy="1606550"/>
          </a:xfrm>
          <a:prstGeom prst="rect">
            <a:avLst/>
          </a:prstGeom>
        </p:spPr>
      </p:pic>
      <p:sp>
        <p:nvSpPr>
          <p:cNvPr id="7" name="Text 2"/>
          <p:cNvSpPr/>
          <p:nvPr/>
        </p:nvSpPr>
        <p:spPr>
          <a:xfrm>
            <a:off x="1823085" y="3402211"/>
            <a:ext cx="52578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Foto 1</a:t>
            </a:r>
            <a:endParaRPr lang="en-US" sz="1200" dirty="0"/>
          </a:p>
        </p:txBody>
      </p:sp>
      <p:sp>
        <p:nvSpPr>
          <p:cNvPr id="8" name="Text 3"/>
          <p:cNvSpPr/>
          <p:nvPr/>
        </p:nvSpPr>
        <p:spPr>
          <a:xfrm>
            <a:off x="1231950" y="3666331"/>
            <a:ext cx="1707952"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6CCFF6"/>
                </a:solidFill>
                <a:latin typeface="IBM Plex Sans" pitchFamily="34" charset="0"/>
                <a:ea typeface="IBM Plex Sans" pitchFamily="34" charset="-122"/>
                <a:cs typeface="IBM Plex Sans" pitchFamily="34" charset="-120"/>
              </a:rPr>
              <a:t>5</a:t>
            </a:r>
            <a:r>
              <a:rPr lang="en-US" sz="1200" dirty="0">
                <a:solidFill>
                  <a:srgbClr val="C3D7E2"/>
                </a:solidFill>
                <a:latin typeface="IBM Plex Sans" pitchFamily="34" charset="0"/>
                <a:ea typeface="IBM Plex Sans" pitchFamily="34" charset="-122"/>
                <a:cs typeface="IBM Plex Sans" pitchFamily="34" charset="-120"/>
              </a:rPr>
              <a:t> entrenar · </a:t>
            </a:r>
            <a:r>
              <a:rPr lang="en-US" sz="1200" b="1" dirty="0">
                <a:solidFill>
                  <a:srgbClr val="F4A259"/>
                </a:solidFill>
                <a:latin typeface="IBM Plex Sans" pitchFamily="34" charset="0"/>
                <a:ea typeface="IBM Plex Sans" pitchFamily="34" charset="-122"/>
                <a:cs typeface="IBM Plex Sans" pitchFamily="34" charset="-120"/>
              </a:rPr>
              <a:t>0</a:t>
            </a:r>
            <a:r>
              <a:rPr lang="en-US" sz="1200" dirty="0">
                <a:solidFill>
                  <a:srgbClr val="C3D7E2"/>
                </a:solidFill>
                <a:latin typeface="IBM Plex Sans" pitchFamily="34" charset="0"/>
                <a:ea typeface="IBM Plex Sans" pitchFamily="34" charset="-122"/>
                <a:cs typeface="IBM Plex Sans" pitchFamily="34" charset="-120"/>
              </a:rPr>
              <a:t> validar</a:t>
            </a:r>
            <a:endParaRPr lang="en-US" sz="1200" dirty="0"/>
          </a:p>
        </p:txBody>
      </p:sp>
      <p:pic>
        <p:nvPicPr>
          <p:cNvPr id="9" name="Image 3" descr="Foto 2: zona de entrenamiento a la izquierda, margen y franja de validación a la derecha">    </p:cNvPr>
          <p:cNvPicPr>
            <a:picLocks noChangeAspect="1"/>
          </p:cNvPicPr>
          <p:nvPr/>
        </p:nvPicPr>
        <p:blipFill>
          <a:blip r:embed="rId4"/>
          <a:srcRect l="0" r="0" t="0" b="0"/>
          <a:stretch/>
        </p:blipFill>
        <p:spPr>
          <a:xfrm>
            <a:off x="3711575" y="1744861"/>
            <a:ext cx="2095500" cy="1606550"/>
          </a:xfrm>
          <a:prstGeom prst="rect">
            <a:avLst/>
          </a:prstGeom>
        </p:spPr>
      </p:pic>
      <p:sp>
        <p:nvSpPr>
          <p:cNvPr id="10" name="Text 4"/>
          <p:cNvSpPr/>
          <p:nvPr/>
        </p:nvSpPr>
        <p:spPr>
          <a:xfrm>
            <a:off x="4496435" y="3402211"/>
            <a:ext cx="52578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Foto 2</a:t>
            </a:r>
            <a:endParaRPr lang="en-US" sz="1200" dirty="0"/>
          </a:p>
        </p:txBody>
      </p:sp>
      <p:sp>
        <p:nvSpPr>
          <p:cNvPr id="11" name="Text 5"/>
          <p:cNvSpPr/>
          <p:nvPr/>
        </p:nvSpPr>
        <p:spPr>
          <a:xfrm>
            <a:off x="3905300" y="3666331"/>
            <a:ext cx="1707952"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6CCFF6"/>
                </a:solidFill>
                <a:latin typeface="IBM Plex Sans" pitchFamily="34" charset="0"/>
                <a:ea typeface="IBM Plex Sans" pitchFamily="34" charset="-122"/>
                <a:cs typeface="IBM Plex Sans" pitchFamily="34" charset="-120"/>
              </a:rPr>
              <a:t>3</a:t>
            </a:r>
            <a:r>
              <a:rPr lang="en-US" sz="1200" dirty="0">
                <a:solidFill>
                  <a:srgbClr val="C3D7E2"/>
                </a:solidFill>
                <a:latin typeface="IBM Plex Sans" pitchFamily="34" charset="0"/>
                <a:ea typeface="IBM Plex Sans" pitchFamily="34" charset="-122"/>
                <a:cs typeface="IBM Plex Sans" pitchFamily="34" charset="-120"/>
              </a:rPr>
              <a:t> entrenar · </a:t>
            </a:r>
            <a:r>
              <a:rPr lang="en-US" sz="1200" b="1" dirty="0">
                <a:solidFill>
                  <a:srgbClr val="F4A259"/>
                </a:solidFill>
                <a:latin typeface="IBM Plex Sans" pitchFamily="34" charset="0"/>
                <a:ea typeface="IBM Plex Sans" pitchFamily="34" charset="-122"/>
                <a:cs typeface="IBM Plex Sans" pitchFamily="34" charset="-120"/>
              </a:rPr>
              <a:t>5</a:t>
            </a:r>
            <a:r>
              <a:rPr lang="en-US" sz="1200" dirty="0">
                <a:solidFill>
                  <a:srgbClr val="C3D7E2"/>
                </a:solidFill>
                <a:latin typeface="IBM Plex Sans" pitchFamily="34" charset="0"/>
                <a:ea typeface="IBM Plex Sans" pitchFamily="34" charset="-122"/>
                <a:cs typeface="IBM Plex Sans" pitchFamily="34" charset="-120"/>
              </a:rPr>
              <a:t> validar</a:t>
            </a:r>
            <a:endParaRPr lang="en-US" sz="1200" dirty="0"/>
          </a:p>
        </p:txBody>
      </p:sp>
      <p:pic>
        <p:nvPicPr>
          <p:cNvPr id="12" name="Image 4" descr="Foto 3: zona de entrenamiento a la izquierda, margen y franja de validación a la derecha">    </p:cNvPr>
          <p:cNvPicPr>
            <a:picLocks noChangeAspect="1"/>
          </p:cNvPicPr>
          <p:nvPr/>
        </p:nvPicPr>
        <p:blipFill>
          <a:blip r:embed="rId5"/>
          <a:srcRect l="0" r="0" t="0" b="0"/>
          <a:stretch/>
        </p:blipFill>
        <p:spPr>
          <a:xfrm>
            <a:off x="6384925" y="1744861"/>
            <a:ext cx="2095500" cy="1606550"/>
          </a:xfrm>
          <a:prstGeom prst="rect">
            <a:avLst/>
          </a:prstGeom>
        </p:spPr>
      </p:pic>
      <p:sp>
        <p:nvSpPr>
          <p:cNvPr id="13" name="Text 6"/>
          <p:cNvSpPr/>
          <p:nvPr/>
        </p:nvSpPr>
        <p:spPr>
          <a:xfrm>
            <a:off x="7169785" y="3402211"/>
            <a:ext cx="52578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Foto 3</a:t>
            </a:r>
            <a:endParaRPr lang="en-US" sz="1200" dirty="0"/>
          </a:p>
        </p:txBody>
      </p:sp>
      <p:sp>
        <p:nvSpPr>
          <p:cNvPr id="14" name="Text 7"/>
          <p:cNvSpPr/>
          <p:nvPr/>
        </p:nvSpPr>
        <p:spPr>
          <a:xfrm>
            <a:off x="6468874" y="3666331"/>
            <a:ext cx="1927503"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6CCFF6"/>
                </a:solidFill>
                <a:latin typeface="IBM Plex Sans" pitchFamily="34" charset="0"/>
                <a:ea typeface="IBM Plex Sans" pitchFamily="34" charset="-122"/>
                <a:cs typeface="IBM Plex Sans" pitchFamily="34" charset="-120"/>
              </a:rPr>
              <a:t>77</a:t>
            </a:r>
            <a:r>
              <a:rPr lang="en-US" sz="1200" dirty="0">
                <a:solidFill>
                  <a:srgbClr val="C3D7E2"/>
                </a:solidFill>
                <a:latin typeface="IBM Plex Sans" pitchFamily="34" charset="0"/>
                <a:ea typeface="IBM Plex Sans" pitchFamily="34" charset="-122"/>
                <a:cs typeface="IBM Plex Sans" pitchFamily="34" charset="-120"/>
              </a:rPr>
              <a:t> entrenar · </a:t>
            </a:r>
            <a:r>
              <a:rPr lang="en-US" sz="1200" b="1" dirty="0">
                <a:solidFill>
                  <a:srgbClr val="F4A259"/>
                </a:solidFill>
                <a:latin typeface="IBM Plex Sans" pitchFamily="34" charset="0"/>
                <a:ea typeface="IBM Plex Sans" pitchFamily="34" charset="-122"/>
                <a:cs typeface="IBM Plex Sans" pitchFamily="34" charset="-120"/>
              </a:rPr>
              <a:t>28</a:t>
            </a:r>
            <a:r>
              <a:rPr lang="en-US" sz="1200" dirty="0">
                <a:solidFill>
                  <a:srgbClr val="C3D7E2"/>
                </a:solidFill>
                <a:latin typeface="IBM Plex Sans" pitchFamily="34" charset="0"/>
                <a:ea typeface="IBM Plex Sans" pitchFamily="34" charset="-122"/>
                <a:cs typeface="IBM Plex Sans" pitchFamily="34" charset="-120"/>
              </a:rPr>
              <a:t> validar</a:t>
            </a:r>
            <a:endParaRPr lang="en-US" sz="1200" dirty="0"/>
          </a:p>
        </p:txBody>
      </p:sp>
      <p:pic>
        <p:nvPicPr>
          <p:cNvPr id="15" name="Image 5" descr="Foto 4, vertical: zona de entrenamiento arriba, margen y franja de validación abajo">    </p:cNvPr>
          <p:cNvPicPr>
            <a:picLocks noChangeAspect="1"/>
          </p:cNvPicPr>
          <p:nvPr/>
        </p:nvPicPr>
        <p:blipFill>
          <a:blip r:embed="rId6"/>
          <a:srcRect l="0" r="0" t="0" b="0"/>
          <a:stretch/>
        </p:blipFill>
        <p:spPr>
          <a:xfrm>
            <a:off x="9302750" y="1744861"/>
            <a:ext cx="1606550" cy="2095500"/>
          </a:xfrm>
          <a:prstGeom prst="rect">
            <a:avLst/>
          </a:prstGeom>
        </p:spPr>
      </p:pic>
      <p:sp>
        <p:nvSpPr>
          <p:cNvPr id="16" name="Text 8"/>
          <p:cNvSpPr/>
          <p:nvPr/>
        </p:nvSpPr>
        <p:spPr>
          <a:xfrm>
            <a:off x="9441180" y="3891161"/>
            <a:ext cx="132969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Foto 4 (vertical)</a:t>
            </a:r>
            <a:endParaRPr lang="en-US" sz="1200" dirty="0"/>
          </a:p>
        </p:txBody>
      </p:sp>
      <p:sp>
        <p:nvSpPr>
          <p:cNvPr id="17" name="Text 9"/>
          <p:cNvSpPr/>
          <p:nvPr/>
        </p:nvSpPr>
        <p:spPr>
          <a:xfrm>
            <a:off x="9142224" y="4155281"/>
            <a:ext cx="1927503"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6CCFF6"/>
                </a:solidFill>
                <a:latin typeface="IBM Plex Sans" pitchFamily="34" charset="0"/>
                <a:ea typeface="IBM Plex Sans" pitchFamily="34" charset="-122"/>
                <a:cs typeface="IBM Plex Sans" pitchFamily="34" charset="-120"/>
              </a:rPr>
              <a:t>78</a:t>
            </a:r>
            <a:r>
              <a:rPr lang="en-US" sz="1200" dirty="0">
                <a:solidFill>
                  <a:srgbClr val="C3D7E2"/>
                </a:solidFill>
                <a:latin typeface="IBM Plex Sans" pitchFamily="34" charset="0"/>
                <a:ea typeface="IBM Plex Sans" pitchFamily="34" charset="-122"/>
                <a:cs typeface="IBM Plex Sans" pitchFamily="34" charset="-120"/>
              </a:rPr>
              <a:t> entrenar · </a:t>
            </a:r>
            <a:r>
              <a:rPr lang="en-US" sz="1200" b="1" dirty="0">
                <a:solidFill>
                  <a:srgbClr val="F4A259"/>
                </a:solidFill>
                <a:latin typeface="IBM Plex Sans" pitchFamily="34" charset="0"/>
                <a:ea typeface="IBM Plex Sans" pitchFamily="34" charset="-122"/>
                <a:cs typeface="IBM Plex Sans" pitchFamily="34" charset="-120"/>
              </a:rPr>
              <a:t>31</a:t>
            </a:r>
            <a:r>
              <a:rPr lang="en-US" sz="1200" dirty="0">
                <a:solidFill>
                  <a:srgbClr val="C3D7E2"/>
                </a:solidFill>
                <a:latin typeface="IBM Plex Sans" pitchFamily="34" charset="0"/>
                <a:ea typeface="IBM Plex Sans" pitchFamily="34" charset="-122"/>
                <a:cs typeface="IBM Plex Sans" pitchFamily="34" charset="-120"/>
              </a:rPr>
              <a:t> validar</a:t>
            </a:r>
            <a:endParaRPr lang="en-US" sz="1200" dirty="0"/>
          </a:p>
        </p:txBody>
      </p:sp>
      <p:sp>
        <p:nvSpPr>
          <p:cNvPr id="18" name="Shape 10"/>
          <p:cNvSpPr/>
          <p:nvPr/>
        </p:nvSpPr>
        <p:spPr>
          <a:xfrm>
            <a:off x="822325" y="4495006"/>
            <a:ext cx="1201936" cy="660301"/>
          </a:xfrm>
          <a:prstGeom prst="roundRect">
            <a:avLst>
              <a:gd name="adj" fmla="val 12021"/>
            </a:avLst>
          </a:prstGeom>
          <a:solidFill>
            <a:srgbClr val="12304A"/>
          </a:solidFill>
          <a:ln w="19050">
            <a:solidFill>
              <a:srgbClr val="6CCFF6"/>
            </a:solidFill>
            <a:prstDash val="solid"/>
          </a:ln>
        </p:spPr>
      </p:sp>
      <p:sp>
        <p:nvSpPr>
          <p:cNvPr id="19" name="Text 11"/>
          <p:cNvSpPr/>
          <p:nvPr/>
        </p:nvSpPr>
        <p:spPr>
          <a:xfrm>
            <a:off x="958850" y="4580731"/>
            <a:ext cx="979686"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6CCFF6"/>
                </a:solidFill>
                <a:latin typeface="EB Garamond" pitchFamily="18" charset="0"/>
                <a:ea typeface="EB Garamond" pitchFamily="18" charset="-122"/>
                <a:cs typeface="EB Garamond" pitchFamily="18" charset="-120"/>
              </a:rPr>
              <a:t>163</a:t>
            </a:r>
            <a:endParaRPr lang="en-US" sz="2200" dirty="0"/>
          </a:p>
        </p:txBody>
      </p:sp>
      <p:sp>
        <p:nvSpPr>
          <p:cNvPr id="20" name="Text 12"/>
          <p:cNvSpPr/>
          <p:nvPr/>
        </p:nvSpPr>
        <p:spPr>
          <a:xfrm>
            <a:off x="958850" y="4886722"/>
            <a:ext cx="1055886"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para entrenar</a:t>
            </a:r>
            <a:endParaRPr lang="en-US" sz="1200" dirty="0"/>
          </a:p>
        </p:txBody>
      </p:sp>
      <p:sp>
        <p:nvSpPr>
          <p:cNvPr id="21" name="Shape 13"/>
          <p:cNvSpPr/>
          <p:nvPr/>
        </p:nvSpPr>
        <p:spPr>
          <a:xfrm>
            <a:off x="2129036" y="4491831"/>
            <a:ext cx="1150640" cy="666651"/>
          </a:xfrm>
          <a:prstGeom prst="roundRect">
            <a:avLst>
              <a:gd name="adj" fmla="val 12383"/>
            </a:avLst>
          </a:prstGeom>
          <a:solidFill>
            <a:srgbClr val="12304A"/>
          </a:solidFill>
          <a:ln w="12700">
            <a:solidFill>
              <a:srgbClr val="8FA9B8"/>
            </a:solidFill>
            <a:prstDash val="solid"/>
          </a:ln>
        </p:spPr>
      </p:sp>
      <p:sp>
        <p:nvSpPr>
          <p:cNvPr id="22" name="Text 14"/>
          <p:cNvSpPr/>
          <p:nvPr/>
        </p:nvSpPr>
        <p:spPr>
          <a:xfrm>
            <a:off x="2262386" y="4574381"/>
            <a:ext cx="934740"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C3D7E2"/>
                </a:solidFill>
                <a:latin typeface="EB Garamond" pitchFamily="18" charset="0"/>
                <a:ea typeface="EB Garamond" pitchFamily="18" charset="-122"/>
                <a:cs typeface="EB Garamond" pitchFamily="18" charset="-120"/>
              </a:rPr>
              <a:t>31</a:t>
            </a:r>
            <a:endParaRPr lang="en-US" sz="2200" dirty="0"/>
          </a:p>
        </p:txBody>
      </p:sp>
      <p:sp>
        <p:nvSpPr>
          <p:cNvPr id="23" name="Text 15"/>
          <p:cNvSpPr/>
          <p:nvPr/>
        </p:nvSpPr>
        <p:spPr>
          <a:xfrm>
            <a:off x="2262386" y="4880372"/>
            <a:ext cx="101094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en el margen</a:t>
            </a:r>
            <a:endParaRPr lang="en-US" sz="1200" dirty="0"/>
          </a:p>
        </p:txBody>
      </p:sp>
      <p:sp>
        <p:nvSpPr>
          <p:cNvPr id="24" name="Shape 16"/>
          <p:cNvSpPr/>
          <p:nvPr/>
        </p:nvSpPr>
        <p:spPr>
          <a:xfrm>
            <a:off x="3384451" y="4495006"/>
            <a:ext cx="1075829" cy="660301"/>
          </a:xfrm>
          <a:prstGeom prst="roundRect">
            <a:avLst>
              <a:gd name="adj" fmla="val 12021"/>
            </a:avLst>
          </a:prstGeom>
          <a:solidFill>
            <a:srgbClr val="12304A"/>
          </a:solidFill>
          <a:ln w="19050">
            <a:solidFill>
              <a:srgbClr val="F4A259"/>
            </a:solidFill>
            <a:prstDash val="solid"/>
          </a:ln>
        </p:spPr>
      </p:sp>
      <p:sp>
        <p:nvSpPr>
          <p:cNvPr id="25" name="Text 17"/>
          <p:cNvSpPr/>
          <p:nvPr/>
        </p:nvSpPr>
        <p:spPr>
          <a:xfrm>
            <a:off x="3520976" y="4580731"/>
            <a:ext cx="853579"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4A259"/>
                </a:solidFill>
                <a:latin typeface="EB Garamond" pitchFamily="18" charset="0"/>
                <a:ea typeface="EB Garamond" pitchFamily="18" charset="-122"/>
                <a:cs typeface="EB Garamond" pitchFamily="18" charset="-120"/>
              </a:rPr>
              <a:t>64</a:t>
            </a:r>
            <a:endParaRPr lang="en-US" sz="2200" dirty="0"/>
          </a:p>
        </p:txBody>
      </p:sp>
      <p:sp>
        <p:nvSpPr>
          <p:cNvPr id="26" name="Text 18"/>
          <p:cNvSpPr/>
          <p:nvPr/>
        </p:nvSpPr>
        <p:spPr>
          <a:xfrm>
            <a:off x="3520976" y="4886722"/>
            <a:ext cx="929779"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para validar</a:t>
            </a:r>
            <a:endParaRPr lang="en-US" sz="1200" dirty="0"/>
          </a:p>
        </p:txBody>
      </p:sp>
      <p:sp>
        <p:nvSpPr>
          <p:cNvPr id="27" name="Shape 19"/>
          <p:cNvSpPr/>
          <p:nvPr/>
        </p:nvSpPr>
        <p:spPr>
          <a:xfrm>
            <a:off x="4565055" y="4491831"/>
            <a:ext cx="6807795" cy="666651"/>
          </a:xfrm>
          <a:prstGeom prst="roundRect">
            <a:avLst>
              <a:gd name="adj" fmla="val 12383"/>
            </a:avLst>
          </a:prstGeom>
          <a:solidFill>
            <a:srgbClr val="12304A"/>
          </a:solidFill>
          <a:ln w="12700">
            <a:solidFill>
              <a:srgbClr val="24506E"/>
            </a:solidFill>
            <a:prstDash val="solid"/>
          </a:ln>
        </p:spPr>
      </p:sp>
      <p:sp>
        <p:nvSpPr>
          <p:cNvPr id="28" name="Text 20"/>
          <p:cNvSpPr/>
          <p:nvPr/>
        </p:nvSpPr>
        <p:spPr>
          <a:xfrm>
            <a:off x="4711105" y="4574381"/>
            <a:ext cx="671116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1F6F8"/>
                </a:solidFill>
                <a:latin typeface="IBM Plex Sans" pitchFamily="34" charset="0"/>
                <a:ea typeface="IBM Plex Sans" pitchFamily="34" charset="-122"/>
                <a:cs typeface="IBM Plex Sans" pitchFamily="34" charset="-120"/>
              </a:rPr>
              <a:t>10 fotos o más:</a:t>
            </a:r>
            <a:r>
              <a:rPr lang="en-US" sz="1200" dirty="0">
                <a:solidFill>
                  <a:srgbClr val="C3D7E2"/>
                </a:solidFill>
                <a:latin typeface="IBM Plex Sans" pitchFamily="34" charset="0"/>
                <a:ea typeface="IBM Plex Sans" pitchFamily="34" charset="-122"/>
                <a:cs typeface="IBM Plex Sans" pitchFamily="34" charset="-120"/>
              </a:rPr>
              <a:t> fotos completas, una de cada cinco.</a:t>
            </a:r>
            <a:endParaRPr lang="en-US" sz="1200" dirty="0"/>
          </a:p>
        </p:txBody>
      </p:sp>
      <p:sp>
        <p:nvSpPr>
          <p:cNvPr id="29" name="Text 21"/>
          <p:cNvSpPr/>
          <p:nvPr/>
        </p:nvSpPr>
        <p:spPr>
          <a:xfrm>
            <a:off x="4711105" y="4790281"/>
            <a:ext cx="671116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1F6F8"/>
                </a:solidFill>
                <a:latin typeface="IBM Plex Sans" pitchFamily="34" charset="0"/>
                <a:ea typeface="IBM Plex Sans" pitchFamily="34" charset="-122"/>
                <a:cs typeface="IBM Plex Sans" pitchFamily="34" charset="-120"/>
              </a:rPr>
              <a:t>Menos de 10:</a:t>
            </a:r>
            <a:r>
              <a:rPr lang="en-US" sz="1200" dirty="0">
                <a:solidFill>
                  <a:srgbClr val="C3D7E2"/>
                </a:solidFill>
                <a:latin typeface="IBM Plex Sans" pitchFamily="34" charset="0"/>
                <a:ea typeface="IBM Plex Sans" pitchFamily="34" charset="-122"/>
                <a:cs typeface="IBM Plex Sans" pitchFamily="34" charset="-120"/>
              </a:rPr>
              <a:t> franja del 25 % de cada foto y margen de 100 px.</a:t>
            </a:r>
            <a:endParaRPr lang="en-US" sz="1200" dirty="0"/>
          </a:p>
        </p:txBody>
      </p:sp>
      <p:sp>
        <p:nvSpPr>
          <p:cNvPr id="30" name="Shape 22"/>
          <p:cNvSpPr/>
          <p:nvPr/>
        </p:nvSpPr>
        <p:spPr>
          <a:xfrm>
            <a:off x="812800" y="5304532"/>
            <a:ext cx="10566400" cy="431800"/>
          </a:xfrm>
          <a:prstGeom prst="roundRect">
            <a:avLst>
              <a:gd name="adj" fmla="val 23529"/>
            </a:avLst>
          </a:prstGeom>
          <a:solidFill>
            <a:srgbClr val="F4A259"/>
          </a:solidFill>
          <a:ln/>
        </p:spPr>
      </p:sp>
      <p:pic>
        <p:nvPicPr>
          <p:cNvPr id="31" name="Image 6" descr="Warning">    </p:cNvPr>
          <p:cNvPicPr>
            <a:picLocks noChangeAspect="1"/>
          </p:cNvPicPr>
          <p:nvPr/>
        </p:nvPicPr>
        <p:blipFill>
          <a:blip r:embed="rId7"/>
          <a:srcRect l="0" r="0" t="0" b="0"/>
          <a:stretch/>
        </p:blipFill>
        <p:spPr>
          <a:xfrm>
            <a:off x="965200" y="5393432"/>
            <a:ext cx="254000" cy="254000"/>
          </a:xfrm>
          <a:prstGeom prst="rect">
            <a:avLst/>
          </a:prstGeom>
        </p:spPr>
      </p:pic>
      <p:sp>
        <p:nvSpPr>
          <p:cNvPr id="32" name="Text 23"/>
          <p:cNvSpPr/>
          <p:nvPr/>
        </p:nvSpPr>
        <p:spPr>
          <a:xfrm>
            <a:off x="1333500" y="5421412"/>
            <a:ext cx="10190099"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406"/>
                </a:solidFill>
                <a:latin typeface="IBM Plex Sans" pitchFamily="34" charset="0"/>
                <a:ea typeface="IBM Plex Sans" pitchFamily="34" charset="-122"/>
                <a:cs typeface="IBM Plex Sans" pitchFamily="34" charset="-120"/>
              </a:rPr>
              <a:t>La validación sale de las mismas cuatro fotos: es una prueba más fácil que una foto nueva.</a:t>
            </a:r>
            <a:endParaRPr lang="en-US" sz="1200" dirty="0"/>
          </a:p>
        </p:txBody>
      </p:sp>
      <p:sp>
        <p:nvSpPr>
          <p:cNvPr id="33" name="Text 24"/>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Esquema a partir de la corrida de ejemplo; celeste: entrenar, gris: margen, naranja: validar</a:t>
            </a:r>
            <a:endParaRPr lang="en-US" sz="1200" dirty="0"/>
          </a:p>
        </p:txBody>
      </p:sp>
      <p:sp>
        <p:nvSpPr>
          <p:cNvPr id="34"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MÁS VARIEDAD CON LAS MISMAS FOTOS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Aumento de datos</a:t>
            </a:r>
            <a:endParaRPr lang="en-US" sz="3600" dirty="0"/>
          </a:p>
        </p:txBody>
      </p:sp>
      <p:pic>
        <p:nvPicPr>
          <p:cNvPr id="6" name="Image 2" descr="Recorte original con un espermatozoide">    </p:cNvPr>
          <p:cNvPicPr>
            <a:picLocks noChangeAspect="1"/>
          </p:cNvPicPr>
          <p:nvPr/>
        </p:nvPicPr>
        <p:blipFill>
          <a:blip r:embed="rId3"/>
          <a:srcRect l="0" r="0" t="0" b="0"/>
          <a:stretch/>
        </p:blipFill>
        <p:spPr>
          <a:xfrm>
            <a:off x="812800" y="1757561"/>
            <a:ext cx="1638300" cy="1638300"/>
          </a:xfrm>
          <a:prstGeom prst="roundRect">
            <a:avLst>
              <a:gd name="adj" fmla="val 4651"/>
            </a:avLst>
          </a:prstGeom>
        </p:spPr>
      </p:pic>
      <p:sp>
        <p:nvSpPr>
          <p:cNvPr id="7" name="Text 2"/>
          <p:cNvSpPr/>
          <p:nvPr/>
        </p:nvSpPr>
        <p:spPr>
          <a:xfrm>
            <a:off x="812800" y="3446661"/>
            <a:ext cx="16891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Original</a:t>
            </a:r>
            <a:endParaRPr lang="en-US" sz="1200" dirty="0"/>
          </a:p>
        </p:txBody>
      </p:sp>
      <p:pic>
        <p:nvPicPr>
          <p:cNvPr id="8" name="Image 3" descr="El mismo recorte volteado de izquierda a derecha">    </p:cNvPr>
          <p:cNvPicPr>
            <a:picLocks noChangeAspect="1"/>
          </p:cNvPicPr>
          <p:nvPr/>
        </p:nvPicPr>
        <p:blipFill>
          <a:blip r:embed="rId4"/>
          <a:srcRect l="0" r="0" t="0" b="0"/>
          <a:stretch/>
        </p:blipFill>
        <p:spPr>
          <a:xfrm>
            <a:off x="2565400" y="1757561"/>
            <a:ext cx="1638300" cy="1638300"/>
          </a:xfrm>
          <a:prstGeom prst="roundRect">
            <a:avLst>
              <a:gd name="adj" fmla="val 4651"/>
            </a:avLst>
          </a:prstGeom>
        </p:spPr>
      </p:pic>
      <p:sp>
        <p:nvSpPr>
          <p:cNvPr id="9" name="Text 3"/>
          <p:cNvSpPr/>
          <p:nvPr/>
        </p:nvSpPr>
        <p:spPr>
          <a:xfrm>
            <a:off x="2565400" y="3446661"/>
            <a:ext cx="16891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Volteo</a:t>
            </a:r>
            <a:endParaRPr lang="en-US" sz="1200" dirty="0"/>
          </a:p>
        </p:txBody>
      </p:sp>
      <p:pic>
        <p:nvPicPr>
          <p:cNvPr id="10" name="Image 4" descr="El mismo recorte girado 90 grados">    </p:cNvPr>
          <p:cNvPicPr>
            <a:picLocks noChangeAspect="1"/>
          </p:cNvPicPr>
          <p:nvPr/>
        </p:nvPicPr>
        <p:blipFill>
          <a:blip r:embed="rId5"/>
          <a:srcRect l="0" r="0" t="0" b="0"/>
          <a:stretch/>
        </p:blipFill>
        <p:spPr>
          <a:xfrm>
            <a:off x="4318000" y="1757561"/>
            <a:ext cx="1638300" cy="1638300"/>
          </a:xfrm>
          <a:prstGeom prst="roundRect">
            <a:avLst>
              <a:gd name="adj" fmla="val 4651"/>
            </a:avLst>
          </a:prstGeom>
        </p:spPr>
      </p:pic>
      <p:sp>
        <p:nvSpPr>
          <p:cNvPr id="11" name="Text 4"/>
          <p:cNvSpPr/>
          <p:nvPr/>
        </p:nvSpPr>
        <p:spPr>
          <a:xfrm>
            <a:off x="4318000" y="3446661"/>
            <a:ext cx="16891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Giro de 90°</a:t>
            </a:r>
            <a:endParaRPr lang="en-US" sz="1200" dirty="0"/>
          </a:p>
        </p:txBody>
      </p:sp>
      <p:pic>
        <p:nvPicPr>
          <p:cNvPr id="12" name="Image 5" descr="El mismo recorte acercado">    </p:cNvPr>
          <p:cNvPicPr>
            <a:picLocks noChangeAspect="1"/>
          </p:cNvPicPr>
          <p:nvPr/>
        </p:nvPicPr>
        <p:blipFill>
          <a:blip r:embed="rId6"/>
          <a:srcRect l="0" r="0" t="0" b="0"/>
          <a:stretch/>
        </p:blipFill>
        <p:spPr>
          <a:xfrm>
            <a:off x="6070600" y="1757561"/>
            <a:ext cx="1638300" cy="1638300"/>
          </a:xfrm>
          <a:prstGeom prst="roundRect">
            <a:avLst>
              <a:gd name="adj" fmla="val 4651"/>
            </a:avLst>
          </a:prstGeom>
        </p:spPr>
      </p:pic>
      <p:sp>
        <p:nvSpPr>
          <p:cNvPr id="13" name="Text 5"/>
          <p:cNvSpPr/>
          <p:nvPr/>
        </p:nvSpPr>
        <p:spPr>
          <a:xfrm>
            <a:off x="6070600" y="3446661"/>
            <a:ext cx="16891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Acercado</a:t>
            </a:r>
            <a:endParaRPr lang="en-US" sz="1200" dirty="0"/>
          </a:p>
        </p:txBody>
      </p:sp>
      <p:pic>
        <p:nvPicPr>
          <p:cNvPr id="14" name="Image 6" descr="El mismo recorte más oscuro">    </p:cNvPr>
          <p:cNvPicPr>
            <a:picLocks noChangeAspect="1"/>
          </p:cNvPicPr>
          <p:nvPr/>
        </p:nvPicPr>
        <p:blipFill>
          <a:blip r:embed="rId7"/>
          <a:srcRect l="0" r="0" t="0" b="0"/>
          <a:stretch/>
        </p:blipFill>
        <p:spPr>
          <a:xfrm>
            <a:off x="7823200" y="1757561"/>
            <a:ext cx="1638300" cy="1638300"/>
          </a:xfrm>
          <a:prstGeom prst="roundRect">
            <a:avLst>
              <a:gd name="adj" fmla="val 4651"/>
            </a:avLst>
          </a:prstGeom>
        </p:spPr>
      </p:pic>
      <p:sp>
        <p:nvSpPr>
          <p:cNvPr id="15" name="Text 6"/>
          <p:cNvSpPr/>
          <p:nvPr/>
        </p:nvSpPr>
        <p:spPr>
          <a:xfrm>
            <a:off x="7823200" y="3446661"/>
            <a:ext cx="16891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Más oscuro</a:t>
            </a:r>
            <a:endParaRPr lang="en-US" sz="1200" dirty="0"/>
          </a:p>
        </p:txBody>
      </p:sp>
      <p:pic>
        <p:nvPicPr>
          <p:cNvPr id="16" name="Image 7" descr="El mismo recorte con ruido">    </p:cNvPr>
          <p:cNvPicPr>
            <a:picLocks noChangeAspect="1"/>
          </p:cNvPicPr>
          <p:nvPr/>
        </p:nvPicPr>
        <p:blipFill>
          <a:blip r:embed="rId8"/>
          <a:srcRect l="0" r="0" t="0" b="0"/>
          <a:stretch/>
        </p:blipFill>
        <p:spPr>
          <a:xfrm>
            <a:off x="9575800" y="1757561"/>
            <a:ext cx="1638300" cy="1638300"/>
          </a:xfrm>
          <a:prstGeom prst="roundRect">
            <a:avLst>
              <a:gd name="adj" fmla="val 4651"/>
            </a:avLst>
          </a:prstGeom>
        </p:spPr>
      </p:pic>
      <p:sp>
        <p:nvSpPr>
          <p:cNvPr id="17" name="Text 7"/>
          <p:cNvSpPr/>
          <p:nvPr/>
        </p:nvSpPr>
        <p:spPr>
          <a:xfrm>
            <a:off x="9575800" y="3446661"/>
            <a:ext cx="16891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Con ruido</a:t>
            </a:r>
            <a:endParaRPr lang="en-US" sz="1200" dirty="0"/>
          </a:p>
        </p:txBody>
      </p:sp>
      <p:sp>
        <p:nvSpPr>
          <p:cNvPr id="18" name="Shape 8"/>
          <p:cNvSpPr/>
          <p:nvPr/>
        </p:nvSpPr>
        <p:spPr>
          <a:xfrm>
            <a:off x="812800" y="3812381"/>
            <a:ext cx="5219700" cy="1366242"/>
          </a:xfrm>
          <a:prstGeom prst="roundRect">
            <a:avLst>
              <a:gd name="adj" fmla="val 8366"/>
            </a:avLst>
          </a:prstGeom>
          <a:solidFill>
            <a:srgbClr val="0B1F2E"/>
          </a:solidFill>
          <a:ln/>
        </p:spPr>
      </p:sp>
      <p:sp>
        <p:nvSpPr>
          <p:cNvPr id="19" name="Text 9"/>
          <p:cNvSpPr/>
          <p:nvPr/>
        </p:nvSpPr>
        <p:spPr>
          <a:xfrm>
            <a:off x="977900" y="3939381"/>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RANGOS DEL CUADERNO</a:t>
            </a:r>
            <a:endParaRPr lang="en-US" sz="1200" dirty="0"/>
          </a:p>
        </p:txBody>
      </p:sp>
      <p:sp>
        <p:nvSpPr>
          <p:cNvPr id="20" name="Text 10"/>
          <p:cNvSpPr/>
          <p:nvPr/>
        </p:nvSpPr>
        <p:spPr>
          <a:xfrm>
            <a:off x="977900" y="4190802"/>
            <a:ext cx="503618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1F6F8"/>
                </a:solidFill>
                <a:latin typeface="IBM Plex Sans" pitchFamily="34" charset="0"/>
                <a:ea typeface="IBM Plex Sans" pitchFamily="34" charset="-122"/>
                <a:cs typeface="IBM Plex Sans" pitchFamily="34" charset="-120"/>
              </a:rPr>
              <a:t>Volteos: la mitad de las veces, cada uno · Giros de 90° · Escala de 0.8 a 1.25</a:t>
            </a:r>
            <a:endParaRPr lang="en-US" sz="1200" dirty="0"/>
          </a:p>
        </p:txBody>
      </p:sp>
      <p:sp>
        <p:nvSpPr>
          <p:cNvPr id="21" name="Text 11"/>
          <p:cNvSpPr/>
          <p:nvPr/>
        </p:nvSpPr>
        <p:spPr>
          <a:xfrm>
            <a:off x="977900" y="4640263"/>
            <a:ext cx="503618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1F6F8"/>
                </a:solidFill>
                <a:latin typeface="IBM Plex Sans" pitchFamily="34" charset="0"/>
                <a:ea typeface="IBM Plex Sans" pitchFamily="34" charset="-122"/>
                <a:cs typeface="IBM Plex Sans" pitchFamily="34" charset="-120"/>
              </a:rPr>
              <a:t>Brillo ×0.7 a ×1.3, con un desplazamiento de hasta 20 · Un poco de ruido</a:t>
            </a:r>
            <a:endParaRPr lang="en-US" sz="1200" dirty="0"/>
          </a:p>
        </p:txBody>
      </p:sp>
      <p:sp>
        <p:nvSpPr>
          <p:cNvPr id="22" name="Shape 12"/>
          <p:cNvSpPr/>
          <p:nvPr/>
        </p:nvSpPr>
        <p:spPr>
          <a:xfrm>
            <a:off x="6140450" y="3818731"/>
            <a:ext cx="5232400" cy="1353542"/>
          </a:xfrm>
          <a:prstGeom prst="roundRect">
            <a:avLst>
              <a:gd name="adj" fmla="val 7975"/>
            </a:avLst>
          </a:prstGeom>
          <a:solidFill>
            <a:srgbClr val="FCFDFD"/>
          </a:solidFill>
          <a:ln w="12700">
            <a:solidFill>
              <a:srgbClr val="D5E3EA"/>
            </a:solidFill>
            <a:prstDash val="solid"/>
          </a:ln>
        </p:spPr>
      </p:sp>
      <p:sp>
        <p:nvSpPr>
          <p:cNvPr id="23" name="Text 13"/>
          <p:cNvSpPr/>
          <p:nvPr/>
        </p:nvSpPr>
        <p:spPr>
          <a:xfrm>
            <a:off x="6311900" y="3952081"/>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CÓMO SE ARMAN LOS RECORTES</a:t>
            </a:r>
            <a:endParaRPr lang="en-US" sz="1200" dirty="0"/>
          </a:p>
        </p:txBody>
      </p:sp>
      <p:sp>
        <p:nvSpPr>
          <p:cNvPr id="24" name="Text 14"/>
          <p:cNvSpPr/>
          <p:nvPr/>
        </p:nvSpPr>
        <p:spPr>
          <a:xfrm>
            <a:off x="6311900" y="4203502"/>
            <a:ext cx="503618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5566"/>
                </a:solidFill>
                <a:latin typeface="IBM Plex Sans" pitchFamily="34" charset="0"/>
                <a:ea typeface="IBM Plex Sans" pitchFamily="34" charset="-122"/>
                <a:cs typeface="IBM Plex Sans" pitchFamily="34" charset="-120"/>
              </a:rPr>
              <a:t>El 80 % se centran en un espermatozoide; el resto, al azar, con fibras y fondo. Un espermatozoide cortado cuenta si se ve al menos el 30 %.</a:t>
            </a:r>
            <a:endParaRPr lang="en-US" sz="1200" dirty="0"/>
          </a:p>
        </p:txBody>
      </p:sp>
      <p:sp>
        <p:nvSpPr>
          <p:cNvPr id="25" name="Text 1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Imagen de muestra con las mismas operaciones del cuaderno. Es variedad artificial</a:t>
            </a:r>
            <a:endParaRPr lang="en-US" sz="1200" dirty="0"/>
          </a:p>
        </p:txBody>
      </p:sp>
      <p:sp>
        <p:nvSpPr>
          <p:cNvPr id="26"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PERFIL DE FLUORESCENCIA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Entrenar en Colab</a:t>
            </a:r>
            <a:endParaRPr lang="en-US" sz="3600" dirty="0"/>
          </a:p>
        </p:txBody>
      </p:sp>
      <p:sp>
        <p:nvSpPr>
          <p:cNvPr id="6" name="Shape 2"/>
          <p:cNvSpPr/>
          <p:nvPr/>
        </p:nvSpPr>
        <p:spPr>
          <a:xfrm>
            <a:off x="819150" y="1751211"/>
            <a:ext cx="2053134" cy="904180"/>
          </a:xfrm>
          <a:prstGeom prst="roundRect">
            <a:avLst>
              <a:gd name="adj" fmla="val 10534"/>
            </a:avLst>
          </a:prstGeom>
          <a:solidFill>
            <a:srgbClr val="12304A"/>
          </a:solidFill>
          <a:ln w="12700">
            <a:solidFill>
              <a:srgbClr val="24506E"/>
            </a:solidFill>
            <a:prstDash val="solid"/>
          </a:ln>
        </p:spPr>
      </p:sp>
      <p:sp>
        <p:nvSpPr>
          <p:cNvPr id="7" name="Text 3"/>
          <p:cNvSpPr/>
          <p:nvPr/>
        </p:nvSpPr>
        <p:spPr>
          <a:xfrm>
            <a:off x="939800" y="1846461"/>
            <a:ext cx="1866189"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6CCFF6"/>
                </a:solidFill>
                <a:latin typeface="EB Garamond" pitchFamily="18" charset="0"/>
                <a:ea typeface="EB Garamond" pitchFamily="18" charset="-122"/>
                <a:cs typeface="EB Garamond" pitchFamily="18" charset="-120"/>
              </a:rPr>
              <a:t>60</a:t>
            </a:r>
            <a:endParaRPr lang="en-US" sz="2400" dirty="0"/>
          </a:p>
        </p:txBody>
      </p:sp>
      <p:sp>
        <p:nvSpPr>
          <p:cNvPr id="8" name="Text 4"/>
          <p:cNvSpPr/>
          <p:nvPr/>
        </p:nvSpPr>
        <p:spPr>
          <a:xfrm>
            <a:off x="939800" y="2179141"/>
            <a:ext cx="186618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épocas</a:t>
            </a:r>
            <a:endParaRPr lang="en-US" sz="1200" dirty="0"/>
          </a:p>
        </p:txBody>
      </p:sp>
      <p:sp>
        <p:nvSpPr>
          <p:cNvPr id="9" name="Shape 5"/>
          <p:cNvSpPr/>
          <p:nvPr/>
        </p:nvSpPr>
        <p:spPr>
          <a:xfrm>
            <a:off x="2961184" y="1751211"/>
            <a:ext cx="2053134" cy="904180"/>
          </a:xfrm>
          <a:prstGeom prst="roundRect">
            <a:avLst>
              <a:gd name="adj" fmla="val 10534"/>
            </a:avLst>
          </a:prstGeom>
          <a:solidFill>
            <a:srgbClr val="12304A"/>
          </a:solidFill>
          <a:ln w="12700">
            <a:solidFill>
              <a:srgbClr val="24506E"/>
            </a:solidFill>
            <a:prstDash val="solid"/>
          </a:ln>
        </p:spPr>
      </p:sp>
      <p:sp>
        <p:nvSpPr>
          <p:cNvPr id="10" name="Text 6"/>
          <p:cNvSpPr/>
          <p:nvPr/>
        </p:nvSpPr>
        <p:spPr>
          <a:xfrm>
            <a:off x="3081834" y="1846461"/>
            <a:ext cx="1866189"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6CCFF6"/>
                </a:solidFill>
                <a:latin typeface="EB Garamond" pitchFamily="18" charset="0"/>
                <a:ea typeface="EB Garamond" pitchFamily="18" charset="-122"/>
                <a:cs typeface="EB Garamond" pitchFamily="18" charset="-120"/>
              </a:rPr>
              <a:t>400</a:t>
            </a:r>
            <a:endParaRPr lang="en-US" sz="2400" dirty="0"/>
          </a:p>
        </p:txBody>
      </p:sp>
      <p:sp>
        <p:nvSpPr>
          <p:cNvPr id="11" name="Text 7"/>
          <p:cNvSpPr/>
          <p:nvPr/>
        </p:nvSpPr>
        <p:spPr>
          <a:xfrm>
            <a:off x="3081834" y="2179141"/>
            <a:ext cx="1866189"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recortes de 512 × 512 por época</a:t>
            </a:r>
            <a:endParaRPr lang="en-US" sz="1200" dirty="0"/>
          </a:p>
        </p:txBody>
      </p:sp>
      <p:sp>
        <p:nvSpPr>
          <p:cNvPr id="12" name="Shape 8"/>
          <p:cNvSpPr/>
          <p:nvPr/>
        </p:nvSpPr>
        <p:spPr>
          <a:xfrm>
            <a:off x="5103217" y="1751211"/>
            <a:ext cx="2053233" cy="904180"/>
          </a:xfrm>
          <a:prstGeom prst="roundRect">
            <a:avLst>
              <a:gd name="adj" fmla="val 10534"/>
            </a:avLst>
          </a:prstGeom>
          <a:solidFill>
            <a:srgbClr val="12304A"/>
          </a:solidFill>
          <a:ln w="12700">
            <a:solidFill>
              <a:srgbClr val="24506E"/>
            </a:solidFill>
            <a:prstDash val="solid"/>
          </a:ln>
        </p:spPr>
      </p:sp>
      <p:sp>
        <p:nvSpPr>
          <p:cNvPr id="13" name="Text 9"/>
          <p:cNvSpPr/>
          <p:nvPr/>
        </p:nvSpPr>
        <p:spPr>
          <a:xfrm>
            <a:off x="5223867" y="1846461"/>
            <a:ext cx="1866291"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6CCFF6"/>
                </a:solidFill>
                <a:latin typeface="EB Garamond" pitchFamily="18" charset="0"/>
                <a:ea typeface="EB Garamond" pitchFamily="18" charset="-122"/>
                <a:cs typeface="EB Garamond" pitchFamily="18" charset="-120"/>
              </a:rPr>
              <a:t>4</a:t>
            </a:r>
            <a:endParaRPr lang="en-US" sz="2400" dirty="0"/>
          </a:p>
        </p:txBody>
      </p:sp>
      <p:sp>
        <p:nvSpPr>
          <p:cNvPr id="14" name="Text 10"/>
          <p:cNvSpPr/>
          <p:nvPr/>
        </p:nvSpPr>
        <p:spPr>
          <a:xfrm>
            <a:off x="5223867" y="2179141"/>
            <a:ext cx="1866291"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por lote: 100 pasos por época</a:t>
            </a:r>
            <a:endParaRPr lang="en-US" sz="1200" dirty="0"/>
          </a:p>
        </p:txBody>
      </p:sp>
      <p:sp>
        <p:nvSpPr>
          <p:cNvPr id="15" name="Shape 11"/>
          <p:cNvSpPr/>
          <p:nvPr/>
        </p:nvSpPr>
        <p:spPr>
          <a:xfrm>
            <a:off x="819150" y="2744291"/>
            <a:ext cx="2053134" cy="890191"/>
          </a:xfrm>
          <a:prstGeom prst="roundRect">
            <a:avLst>
              <a:gd name="adj" fmla="val 10700"/>
            </a:avLst>
          </a:prstGeom>
          <a:solidFill>
            <a:srgbClr val="12304A"/>
          </a:solidFill>
          <a:ln w="12700">
            <a:solidFill>
              <a:srgbClr val="24506E"/>
            </a:solidFill>
            <a:prstDash val="solid"/>
          </a:ln>
        </p:spPr>
      </p:sp>
      <p:sp>
        <p:nvSpPr>
          <p:cNvPr id="16" name="Text 12"/>
          <p:cNvSpPr/>
          <p:nvPr/>
        </p:nvSpPr>
        <p:spPr>
          <a:xfrm>
            <a:off x="939800" y="2839541"/>
            <a:ext cx="1866189" cy="318691"/>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F1F6F8"/>
                </a:solidFill>
                <a:latin typeface="EB Garamond" pitchFamily="18" charset="0"/>
                <a:ea typeface="EB Garamond" pitchFamily="18" charset="-122"/>
                <a:cs typeface="EB Garamond" pitchFamily="18" charset="-120"/>
              </a:rPr>
              <a:t>0.9 · 0.005</a:t>
            </a:r>
            <a:endParaRPr lang="en-US" sz="2100" dirty="0"/>
          </a:p>
        </p:txBody>
      </p:sp>
      <p:sp>
        <p:nvSpPr>
          <p:cNvPr id="17" name="Text 13"/>
          <p:cNvSpPr/>
          <p:nvPr/>
        </p:nvSpPr>
        <p:spPr>
          <a:xfrm>
            <a:off x="939800" y="3145532"/>
            <a:ext cx="1866189"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momento y tasa de aprendizaje</a:t>
            </a:r>
            <a:endParaRPr lang="en-US" sz="1200" dirty="0"/>
          </a:p>
        </p:txBody>
      </p:sp>
      <p:sp>
        <p:nvSpPr>
          <p:cNvPr id="18" name="Shape 14"/>
          <p:cNvSpPr/>
          <p:nvPr/>
        </p:nvSpPr>
        <p:spPr>
          <a:xfrm>
            <a:off x="2961184" y="2744291"/>
            <a:ext cx="2053134" cy="890191"/>
          </a:xfrm>
          <a:prstGeom prst="roundRect">
            <a:avLst>
              <a:gd name="adj" fmla="val 10700"/>
            </a:avLst>
          </a:prstGeom>
          <a:solidFill>
            <a:srgbClr val="12304A"/>
          </a:solidFill>
          <a:ln w="12700">
            <a:solidFill>
              <a:srgbClr val="24506E"/>
            </a:solidFill>
            <a:prstDash val="solid"/>
          </a:ln>
        </p:spPr>
      </p:sp>
      <p:sp>
        <p:nvSpPr>
          <p:cNvPr id="19" name="Text 15"/>
          <p:cNvSpPr/>
          <p:nvPr/>
        </p:nvSpPr>
        <p:spPr>
          <a:xfrm>
            <a:off x="3081834" y="2839541"/>
            <a:ext cx="1866189" cy="318691"/>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F1F6F8"/>
                </a:solidFill>
                <a:latin typeface="EB Garamond" pitchFamily="18" charset="0"/>
                <a:ea typeface="EB Garamond" pitchFamily="18" charset="-122"/>
                <a:cs typeface="EB Garamond" pitchFamily="18" charset="-120"/>
              </a:rPr>
              <a:t>Tesla T4</a:t>
            </a:r>
            <a:endParaRPr lang="en-US" sz="2100" dirty="0"/>
          </a:p>
        </p:txBody>
      </p:sp>
      <p:sp>
        <p:nvSpPr>
          <p:cNvPr id="20" name="Text 16"/>
          <p:cNvSpPr/>
          <p:nvPr/>
        </p:nvSpPr>
        <p:spPr>
          <a:xfrm>
            <a:off x="3081834" y="3145532"/>
            <a:ext cx="186618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GPU gratuita de Colab</a:t>
            </a:r>
            <a:endParaRPr lang="en-US" sz="1200" dirty="0"/>
          </a:p>
        </p:txBody>
      </p:sp>
      <p:sp>
        <p:nvSpPr>
          <p:cNvPr id="21" name="Shape 17"/>
          <p:cNvSpPr/>
          <p:nvPr/>
        </p:nvSpPr>
        <p:spPr>
          <a:xfrm>
            <a:off x="5106392" y="2747466"/>
            <a:ext cx="2046883" cy="883841"/>
          </a:xfrm>
          <a:prstGeom prst="roundRect">
            <a:avLst>
              <a:gd name="adj" fmla="val 10418"/>
            </a:avLst>
          </a:prstGeom>
          <a:solidFill>
            <a:srgbClr val="12304A"/>
          </a:solidFill>
          <a:ln w="19050">
            <a:solidFill>
              <a:srgbClr val="F4A259"/>
            </a:solidFill>
            <a:prstDash val="solid"/>
          </a:ln>
        </p:spPr>
      </p:sp>
      <p:sp>
        <p:nvSpPr>
          <p:cNvPr id="22" name="Text 18"/>
          <p:cNvSpPr/>
          <p:nvPr/>
        </p:nvSpPr>
        <p:spPr>
          <a:xfrm>
            <a:off x="5230217" y="2845891"/>
            <a:ext cx="1853210" cy="318691"/>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F4A259"/>
                </a:solidFill>
                <a:latin typeface="EB Garamond" pitchFamily="18" charset="0"/>
                <a:ea typeface="EB Garamond" pitchFamily="18" charset="-122"/>
                <a:cs typeface="EB Garamond" pitchFamily="18" charset="-120"/>
              </a:rPr>
              <a:t>≈ 36 min</a:t>
            </a:r>
            <a:endParaRPr lang="en-US" sz="2100" dirty="0"/>
          </a:p>
        </p:txBody>
      </p:sp>
      <p:sp>
        <p:nvSpPr>
          <p:cNvPr id="23" name="Text 19"/>
          <p:cNvSpPr/>
          <p:nvPr/>
        </p:nvSpPr>
        <p:spPr>
          <a:xfrm>
            <a:off x="5230217" y="3151882"/>
            <a:ext cx="185321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en total: 0.6 min por época</a:t>
            </a:r>
            <a:endParaRPr lang="en-US" sz="1200" dirty="0"/>
          </a:p>
        </p:txBody>
      </p:sp>
      <p:sp>
        <p:nvSpPr>
          <p:cNvPr id="24" name="Shape 20"/>
          <p:cNvSpPr/>
          <p:nvPr/>
        </p:nvSpPr>
        <p:spPr>
          <a:xfrm>
            <a:off x="7321550" y="1751211"/>
            <a:ext cx="4051300" cy="1883271"/>
          </a:xfrm>
          <a:prstGeom prst="roundRect">
            <a:avLst>
              <a:gd name="adj" fmla="val 5058"/>
            </a:avLst>
          </a:prstGeom>
          <a:solidFill>
            <a:srgbClr val="071420"/>
          </a:solidFill>
          <a:ln w="12700">
            <a:solidFill>
              <a:srgbClr val="24506E"/>
            </a:solidFill>
            <a:prstDash val="solid"/>
          </a:ln>
        </p:spPr>
      </p:sp>
      <p:sp>
        <p:nvSpPr>
          <p:cNvPr id="25" name="Text 21"/>
          <p:cNvSpPr/>
          <p:nvPr/>
        </p:nvSpPr>
        <p:spPr>
          <a:xfrm>
            <a:off x="7467600" y="1859161"/>
            <a:ext cx="38719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CCFF6"/>
                </a:solidFill>
                <a:latin typeface="IBM Plex Sans" pitchFamily="34" charset="0"/>
                <a:ea typeface="IBM Plex Sans" pitchFamily="34" charset="-122"/>
                <a:cs typeface="IBM Plex Sans" pitchFamily="34" charset="-120"/>
              </a:rPr>
              <a:t>SALIDA DEL CUADERNO</a:t>
            </a:r>
            <a:endParaRPr lang="en-US" sz="1200" dirty="0"/>
          </a:p>
        </p:txBody>
      </p:sp>
      <p:sp>
        <p:nvSpPr>
          <p:cNvPr id="26" name="Text 22"/>
          <p:cNvSpPr/>
          <p:nvPr/>
        </p:nvSpPr>
        <p:spPr>
          <a:xfrm>
            <a:off x="7467600" y="2110581"/>
            <a:ext cx="3871976"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1F6F8"/>
                </a:solidFill>
                <a:latin typeface="Courier New" pitchFamily="49" charset="0"/>
                <a:ea typeface="Courier New" pitchFamily="49" charset="-122"/>
                <a:cs typeface="Courier New" pitchFamily="49" charset="-120"/>
              </a:rPr>
              <a:t>Época 1/60 pérdida 1.3901 (0.6 min)</a:t>
            </a:r>
            <a:endParaRPr lang="en-US" sz="1200" dirty="0"/>
          </a:p>
        </p:txBody>
      </p:sp>
      <p:sp>
        <p:nvSpPr>
          <p:cNvPr id="27" name="Text 23"/>
          <p:cNvSpPr/>
          <p:nvPr/>
        </p:nvSpPr>
        <p:spPr>
          <a:xfrm>
            <a:off x="7467600" y="2346722"/>
            <a:ext cx="3871976"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1F6F8"/>
                </a:solidFill>
                <a:latin typeface="Courier New" pitchFamily="49" charset="0"/>
                <a:ea typeface="Courier New" pitchFamily="49" charset="-122"/>
                <a:cs typeface="Courier New" pitchFamily="49" charset="-120"/>
              </a:rPr>
              <a:t>Época 2/60 pérdida 0.8677 (1.2 min)</a:t>
            </a:r>
            <a:endParaRPr lang="en-US" sz="1200" dirty="0"/>
          </a:p>
        </p:txBody>
      </p:sp>
      <p:sp>
        <p:nvSpPr>
          <p:cNvPr id="28" name="Text 24"/>
          <p:cNvSpPr/>
          <p:nvPr/>
        </p:nvSpPr>
        <p:spPr>
          <a:xfrm>
            <a:off x="7467600" y="2582863"/>
            <a:ext cx="3871976"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1F6F8"/>
                </a:solidFill>
                <a:latin typeface="Courier New" pitchFamily="49" charset="0"/>
                <a:ea typeface="Courier New" pitchFamily="49" charset="-122"/>
                <a:cs typeface="Courier New" pitchFamily="49" charset="-120"/>
              </a:rPr>
              <a:t>Época 5/60 pérdida 0.7036 (3.0 min)</a:t>
            </a:r>
            <a:endParaRPr lang="en-US" sz="1200" dirty="0"/>
          </a:p>
        </p:txBody>
      </p:sp>
      <p:sp>
        <p:nvSpPr>
          <p:cNvPr id="29" name="Text 25"/>
          <p:cNvSpPr/>
          <p:nvPr/>
        </p:nvSpPr>
        <p:spPr>
          <a:xfrm>
            <a:off x="7467600" y="2819003"/>
            <a:ext cx="3871976"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4A259"/>
                </a:solidFill>
                <a:latin typeface="Courier New" pitchFamily="49" charset="0"/>
                <a:ea typeface="Courier New" pitchFamily="49" charset="-122"/>
                <a:cs typeface="Courier New" pitchFamily="49" charset="-120"/>
              </a:rPr>
              <a:t>validación: AP50 0.857 ← mejor</a:t>
            </a:r>
            <a:endParaRPr lang="en-US" sz="1200" dirty="0"/>
          </a:p>
        </p:txBody>
      </p:sp>
      <p:sp>
        <p:nvSpPr>
          <p:cNvPr id="30" name="Text 26"/>
          <p:cNvSpPr/>
          <p:nvPr/>
        </p:nvSpPr>
        <p:spPr>
          <a:xfrm>
            <a:off x="7467600" y="3055144"/>
            <a:ext cx="3871976"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1F6F8"/>
                </a:solidFill>
                <a:latin typeface="Courier New" pitchFamily="49" charset="0"/>
                <a:ea typeface="Courier New" pitchFamily="49" charset="-122"/>
                <a:cs typeface="Courier New" pitchFamily="49" charset="-120"/>
              </a:rPr>
              <a:t>Época 20/60 pérdida 0.4589 (12.0 min)</a:t>
            </a:r>
            <a:endParaRPr lang="en-US" sz="1200" dirty="0"/>
          </a:p>
        </p:txBody>
      </p:sp>
      <p:sp>
        <p:nvSpPr>
          <p:cNvPr id="31" name="Text 27"/>
          <p:cNvSpPr/>
          <p:nvPr/>
        </p:nvSpPr>
        <p:spPr>
          <a:xfrm>
            <a:off x="7467600" y="3291284"/>
            <a:ext cx="3871976" cy="223441"/>
          </a:xfrm>
          <a:prstGeom prst="rect">
            <a:avLst/>
          </a:prstGeom>
          <a:noFill/>
          <a:ln/>
        </p:spPr>
        <p:txBody>
          <a:bodyPr wrap="none" lIns="0" tIns="0" rIns="0" bIns="0" rtlCol="0" anchor="t">
            <a:normAutofit/>
          </a:bodyPr>
          <a:lstStyle/>
          <a:p>
            <a:pPr algn="l" indent="0" marL="0">
              <a:lnSpc>
                <a:spcPts val="1560"/>
              </a:lnSpc>
              <a:buNone/>
            </a:pPr>
            <a:r>
              <a:rPr lang="en-US" sz="1200" dirty="0">
                <a:solidFill>
                  <a:srgbClr val="F4A259"/>
                </a:solidFill>
                <a:latin typeface="Courier New" pitchFamily="49" charset="0"/>
                <a:ea typeface="Courier New" pitchFamily="49" charset="-122"/>
                <a:cs typeface="Courier New" pitchFamily="49" charset="-120"/>
              </a:rPr>
              <a:t>validación: AP50 0.888 ← mejor</a:t>
            </a:r>
            <a:endParaRPr lang="en-US" sz="1200" dirty="0"/>
          </a:p>
        </p:txBody>
      </p:sp>
      <p:sp>
        <p:nvSpPr>
          <p:cNvPr id="32" name="Text 28"/>
          <p:cNvSpPr/>
          <p:nvPr/>
        </p:nvSpPr>
        <p:spPr>
          <a:xfrm>
            <a:off x="812800" y="378053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LAS 60 ÉPOCAS, DE 5 EN 5</a:t>
            </a:r>
            <a:endParaRPr lang="en-US" sz="1200" dirty="0"/>
          </a:p>
        </p:txBody>
      </p:sp>
      <p:sp>
        <p:nvSpPr>
          <p:cNvPr id="33" name="Shape 29"/>
          <p:cNvSpPr/>
          <p:nvPr/>
        </p:nvSpPr>
        <p:spPr>
          <a:xfrm>
            <a:off x="812800" y="4044652"/>
            <a:ext cx="845542" cy="165100"/>
          </a:xfrm>
          <a:prstGeom prst="roundRect">
            <a:avLst>
              <a:gd name="adj" fmla="val 19231"/>
            </a:avLst>
          </a:prstGeom>
          <a:solidFill>
            <a:srgbClr val="6CCFF6"/>
          </a:solidFill>
          <a:ln/>
        </p:spPr>
      </p:sp>
      <p:sp>
        <p:nvSpPr>
          <p:cNvPr id="34" name="Text 30"/>
          <p:cNvSpPr/>
          <p:nvPr/>
        </p:nvSpPr>
        <p:spPr>
          <a:xfrm>
            <a:off x="787400" y="4235152"/>
            <a:ext cx="8963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5</a:t>
            </a:r>
            <a:endParaRPr lang="en-US" sz="1200" dirty="0"/>
          </a:p>
        </p:txBody>
      </p:sp>
      <p:sp>
        <p:nvSpPr>
          <p:cNvPr id="35" name="Shape 31"/>
          <p:cNvSpPr/>
          <p:nvPr/>
        </p:nvSpPr>
        <p:spPr>
          <a:xfrm>
            <a:off x="1696442" y="4044652"/>
            <a:ext cx="845641" cy="165100"/>
          </a:xfrm>
          <a:prstGeom prst="roundRect">
            <a:avLst>
              <a:gd name="adj" fmla="val 19231"/>
            </a:avLst>
          </a:prstGeom>
          <a:solidFill>
            <a:srgbClr val="F4A259"/>
          </a:solidFill>
          <a:ln/>
        </p:spPr>
      </p:sp>
      <p:sp>
        <p:nvSpPr>
          <p:cNvPr id="36" name="Text 32"/>
          <p:cNvSpPr/>
          <p:nvPr/>
        </p:nvSpPr>
        <p:spPr>
          <a:xfrm>
            <a:off x="1671042"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10</a:t>
            </a:r>
            <a:endParaRPr lang="en-US" sz="1200" dirty="0"/>
          </a:p>
        </p:txBody>
      </p:sp>
      <p:sp>
        <p:nvSpPr>
          <p:cNvPr id="37" name="Shape 33"/>
          <p:cNvSpPr/>
          <p:nvPr/>
        </p:nvSpPr>
        <p:spPr>
          <a:xfrm>
            <a:off x="2580184" y="4044652"/>
            <a:ext cx="845542" cy="165100"/>
          </a:xfrm>
          <a:prstGeom prst="roundRect">
            <a:avLst>
              <a:gd name="adj" fmla="val 19231"/>
            </a:avLst>
          </a:prstGeom>
          <a:solidFill>
            <a:srgbClr val="6CCFF6"/>
          </a:solidFill>
          <a:ln/>
        </p:spPr>
      </p:sp>
      <p:sp>
        <p:nvSpPr>
          <p:cNvPr id="38" name="Text 34"/>
          <p:cNvSpPr/>
          <p:nvPr/>
        </p:nvSpPr>
        <p:spPr>
          <a:xfrm>
            <a:off x="2554784" y="4235152"/>
            <a:ext cx="8963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15</a:t>
            </a:r>
            <a:endParaRPr lang="en-US" sz="1200" dirty="0"/>
          </a:p>
        </p:txBody>
      </p:sp>
      <p:sp>
        <p:nvSpPr>
          <p:cNvPr id="39" name="Shape 35"/>
          <p:cNvSpPr/>
          <p:nvPr/>
        </p:nvSpPr>
        <p:spPr>
          <a:xfrm>
            <a:off x="3463826" y="4044652"/>
            <a:ext cx="845641" cy="165100"/>
          </a:xfrm>
          <a:prstGeom prst="roundRect">
            <a:avLst>
              <a:gd name="adj" fmla="val 19231"/>
            </a:avLst>
          </a:prstGeom>
          <a:solidFill>
            <a:srgbClr val="F4A259"/>
          </a:solidFill>
          <a:ln/>
        </p:spPr>
      </p:sp>
      <p:sp>
        <p:nvSpPr>
          <p:cNvPr id="40" name="Text 36"/>
          <p:cNvSpPr/>
          <p:nvPr/>
        </p:nvSpPr>
        <p:spPr>
          <a:xfrm>
            <a:off x="3438426"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20</a:t>
            </a:r>
            <a:endParaRPr lang="en-US" sz="1200" dirty="0"/>
          </a:p>
        </p:txBody>
      </p:sp>
      <p:sp>
        <p:nvSpPr>
          <p:cNvPr id="41" name="Shape 37"/>
          <p:cNvSpPr/>
          <p:nvPr/>
        </p:nvSpPr>
        <p:spPr>
          <a:xfrm>
            <a:off x="4347567" y="4044652"/>
            <a:ext cx="845542" cy="165100"/>
          </a:xfrm>
          <a:prstGeom prst="roundRect">
            <a:avLst>
              <a:gd name="adj" fmla="val 19231"/>
            </a:avLst>
          </a:prstGeom>
          <a:solidFill>
            <a:srgbClr val="6CCFF6"/>
          </a:solidFill>
          <a:ln/>
        </p:spPr>
      </p:sp>
      <p:sp>
        <p:nvSpPr>
          <p:cNvPr id="42" name="Text 38"/>
          <p:cNvSpPr/>
          <p:nvPr/>
        </p:nvSpPr>
        <p:spPr>
          <a:xfrm>
            <a:off x="4322167" y="4235152"/>
            <a:ext cx="8963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25</a:t>
            </a:r>
            <a:endParaRPr lang="en-US" sz="1200" dirty="0"/>
          </a:p>
        </p:txBody>
      </p:sp>
      <p:sp>
        <p:nvSpPr>
          <p:cNvPr id="43" name="Shape 39"/>
          <p:cNvSpPr/>
          <p:nvPr/>
        </p:nvSpPr>
        <p:spPr>
          <a:xfrm>
            <a:off x="5231209" y="4044652"/>
            <a:ext cx="845641" cy="165100"/>
          </a:xfrm>
          <a:prstGeom prst="roundRect">
            <a:avLst>
              <a:gd name="adj" fmla="val 19231"/>
            </a:avLst>
          </a:prstGeom>
          <a:solidFill>
            <a:srgbClr val="F4A259"/>
          </a:solidFill>
          <a:ln/>
        </p:spPr>
      </p:sp>
      <p:sp>
        <p:nvSpPr>
          <p:cNvPr id="44" name="Text 40"/>
          <p:cNvSpPr/>
          <p:nvPr/>
        </p:nvSpPr>
        <p:spPr>
          <a:xfrm>
            <a:off x="5205809"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30</a:t>
            </a:r>
            <a:endParaRPr lang="en-US" sz="1200" dirty="0"/>
          </a:p>
        </p:txBody>
      </p:sp>
      <p:sp>
        <p:nvSpPr>
          <p:cNvPr id="45" name="Shape 41"/>
          <p:cNvSpPr/>
          <p:nvPr/>
        </p:nvSpPr>
        <p:spPr>
          <a:xfrm>
            <a:off x="6114951" y="4044652"/>
            <a:ext cx="845542" cy="165100"/>
          </a:xfrm>
          <a:prstGeom prst="roundRect">
            <a:avLst>
              <a:gd name="adj" fmla="val 19231"/>
            </a:avLst>
          </a:prstGeom>
          <a:solidFill>
            <a:srgbClr val="6CCFF6"/>
          </a:solidFill>
          <a:ln/>
        </p:spPr>
      </p:sp>
      <p:sp>
        <p:nvSpPr>
          <p:cNvPr id="46" name="Text 42"/>
          <p:cNvSpPr/>
          <p:nvPr/>
        </p:nvSpPr>
        <p:spPr>
          <a:xfrm>
            <a:off x="6089551" y="4235152"/>
            <a:ext cx="8963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35</a:t>
            </a:r>
            <a:endParaRPr lang="en-US" sz="1200" dirty="0"/>
          </a:p>
        </p:txBody>
      </p:sp>
      <p:sp>
        <p:nvSpPr>
          <p:cNvPr id="47" name="Shape 43"/>
          <p:cNvSpPr/>
          <p:nvPr/>
        </p:nvSpPr>
        <p:spPr>
          <a:xfrm>
            <a:off x="6998593" y="4044652"/>
            <a:ext cx="845641" cy="165100"/>
          </a:xfrm>
          <a:prstGeom prst="roundRect">
            <a:avLst>
              <a:gd name="adj" fmla="val 19231"/>
            </a:avLst>
          </a:prstGeom>
          <a:solidFill>
            <a:srgbClr val="F4A259"/>
          </a:solidFill>
          <a:ln/>
        </p:spPr>
      </p:sp>
      <p:sp>
        <p:nvSpPr>
          <p:cNvPr id="48" name="Text 44"/>
          <p:cNvSpPr/>
          <p:nvPr/>
        </p:nvSpPr>
        <p:spPr>
          <a:xfrm>
            <a:off x="6973193"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40</a:t>
            </a:r>
            <a:endParaRPr lang="en-US" sz="1200" dirty="0"/>
          </a:p>
        </p:txBody>
      </p:sp>
      <p:sp>
        <p:nvSpPr>
          <p:cNvPr id="49" name="Shape 45"/>
          <p:cNvSpPr/>
          <p:nvPr/>
        </p:nvSpPr>
        <p:spPr>
          <a:xfrm>
            <a:off x="7882334" y="4044652"/>
            <a:ext cx="845641" cy="165100"/>
          </a:xfrm>
          <a:prstGeom prst="roundRect">
            <a:avLst>
              <a:gd name="adj" fmla="val 19231"/>
            </a:avLst>
          </a:prstGeom>
          <a:solidFill>
            <a:srgbClr val="6CCFF6"/>
          </a:solidFill>
          <a:ln/>
        </p:spPr>
      </p:sp>
      <p:sp>
        <p:nvSpPr>
          <p:cNvPr id="50" name="Text 46"/>
          <p:cNvSpPr/>
          <p:nvPr/>
        </p:nvSpPr>
        <p:spPr>
          <a:xfrm>
            <a:off x="7856934"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45</a:t>
            </a:r>
            <a:endParaRPr lang="en-US" sz="1200" dirty="0"/>
          </a:p>
        </p:txBody>
      </p:sp>
      <p:sp>
        <p:nvSpPr>
          <p:cNvPr id="51" name="Shape 47"/>
          <p:cNvSpPr/>
          <p:nvPr/>
        </p:nvSpPr>
        <p:spPr>
          <a:xfrm>
            <a:off x="8766076" y="4044652"/>
            <a:ext cx="845641" cy="165100"/>
          </a:xfrm>
          <a:prstGeom prst="roundRect">
            <a:avLst>
              <a:gd name="adj" fmla="val 19231"/>
            </a:avLst>
          </a:prstGeom>
          <a:solidFill>
            <a:srgbClr val="F4A259"/>
          </a:solidFill>
          <a:ln/>
        </p:spPr>
      </p:sp>
      <p:sp>
        <p:nvSpPr>
          <p:cNvPr id="52" name="Text 48"/>
          <p:cNvSpPr/>
          <p:nvPr/>
        </p:nvSpPr>
        <p:spPr>
          <a:xfrm>
            <a:off x="8740676"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50</a:t>
            </a:r>
            <a:endParaRPr lang="en-US" sz="1200" dirty="0"/>
          </a:p>
        </p:txBody>
      </p:sp>
      <p:sp>
        <p:nvSpPr>
          <p:cNvPr id="53" name="Shape 49"/>
          <p:cNvSpPr/>
          <p:nvPr/>
        </p:nvSpPr>
        <p:spPr>
          <a:xfrm>
            <a:off x="9649817" y="4044652"/>
            <a:ext cx="845641" cy="165100"/>
          </a:xfrm>
          <a:prstGeom prst="roundRect">
            <a:avLst>
              <a:gd name="adj" fmla="val 19231"/>
            </a:avLst>
          </a:prstGeom>
          <a:solidFill>
            <a:srgbClr val="6CCFF6"/>
          </a:solidFill>
          <a:ln/>
        </p:spPr>
      </p:sp>
      <p:sp>
        <p:nvSpPr>
          <p:cNvPr id="54" name="Text 50"/>
          <p:cNvSpPr/>
          <p:nvPr/>
        </p:nvSpPr>
        <p:spPr>
          <a:xfrm>
            <a:off x="9624417"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55</a:t>
            </a:r>
            <a:endParaRPr lang="en-US" sz="1200" dirty="0"/>
          </a:p>
        </p:txBody>
      </p:sp>
      <p:sp>
        <p:nvSpPr>
          <p:cNvPr id="55" name="Shape 51"/>
          <p:cNvSpPr/>
          <p:nvPr/>
        </p:nvSpPr>
        <p:spPr>
          <a:xfrm>
            <a:off x="10533559" y="4044652"/>
            <a:ext cx="845641" cy="165100"/>
          </a:xfrm>
          <a:prstGeom prst="roundRect">
            <a:avLst>
              <a:gd name="adj" fmla="val 19231"/>
            </a:avLst>
          </a:prstGeom>
          <a:solidFill>
            <a:srgbClr val="F4A259"/>
          </a:solidFill>
          <a:ln/>
        </p:spPr>
      </p:sp>
      <p:sp>
        <p:nvSpPr>
          <p:cNvPr id="56" name="Text 52"/>
          <p:cNvSpPr/>
          <p:nvPr/>
        </p:nvSpPr>
        <p:spPr>
          <a:xfrm>
            <a:off x="10508159" y="4235152"/>
            <a:ext cx="8964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3D7E2"/>
                </a:solidFill>
                <a:latin typeface="IBM Plex Sans" pitchFamily="34" charset="0"/>
                <a:ea typeface="IBM Plex Sans" pitchFamily="34" charset="-122"/>
                <a:cs typeface="IBM Plex Sans" pitchFamily="34" charset="-120"/>
              </a:rPr>
              <a:t>60</a:t>
            </a:r>
            <a:endParaRPr lang="en-US" sz="1200" dirty="0"/>
          </a:p>
        </p:txBody>
      </p:sp>
      <p:sp>
        <p:nvSpPr>
          <p:cNvPr id="57" name="Text 53"/>
          <p:cNvSpPr/>
          <p:nvPr/>
        </p:nvSpPr>
        <p:spPr>
          <a:xfrm>
            <a:off x="812800" y="4499273"/>
            <a:ext cx="10883392"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6CCFF6"/>
                </a:solidFill>
                <a:latin typeface="IBM Plex Sans" pitchFamily="34" charset="0"/>
                <a:ea typeface="IBM Plex Sans" pitchFamily="34" charset="-122"/>
                <a:cs typeface="IBM Plex Sans" pitchFamily="34" charset="-120"/>
              </a:rPr>
              <a:t>Celeste:</a:t>
            </a:r>
            <a:r>
              <a:rPr lang="en-US" sz="1200" dirty="0">
                <a:solidFill>
                  <a:srgbClr val="C3D7E2"/>
                </a:solidFill>
                <a:latin typeface="IBM Plex Sans" pitchFamily="34" charset="0"/>
                <a:ea typeface="IBM Plex Sans" pitchFamily="34" charset="-122"/>
                <a:cs typeface="IBM Plex Sans" pitchFamily="34" charset="-120"/>
              </a:rPr>
              <a:t> se valida cada 5 épocas. </a:t>
            </a:r>
            <a:r>
              <a:rPr lang="en-US" sz="1200" b="1" dirty="0">
                <a:solidFill>
                  <a:srgbClr val="F4A259"/>
                </a:solidFill>
                <a:latin typeface="IBM Plex Sans" pitchFamily="34" charset="0"/>
                <a:ea typeface="IBM Plex Sans" pitchFamily="34" charset="-122"/>
                <a:cs typeface="IBM Plex Sans" pitchFamily="34" charset="-120"/>
              </a:rPr>
              <a:t>Naranja:</a:t>
            </a:r>
            <a:r>
              <a:rPr lang="en-US" sz="1200" dirty="0">
                <a:solidFill>
                  <a:srgbClr val="C3D7E2"/>
                </a:solidFill>
                <a:latin typeface="IBM Plex Sans" pitchFamily="34" charset="0"/>
                <a:ea typeface="IBM Plex Sans" pitchFamily="34" charset="-122"/>
                <a:cs typeface="IBM Plex Sans" pitchFamily="34" charset="-120"/>
              </a:rPr>
              <a:t> además se guarda un archivo de unos 350 MB para continuar si Colab se corta.</a:t>
            </a:r>
            <a:endParaRPr lang="en-US" sz="1200" dirty="0"/>
          </a:p>
        </p:txBody>
      </p:sp>
      <p:sp>
        <p:nvSpPr>
          <p:cNvPr id="58" name="Shape 54"/>
          <p:cNvSpPr/>
          <p:nvPr/>
        </p:nvSpPr>
        <p:spPr>
          <a:xfrm>
            <a:off x="812800" y="4837013"/>
            <a:ext cx="10566400" cy="482600"/>
          </a:xfrm>
          <a:prstGeom prst="roundRect">
            <a:avLst>
              <a:gd name="adj" fmla="val 23684"/>
            </a:avLst>
          </a:prstGeom>
          <a:solidFill>
            <a:srgbClr val="F4A259"/>
          </a:solidFill>
          <a:ln/>
        </p:spPr>
      </p:sp>
      <p:pic>
        <p:nvPicPr>
          <p:cNvPr id="59" name="Image 2" descr="Lightbulb">    </p:cNvPr>
          <p:cNvPicPr>
            <a:picLocks noChangeAspect="1"/>
          </p:cNvPicPr>
          <p:nvPr/>
        </p:nvPicPr>
        <p:blipFill>
          <a:blip r:embed="rId3"/>
          <a:srcRect l="0" r="0" t="0" b="0"/>
          <a:stretch/>
        </p:blipFill>
        <p:spPr>
          <a:xfrm>
            <a:off x="977900" y="4938613"/>
            <a:ext cx="279400" cy="279400"/>
          </a:xfrm>
          <a:prstGeom prst="rect">
            <a:avLst/>
          </a:prstGeom>
        </p:spPr>
      </p:pic>
      <p:sp>
        <p:nvSpPr>
          <p:cNvPr id="60" name="Text 55"/>
          <p:cNvSpPr/>
          <p:nvPr/>
        </p:nvSpPr>
        <p:spPr>
          <a:xfrm>
            <a:off x="1371600" y="4966891"/>
            <a:ext cx="1013777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Al sitio va el mejor modelo según la validación, no el de la última época, con su configuración y su umbral.</a:t>
            </a:r>
            <a:endParaRPr lang="en-US" sz="1300" dirty="0"/>
          </a:p>
        </p:txBody>
      </p:sp>
      <p:sp>
        <p:nvSpPr>
          <p:cNvPr id="61" name="Text 56"/>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Cuaderno de entrenamiento, corrida de ejemplo; hay un modo de prueba de 2 épocas</a:t>
            </a:r>
            <a:endParaRPr lang="en-US" sz="1200" dirty="0"/>
          </a:p>
        </p:txBody>
      </p:sp>
      <p:sp>
        <p:nvSpPr>
          <p:cNvPr id="62" name="Text 5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VALIDACIÓN DEL CUADERNO, UMBRAL DE 0.5</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se mide</a:t>
            </a:r>
            <a:endParaRPr lang="en-US" sz="3600" dirty="0"/>
          </a:p>
        </p:txBody>
      </p:sp>
      <p:sp>
        <p:nvSpPr>
          <p:cNvPr id="6" name="Text 2"/>
          <p:cNvSpPr/>
          <p:nvPr/>
        </p:nvSpPr>
        <p:spPr>
          <a:xfrm>
            <a:off x="812800" y="1732161"/>
            <a:ext cx="62788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Etiquetados por personas: 66</a:t>
            </a:r>
            <a:endParaRPr lang="en-US" sz="1300" dirty="0"/>
          </a:p>
        </p:txBody>
      </p:sp>
      <p:sp>
        <p:nvSpPr>
          <p:cNvPr id="7" name="Text 3"/>
          <p:cNvSpPr/>
          <p:nvPr/>
        </p:nvSpPr>
        <p:spPr>
          <a:xfrm>
            <a:off x="812800" y="2001341"/>
            <a:ext cx="3810000" cy="330200"/>
          </a:xfrm>
          <a:prstGeom prst="rect">
            <a:avLst/>
          </a:prstGeom>
          <a:solidFill>
            <a:srgbClr val="0E6E9C"/>
          </a:solidFill>
          <a:ln/>
        </p:spPr>
        <p:txBody>
          <a:bodyPr wrap="square" lIns="101600" tIns="0" rIns="101600" bIns="0" rtlCol="0" anchor="ctr">
            <a:normAutofit/>
          </a:bodyPr>
          <a:lstStyle/>
          <a:p>
            <a:pPr algn="l"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60 encontrados</a:t>
            </a:r>
            <a:endParaRPr lang="en-US" sz="1200" dirty="0"/>
          </a:p>
        </p:txBody>
      </p:sp>
      <p:sp>
        <p:nvSpPr>
          <p:cNvPr id="8" name="Text 4"/>
          <p:cNvSpPr/>
          <p:nvPr/>
        </p:nvSpPr>
        <p:spPr>
          <a:xfrm>
            <a:off x="4622800" y="2001341"/>
            <a:ext cx="381000" cy="330200"/>
          </a:xfrm>
          <a:prstGeom prst="rect">
            <a:avLst/>
          </a:prstGeom>
          <a:solidFill>
            <a:srgbClr val="8FA9B8"/>
          </a:solidFill>
          <a:ln/>
        </p:spPr>
        <p:txBody>
          <a:bodyPr wrap="square" lIns="0" tIns="0" rIns="0" bIns="0" rtlCol="0" anchor="ctr">
            <a:normAutofit/>
          </a:bodyPr>
          <a:lstStyle/>
          <a:p>
            <a:pPr algn="ctr" indent="0" marL="0">
              <a:lnSpc>
                <a:spcPts val="1680"/>
              </a:lnSpc>
              <a:buNone/>
            </a:pPr>
            <a:r>
              <a:rPr lang="en-US" sz="1200" b="1" dirty="0">
                <a:solidFill>
                  <a:srgbClr val="0B1F2E"/>
                </a:solidFill>
                <a:latin typeface="IBM Plex Sans" pitchFamily="34" charset="0"/>
                <a:ea typeface="IBM Plex Sans" pitchFamily="34" charset="-122"/>
                <a:cs typeface="IBM Plex Sans" pitchFamily="34" charset="-120"/>
              </a:rPr>
              <a:t>6</a:t>
            </a:r>
            <a:endParaRPr lang="en-US" sz="1200" dirty="0"/>
          </a:p>
        </p:txBody>
      </p:sp>
      <p:sp>
        <p:nvSpPr>
          <p:cNvPr id="9" name="Text 5"/>
          <p:cNvSpPr/>
          <p:nvPr/>
        </p:nvSpPr>
        <p:spPr>
          <a:xfrm>
            <a:off x="812800" y="2369641"/>
            <a:ext cx="627888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6 se escaparon.</a:t>
            </a:r>
            <a:endParaRPr lang="en-US" sz="1200" dirty="0"/>
          </a:p>
        </p:txBody>
      </p:sp>
      <p:sp>
        <p:nvSpPr>
          <p:cNvPr id="10" name="Text 6"/>
          <p:cNvSpPr/>
          <p:nvPr/>
        </p:nvSpPr>
        <p:spPr>
          <a:xfrm>
            <a:off x="812800" y="2656582"/>
            <a:ext cx="62788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Marcados por la red: 75</a:t>
            </a:r>
            <a:endParaRPr lang="en-US" sz="1300" dirty="0"/>
          </a:p>
        </p:txBody>
      </p:sp>
      <p:sp>
        <p:nvSpPr>
          <p:cNvPr id="11" name="Text 7"/>
          <p:cNvSpPr/>
          <p:nvPr/>
        </p:nvSpPr>
        <p:spPr>
          <a:xfrm>
            <a:off x="812800" y="2925763"/>
            <a:ext cx="3810000" cy="330200"/>
          </a:xfrm>
          <a:prstGeom prst="rect">
            <a:avLst/>
          </a:prstGeom>
          <a:solidFill>
            <a:srgbClr val="0E6E9C"/>
          </a:solidFill>
          <a:ln/>
        </p:spPr>
        <p:txBody>
          <a:bodyPr wrap="square" lIns="101600" tIns="0" rIns="101600" bIns="0" rtlCol="0" anchor="ctr">
            <a:normAutofit/>
          </a:bodyPr>
          <a:lstStyle/>
          <a:p>
            <a:pPr algn="l"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60 aciertos</a:t>
            </a:r>
            <a:endParaRPr lang="en-US" sz="1200" dirty="0"/>
          </a:p>
        </p:txBody>
      </p:sp>
      <p:sp>
        <p:nvSpPr>
          <p:cNvPr id="12" name="Text 8"/>
          <p:cNvSpPr/>
          <p:nvPr/>
        </p:nvSpPr>
        <p:spPr>
          <a:xfrm>
            <a:off x="4622800" y="2925763"/>
            <a:ext cx="952500" cy="330200"/>
          </a:xfrm>
          <a:prstGeom prst="rect">
            <a:avLst/>
          </a:prstGeom>
          <a:solidFill>
            <a:srgbClr val="A3480F"/>
          </a:solidFill>
          <a:ln/>
        </p:spPr>
        <p:txBody>
          <a:bodyPr wrap="square" lIns="76200" tIns="0" rIns="76200" bIns="0" rtlCol="0" anchor="ctr">
            <a:normAutofit/>
          </a:bodyPr>
          <a:lstStyle/>
          <a:p>
            <a:pPr algn="l"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15 falsas</a:t>
            </a:r>
            <a:endParaRPr lang="en-US" sz="1200" dirty="0"/>
          </a:p>
        </p:txBody>
      </p:sp>
      <p:sp>
        <p:nvSpPr>
          <p:cNvPr id="13" name="Text 9"/>
          <p:cNvSpPr/>
          <p:nvPr/>
        </p:nvSpPr>
        <p:spPr>
          <a:xfrm>
            <a:off x="812800" y="3294063"/>
            <a:ext cx="627888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Un acierto: IoU de 0.5 o más con un contorno etiquetado.</a:t>
            </a:r>
            <a:endParaRPr lang="en-US" sz="1200" dirty="0"/>
          </a:p>
        </p:txBody>
      </p:sp>
      <p:sp>
        <p:nvSpPr>
          <p:cNvPr id="14" name="Shape 10"/>
          <p:cNvSpPr/>
          <p:nvPr/>
        </p:nvSpPr>
        <p:spPr>
          <a:xfrm>
            <a:off x="812800" y="3581003"/>
            <a:ext cx="2324100" cy="697111"/>
          </a:xfrm>
          <a:prstGeom prst="roundRect">
            <a:avLst>
              <a:gd name="adj" fmla="val 14574"/>
            </a:avLst>
          </a:prstGeom>
          <a:solidFill>
            <a:srgbClr val="0B1F2E"/>
          </a:solidFill>
          <a:ln/>
        </p:spPr>
      </p:sp>
      <p:sp>
        <p:nvSpPr>
          <p:cNvPr id="15" name="Text 11"/>
          <p:cNvSpPr/>
          <p:nvPr/>
        </p:nvSpPr>
        <p:spPr>
          <a:xfrm>
            <a:off x="939800" y="3669903"/>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CCFF6"/>
                </a:solidFill>
                <a:latin typeface="IBM Plex Sans" pitchFamily="34" charset="0"/>
                <a:ea typeface="IBM Plex Sans" pitchFamily="34" charset="-122"/>
                <a:cs typeface="IBM Plex Sans" pitchFamily="34" charset="-120"/>
              </a:rPr>
              <a:t>PRECISIÓN</a:t>
            </a:r>
            <a:endParaRPr lang="en-US" sz="1200" dirty="0"/>
          </a:p>
        </p:txBody>
      </p:sp>
      <p:sp>
        <p:nvSpPr>
          <p:cNvPr id="16" name="Text 12"/>
          <p:cNvSpPr/>
          <p:nvPr/>
        </p:nvSpPr>
        <p:spPr>
          <a:xfrm>
            <a:off x="939800" y="3895923"/>
            <a:ext cx="2132203"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1F6F8"/>
                </a:solidFill>
                <a:latin typeface="EB Garamond" pitchFamily="18" charset="0"/>
                <a:ea typeface="EB Garamond" pitchFamily="18" charset="-122"/>
                <a:cs typeface="EB Garamond" pitchFamily="18" charset="-120"/>
              </a:rPr>
              <a:t>60 ÷ 75 = 0.80</a:t>
            </a:r>
            <a:endParaRPr lang="en-US" sz="2200" dirty="0"/>
          </a:p>
        </p:txBody>
      </p:sp>
      <p:sp>
        <p:nvSpPr>
          <p:cNvPr id="17" name="Shape 13"/>
          <p:cNvSpPr/>
          <p:nvPr/>
        </p:nvSpPr>
        <p:spPr>
          <a:xfrm>
            <a:off x="3225800" y="3581003"/>
            <a:ext cx="2324100" cy="697111"/>
          </a:xfrm>
          <a:prstGeom prst="roundRect">
            <a:avLst>
              <a:gd name="adj" fmla="val 14574"/>
            </a:avLst>
          </a:prstGeom>
          <a:solidFill>
            <a:srgbClr val="0B1F2E"/>
          </a:solidFill>
          <a:ln/>
        </p:spPr>
      </p:sp>
      <p:sp>
        <p:nvSpPr>
          <p:cNvPr id="18" name="Text 14"/>
          <p:cNvSpPr/>
          <p:nvPr/>
        </p:nvSpPr>
        <p:spPr>
          <a:xfrm>
            <a:off x="3352800" y="3669903"/>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CCFF6"/>
                </a:solidFill>
                <a:latin typeface="IBM Plex Sans" pitchFamily="34" charset="0"/>
                <a:ea typeface="IBM Plex Sans" pitchFamily="34" charset="-122"/>
                <a:cs typeface="IBM Plex Sans" pitchFamily="34" charset="-120"/>
              </a:rPr>
              <a:t>EXHAUSTIVIDAD</a:t>
            </a:r>
            <a:endParaRPr lang="en-US" sz="1200" dirty="0"/>
          </a:p>
        </p:txBody>
      </p:sp>
      <p:sp>
        <p:nvSpPr>
          <p:cNvPr id="19" name="Text 15"/>
          <p:cNvSpPr/>
          <p:nvPr/>
        </p:nvSpPr>
        <p:spPr>
          <a:xfrm>
            <a:off x="3352800" y="3895923"/>
            <a:ext cx="2132203"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1F6F8"/>
                </a:solidFill>
                <a:latin typeface="EB Garamond" pitchFamily="18" charset="0"/>
                <a:ea typeface="EB Garamond" pitchFamily="18" charset="-122"/>
                <a:cs typeface="EB Garamond" pitchFamily="18" charset="-120"/>
              </a:rPr>
              <a:t>60 ÷ 66 = 0.91</a:t>
            </a:r>
            <a:endParaRPr lang="en-US" sz="2200" dirty="0"/>
          </a:p>
        </p:txBody>
      </p:sp>
      <p:sp>
        <p:nvSpPr>
          <p:cNvPr id="20" name="Shape 16"/>
          <p:cNvSpPr/>
          <p:nvPr/>
        </p:nvSpPr>
        <p:spPr>
          <a:xfrm>
            <a:off x="5638800" y="3581003"/>
            <a:ext cx="1270000" cy="697111"/>
          </a:xfrm>
          <a:prstGeom prst="roundRect">
            <a:avLst>
              <a:gd name="adj" fmla="val 14574"/>
            </a:avLst>
          </a:prstGeom>
          <a:solidFill>
            <a:srgbClr val="0B1F2E"/>
          </a:solidFill>
          <a:ln/>
        </p:spPr>
      </p:sp>
      <p:sp>
        <p:nvSpPr>
          <p:cNvPr id="21" name="Text 17"/>
          <p:cNvSpPr/>
          <p:nvPr/>
        </p:nvSpPr>
        <p:spPr>
          <a:xfrm>
            <a:off x="5765800" y="366990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A259"/>
                </a:solidFill>
                <a:latin typeface="IBM Plex Sans" pitchFamily="34" charset="0"/>
                <a:ea typeface="IBM Plex Sans" pitchFamily="34" charset="-122"/>
                <a:cs typeface="IBM Plex Sans" pitchFamily="34" charset="-120"/>
              </a:rPr>
              <a:t>F1</a:t>
            </a:r>
            <a:endParaRPr lang="en-US" sz="1200" dirty="0"/>
          </a:p>
        </p:txBody>
      </p:sp>
      <p:sp>
        <p:nvSpPr>
          <p:cNvPr id="22" name="Text 18"/>
          <p:cNvSpPr/>
          <p:nvPr/>
        </p:nvSpPr>
        <p:spPr>
          <a:xfrm>
            <a:off x="5765800" y="3895923"/>
            <a:ext cx="1066800"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4A259"/>
                </a:solidFill>
                <a:latin typeface="EB Garamond" pitchFamily="18" charset="0"/>
                <a:ea typeface="EB Garamond" pitchFamily="18" charset="-122"/>
                <a:cs typeface="EB Garamond" pitchFamily="18" charset="-120"/>
              </a:rPr>
              <a:t>0.85</a:t>
            </a:r>
            <a:endParaRPr lang="en-US" sz="2200" dirty="0"/>
          </a:p>
        </p:txBody>
      </p:sp>
      <p:sp>
        <p:nvSpPr>
          <p:cNvPr id="23" name="Text 19"/>
          <p:cNvSpPr/>
          <p:nvPr/>
        </p:nvSpPr>
        <p:spPr>
          <a:xfrm>
            <a:off x="819150" y="4373364"/>
            <a:ext cx="6083300" cy="396180"/>
          </a:xfrm>
          <a:prstGeom prst="roundRect">
            <a:avLst>
              <a:gd name="adj" fmla="val 24042"/>
            </a:avLst>
          </a:prstGeom>
          <a:solidFill>
            <a:srgbClr val="FCFDFD"/>
          </a:solidFill>
          <a:ln w="12700">
            <a:solidFill>
              <a:srgbClr val="D5E3EA"/>
            </a:solidFill>
            <a:prstDash val="solid"/>
          </a:ln>
        </p:spPr>
        <p:txBody>
          <a:bodyPr wrap="square" lIns="118152" tIns="67352" rIns="0" bIns="41952" rtlCol="0" anchor="t">
            <a:normAutofit/>
          </a:bodyPr>
          <a:lstStyle/>
          <a:p>
            <a:pPr algn="l" indent="0" marL="0">
              <a:lnSpc>
                <a:spcPts val="1620"/>
              </a:lnSpc>
              <a:buNone/>
            </a:pPr>
            <a:r>
              <a:rPr lang="en-US" sz="1200" b="1" dirty="0">
                <a:solidFill>
                  <a:srgbClr val="0C2A3E"/>
                </a:solidFill>
                <a:latin typeface="IBM Plex Sans" pitchFamily="34" charset="0"/>
                <a:ea typeface="IBM Plex Sans" pitchFamily="34" charset="-122"/>
                <a:cs typeface="IBM Plex Sans" pitchFamily="34" charset="-120"/>
              </a:rPr>
              <a:t>AP50:</a:t>
            </a:r>
            <a:r>
              <a:rPr lang="en-US" sz="1200" dirty="0">
                <a:solidFill>
                  <a:srgbClr val="0C2A3E"/>
                </a:solidFill>
                <a:latin typeface="IBM Plex Sans" pitchFamily="34" charset="0"/>
                <a:ea typeface="IBM Plex Sans" pitchFamily="34" charset="-122"/>
                <a:cs typeface="IBM Plex Sans" pitchFamily="34" charset="-120"/>
              </a:rPr>
              <a:t> la calidad en todos los umbrales a la vez, de 0 a 1. Del mejor modelo: 0.888.</a:t>
            </a:r>
            <a:endParaRPr lang="en-US" sz="1200" dirty="0"/>
          </a:p>
        </p:txBody>
      </p:sp>
      <p:pic>
        <p:nvPicPr>
          <p:cNvPr id="24" name="Image 2" descr="Un recorte de la imagen de muestra: contornos celestes sobre cabezas (aciertos), un contorno naranja sobre un filamento (marca falsa) y círculos blancos sobre cabezas sin contorno (escapados)">    </p:cNvPr>
          <p:cNvPicPr>
            <a:picLocks noChangeAspect="1"/>
          </p:cNvPicPr>
          <p:nvPr/>
        </p:nvPicPr>
        <p:blipFill>
          <a:blip r:embed="rId3"/>
          <a:srcRect l="0" r="0" t="16" b="16"/>
          <a:stretch/>
        </p:blipFill>
        <p:spPr>
          <a:xfrm>
            <a:off x="7112000" y="1732161"/>
            <a:ext cx="4064000" cy="2901950"/>
          </a:xfrm>
          <a:prstGeom prst="roundRect">
            <a:avLst>
              <a:gd name="adj" fmla="val 2626"/>
            </a:avLst>
          </a:prstGeom>
        </p:spPr>
      </p:pic>
      <p:sp>
        <p:nvSpPr>
          <p:cNvPr id="25" name="Text 20"/>
          <p:cNvSpPr/>
          <p:nvPr/>
        </p:nvSpPr>
        <p:spPr>
          <a:xfrm>
            <a:off x="7112000" y="4684911"/>
            <a:ext cx="119816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E6E9C"/>
                </a:solidFill>
                <a:latin typeface="IBM Plex Sans" pitchFamily="34" charset="0"/>
                <a:ea typeface="IBM Plex Sans" pitchFamily="34" charset="-122"/>
                <a:cs typeface="IBM Plex Sans" pitchFamily="34" charset="-120"/>
              </a:rPr>
              <a:t>Celeste:</a:t>
            </a:r>
            <a:r>
              <a:rPr lang="en-US" sz="1200" dirty="0">
                <a:solidFill>
                  <a:srgbClr val="3E5566"/>
                </a:solidFill>
                <a:latin typeface="IBM Plex Sans" pitchFamily="34" charset="0"/>
                <a:ea typeface="IBM Plex Sans" pitchFamily="34" charset="-122"/>
                <a:cs typeface="IBM Plex Sans" pitchFamily="34" charset="-120"/>
              </a:rPr>
              <a:t> acierto</a:t>
            </a:r>
            <a:endParaRPr lang="en-US" sz="1200" dirty="0"/>
          </a:p>
        </p:txBody>
      </p:sp>
      <p:sp>
        <p:nvSpPr>
          <p:cNvPr id="26" name="Text 21"/>
          <p:cNvSpPr/>
          <p:nvPr/>
        </p:nvSpPr>
        <p:spPr>
          <a:xfrm>
            <a:off x="8310166" y="4684911"/>
            <a:ext cx="1730454"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A3480F"/>
                </a:solidFill>
                <a:latin typeface="IBM Plex Sans" pitchFamily="34" charset="0"/>
                <a:ea typeface="IBM Plex Sans" pitchFamily="34" charset="-122"/>
                <a:cs typeface="IBM Plex Sans" pitchFamily="34" charset="-120"/>
              </a:rPr>
              <a:t>Naranja:</a:t>
            </a:r>
            <a:r>
              <a:rPr lang="en-US" sz="1200" dirty="0">
                <a:solidFill>
                  <a:srgbClr val="3E5566"/>
                </a:solidFill>
                <a:latin typeface="IBM Plex Sans" pitchFamily="34" charset="0"/>
                <a:ea typeface="IBM Plex Sans" pitchFamily="34" charset="-122"/>
                <a:cs typeface="IBM Plex Sans" pitchFamily="34" charset="-120"/>
              </a:rPr>
              <a:t> marca falsa</a:t>
            </a:r>
            <a:endParaRPr lang="en-US" sz="1200" dirty="0"/>
          </a:p>
        </p:txBody>
      </p:sp>
      <p:sp>
        <p:nvSpPr>
          <p:cNvPr id="27" name="Text 22"/>
          <p:cNvSpPr/>
          <p:nvPr/>
        </p:nvSpPr>
        <p:spPr>
          <a:xfrm>
            <a:off x="7112000" y="4977011"/>
            <a:ext cx="214991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C2A3E"/>
                </a:solidFill>
                <a:latin typeface="IBM Plex Sans" pitchFamily="34" charset="0"/>
                <a:ea typeface="IBM Plex Sans" pitchFamily="34" charset="-122"/>
                <a:cs typeface="IBM Plex Sans" pitchFamily="34" charset="-120"/>
              </a:rPr>
              <a:t>Círculo blanco:</a:t>
            </a:r>
            <a:r>
              <a:rPr lang="en-US" sz="1200" dirty="0">
                <a:solidFill>
                  <a:srgbClr val="3E5566"/>
                </a:solidFill>
                <a:latin typeface="IBM Plex Sans" pitchFamily="34" charset="0"/>
                <a:ea typeface="IBM Plex Sans" pitchFamily="34" charset="-122"/>
                <a:cs typeface="IBM Plex Sans" pitchFamily="34" charset="-120"/>
              </a:rPr>
              <a:t> se escapó</a:t>
            </a:r>
            <a:endParaRPr lang="en-US" sz="1200" dirty="0"/>
          </a:p>
        </p:txBody>
      </p:sp>
      <p:sp>
        <p:nvSpPr>
          <p:cNvPr id="28" name="Text 23"/>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Cifras: validación del cuaderno. Imagen: de muestra</a:t>
            </a:r>
            <a:endParaRPr lang="en-US" sz="1200" dirty="0"/>
          </a:p>
        </p:txBody>
      </p:sp>
      <p:sp>
        <p:nvSpPr>
          <p:cNvPr id="29"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SE PRUEBAN VARIOS Y SE ELIGE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Elegir el umbral</a:t>
            </a:r>
            <a:endParaRPr lang="en-US" sz="3600" dirty="0"/>
          </a:p>
        </p:txBody>
      </p:sp>
      <p:sp>
        <p:nvSpPr>
          <p:cNvPr id="6" name="Text 2"/>
          <p:cNvSpPr/>
          <p:nvPr/>
        </p:nvSpPr>
        <p:spPr>
          <a:xfrm>
            <a:off x="927100" y="179566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Umbral</a:t>
            </a:r>
            <a:endParaRPr lang="en-US" sz="1200" dirty="0"/>
          </a:p>
        </p:txBody>
      </p:sp>
      <p:sp>
        <p:nvSpPr>
          <p:cNvPr id="7" name="Text 3"/>
          <p:cNvSpPr/>
          <p:nvPr/>
        </p:nvSpPr>
        <p:spPr>
          <a:xfrm>
            <a:off x="1752600" y="1795661"/>
            <a:ext cx="876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Marcas</a:t>
            </a:r>
            <a:endParaRPr lang="en-US" sz="1200" dirty="0"/>
          </a:p>
        </p:txBody>
      </p:sp>
      <p:sp>
        <p:nvSpPr>
          <p:cNvPr id="8" name="Text 4"/>
          <p:cNvSpPr/>
          <p:nvPr/>
        </p:nvSpPr>
        <p:spPr>
          <a:xfrm>
            <a:off x="2641600" y="1795661"/>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Precisión</a:t>
            </a:r>
            <a:endParaRPr lang="en-US" sz="1200" dirty="0"/>
          </a:p>
        </p:txBody>
      </p:sp>
      <p:sp>
        <p:nvSpPr>
          <p:cNvPr id="9" name="Text 5"/>
          <p:cNvSpPr/>
          <p:nvPr/>
        </p:nvSpPr>
        <p:spPr>
          <a:xfrm>
            <a:off x="3911600" y="1795661"/>
            <a:ext cx="1638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Exhaustividad</a:t>
            </a:r>
            <a:endParaRPr lang="en-US" sz="1200" dirty="0"/>
          </a:p>
        </p:txBody>
      </p:sp>
      <p:sp>
        <p:nvSpPr>
          <p:cNvPr id="10" name="Text 6"/>
          <p:cNvSpPr/>
          <p:nvPr/>
        </p:nvSpPr>
        <p:spPr>
          <a:xfrm>
            <a:off x="5562600" y="179566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F1</a:t>
            </a:r>
            <a:endParaRPr lang="en-US" sz="1200" dirty="0"/>
          </a:p>
        </p:txBody>
      </p:sp>
      <p:sp>
        <p:nvSpPr>
          <p:cNvPr id="11" name="Shape 7"/>
          <p:cNvSpPr/>
          <p:nvPr/>
        </p:nvSpPr>
        <p:spPr>
          <a:xfrm>
            <a:off x="812800" y="2097881"/>
            <a:ext cx="5715000" cy="345380"/>
          </a:xfrm>
          <a:prstGeom prst="roundRect">
            <a:avLst>
              <a:gd name="adj" fmla="val 22063"/>
            </a:avLst>
          </a:prstGeom>
          <a:solidFill>
            <a:srgbClr val="12304A"/>
          </a:solidFill>
          <a:ln/>
        </p:spPr>
      </p:sp>
      <p:sp>
        <p:nvSpPr>
          <p:cNvPr id="12" name="Text 8"/>
          <p:cNvSpPr/>
          <p:nvPr/>
        </p:nvSpPr>
        <p:spPr>
          <a:xfrm>
            <a:off x="927100" y="2155031"/>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0.3</a:t>
            </a:r>
            <a:endParaRPr lang="en-US" sz="1300" dirty="0"/>
          </a:p>
        </p:txBody>
      </p:sp>
      <p:sp>
        <p:nvSpPr>
          <p:cNvPr id="13" name="Text 9"/>
          <p:cNvSpPr/>
          <p:nvPr/>
        </p:nvSpPr>
        <p:spPr>
          <a:xfrm>
            <a:off x="1752600" y="2155031"/>
            <a:ext cx="876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79</a:t>
            </a:r>
            <a:endParaRPr lang="en-US" sz="1300" dirty="0"/>
          </a:p>
        </p:txBody>
      </p:sp>
      <p:sp>
        <p:nvSpPr>
          <p:cNvPr id="14" name="Text 10"/>
          <p:cNvSpPr/>
          <p:nvPr/>
        </p:nvSpPr>
        <p:spPr>
          <a:xfrm>
            <a:off x="2641600" y="2155031"/>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0.759</a:t>
            </a:r>
            <a:endParaRPr lang="en-US" sz="1300" dirty="0"/>
          </a:p>
        </p:txBody>
      </p:sp>
      <p:sp>
        <p:nvSpPr>
          <p:cNvPr id="15" name="Text 11"/>
          <p:cNvSpPr/>
          <p:nvPr/>
        </p:nvSpPr>
        <p:spPr>
          <a:xfrm>
            <a:off x="3911600" y="2155031"/>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0.909</a:t>
            </a:r>
            <a:endParaRPr lang="en-US" sz="1300" dirty="0"/>
          </a:p>
        </p:txBody>
      </p:sp>
      <p:sp>
        <p:nvSpPr>
          <p:cNvPr id="16" name="Text 12"/>
          <p:cNvSpPr/>
          <p:nvPr/>
        </p:nvSpPr>
        <p:spPr>
          <a:xfrm>
            <a:off x="5562600" y="2155031"/>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0.828</a:t>
            </a:r>
            <a:endParaRPr lang="en-US" sz="1300" dirty="0"/>
          </a:p>
        </p:txBody>
      </p:sp>
      <p:sp>
        <p:nvSpPr>
          <p:cNvPr id="17" name="Shape 13"/>
          <p:cNvSpPr/>
          <p:nvPr/>
        </p:nvSpPr>
        <p:spPr>
          <a:xfrm>
            <a:off x="812800" y="2481362"/>
            <a:ext cx="5715000" cy="345380"/>
          </a:xfrm>
          <a:prstGeom prst="roundRect">
            <a:avLst>
              <a:gd name="adj" fmla="val 22063"/>
            </a:avLst>
          </a:prstGeom>
          <a:solidFill>
            <a:srgbClr val="12304A"/>
          </a:solidFill>
          <a:ln/>
        </p:spPr>
      </p:sp>
      <p:sp>
        <p:nvSpPr>
          <p:cNvPr id="18" name="Text 14"/>
          <p:cNvSpPr/>
          <p:nvPr/>
        </p:nvSpPr>
        <p:spPr>
          <a:xfrm>
            <a:off x="927100" y="2538512"/>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0.4</a:t>
            </a:r>
            <a:endParaRPr lang="en-US" sz="1300" dirty="0"/>
          </a:p>
        </p:txBody>
      </p:sp>
      <p:sp>
        <p:nvSpPr>
          <p:cNvPr id="19" name="Text 15"/>
          <p:cNvSpPr/>
          <p:nvPr/>
        </p:nvSpPr>
        <p:spPr>
          <a:xfrm>
            <a:off x="1752600" y="2538512"/>
            <a:ext cx="876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76</a:t>
            </a:r>
            <a:endParaRPr lang="en-US" sz="1300" dirty="0"/>
          </a:p>
        </p:txBody>
      </p:sp>
      <p:sp>
        <p:nvSpPr>
          <p:cNvPr id="20" name="Text 16"/>
          <p:cNvSpPr/>
          <p:nvPr/>
        </p:nvSpPr>
        <p:spPr>
          <a:xfrm>
            <a:off x="2641600" y="2538512"/>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0.789</a:t>
            </a:r>
            <a:endParaRPr lang="en-US" sz="1300" dirty="0"/>
          </a:p>
        </p:txBody>
      </p:sp>
      <p:sp>
        <p:nvSpPr>
          <p:cNvPr id="21" name="Text 17"/>
          <p:cNvSpPr/>
          <p:nvPr/>
        </p:nvSpPr>
        <p:spPr>
          <a:xfrm>
            <a:off x="3911600" y="2538512"/>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0.909</a:t>
            </a:r>
            <a:endParaRPr lang="en-US" sz="1300" dirty="0"/>
          </a:p>
        </p:txBody>
      </p:sp>
      <p:sp>
        <p:nvSpPr>
          <p:cNvPr id="22" name="Text 18"/>
          <p:cNvSpPr/>
          <p:nvPr/>
        </p:nvSpPr>
        <p:spPr>
          <a:xfrm>
            <a:off x="5562600" y="2538512"/>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0.845</a:t>
            </a:r>
            <a:endParaRPr lang="en-US" sz="1300" dirty="0"/>
          </a:p>
        </p:txBody>
      </p:sp>
      <p:sp>
        <p:nvSpPr>
          <p:cNvPr id="23" name="Shape 19"/>
          <p:cNvSpPr/>
          <p:nvPr/>
        </p:nvSpPr>
        <p:spPr>
          <a:xfrm>
            <a:off x="812800" y="2864842"/>
            <a:ext cx="5715000" cy="345380"/>
          </a:xfrm>
          <a:prstGeom prst="roundRect">
            <a:avLst>
              <a:gd name="adj" fmla="val 22063"/>
            </a:avLst>
          </a:prstGeom>
          <a:solidFill>
            <a:srgbClr val="12304A"/>
          </a:solidFill>
          <a:ln/>
        </p:spPr>
      </p:sp>
      <p:sp>
        <p:nvSpPr>
          <p:cNvPr id="24" name="Text 20"/>
          <p:cNvSpPr/>
          <p:nvPr/>
        </p:nvSpPr>
        <p:spPr>
          <a:xfrm>
            <a:off x="927100" y="2921992"/>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0.5</a:t>
            </a:r>
            <a:endParaRPr lang="en-US" sz="1300" dirty="0"/>
          </a:p>
        </p:txBody>
      </p:sp>
      <p:sp>
        <p:nvSpPr>
          <p:cNvPr id="25" name="Text 21"/>
          <p:cNvSpPr/>
          <p:nvPr/>
        </p:nvSpPr>
        <p:spPr>
          <a:xfrm>
            <a:off x="1752600" y="2921992"/>
            <a:ext cx="876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75</a:t>
            </a:r>
            <a:endParaRPr lang="en-US" sz="1300" dirty="0"/>
          </a:p>
        </p:txBody>
      </p:sp>
      <p:sp>
        <p:nvSpPr>
          <p:cNvPr id="26" name="Text 22"/>
          <p:cNvSpPr/>
          <p:nvPr/>
        </p:nvSpPr>
        <p:spPr>
          <a:xfrm>
            <a:off x="2641600" y="2921992"/>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0.800</a:t>
            </a:r>
            <a:endParaRPr lang="en-US" sz="1300" dirty="0"/>
          </a:p>
        </p:txBody>
      </p:sp>
      <p:sp>
        <p:nvSpPr>
          <p:cNvPr id="27" name="Text 23"/>
          <p:cNvSpPr/>
          <p:nvPr/>
        </p:nvSpPr>
        <p:spPr>
          <a:xfrm>
            <a:off x="3911600" y="2921992"/>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0.909</a:t>
            </a:r>
            <a:endParaRPr lang="en-US" sz="1300" dirty="0"/>
          </a:p>
        </p:txBody>
      </p:sp>
      <p:sp>
        <p:nvSpPr>
          <p:cNvPr id="28" name="Text 24"/>
          <p:cNvSpPr/>
          <p:nvPr/>
        </p:nvSpPr>
        <p:spPr>
          <a:xfrm>
            <a:off x="5562600" y="2921992"/>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0.851</a:t>
            </a:r>
            <a:endParaRPr lang="en-US" sz="1300" dirty="0"/>
          </a:p>
        </p:txBody>
      </p:sp>
      <p:sp>
        <p:nvSpPr>
          <p:cNvPr id="29" name="Shape 25"/>
          <p:cNvSpPr/>
          <p:nvPr/>
        </p:nvSpPr>
        <p:spPr>
          <a:xfrm>
            <a:off x="812800" y="3248323"/>
            <a:ext cx="5715000" cy="345380"/>
          </a:xfrm>
          <a:prstGeom prst="roundRect">
            <a:avLst>
              <a:gd name="adj" fmla="val 22063"/>
            </a:avLst>
          </a:prstGeom>
          <a:solidFill>
            <a:srgbClr val="12304A"/>
          </a:solidFill>
          <a:ln/>
        </p:spPr>
      </p:sp>
      <p:sp>
        <p:nvSpPr>
          <p:cNvPr id="30" name="Text 26"/>
          <p:cNvSpPr/>
          <p:nvPr/>
        </p:nvSpPr>
        <p:spPr>
          <a:xfrm>
            <a:off x="927100" y="3305473"/>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0.6</a:t>
            </a:r>
            <a:endParaRPr lang="en-US" sz="1300" dirty="0"/>
          </a:p>
        </p:txBody>
      </p:sp>
      <p:sp>
        <p:nvSpPr>
          <p:cNvPr id="31" name="Text 27"/>
          <p:cNvSpPr/>
          <p:nvPr/>
        </p:nvSpPr>
        <p:spPr>
          <a:xfrm>
            <a:off x="1752600" y="3305473"/>
            <a:ext cx="876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74</a:t>
            </a:r>
            <a:endParaRPr lang="en-US" sz="1300" dirty="0"/>
          </a:p>
        </p:txBody>
      </p:sp>
      <p:sp>
        <p:nvSpPr>
          <p:cNvPr id="32" name="Text 28"/>
          <p:cNvSpPr/>
          <p:nvPr/>
        </p:nvSpPr>
        <p:spPr>
          <a:xfrm>
            <a:off x="2641600" y="3305473"/>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0.811</a:t>
            </a:r>
            <a:endParaRPr lang="en-US" sz="1300" dirty="0"/>
          </a:p>
        </p:txBody>
      </p:sp>
      <p:sp>
        <p:nvSpPr>
          <p:cNvPr id="33" name="Text 29"/>
          <p:cNvSpPr/>
          <p:nvPr/>
        </p:nvSpPr>
        <p:spPr>
          <a:xfrm>
            <a:off x="3911600" y="3305473"/>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0.909</a:t>
            </a:r>
            <a:endParaRPr lang="en-US" sz="1300" dirty="0"/>
          </a:p>
        </p:txBody>
      </p:sp>
      <p:sp>
        <p:nvSpPr>
          <p:cNvPr id="34" name="Text 30"/>
          <p:cNvSpPr/>
          <p:nvPr/>
        </p:nvSpPr>
        <p:spPr>
          <a:xfrm>
            <a:off x="5562600" y="3305473"/>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0.857</a:t>
            </a:r>
            <a:endParaRPr lang="en-US" sz="1300" dirty="0"/>
          </a:p>
        </p:txBody>
      </p:sp>
      <p:sp>
        <p:nvSpPr>
          <p:cNvPr id="35" name="Shape 31"/>
          <p:cNvSpPr/>
          <p:nvPr/>
        </p:nvSpPr>
        <p:spPr>
          <a:xfrm>
            <a:off x="812800" y="3631803"/>
            <a:ext cx="5715000" cy="345380"/>
          </a:xfrm>
          <a:prstGeom prst="roundRect">
            <a:avLst>
              <a:gd name="adj" fmla="val 22063"/>
            </a:avLst>
          </a:prstGeom>
          <a:solidFill>
            <a:srgbClr val="12304A"/>
          </a:solidFill>
          <a:ln/>
        </p:spPr>
      </p:sp>
      <p:sp>
        <p:nvSpPr>
          <p:cNvPr id="36" name="Text 32"/>
          <p:cNvSpPr/>
          <p:nvPr/>
        </p:nvSpPr>
        <p:spPr>
          <a:xfrm>
            <a:off x="927100" y="3688953"/>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0.7</a:t>
            </a:r>
            <a:endParaRPr lang="en-US" sz="1300" dirty="0"/>
          </a:p>
        </p:txBody>
      </p:sp>
      <p:sp>
        <p:nvSpPr>
          <p:cNvPr id="37" name="Text 33"/>
          <p:cNvSpPr/>
          <p:nvPr/>
        </p:nvSpPr>
        <p:spPr>
          <a:xfrm>
            <a:off x="1752600" y="3688953"/>
            <a:ext cx="876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73</a:t>
            </a:r>
            <a:endParaRPr lang="en-US" sz="1300" dirty="0"/>
          </a:p>
        </p:txBody>
      </p:sp>
      <p:sp>
        <p:nvSpPr>
          <p:cNvPr id="38" name="Text 34"/>
          <p:cNvSpPr/>
          <p:nvPr/>
        </p:nvSpPr>
        <p:spPr>
          <a:xfrm>
            <a:off x="2641600" y="3688953"/>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0.822</a:t>
            </a:r>
            <a:endParaRPr lang="en-US" sz="1300" dirty="0"/>
          </a:p>
        </p:txBody>
      </p:sp>
      <p:sp>
        <p:nvSpPr>
          <p:cNvPr id="39" name="Text 35"/>
          <p:cNvSpPr/>
          <p:nvPr/>
        </p:nvSpPr>
        <p:spPr>
          <a:xfrm>
            <a:off x="3911600" y="3688953"/>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0.909</a:t>
            </a:r>
            <a:endParaRPr lang="en-US" sz="1300" dirty="0"/>
          </a:p>
        </p:txBody>
      </p:sp>
      <p:sp>
        <p:nvSpPr>
          <p:cNvPr id="40" name="Text 36"/>
          <p:cNvSpPr/>
          <p:nvPr/>
        </p:nvSpPr>
        <p:spPr>
          <a:xfrm>
            <a:off x="5562600" y="3688953"/>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0.863</a:t>
            </a:r>
            <a:endParaRPr lang="en-US" sz="1300" dirty="0"/>
          </a:p>
        </p:txBody>
      </p:sp>
      <p:sp>
        <p:nvSpPr>
          <p:cNvPr id="41" name="Shape 37"/>
          <p:cNvSpPr/>
          <p:nvPr/>
        </p:nvSpPr>
        <p:spPr>
          <a:xfrm>
            <a:off x="822325" y="4024809"/>
            <a:ext cx="5695950" cy="364430"/>
          </a:xfrm>
          <a:prstGeom prst="roundRect">
            <a:avLst>
              <a:gd name="adj" fmla="val 18296"/>
            </a:avLst>
          </a:prstGeom>
          <a:solidFill>
            <a:srgbClr val="12304A"/>
          </a:solidFill>
          <a:ln w="19050">
            <a:solidFill>
              <a:srgbClr val="F4A259"/>
            </a:solidFill>
            <a:prstDash val="solid"/>
          </a:ln>
        </p:spPr>
      </p:sp>
      <p:sp>
        <p:nvSpPr>
          <p:cNvPr id="42" name="Text 38"/>
          <p:cNvSpPr/>
          <p:nvPr/>
        </p:nvSpPr>
        <p:spPr>
          <a:xfrm>
            <a:off x="946150" y="4091484"/>
            <a:ext cx="812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0.8</a:t>
            </a:r>
            <a:endParaRPr lang="en-US" sz="1300" dirty="0"/>
          </a:p>
        </p:txBody>
      </p:sp>
      <p:sp>
        <p:nvSpPr>
          <p:cNvPr id="43" name="Text 39"/>
          <p:cNvSpPr/>
          <p:nvPr/>
        </p:nvSpPr>
        <p:spPr>
          <a:xfrm>
            <a:off x="1771650" y="4091484"/>
            <a:ext cx="876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70</a:t>
            </a:r>
            <a:endParaRPr lang="en-US" sz="1300" dirty="0"/>
          </a:p>
        </p:txBody>
      </p:sp>
      <p:sp>
        <p:nvSpPr>
          <p:cNvPr id="44" name="Text 40"/>
          <p:cNvSpPr/>
          <p:nvPr/>
        </p:nvSpPr>
        <p:spPr>
          <a:xfrm>
            <a:off x="2660650" y="4091484"/>
            <a:ext cx="1257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0.843</a:t>
            </a:r>
            <a:endParaRPr lang="en-US" sz="1300" dirty="0"/>
          </a:p>
        </p:txBody>
      </p:sp>
      <p:sp>
        <p:nvSpPr>
          <p:cNvPr id="45" name="Text 41"/>
          <p:cNvSpPr/>
          <p:nvPr/>
        </p:nvSpPr>
        <p:spPr>
          <a:xfrm>
            <a:off x="3930650" y="4091484"/>
            <a:ext cx="1638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0.894</a:t>
            </a:r>
            <a:endParaRPr lang="en-US" sz="1300" dirty="0"/>
          </a:p>
        </p:txBody>
      </p:sp>
      <p:sp>
        <p:nvSpPr>
          <p:cNvPr id="46" name="Text 42"/>
          <p:cNvSpPr/>
          <p:nvPr/>
        </p:nvSpPr>
        <p:spPr>
          <a:xfrm>
            <a:off x="5581650" y="4091484"/>
            <a:ext cx="812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A259"/>
                </a:solidFill>
                <a:latin typeface="IBM Plex Sans" pitchFamily="34" charset="0"/>
                <a:ea typeface="IBM Plex Sans" pitchFamily="34" charset="-122"/>
                <a:cs typeface="IBM Plex Sans" pitchFamily="34" charset="-120"/>
              </a:rPr>
              <a:t>0.868</a:t>
            </a:r>
            <a:endParaRPr lang="en-US" sz="1300" dirty="0"/>
          </a:p>
        </p:txBody>
      </p:sp>
      <p:sp>
        <p:nvSpPr>
          <p:cNvPr id="47" name="Shape 43"/>
          <p:cNvSpPr/>
          <p:nvPr/>
        </p:nvSpPr>
        <p:spPr>
          <a:xfrm>
            <a:off x="812800" y="4436864"/>
            <a:ext cx="5715000" cy="345380"/>
          </a:xfrm>
          <a:prstGeom prst="roundRect">
            <a:avLst>
              <a:gd name="adj" fmla="val 22063"/>
            </a:avLst>
          </a:prstGeom>
          <a:solidFill>
            <a:srgbClr val="12304A"/>
          </a:solidFill>
          <a:ln/>
        </p:spPr>
      </p:sp>
      <p:sp>
        <p:nvSpPr>
          <p:cNvPr id="48" name="Text 44"/>
          <p:cNvSpPr/>
          <p:nvPr/>
        </p:nvSpPr>
        <p:spPr>
          <a:xfrm>
            <a:off x="927100" y="4494014"/>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0.9</a:t>
            </a:r>
            <a:endParaRPr lang="en-US" sz="1300" dirty="0"/>
          </a:p>
        </p:txBody>
      </p:sp>
      <p:sp>
        <p:nvSpPr>
          <p:cNvPr id="49" name="Text 45"/>
          <p:cNvSpPr/>
          <p:nvPr/>
        </p:nvSpPr>
        <p:spPr>
          <a:xfrm>
            <a:off x="1752600" y="4494014"/>
            <a:ext cx="876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65</a:t>
            </a:r>
            <a:endParaRPr lang="en-US" sz="1300" dirty="0"/>
          </a:p>
        </p:txBody>
      </p:sp>
      <p:sp>
        <p:nvSpPr>
          <p:cNvPr id="50" name="Text 46"/>
          <p:cNvSpPr/>
          <p:nvPr/>
        </p:nvSpPr>
        <p:spPr>
          <a:xfrm>
            <a:off x="2641600" y="4494014"/>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0.862</a:t>
            </a:r>
            <a:endParaRPr lang="en-US" sz="1300" dirty="0"/>
          </a:p>
        </p:txBody>
      </p:sp>
      <p:sp>
        <p:nvSpPr>
          <p:cNvPr id="51" name="Text 47"/>
          <p:cNvSpPr/>
          <p:nvPr/>
        </p:nvSpPr>
        <p:spPr>
          <a:xfrm>
            <a:off x="3911600" y="4494014"/>
            <a:ext cx="1638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0.849</a:t>
            </a:r>
            <a:endParaRPr lang="en-US" sz="1300" dirty="0"/>
          </a:p>
        </p:txBody>
      </p:sp>
      <p:sp>
        <p:nvSpPr>
          <p:cNvPr id="52" name="Text 48"/>
          <p:cNvSpPr/>
          <p:nvPr/>
        </p:nvSpPr>
        <p:spPr>
          <a:xfrm>
            <a:off x="5562600" y="4494014"/>
            <a:ext cx="812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0.855</a:t>
            </a:r>
            <a:endParaRPr lang="en-US" sz="1300" dirty="0"/>
          </a:p>
        </p:txBody>
      </p:sp>
      <p:pic>
        <p:nvPicPr>
          <p:cNvPr id="53" name="Image 2" descr="Gráfica de la precisión, la exhaustividad y el F1 según el umbral de seguridad, con el F1 más alto en 0.8">    </p:cNvPr>
          <p:cNvPicPr>
            <a:picLocks noChangeAspect="1"/>
          </p:cNvPicPr>
          <p:nvPr/>
        </p:nvPicPr>
        <p:blipFill>
          <a:blip r:embed="rId3"/>
          <a:srcRect l="-71" r="-71" t="0" b="0"/>
          <a:stretch/>
        </p:blipFill>
        <p:spPr>
          <a:xfrm>
            <a:off x="7023100" y="1744861"/>
            <a:ext cx="4064000" cy="2413000"/>
          </a:xfrm>
          <a:prstGeom prst="roundRect">
            <a:avLst>
              <a:gd name="adj" fmla="val 3158"/>
            </a:avLst>
          </a:prstGeom>
        </p:spPr>
      </p:pic>
      <p:sp>
        <p:nvSpPr>
          <p:cNvPr id="54" name="Text 49"/>
          <p:cNvSpPr/>
          <p:nvPr/>
        </p:nvSpPr>
        <p:spPr>
          <a:xfrm>
            <a:off x="6965950" y="4240411"/>
            <a:ext cx="4178300" cy="561181"/>
          </a:xfrm>
          <a:prstGeom prst="roundRect">
            <a:avLst>
              <a:gd name="adj" fmla="val 14710"/>
            </a:avLst>
          </a:prstGeom>
          <a:solidFill>
            <a:srgbClr val="12304A"/>
          </a:solidFill>
          <a:ln w="12700">
            <a:solidFill>
              <a:srgbClr val="24506E"/>
            </a:solidFill>
            <a:prstDash val="solid"/>
          </a:ln>
        </p:spPr>
        <p:txBody>
          <a:bodyPr wrap="square" lIns="109172" tIns="58372" rIns="0" bIns="32972" rtlCol="0" anchor="t">
            <a:normAutofit/>
          </a:bodyPr>
          <a:lstStyle/>
          <a:p>
            <a:pPr algn="l" indent="0" marL="0">
              <a:lnSpc>
                <a:spcPts val="1560"/>
              </a:lnSpc>
              <a:buNone/>
            </a:pPr>
            <a:r>
              <a:rPr lang="en-US" sz="1200" b="1" dirty="0">
                <a:solidFill>
                  <a:srgbClr val="F4A259"/>
                </a:solidFill>
                <a:latin typeface="IBM Plex Sans" pitchFamily="34" charset="0"/>
                <a:ea typeface="IBM Plex Sans" pitchFamily="34" charset="-122"/>
                <a:cs typeface="IBM Plex Sans" pitchFamily="34" charset="-120"/>
              </a:rPr>
              <a:t>Elegido: 0.8</a:t>
            </a:r>
            <a:r>
              <a:rPr lang="en-US" sz="1200" dirty="0">
                <a:solidFill>
                  <a:srgbClr val="C3D7E2"/>
                </a:solidFill>
                <a:latin typeface="IBM Plex Sans" pitchFamily="34" charset="0"/>
                <a:ea typeface="IBM Plex Sans" pitchFamily="34" charset="-122"/>
                <a:cs typeface="IBM Plex Sans" pitchFamily="34" charset="-120"/>
              </a:rPr>
              <a:t>, el de mejor F1. De 0.5 a 0.9 los aciertos pasan de 60 a 56: cuatro de 66.</a:t>
            </a:r>
            <a:endParaRPr lang="en-US" sz="1200" dirty="0"/>
          </a:p>
        </p:txBody>
      </p:sp>
      <p:sp>
        <p:nvSpPr>
          <p:cNvPr id="55" name="Shape 50"/>
          <p:cNvSpPr/>
          <p:nvPr/>
        </p:nvSpPr>
        <p:spPr>
          <a:xfrm>
            <a:off x="812800" y="4947642"/>
            <a:ext cx="10566400" cy="431800"/>
          </a:xfrm>
          <a:prstGeom prst="roundRect">
            <a:avLst>
              <a:gd name="adj" fmla="val 26471"/>
            </a:avLst>
          </a:prstGeom>
          <a:solidFill>
            <a:srgbClr val="F4A259"/>
          </a:solidFill>
          <a:ln/>
        </p:spPr>
      </p:sp>
      <p:pic>
        <p:nvPicPr>
          <p:cNvPr id="56" name="Image 3" descr="Warning">    </p:cNvPr>
          <p:cNvPicPr>
            <a:picLocks noChangeAspect="1"/>
          </p:cNvPicPr>
          <p:nvPr/>
        </p:nvPicPr>
        <p:blipFill>
          <a:blip r:embed="rId4"/>
          <a:srcRect l="0" r="0" t="0" b="0"/>
          <a:stretch/>
        </p:blipFill>
        <p:spPr>
          <a:xfrm>
            <a:off x="965200" y="5036542"/>
            <a:ext cx="254000" cy="254000"/>
          </a:xfrm>
          <a:prstGeom prst="rect">
            <a:avLst/>
          </a:prstGeom>
        </p:spPr>
      </p:pic>
      <p:sp>
        <p:nvSpPr>
          <p:cNvPr id="57" name="Text 51"/>
          <p:cNvSpPr/>
          <p:nvPr/>
        </p:nvSpPr>
        <p:spPr>
          <a:xfrm>
            <a:off x="1320800" y="5060652"/>
            <a:ext cx="1020318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406"/>
                </a:solidFill>
                <a:latin typeface="IBM Plex Sans" pitchFamily="34" charset="0"/>
                <a:ea typeface="IBM Plex Sans" pitchFamily="34" charset="-122"/>
                <a:cs typeface="IBM Plex Sans" pitchFamily="34" charset="-120"/>
              </a:rPr>
              <a:t>El modelo del sitio guarda umbral 0.9 y AP50 0.9148 (época 25). Viene de otra corrida, por eso no coincide.</a:t>
            </a:r>
            <a:endParaRPr lang="en-US" sz="1200" dirty="0"/>
          </a:p>
        </p:txBody>
      </p:sp>
      <p:sp>
        <p:nvSpPr>
          <p:cNvPr id="58" name="Text 52"/>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Barrido del cuaderno sobre la validación de 66 espermatozoides</a:t>
            </a:r>
            <a:endParaRPr lang="en-US" sz="1200" dirty="0"/>
          </a:p>
        </p:txBody>
      </p:sp>
      <p:sp>
        <p:nvSpPr>
          <p:cNvPr id="59" name="Text 5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APRENDERSE LOS DATOS DE MEMORIA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Sobreajuste</a:t>
            </a:r>
            <a:endParaRPr lang="en-US" sz="3600" dirty="0"/>
          </a:p>
        </p:txBody>
      </p:sp>
      <p:pic>
        <p:nvPicPr>
          <p:cNvPr id="6" name="Image 2" descr="Esquema: la pérdida de entrenamiento sigue bajando mientras la validación sube y se aplana; una línea punteada marca el punto en que se separan">    </p:cNvPr>
          <p:cNvPicPr>
            <a:picLocks noChangeAspect="1"/>
          </p:cNvPicPr>
          <p:nvPr/>
        </p:nvPicPr>
        <p:blipFill>
          <a:blip r:embed="rId3"/>
          <a:srcRect l="0" r="0" t="0" b="0"/>
          <a:stretch/>
        </p:blipFill>
        <p:spPr>
          <a:xfrm>
            <a:off x="812800" y="1757561"/>
            <a:ext cx="5715000" cy="2540000"/>
          </a:xfrm>
          <a:prstGeom prst="rect">
            <a:avLst/>
          </a:prstGeom>
        </p:spPr>
      </p:pic>
      <p:sp>
        <p:nvSpPr>
          <p:cNvPr id="7" name="Shape 2"/>
          <p:cNvSpPr/>
          <p:nvPr/>
        </p:nvSpPr>
        <p:spPr>
          <a:xfrm>
            <a:off x="812800" y="4455021"/>
            <a:ext cx="228600" cy="50800"/>
          </a:xfrm>
          <a:prstGeom prst="rect">
            <a:avLst/>
          </a:prstGeom>
          <a:solidFill>
            <a:srgbClr val="0E6E9C"/>
          </a:solidFill>
          <a:ln/>
        </p:spPr>
      </p:sp>
      <p:sp>
        <p:nvSpPr>
          <p:cNvPr id="8" name="Text 3"/>
          <p:cNvSpPr/>
          <p:nvPr/>
        </p:nvSpPr>
        <p:spPr>
          <a:xfrm>
            <a:off x="1104900" y="4373761"/>
            <a:ext cx="3368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566"/>
                </a:solidFill>
                <a:latin typeface="IBM Plex Sans" pitchFamily="34" charset="0"/>
                <a:ea typeface="IBM Plex Sans" pitchFamily="34" charset="-122"/>
                <a:cs typeface="IBM Plex Sans" pitchFamily="34" charset="-120"/>
              </a:rPr>
              <a:t>Pérdida de entrenamiento: sigue bajando</a:t>
            </a:r>
            <a:endParaRPr lang="en-US" sz="1200" dirty="0"/>
          </a:p>
        </p:txBody>
      </p:sp>
      <p:sp>
        <p:nvSpPr>
          <p:cNvPr id="9" name="Shape 4"/>
          <p:cNvSpPr/>
          <p:nvPr/>
        </p:nvSpPr>
        <p:spPr>
          <a:xfrm>
            <a:off x="812800" y="4744541"/>
            <a:ext cx="228600" cy="50800"/>
          </a:xfrm>
          <a:prstGeom prst="rect">
            <a:avLst/>
          </a:prstGeom>
          <a:solidFill>
            <a:srgbClr val="A3480F"/>
          </a:solidFill>
          <a:ln/>
        </p:spPr>
      </p:sp>
      <p:sp>
        <p:nvSpPr>
          <p:cNvPr id="10" name="Text 5"/>
          <p:cNvSpPr/>
          <p:nvPr/>
        </p:nvSpPr>
        <p:spPr>
          <a:xfrm>
            <a:off x="1104900" y="4663281"/>
            <a:ext cx="59074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566"/>
                </a:solidFill>
                <a:latin typeface="IBM Plex Sans" pitchFamily="34" charset="0"/>
                <a:ea typeface="IBM Plex Sans" pitchFamily="34" charset="-122"/>
                <a:cs typeface="IBM Plex Sans" pitchFamily="34" charset="-120"/>
              </a:rPr>
              <a:t>Validación: sube y se aplana. La línea punteada marca dónde se separan</a:t>
            </a:r>
            <a:endParaRPr lang="en-US" sz="1200" dirty="0"/>
          </a:p>
        </p:txBody>
      </p:sp>
      <p:sp>
        <p:nvSpPr>
          <p:cNvPr id="11" name="Shape 6"/>
          <p:cNvSpPr/>
          <p:nvPr/>
        </p:nvSpPr>
        <p:spPr>
          <a:xfrm>
            <a:off x="6731000" y="1757561"/>
            <a:ext cx="4648200" cy="951111"/>
          </a:xfrm>
          <a:prstGeom prst="roundRect">
            <a:avLst>
              <a:gd name="adj" fmla="val 12018"/>
            </a:avLst>
          </a:prstGeom>
          <a:solidFill>
            <a:srgbClr val="0B1F2E"/>
          </a:solidFill>
          <a:ln/>
        </p:spPr>
      </p:sp>
      <p:sp>
        <p:nvSpPr>
          <p:cNvPr id="12" name="Text 7"/>
          <p:cNvSpPr/>
          <p:nvPr/>
        </p:nvSpPr>
        <p:spPr>
          <a:xfrm>
            <a:off x="6896100" y="1884561"/>
            <a:ext cx="44475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ANALOGÍA</a:t>
            </a:r>
            <a:endParaRPr lang="en-US" sz="1200" dirty="0"/>
          </a:p>
        </p:txBody>
      </p:sp>
      <p:sp>
        <p:nvSpPr>
          <p:cNvPr id="13" name="Text 8"/>
          <p:cNvSpPr/>
          <p:nvPr/>
        </p:nvSpPr>
        <p:spPr>
          <a:xfrm>
            <a:off x="6896100" y="2135981"/>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El estudiante que se aprende las respuestas del examen pasado: saca diez en ese examen y reprueba el siguiente.</a:t>
            </a:r>
            <a:endParaRPr lang="en-US" sz="1300" dirty="0"/>
          </a:p>
        </p:txBody>
      </p:sp>
      <p:sp>
        <p:nvSpPr>
          <p:cNvPr id="14" name="Text 9"/>
          <p:cNvSpPr/>
          <p:nvPr/>
        </p:nvSpPr>
        <p:spPr>
          <a:xfrm>
            <a:off x="6731000" y="279757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CUATRO DEFENSAS</a:t>
            </a:r>
            <a:endParaRPr lang="en-US" sz="1200" dirty="0"/>
          </a:p>
        </p:txBody>
      </p:sp>
      <p:sp>
        <p:nvSpPr>
          <p:cNvPr id="15" name="Text 10"/>
          <p:cNvSpPr/>
          <p:nvPr/>
        </p:nvSpPr>
        <p:spPr>
          <a:xfrm>
            <a:off x="6737350" y="3106142"/>
            <a:ext cx="2279650" cy="355600"/>
          </a:xfrm>
          <a:prstGeom prst="roundRect">
            <a:avLst>
              <a:gd name="adj" fmla="val 23214"/>
            </a:avLst>
          </a:prstGeom>
          <a:solidFill>
            <a:srgbClr val="FCFDFD"/>
          </a:solidFill>
          <a:ln w="12700">
            <a:solidFill>
              <a:srgbClr val="D5E3EA"/>
            </a:solidFill>
            <a:prstDash val="solid"/>
          </a:ln>
        </p:spPr>
        <p:txBody>
          <a:bodyPr wrap="square" lIns="83772" tIns="58372" rIns="21859" bIns="32972" rtlCol="0" anchor="t">
            <a:normAutofit/>
          </a:bodyPr>
          <a:lstStyle/>
          <a:p>
            <a:pPr algn="l" indent="0" marL="0">
              <a:lnSpc>
                <a:spcPts val="1500"/>
              </a:lnSpc>
              <a:buNone/>
            </a:pPr>
            <a:r>
              <a:rPr lang="en-US" sz="1200" dirty="0">
                <a:solidFill>
                  <a:srgbClr val="0C2A3E"/>
                </a:solidFill>
                <a:latin typeface="IBM Plex Sans" pitchFamily="34" charset="0"/>
                <a:ea typeface="IBM Plex Sans" pitchFamily="34" charset="-122"/>
                <a:cs typeface="IBM Plex Sans" pitchFamily="34" charset="-120"/>
              </a:rPr>
              <a:t>Más datos, y variados</a:t>
            </a:r>
            <a:endParaRPr lang="en-US" sz="1200" dirty="0"/>
          </a:p>
        </p:txBody>
      </p:sp>
      <p:sp>
        <p:nvSpPr>
          <p:cNvPr id="16" name="Text 11"/>
          <p:cNvSpPr/>
          <p:nvPr/>
        </p:nvSpPr>
        <p:spPr>
          <a:xfrm>
            <a:off x="9093200" y="3106142"/>
            <a:ext cx="2279650" cy="355600"/>
          </a:xfrm>
          <a:prstGeom prst="roundRect">
            <a:avLst>
              <a:gd name="adj" fmla="val 23214"/>
            </a:avLst>
          </a:prstGeom>
          <a:solidFill>
            <a:srgbClr val="FCFDFD"/>
          </a:solidFill>
          <a:ln w="12700">
            <a:solidFill>
              <a:srgbClr val="D5E3EA"/>
            </a:solidFill>
            <a:prstDash val="solid"/>
          </a:ln>
        </p:spPr>
        <p:txBody>
          <a:bodyPr wrap="square" lIns="83772" tIns="58372" rIns="21859" bIns="32972" rtlCol="0" anchor="t">
            <a:normAutofit/>
          </a:bodyPr>
          <a:lstStyle/>
          <a:p>
            <a:pPr algn="l" indent="0" marL="0">
              <a:lnSpc>
                <a:spcPts val="1500"/>
              </a:lnSpc>
              <a:buNone/>
            </a:pPr>
            <a:r>
              <a:rPr lang="en-US" sz="1200" dirty="0">
                <a:solidFill>
                  <a:srgbClr val="0C2A3E"/>
                </a:solidFill>
                <a:latin typeface="IBM Plex Sans" pitchFamily="34" charset="0"/>
                <a:ea typeface="IBM Plex Sans" pitchFamily="34" charset="-122"/>
                <a:cs typeface="IBM Plex Sans" pitchFamily="34" charset="-120"/>
              </a:rPr>
              <a:t>Aumento de datos</a:t>
            </a:r>
            <a:endParaRPr lang="en-US" sz="1200" dirty="0"/>
          </a:p>
        </p:txBody>
      </p:sp>
      <p:sp>
        <p:nvSpPr>
          <p:cNvPr id="17" name="Text 12"/>
          <p:cNvSpPr/>
          <p:nvPr/>
        </p:nvSpPr>
        <p:spPr>
          <a:xfrm>
            <a:off x="6737350" y="3537942"/>
            <a:ext cx="2279650" cy="558800"/>
          </a:xfrm>
          <a:prstGeom prst="roundRect">
            <a:avLst>
              <a:gd name="adj" fmla="val 14773"/>
            </a:avLst>
          </a:prstGeom>
          <a:solidFill>
            <a:srgbClr val="FCFDFD"/>
          </a:solidFill>
          <a:ln w="12700">
            <a:solidFill>
              <a:srgbClr val="D5E3EA"/>
            </a:solidFill>
            <a:prstDash val="solid"/>
          </a:ln>
        </p:spPr>
        <p:txBody>
          <a:bodyPr wrap="square" lIns="83772" tIns="58372" rIns="21859" bIns="58372" rtlCol="0" anchor="t">
            <a:normAutofit/>
          </a:bodyPr>
          <a:lstStyle/>
          <a:p>
            <a:pPr algn="l" indent="0" marL="0">
              <a:lnSpc>
                <a:spcPts val="1500"/>
              </a:lnSpc>
              <a:buNone/>
            </a:pPr>
            <a:r>
              <a:rPr lang="en-US" sz="1200" dirty="0">
                <a:solidFill>
                  <a:srgbClr val="0C2A3E"/>
                </a:solidFill>
                <a:latin typeface="IBM Plex Sans" pitchFamily="34" charset="0"/>
                <a:ea typeface="IBM Plex Sans" pitchFamily="34" charset="-122"/>
                <a:cs typeface="IBM Plex Sans" pitchFamily="34" charset="-120"/>
              </a:rPr>
              <a:t>Transferencia</a:t>
            </a:r>
            <a:endParaRPr lang="en-US" sz="1200" dirty="0"/>
          </a:p>
        </p:txBody>
      </p:sp>
      <p:sp>
        <p:nvSpPr>
          <p:cNvPr id="18" name="Text 13"/>
          <p:cNvSpPr/>
          <p:nvPr/>
        </p:nvSpPr>
        <p:spPr>
          <a:xfrm>
            <a:off x="9096375" y="3541117"/>
            <a:ext cx="2273300" cy="552450"/>
          </a:xfrm>
          <a:prstGeom prst="roundRect">
            <a:avLst>
              <a:gd name="adj" fmla="val 14368"/>
            </a:avLst>
          </a:prstGeom>
          <a:solidFill>
            <a:srgbClr val="FCFDFD"/>
          </a:solidFill>
          <a:ln w="19050">
            <a:solidFill>
              <a:srgbClr val="A3480F"/>
            </a:solidFill>
            <a:prstDash val="solid"/>
          </a:ln>
        </p:spPr>
        <p:txBody>
          <a:bodyPr wrap="square" lIns="87877" tIns="62477" rIns="26345" bIns="37077" rtlCol="0" anchor="t">
            <a:normAutofit/>
          </a:bodyPr>
          <a:lstStyle/>
          <a:p>
            <a:pPr algn="l" indent="0" marL="0">
              <a:lnSpc>
                <a:spcPts val="1500"/>
              </a:lnSpc>
              <a:buNone/>
            </a:pPr>
            <a:r>
              <a:rPr lang="en-US" sz="1200" dirty="0">
                <a:solidFill>
                  <a:srgbClr val="0C2A3E"/>
                </a:solidFill>
                <a:latin typeface="IBM Plex Sans" pitchFamily="34" charset="0"/>
                <a:ea typeface="IBM Plex Sans" pitchFamily="34" charset="-122"/>
                <a:cs typeface="IBM Plex Sans" pitchFamily="34" charset="-120"/>
              </a:rPr>
              <a:t>Guardar el mejor modelo, no el último</a:t>
            </a:r>
            <a:endParaRPr lang="en-US" sz="1200" dirty="0"/>
          </a:p>
        </p:txBody>
      </p:sp>
      <p:sp>
        <p:nvSpPr>
          <p:cNvPr id="19" name="Text 14"/>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Esquema, no a escala</a:t>
            </a:r>
            <a:endParaRPr lang="en-US" sz="12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CORRIDA DE EJEMPLO DEL CUADERNO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gráfica de curvas</a:t>
            </a:r>
            <a:endParaRPr lang="en-US" sz="3600" dirty="0"/>
          </a:p>
        </p:txBody>
      </p:sp>
      <p:pic>
        <p:nvPicPr>
          <p:cNvPr id="6" name="Image 2" descr="Pérdida de entrenamiento por época: baja de 1.39 en la época 1 a unos 0.36 en la 46, con una línea en la época 20">    </p:cNvPr>
          <p:cNvPicPr>
            <a:picLocks noChangeAspect="1"/>
          </p:cNvPicPr>
          <p:nvPr/>
        </p:nvPicPr>
        <p:blipFill>
          <a:blip r:embed="rId3"/>
          <a:srcRect l="-56" r="-56" t="0" b="0"/>
          <a:stretch/>
        </p:blipFill>
        <p:spPr>
          <a:xfrm>
            <a:off x="812800" y="1757561"/>
            <a:ext cx="4381500" cy="2844800"/>
          </a:xfrm>
          <a:prstGeom prst="roundRect">
            <a:avLst>
              <a:gd name="adj" fmla="val 3125"/>
            </a:avLst>
          </a:prstGeom>
        </p:spPr>
      </p:pic>
      <p:pic>
        <p:nvPicPr>
          <p:cNvPr id="7" name="Image 3" descr="AP50 de validación cada cinco épocas: máximo de 0.888 en la época 20 y entre 0.81 y 0.87 después">    </p:cNvPr>
          <p:cNvPicPr>
            <a:picLocks noChangeAspect="1"/>
          </p:cNvPicPr>
          <p:nvPr/>
        </p:nvPicPr>
        <p:blipFill>
          <a:blip r:embed="rId4"/>
          <a:srcRect l="-56" r="-56" t="0" b="0"/>
          <a:stretch/>
        </p:blipFill>
        <p:spPr>
          <a:xfrm>
            <a:off x="5346700" y="1757561"/>
            <a:ext cx="4381500" cy="2844800"/>
          </a:xfrm>
          <a:prstGeom prst="roundRect">
            <a:avLst>
              <a:gd name="adj" fmla="val 3125"/>
            </a:avLst>
          </a:prstGeom>
        </p:spPr>
      </p:pic>
      <p:sp>
        <p:nvSpPr>
          <p:cNvPr id="8" name="Text 2"/>
          <p:cNvSpPr/>
          <p:nvPr/>
        </p:nvSpPr>
        <p:spPr>
          <a:xfrm>
            <a:off x="9886950" y="1763911"/>
            <a:ext cx="1485900" cy="546100"/>
          </a:xfrm>
          <a:prstGeom prst="roundRect">
            <a:avLst>
              <a:gd name="adj" fmla="val 15116"/>
            </a:avLst>
          </a:prstGeom>
          <a:solidFill>
            <a:srgbClr val="12304A"/>
          </a:solidFill>
          <a:ln w="12700">
            <a:solidFill>
              <a:srgbClr val="24506E"/>
            </a:solidFill>
            <a:prstDash val="solid"/>
          </a:ln>
        </p:spPr>
        <p:txBody>
          <a:bodyPr wrap="square" lIns="83772" tIns="58372" rIns="32972" bIns="32972"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La pérdida debe bajar.</a:t>
            </a:r>
            <a:endParaRPr lang="en-US" sz="1200" dirty="0"/>
          </a:p>
        </p:txBody>
      </p:sp>
      <p:sp>
        <p:nvSpPr>
          <p:cNvPr id="9" name="Text 3"/>
          <p:cNvSpPr/>
          <p:nvPr/>
        </p:nvSpPr>
        <p:spPr>
          <a:xfrm>
            <a:off x="9886950" y="2386211"/>
            <a:ext cx="1485900" cy="546100"/>
          </a:xfrm>
          <a:prstGeom prst="roundRect">
            <a:avLst>
              <a:gd name="adj" fmla="val 15116"/>
            </a:avLst>
          </a:prstGeom>
          <a:solidFill>
            <a:srgbClr val="12304A"/>
          </a:solidFill>
          <a:ln w="12700">
            <a:solidFill>
              <a:srgbClr val="24506E"/>
            </a:solidFill>
            <a:prstDash val="solid"/>
          </a:ln>
        </p:spPr>
        <p:txBody>
          <a:bodyPr wrap="square" lIns="83772" tIns="58372" rIns="32972" bIns="32972"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La validación debe subir.</a:t>
            </a:r>
            <a:endParaRPr lang="en-US" sz="1200" dirty="0"/>
          </a:p>
        </p:txBody>
      </p:sp>
      <p:sp>
        <p:nvSpPr>
          <p:cNvPr id="10" name="Text 4"/>
          <p:cNvSpPr/>
          <p:nvPr/>
        </p:nvSpPr>
        <p:spPr>
          <a:xfrm>
            <a:off x="9890125" y="3011686"/>
            <a:ext cx="1479550" cy="552450"/>
          </a:xfrm>
          <a:prstGeom prst="roundRect">
            <a:avLst>
              <a:gd name="adj" fmla="val 14368"/>
            </a:avLst>
          </a:prstGeom>
          <a:solidFill>
            <a:srgbClr val="12304A"/>
          </a:solidFill>
          <a:ln w="19050">
            <a:solidFill>
              <a:srgbClr val="F4A259"/>
            </a:solidFill>
            <a:prstDash val="solid"/>
          </a:ln>
        </p:spPr>
        <p:txBody>
          <a:bodyPr wrap="square" lIns="87877" tIns="62477" rIns="37077" bIns="37077"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Si se separan, la red memoriza.</a:t>
            </a:r>
            <a:endParaRPr lang="en-US" sz="1200" dirty="0"/>
          </a:p>
        </p:txBody>
      </p:sp>
      <p:sp>
        <p:nvSpPr>
          <p:cNvPr id="11" name="Shape 5"/>
          <p:cNvSpPr/>
          <p:nvPr/>
        </p:nvSpPr>
        <p:spPr>
          <a:xfrm>
            <a:off x="812800" y="4754761"/>
            <a:ext cx="10566400" cy="482600"/>
          </a:xfrm>
          <a:prstGeom prst="roundRect">
            <a:avLst>
              <a:gd name="adj" fmla="val 23684"/>
            </a:avLst>
          </a:prstGeom>
          <a:solidFill>
            <a:srgbClr val="F4A259"/>
          </a:solidFill>
          <a:ln/>
        </p:spPr>
      </p:sp>
      <p:pic>
        <p:nvPicPr>
          <p:cNvPr id="12" name="Image 4" descr="Warning">    </p:cNvPr>
          <p:cNvPicPr>
            <a:picLocks noChangeAspect="1"/>
          </p:cNvPicPr>
          <p:nvPr/>
        </p:nvPicPr>
        <p:blipFill>
          <a:blip r:embed="rId5"/>
          <a:srcRect l="0" r="0" t="0" b="0"/>
          <a:stretch/>
        </p:blipFill>
        <p:spPr>
          <a:xfrm>
            <a:off x="977900" y="4856361"/>
            <a:ext cx="279400" cy="279400"/>
          </a:xfrm>
          <a:prstGeom prst="rect">
            <a:avLst/>
          </a:prstGeom>
        </p:spPr>
      </p:pic>
      <p:sp>
        <p:nvSpPr>
          <p:cNvPr id="13" name="Text 6"/>
          <p:cNvSpPr/>
          <p:nvPr/>
        </p:nvSpPr>
        <p:spPr>
          <a:xfrm>
            <a:off x="1371600" y="4884638"/>
            <a:ext cx="1013777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Después de la época 20 la validación no mejora, pero con 66 espermatozoides es ruido: no se puede afirmar que haya sobreajuste.</a:t>
            </a:r>
            <a:endParaRPr lang="en-US" sz="1300" dirty="0"/>
          </a:p>
        </p:txBody>
      </p:sp>
      <p:sp>
        <p:nvSpPr>
          <p:cNvPr id="14" name="Text 7"/>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Pérdida: épocas 1 a 46 · AP50: épocas 5 a 45, cada 5</a:t>
            </a:r>
            <a:endParaRPr lang="en-US" sz="1200" dirty="0"/>
          </a:p>
        </p:txBody>
      </p:sp>
      <p:sp>
        <p:nvSpPr>
          <p:cNvPr id="15"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CIFRAS PRELIMINARES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tan confiables son los números</a:t>
            </a:r>
            <a:endParaRPr lang="en-US" sz="3600" dirty="0"/>
          </a:p>
        </p:txBody>
      </p:sp>
      <p:sp>
        <p:nvSpPr>
          <p:cNvPr id="6" name="Shape 2"/>
          <p:cNvSpPr/>
          <p:nvPr/>
        </p:nvSpPr>
        <p:spPr>
          <a:xfrm>
            <a:off x="819150" y="1751211"/>
            <a:ext cx="3450134" cy="1155502"/>
          </a:xfrm>
          <a:prstGeom prst="roundRect">
            <a:avLst>
              <a:gd name="adj" fmla="val 8243"/>
            </a:avLst>
          </a:prstGeom>
          <a:solidFill>
            <a:srgbClr val="FCFDFD"/>
          </a:solidFill>
          <a:ln w="12700">
            <a:solidFill>
              <a:srgbClr val="D5E3EA"/>
            </a:solidFill>
            <a:prstDash val="solid"/>
          </a:ln>
        </p:spPr>
      </p:sp>
      <p:pic>
        <p:nvPicPr>
          <p:cNvPr id="7" name="Image 2" descr="Las zonas de validación están dentro de las mismas fotos que las de entrenamiento">    </p:cNvPr>
          <p:cNvPicPr>
            <a:picLocks noChangeAspect="1"/>
          </p:cNvPicPr>
          <p:nvPr/>
        </p:nvPicPr>
        <p:blipFill>
          <a:blip r:embed="rId3"/>
          <a:srcRect l="0" r="0" t="0" b="0"/>
          <a:stretch/>
        </p:blipFill>
        <p:spPr>
          <a:xfrm>
            <a:off x="965200" y="1859161"/>
            <a:ext cx="1905000" cy="254000"/>
          </a:xfrm>
          <a:prstGeom prst="rect">
            <a:avLst/>
          </a:prstGeom>
        </p:spPr>
      </p:pic>
      <p:sp>
        <p:nvSpPr>
          <p:cNvPr id="8" name="Text 3"/>
          <p:cNvSpPr/>
          <p:nvPr/>
        </p:nvSpPr>
        <p:spPr>
          <a:xfrm>
            <a:off x="965200" y="2151261"/>
            <a:ext cx="32527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1 · Mismas fotos</a:t>
            </a:r>
            <a:endParaRPr lang="en-US" sz="1400" dirty="0"/>
          </a:p>
        </p:txBody>
      </p:sp>
      <p:sp>
        <p:nvSpPr>
          <p:cNvPr id="9" name="Text 4"/>
          <p:cNvSpPr/>
          <p:nvPr/>
        </p:nvSpPr>
        <p:spPr>
          <a:xfrm>
            <a:off x="965200" y="2402681"/>
            <a:ext cx="325277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La validación sale de franjas de las fotos de entrenamiento.</a:t>
            </a:r>
            <a:endParaRPr lang="en-US" sz="1200" dirty="0"/>
          </a:p>
        </p:txBody>
      </p:sp>
      <p:sp>
        <p:nvSpPr>
          <p:cNvPr id="10" name="Shape 5"/>
          <p:cNvSpPr/>
          <p:nvPr/>
        </p:nvSpPr>
        <p:spPr>
          <a:xfrm>
            <a:off x="4370884" y="1751211"/>
            <a:ext cx="3450233" cy="1155502"/>
          </a:xfrm>
          <a:prstGeom prst="roundRect">
            <a:avLst>
              <a:gd name="adj" fmla="val 8243"/>
            </a:avLst>
          </a:prstGeom>
          <a:solidFill>
            <a:srgbClr val="FCFDFD"/>
          </a:solidFill>
          <a:ln w="12700">
            <a:solidFill>
              <a:srgbClr val="D5E3EA"/>
            </a:solidFill>
            <a:prstDash val="solid"/>
          </a:ln>
        </p:spPr>
      </p:sp>
      <p:pic>
        <p:nvPicPr>
          <p:cNvPr id="11" name="Image 3" descr="Varias pruebas de las que se elige la mejor">    </p:cNvPr>
          <p:cNvPicPr>
            <a:picLocks noChangeAspect="1"/>
          </p:cNvPicPr>
          <p:nvPr/>
        </p:nvPicPr>
        <p:blipFill>
          <a:blip r:embed="rId4"/>
          <a:srcRect l="0" r="0" t="0" b="0"/>
          <a:stretch/>
        </p:blipFill>
        <p:spPr>
          <a:xfrm>
            <a:off x="4516934" y="1859161"/>
            <a:ext cx="1905000" cy="254000"/>
          </a:xfrm>
          <a:prstGeom prst="rect">
            <a:avLst/>
          </a:prstGeom>
        </p:spPr>
      </p:pic>
      <p:sp>
        <p:nvSpPr>
          <p:cNvPr id="12" name="Text 6"/>
          <p:cNvSpPr/>
          <p:nvPr/>
        </p:nvSpPr>
        <p:spPr>
          <a:xfrm>
            <a:off x="4516934" y="2151261"/>
            <a:ext cx="32528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2 · Elegido con ella</a:t>
            </a:r>
            <a:endParaRPr lang="en-US" sz="1400" dirty="0"/>
          </a:p>
        </p:txBody>
      </p:sp>
      <p:sp>
        <p:nvSpPr>
          <p:cNvPr id="13" name="Text 7"/>
          <p:cNvSpPr/>
          <p:nvPr/>
        </p:nvSpPr>
        <p:spPr>
          <a:xfrm>
            <a:off x="4516934" y="2402681"/>
            <a:ext cx="325287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El mejor modelo y el umbral salen de esa misma validación: algo optimista.</a:t>
            </a:r>
            <a:endParaRPr lang="en-US" sz="1200" dirty="0"/>
          </a:p>
        </p:txBody>
      </p:sp>
      <p:sp>
        <p:nvSpPr>
          <p:cNvPr id="14" name="Shape 8"/>
          <p:cNvSpPr/>
          <p:nvPr/>
        </p:nvSpPr>
        <p:spPr>
          <a:xfrm>
            <a:off x="7922716" y="1751211"/>
            <a:ext cx="3450134" cy="1155502"/>
          </a:xfrm>
          <a:prstGeom prst="roundRect">
            <a:avLst>
              <a:gd name="adj" fmla="val 8243"/>
            </a:avLst>
          </a:prstGeom>
          <a:solidFill>
            <a:srgbClr val="FCFDFD"/>
          </a:solidFill>
          <a:ln w="12700">
            <a:solidFill>
              <a:srgbClr val="D5E3EA"/>
            </a:solidFill>
            <a:prstDash val="solid"/>
          </a:ln>
        </p:spPr>
      </p:sp>
      <p:pic>
        <p:nvPicPr>
          <p:cNvPr id="15" name="Image 4" descr="Pocos puntos, por eso una diferencia pequeña no significa nada">    </p:cNvPr>
          <p:cNvPicPr>
            <a:picLocks noChangeAspect="1"/>
          </p:cNvPicPr>
          <p:nvPr/>
        </p:nvPicPr>
        <p:blipFill>
          <a:blip r:embed="rId5"/>
          <a:srcRect l="0" r="0" t="0" b="0"/>
          <a:stretch/>
        </p:blipFill>
        <p:spPr>
          <a:xfrm>
            <a:off x="8068766" y="1859161"/>
            <a:ext cx="1905000" cy="254000"/>
          </a:xfrm>
          <a:prstGeom prst="rect">
            <a:avLst/>
          </a:prstGeom>
        </p:spPr>
      </p:pic>
      <p:sp>
        <p:nvSpPr>
          <p:cNvPr id="16" name="Text 9"/>
          <p:cNvSpPr/>
          <p:nvPr/>
        </p:nvSpPr>
        <p:spPr>
          <a:xfrm>
            <a:off x="8068766" y="2151261"/>
            <a:ext cx="32527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3 · Solo 66</a:t>
            </a:r>
            <a:endParaRPr lang="en-US" sz="1400" dirty="0"/>
          </a:p>
        </p:txBody>
      </p:sp>
      <p:sp>
        <p:nvSpPr>
          <p:cNvPr id="17" name="Text 10"/>
          <p:cNvSpPr/>
          <p:nvPr/>
        </p:nvSpPr>
        <p:spPr>
          <a:xfrm>
            <a:off x="8068766" y="2402681"/>
            <a:ext cx="325277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Con tan pocos, una diferencia de unas centésimas no significa nada.</a:t>
            </a:r>
            <a:endParaRPr lang="en-US" sz="1200" dirty="0"/>
          </a:p>
        </p:txBody>
      </p:sp>
      <p:sp>
        <p:nvSpPr>
          <p:cNvPr id="18" name="Text 11"/>
          <p:cNvSpPr/>
          <p:nvPr/>
        </p:nvSpPr>
        <p:spPr>
          <a:xfrm>
            <a:off x="812800" y="3052763"/>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FOTOS COMPLETAS: ETIQUETADOS Y DETECTADOS</a:t>
            </a:r>
            <a:endParaRPr lang="en-US" sz="1200" dirty="0"/>
          </a:p>
        </p:txBody>
      </p:sp>
      <p:sp>
        <p:nvSpPr>
          <p:cNvPr id="19" name="Text 12"/>
          <p:cNvSpPr/>
          <p:nvPr/>
        </p:nvSpPr>
        <p:spPr>
          <a:xfrm>
            <a:off x="812800" y="3420368"/>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566"/>
                </a:solidFill>
                <a:latin typeface="IBM Plex Sans" pitchFamily="34" charset="0"/>
                <a:ea typeface="IBM Plex Sans" pitchFamily="34" charset="-122"/>
                <a:cs typeface="IBM Plex Sans" pitchFamily="34" charset="-120"/>
              </a:rPr>
              <a:t>Foto 1</a:t>
            </a:r>
            <a:endParaRPr lang="en-US" sz="1200" dirty="0"/>
          </a:p>
        </p:txBody>
      </p:sp>
      <p:sp>
        <p:nvSpPr>
          <p:cNvPr id="20" name="Shape 13"/>
          <p:cNvSpPr/>
          <p:nvPr/>
        </p:nvSpPr>
        <p:spPr>
          <a:xfrm>
            <a:off x="1676400" y="3340993"/>
            <a:ext cx="127000" cy="139700"/>
          </a:xfrm>
          <a:prstGeom prst="rect">
            <a:avLst/>
          </a:prstGeom>
          <a:solidFill>
            <a:srgbClr val="0E6E9C"/>
          </a:solidFill>
          <a:ln/>
        </p:spPr>
      </p:sp>
      <p:sp>
        <p:nvSpPr>
          <p:cNvPr id="21" name="Text 14"/>
          <p:cNvSpPr/>
          <p:nvPr/>
        </p:nvSpPr>
        <p:spPr>
          <a:xfrm>
            <a:off x="1866900" y="3304183"/>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5566"/>
                </a:solidFill>
                <a:latin typeface="IBM Plex Sans" pitchFamily="34" charset="0"/>
                <a:ea typeface="IBM Plex Sans" pitchFamily="34" charset="-122"/>
                <a:cs typeface="IBM Plex Sans" pitchFamily="34" charset="-120"/>
              </a:rPr>
              <a:t>6</a:t>
            </a:r>
            <a:endParaRPr lang="en-US" sz="1200" dirty="0"/>
          </a:p>
        </p:txBody>
      </p:sp>
      <p:sp>
        <p:nvSpPr>
          <p:cNvPr id="22" name="Shape 15"/>
          <p:cNvSpPr/>
          <p:nvPr/>
        </p:nvSpPr>
        <p:spPr>
          <a:xfrm>
            <a:off x="1676400" y="3573363"/>
            <a:ext cx="228600" cy="139700"/>
          </a:xfrm>
          <a:prstGeom prst="rect">
            <a:avLst/>
          </a:prstGeom>
          <a:solidFill>
            <a:srgbClr val="A3480F"/>
          </a:solidFill>
          <a:ln/>
        </p:spPr>
      </p:sp>
      <p:sp>
        <p:nvSpPr>
          <p:cNvPr id="23" name="Text 16"/>
          <p:cNvSpPr/>
          <p:nvPr/>
        </p:nvSpPr>
        <p:spPr>
          <a:xfrm>
            <a:off x="1968500" y="3536553"/>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11</a:t>
            </a:r>
            <a:endParaRPr lang="en-US" sz="1200" dirty="0"/>
          </a:p>
        </p:txBody>
      </p:sp>
      <p:sp>
        <p:nvSpPr>
          <p:cNvPr id="24" name="Text 17"/>
          <p:cNvSpPr/>
          <p:nvPr/>
        </p:nvSpPr>
        <p:spPr>
          <a:xfrm>
            <a:off x="812800" y="3904159"/>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566"/>
                </a:solidFill>
                <a:latin typeface="IBM Plex Sans" pitchFamily="34" charset="0"/>
                <a:ea typeface="IBM Plex Sans" pitchFamily="34" charset="-122"/>
                <a:cs typeface="IBM Plex Sans" pitchFamily="34" charset="-120"/>
              </a:rPr>
              <a:t>Foto 2</a:t>
            </a:r>
            <a:endParaRPr lang="en-US" sz="1200" dirty="0"/>
          </a:p>
        </p:txBody>
      </p:sp>
      <p:sp>
        <p:nvSpPr>
          <p:cNvPr id="25" name="Shape 18"/>
          <p:cNvSpPr/>
          <p:nvPr/>
        </p:nvSpPr>
        <p:spPr>
          <a:xfrm>
            <a:off x="1676400" y="3824784"/>
            <a:ext cx="209550" cy="139700"/>
          </a:xfrm>
          <a:prstGeom prst="rect">
            <a:avLst/>
          </a:prstGeom>
          <a:solidFill>
            <a:srgbClr val="0E6E9C"/>
          </a:solidFill>
          <a:ln/>
        </p:spPr>
      </p:sp>
      <p:sp>
        <p:nvSpPr>
          <p:cNvPr id="26" name="Text 19"/>
          <p:cNvSpPr/>
          <p:nvPr/>
        </p:nvSpPr>
        <p:spPr>
          <a:xfrm>
            <a:off x="1949450" y="3787973"/>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5566"/>
                </a:solidFill>
                <a:latin typeface="IBM Plex Sans" pitchFamily="34" charset="0"/>
                <a:ea typeface="IBM Plex Sans" pitchFamily="34" charset="-122"/>
                <a:cs typeface="IBM Plex Sans" pitchFamily="34" charset="-120"/>
              </a:rPr>
              <a:t>10</a:t>
            </a:r>
            <a:endParaRPr lang="en-US" sz="1200" dirty="0"/>
          </a:p>
        </p:txBody>
      </p:sp>
      <p:sp>
        <p:nvSpPr>
          <p:cNvPr id="27" name="Shape 20"/>
          <p:cNvSpPr/>
          <p:nvPr/>
        </p:nvSpPr>
        <p:spPr>
          <a:xfrm>
            <a:off x="1676400" y="4057154"/>
            <a:ext cx="330200" cy="139700"/>
          </a:xfrm>
          <a:prstGeom prst="rect">
            <a:avLst/>
          </a:prstGeom>
          <a:solidFill>
            <a:srgbClr val="A3480F"/>
          </a:solidFill>
          <a:ln/>
        </p:spPr>
      </p:sp>
      <p:sp>
        <p:nvSpPr>
          <p:cNvPr id="28" name="Text 21"/>
          <p:cNvSpPr/>
          <p:nvPr/>
        </p:nvSpPr>
        <p:spPr>
          <a:xfrm>
            <a:off x="2070100" y="4020344"/>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16</a:t>
            </a:r>
            <a:endParaRPr lang="en-US" sz="1200" dirty="0"/>
          </a:p>
        </p:txBody>
      </p:sp>
      <p:sp>
        <p:nvSpPr>
          <p:cNvPr id="29" name="Text 22"/>
          <p:cNvSpPr/>
          <p:nvPr/>
        </p:nvSpPr>
        <p:spPr>
          <a:xfrm>
            <a:off x="812800" y="4387949"/>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566"/>
                </a:solidFill>
                <a:latin typeface="IBM Plex Sans" pitchFamily="34" charset="0"/>
                <a:ea typeface="IBM Plex Sans" pitchFamily="34" charset="-122"/>
                <a:cs typeface="IBM Plex Sans" pitchFamily="34" charset="-120"/>
              </a:rPr>
              <a:t>Foto 3</a:t>
            </a:r>
            <a:endParaRPr lang="en-US" sz="1200" dirty="0"/>
          </a:p>
        </p:txBody>
      </p:sp>
      <p:sp>
        <p:nvSpPr>
          <p:cNvPr id="30" name="Shape 23"/>
          <p:cNvSpPr/>
          <p:nvPr/>
        </p:nvSpPr>
        <p:spPr>
          <a:xfrm>
            <a:off x="1676400" y="4308574"/>
            <a:ext cx="2501900" cy="139700"/>
          </a:xfrm>
          <a:prstGeom prst="rect">
            <a:avLst/>
          </a:prstGeom>
          <a:solidFill>
            <a:srgbClr val="0E6E9C"/>
          </a:solidFill>
          <a:ln/>
        </p:spPr>
      </p:sp>
      <p:sp>
        <p:nvSpPr>
          <p:cNvPr id="31" name="Text 24"/>
          <p:cNvSpPr/>
          <p:nvPr/>
        </p:nvSpPr>
        <p:spPr>
          <a:xfrm>
            <a:off x="4241800" y="4271764"/>
            <a:ext cx="329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5566"/>
                </a:solidFill>
                <a:latin typeface="IBM Plex Sans" pitchFamily="34" charset="0"/>
                <a:ea typeface="IBM Plex Sans" pitchFamily="34" charset="-122"/>
                <a:cs typeface="IBM Plex Sans" pitchFamily="34" charset="-120"/>
              </a:rPr>
              <a:t>120</a:t>
            </a:r>
            <a:endParaRPr lang="en-US" sz="1200" dirty="0"/>
          </a:p>
        </p:txBody>
      </p:sp>
      <p:sp>
        <p:nvSpPr>
          <p:cNvPr id="32" name="Shape 25"/>
          <p:cNvSpPr/>
          <p:nvPr/>
        </p:nvSpPr>
        <p:spPr>
          <a:xfrm>
            <a:off x="1676400" y="4540945"/>
            <a:ext cx="2476500" cy="139700"/>
          </a:xfrm>
          <a:prstGeom prst="rect">
            <a:avLst/>
          </a:prstGeom>
          <a:solidFill>
            <a:srgbClr val="8FA9B8"/>
          </a:solidFill>
          <a:ln/>
        </p:spPr>
      </p:sp>
      <p:sp>
        <p:nvSpPr>
          <p:cNvPr id="33" name="Text 26"/>
          <p:cNvSpPr/>
          <p:nvPr/>
        </p:nvSpPr>
        <p:spPr>
          <a:xfrm>
            <a:off x="4216400" y="4504134"/>
            <a:ext cx="329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5566"/>
                </a:solidFill>
                <a:latin typeface="IBM Plex Sans" pitchFamily="34" charset="0"/>
                <a:ea typeface="IBM Plex Sans" pitchFamily="34" charset="-122"/>
                <a:cs typeface="IBM Plex Sans" pitchFamily="34" charset="-120"/>
              </a:rPr>
              <a:t>119</a:t>
            </a:r>
            <a:endParaRPr lang="en-US" sz="1200" dirty="0"/>
          </a:p>
        </p:txBody>
      </p:sp>
      <p:sp>
        <p:nvSpPr>
          <p:cNvPr id="34" name="Text 27"/>
          <p:cNvSpPr/>
          <p:nvPr/>
        </p:nvSpPr>
        <p:spPr>
          <a:xfrm>
            <a:off x="812800" y="4871740"/>
            <a:ext cx="812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566"/>
                </a:solidFill>
                <a:latin typeface="IBM Plex Sans" pitchFamily="34" charset="0"/>
                <a:ea typeface="IBM Plex Sans" pitchFamily="34" charset="-122"/>
                <a:cs typeface="IBM Plex Sans" pitchFamily="34" charset="-120"/>
              </a:rPr>
              <a:t>Foto 4</a:t>
            </a:r>
            <a:endParaRPr lang="en-US" sz="1200" dirty="0"/>
          </a:p>
        </p:txBody>
      </p:sp>
      <p:sp>
        <p:nvSpPr>
          <p:cNvPr id="35" name="Shape 28"/>
          <p:cNvSpPr/>
          <p:nvPr/>
        </p:nvSpPr>
        <p:spPr>
          <a:xfrm>
            <a:off x="1676400" y="4792365"/>
            <a:ext cx="2540000" cy="139700"/>
          </a:xfrm>
          <a:prstGeom prst="rect">
            <a:avLst/>
          </a:prstGeom>
          <a:solidFill>
            <a:srgbClr val="0E6E9C"/>
          </a:solidFill>
          <a:ln/>
        </p:spPr>
      </p:sp>
      <p:sp>
        <p:nvSpPr>
          <p:cNvPr id="36" name="Text 29"/>
          <p:cNvSpPr/>
          <p:nvPr/>
        </p:nvSpPr>
        <p:spPr>
          <a:xfrm>
            <a:off x="4279900" y="4755555"/>
            <a:ext cx="329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5566"/>
                </a:solidFill>
                <a:latin typeface="IBM Plex Sans" pitchFamily="34" charset="0"/>
                <a:ea typeface="IBM Plex Sans" pitchFamily="34" charset="-122"/>
                <a:cs typeface="IBM Plex Sans" pitchFamily="34" charset="-120"/>
              </a:rPr>
              <a:t>122</a:t>
            </a:r>
            <a:endParaRPr lang="en-US" sz="1200" dirty="0"/>
          </a:p>
        </p:txBody>
      </p:sp>
      <p:sp>
        <p:nvSpPr>
          <p:cNvPr id="37" name="Shape 30"/>
          <p:cNvSpPr/>
          <p:nvPr/>
        </p:nvSpPr>
        <p:spPr>
          <a:xfrm>
            <a:off x="1676400" y="5024735"/>
            <a:ext cx="2476500" cy="139700"/>
          </a:xfrm>
          <a:prstGeom prst="rect">
            <a:avLst/>
          </a:prstGeom>
          <a:solidFill>
            <a:srgbClr val="8FA9B8"/>
          </a:solidFill>
          <a:ln/>
        </p:spPr>
      </p:sp>
      <p:sp>
        <p:nvSpPr>
          <p:cNvPr id="38" name="Text 31"/>
          <p:cNvSpPr/>
          <p:nvPr/>
        </p:nvSpPr>
        <p:spPr>
          <a:xfrm>
            <a:off x="4216400" y="4987925"/>
            <a:ext cx="329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5566"/>
                </a:solidFill>
                <a:latin typeface="IBM Plex Sans" pitchFamily="34" charset="0"/>
                <a:ea typeface="IBM Plex Sans" pitchFamily="34" charset="-122"/>
                <a:cs typeface="IBM Plex Sans" pitchFamily="34" charset="-120"/>
              </a:rPr>
              <a:t>119</a:t>
            </a:r>
            <a:endParaRPr lang="en-US" sz="1200" dirty="0"/>
          </a:p>
        </p:txBody>
      </p:sp>
      <p:sp>
        <p:nvSpPr>
          <p:cNvPr id="39" name="Text 32"/>
          <p:cNvSpPr/>
          <p:nvPr/>
        </p:nvSpPr>
        <p:spPr>
          <a:xfrm>
            <a:off x="812800" y="5239345"/>
            <a:ext cx="588645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E6E9C"/>
                </a:solidFill>
                <a:latin typeface="IBM Plex Sans" pitchFamily="34" charset="0"/>
                <a:ea typeface="IBM Plex Sans" pitchFamily="34" charset="-122"/>
                <a:cs typeface="IBM Plex Sans" pitchFamily="34" charset="-120"/>
              </a:rPr>
              <a:t>Azul:</a:t>
            </a:r>
            <a:r>
              <a:rPr lang="en-US" sz="1200" dirty="0">
                <a:solidFill>
                  <a:srgbClr val="3E5566"/>
                </a:solidFill>
                <a:latin typeface="IBM Plex Sans" pitchFamily="34" charset="0"/>
                <a:ea typeface="IBM Plex Sans" pitchFamily="34" charset="-122"/>
                <a:cs typeface="IBM Plex Sans" pitchFamily="34" charset="-120"/>
              </a:rPr>
              <a:t> etiquetados. </a:t>
            </a:r>
            <a:r>
              <a:rPr lang="en-US" sz="1200" b="1" dirty="0">
                <a:solidFill>
                  <a:srgbClr val="A3480F"/>
                </a:solidFill>
                <a:latin typeface="IBM Plex Sans" pitchFamily="34" charset="0"/>
                <a:ea typeface="IBM Plex Sans" pitchFamily="34" charset="-122"/>
                <a:cs typeface="IBM Plex Sans" pitchFamily="34" charset="-120"/>
              </a:rPr>
              <a:t>Naranja:</a:t>
            </a:r>
            <a:r>
              <a:rPr lang="en-US" sz="1200" dirty="0">
                <a:solidFill>
                  <a:srgbClr val="3E5566"/>
                </a:solidFill>
                <a:latin typeface="IBM Plex Sans" pitchFamily="34" charset="0"/>
                <a:ea typeface="IBM Plex Sans" pitchFamily="34" charset="-122"/>
                <a:cs typeface="IBM Plex Sans" pitchFamily="34" charset="-120"/>
              </a:rPr>
              <a:t> detectados de más. </a:t>
            </a:r>
            <a:r>
              <a:rPr lang="en-US" sz="1200" b="1" dirty="0">
                <a:solidFill>
                  <a:srgbClr val="3E5566"/>
                </a:solidFill>
                <a:latin typeface="IBM Plex Sans" pitchFamily="34" charset="0"/>
                <a:ea typeface="IBM Plex Sans" pitchFamily="34" charset="-122"/>
                <a:cs typeface="IBM Plex Sans" pitchFamily="34" charset="-120"/>
              </a:rPr>
              <a:t>Gris:</a:t>
            </a:r>
            <a:r>
              <a:rPr lang="en-US" sz="1200" dirty="0">
                <a:solidFill>
                  <a:srgbClr val="3E5566"/>
                </a:solidFill>
                <a:latin typeface="IBM Plex Sans" pitchFamily="34" charset="0"/>
                <a:ea typeface="IBM Plex Sans" pitchFamily="34" charset="-122"/>
                <a:cs typeface="IBM Plex Sans" pitchFamily="34" charset="-120"/>
              </a:rPr>
              <a:t> detectados. En las densas incluyen zonas de entrenamiento: no prueban calidad.</a:t>
            </a:r>
            <a:endParaRPr lang="en-US" sz="1200" dirty="0"/>
          </a:p>
        </p:txBody>
      </p:sp>
      <p:sp>
        <p:nvSpPr>
          <p:cNvPr id="40" name="Shape 33"/>
          <p:cNvSpPr/>
          <p:nvPr/>
        </p:nvSpPr>
        <p:spPr>
          <a:xfrm>
            <a:off x="6654800" y="3052763"/>
            <a:ext cx="4724400" cy="1346002"/>
          </a:xfrm>
          <a:prstGeom prst="roundRect">
            <a:avLst>
              <a:gd name="adj" fmla="val 9435"/>
            </a:avLst>
          </a:prstGeom>
          <a:solidFill>
            <a:srgbClr val="F4A259"/>
          </a:solidFill>
          <a:ln/>
        </p:spPr>
      </p:sp>
      <p:sp>
        <p:nvSpPr>
          <p:cNvPr id="41" name="Text 34"/>
          <p:cNvSpPr/>
          <p:nvPr/>
        </p:nvSpPr>
        <p:spPr>
          <a:xfrm>
            <a:off x="6819900" y="3179763"/>
            <a:ext cx="45260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CAMPO CLARO</a:t>
            </a:r>
            <a:endParaRPr lang="en-US" sz="1200" dirty="0"/>
          </a:p>
        </p:txBody>
      </p:sp>
      <p:sp>
        <p:nvSpPr>
          <p:cNvPr id="42" name="Text 35"/>
          <p:cNvSpPr/>
          <p:nvPr/>
        </p:nvSpPr>
        <p:spPr>
          <a:xfrm>
            <a:off x="6819900" y="3431183"/>
            <a:ext cx="452602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A1406"/>
                </a:solidFill>
                <a:latin typeface="EB Garamond" pitchFamily="18" charset="0"/>
                <a:ea typeface="EB Garamond" pitchFamily="18" charset="-122"/>
                <a:cs typeface="EB Garamond" pitchFamily="18" charset="-120"/>
              </a:rPr>
              <a:t>1.00</a:t>
            </a:r>
            <a:endParaRPr lang="en-US" sz="3200" dirty="0"/>
          </a:p>
        </p:txBody>
      </p:sp>
      <p:sp>
        <p:nvSpPr>
          <p:cNvPr id="43" name="Text 36"/>
          <p:cNvSpPr/>
          <p:nvPr/>
        </p:nvSpPr>
        <p:spPr>
          <a:xfrm>
            <a:off x="6819900" y="3875683"/>
            <a:ext cx="452602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406"/>
                </a:solidFill>
                <a:latin typeface="IBM Plex Sans" pitchFamily="34" charset="0"/>
                <a:ea typeface="IBM Plex Sans" pitchFamily="34" charset="-122"/>
                <a:cs typeface="IBM Plex Sans" pitchFamily="34" charset="-120"/>
              </a:rPr>
              <a:t>con solo 2 espermatozoides en la validación. No prueba nada: con menos de 10 no se elige ni el umbral.</a:t>
            </a:r>
            <a:endParaRPr lang="en-US" sz="1200" dirty="0"/>
          </a:p>
        </p:txBody>
      </p:sp>
      <p:sp>
        <p:nvSpPr>
          <p:cNvPr id="44" name="Shape 37"/>
          <p:cNvSpPr/>
          <p:nvPr/>
        </p:nvSpPr>
        <p:spPr>
          <a:xfrm>
            <a:off x="6654800" y="4474964"/>
            <a:ext cx="4724400" cy="599281"/>
          </a:xfrm>
          <a:prstGeom prst="roundRect">
            <a:avLst>
              <a:gd name="adj" fmla="val 19073"/>
            </a:avLst>
          </a:prstGeom>
          <a:solidFill>
            <a:srgbClr val="0B1F2E"/>
          </a:solidFill>
          <a:ln/>
        </p:spPr>
      </p:sp>
      <p:pic>
        <p:nvPicPr>
          <p:cNvPr id="45" name="Image 5" descr="Search">    </p:cNvPr>
          <p:cNvPicPr>
            <a:picLocks noChangeAspect="1"/>
          </p:cNvPicPr>
          <p:nvPr/>
        </p:nvPicPr>
        <p:blipFill>
          <a:blip r:embed="rId6"/>
          <a:srcRect l="0" r="0" t="0" b="0"/>
          <a:stretch/>
        </p:blipFill>
        <p:spPr>
          <a:xfrm>
            <a:off x="6794500" y="4660305"/>
            <a:ext cx="228600" cy="228600"/>
          </a:xfrm>
          <a:prstGeom prst="rect">
            <a:avLst/>
          </a:prstGeom>
        </p:spPr>
      </p:pic>
      <p:sp>
        <p:nvSpPr>
          <p:cNvPr id="46" name="Text 38"/>
          <p:cNvSpPr/>
          <p:nvPr/>
        </p:nvSpPr>
        <p:spPr>
          <a:xfrm>
            <a:off x="7124700" y="4576564"/>
            <a:ext cx="4238244"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F6F8"/>
                </a:solidFill>
                <a:latin typeface="IBM Plex Sans" pitchFamily="34" charset="0"/>
                <a:ea typeface="IBM Plex Sans" pitchFamily="34" charset="-122"/>
                <a:cs typeface="IBM Plex Sans" pitchFamily="34" charset="-120"/>
              </a:rPr>
              <a:t>Lo que daría confianza: fotos nuevas de verdad, de otro día o equipo, etiquetadas por alguien más.</a:t>
            </a:r>
            <a:endParaRPr lang="en-US" sz="1200" dirty="0"/>
          </a:p>
        </p:txBody>
      </p:sp>
      <p:sp>
        <p:nvSpPr>
          <p:cNvPr id="47" name="Text 39"/>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 · Conteos del cuaderno de ejemplo, fotos de fluorescencia; los dibujos son esquemas</a:t>
            </a:r>
            <a:endParaRPr lang="en-US" sz="1200" dirty="0"/>
          </a:p>
        </p:txBody>
      </p:sp>
      <p:sp>
        <p:nvSpPr>
          <p:cNvPr id="48" name="Text 4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CASI SIEMPRE SE MEJORAN LOS DATOS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Cómo mejorar el modelo</a:t>
            </a:r>
            <a:endParaRPr lang="en-US" sz="3600" dirty="0"/>
          </a:p>
        </p:txBody>
      </p:sp>
      <p:sp>
        <p:nvSpPr>
          <p:cNvPr id="6" name="Shape 2"/>
          <p:cNvSpPr/>
          <p:nvPr/>
        </p:nvSpPr>
        <p:spPr>
          <a:xfrm>
            <a:off x="819150" y="1763911"/>
            <a:ext cx="2349500" cy="2247503"/>
          </a:xfrm>
          <a:prstGeom prst="roundRect">
            <a:avLst>
              <a:gd name="adj" fmla="val 5368"/>
            </a:avLst>
          </a:prstGeom>
          <a:solidFill>
            <a:srgbClr val="12304A"/>
          </a:solidFill>
          <a:ln w="12700">
            <a:solidFill>
              <a:srgbClr val="24506E"/>
            </a:solidFill>
            <a:prstDash val="solid"/>
          </a:ln>
        </p:spPr>
      </p:sp>
      <p:pic>
        <p:nvPicPr>
          <p:cNvPr id="7" name="Image 2" descr="Cuatro recortes con distinta luz, orientación y densidad">    </p:cNvPr>
          <p:cNvPicPr>
            <a:picLocks noChangeAspect="1"/>
          </p:cNvPicPr>
          <p:nvPr/>
        </p:nvPicPr>
        <p:blipFill>
          <a:blip r:embed="rId3"/>
          <a:srcRect l="0" r="0" t="0" b="0"/>
          <a:stretch/>
        </p:blipFill>
        <p:spPr>
          <a:xfrm>
            <a:off x="952500" y="1884561"/>
            <a:ext cx="2032000" cy="571500"/>
          </a:xfrm>
          <a:prstGeom prst="rect">
            <a:avLst/>
          </a:prstGeom>
        </p:spPr>
      </p:pic>
      <p:sp>
        <p:nvSpPr>
          <p:cNvPr id="8" name="Text 3"/>
          <p:cNvSpPr/>
          <p:nvPr/>
        </p:nvSpPr>
        <p:spPr>
          <a:xfrm>
            <a:off x="952500" y="2506861"/>
            <a:ext cx="2145284"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6CCFF6"/>
                </a:solidFill>
                <a:latin typeface="EB Garamond" pitchFamily="18" charset="0"/>
                <a:ea typeface="EB Garamond" pitchFamily="18" charset="-122"/>
                <a:cs typeface="EB Garamond" pitchFamily="18" charset="-120"/>
              </a:rPr>
              <a:t>1</a:t>
            </a:r>
            <a:endParaRPr lang="en-US" sz="2200" dirty="0"/>
          </a:p>
        </p:txBody>
      </p:sp>
      <p:sp>
        <p:nvSpPr>
          <p:cNvPr id="9" name="Text 4"/>
          <p:cNvSpPr/>
          <p:nvPr/>
        </p:nvSpPr>
        <p:spPr>
          <a:xfrm>
            <a:off x="952500" y="2837061"/>
            <a:ext cx="214528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1F6F8"/>
                </a:solidFill>
                <a:latin typeface="IBM Plex Sans" pitchFamily="34" charset="0"/>
                <a:ea typeface="IBM Plex Sans" pitchFamily="34" charset="-122"/>
                <a:cs typeface="IBM Plex Sans" pitchFamily="34" charset="-120"/>
              </a:rPr>
              <a:t>Más fotos, y variadas</a:t>
            </a:r>
            <a:endParaRPr lang="en-US" sz="1400" dirty="0"/>
          </a:p>
        </p:txBody>
      </p:sp>
      <p:sp>
        <p:nvSpPr>
          <p:cNvPr id="10" name="Text 5"/>
          <p:cNvSpPr/>
          <p:nvPr/>
        </p:nvSpPr>
        <p:spPr>
          <a:xfrm>
            <a:off x="952500" y="3092252"/>
            <a:ext cx="2145284"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Densas y escasas, con fibras, de distinta luz y de más de un día.</a:t>
            </a:r>
            <a:endParaRPr lang="en-US" sz="1200" dirty="0"/>
          </a:p>
        </p:txBody>
      </p:sp>
      <p:pic>
        <p:nvPicPr>
          <p:cNvPr id="11" name="Image 3" descr="arrow-right">    </p:cNvPr>
          <p:cNvPicPr>
            <a:picLocks noChangeAspect="1"/>
          </p:cNvPicPr>
          <p:nvPr/>
        </p:nvPicPr>
        <p:blipFill>
          <a:blip r:embed="rId4"/>
          <a:srcRect l="0" r="0" t="0" b="0"/>
          <a:stretch/>
        </p:blipFill>
        <p:spPr>
          <a:xfrm>
            <a:off x="3263900" y="2817813"/>
            <a:ext cx="190500" cy="139700"/>
          </a:xfrm>
          <a:prstGeom prst="rect">
            <a:avLst/>
          </a:prstGeom>
        </p:spPr>
      </p:pic>
      <p:sp>
        <p:nvSpPr>
          <p:cNvPr id="12" name="Shape 6"/>
          <p:cNvSpPr/>
          <p:nvPr/>
        </p:nvSpPr>
        <p:spPr>
          <a:xfrm>
            <a:off x="3549650" y="1763911"/>
            <a:ext cx="2349500" cy="2247503"/>
          </a:xfrm>
          <a:prstGeom prst="roundRect">
            <a:avLst>
              <a:gd name="adj" fmla="val 5368"/>
            </a:avLst>
          </a:prstGeom>
          <a:solidFill>
            <a:srgbClr val="12304A"/>
          </a:solidFill>
          <a:ln w="12700">
            <a:solidFill>
              <a:srgbClr val="24506E"/>
            </a:solidFill>
            <a:prstDash val="solid"/>
          </a:ln>
        </p:spPr>
      </p:sp>
      <p:pic>
        <p:nvPicPr>
          <p:cNvPr id="13" name="Image 4" descr="Un recorte sin espermatozoides, con una fibra, marcado con un cero">    </p:cNvPr>
          <p:cNvPicPr>
            <a:picLocks noChangeAspect="1"/>
          </p:cNvPicPr>
          <p:nvPr/>
        </p:nvPicPr>
        <p:blipFill>
          <a:blip r:embed="rId5"/>
          <a:srcRect l="0" r="0" t="0" b="0"/>
          <a:stretch/>
        </p:blipFill>
        <p:spPr>
          <a:xfrm>
            <a:off x="3683000" y="1884561"/>
            <a:ext cx="2032000" cy="571500"/>
          </a:xfrm>
          <a:prstGeom prst="rect">
            <a:avLst/>
          </a:prstGeom>
        </p:spPr>
      </p:pic>
      <p:sp>
        <p:nvSpPr>
          <p:cNvPr id="14" name="Text 7"/>
          <p:cNvSpPr/>
          <p:nvPr/>
        </p:nvSpPr>
        <p:spPr>
          <a:xfrm>
            <a:off x="3683000" y="2506861"/>
            <a:ext cx="2145284"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6CCFF6"/>
                </a:solidFill>
                <a:latin typeface="EB Garamond" pitchFamily="18" charset="0"/>
                <a:ea typeface="EB Garamond" pitchFamily="18" charset="-122"/>
                <a:cs typeface="EB Garamond" pitchFamily="18" charset="-120"/>
              </a:rPr>
              <a:t>2</a:t>
            </a:r>
            <a:endParaRPr lang="en-US" sz="2200" dirty="0"/>
          </a:p>
        </p:txBody>
      </p:sp>
      <p:sp>
        <p:nvSpPr>
          <p:cNvPr id="15" name="Text 8"/>
          <p:cNvSpPr/>
          <p:nvPr/>
        </p:nvSpPr>
        <p:spPr>
          <a:xfrm>
            <a:off x="3683000" y="2837061"/>
            <a:ext cx="2145284" cy="43418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1F6F8"/>
                </a:solidFill>
                <a:latin typeface="IBM Plex Sans" pitchFamily="34" charset="0"/>
                <a:ea typeface="IBM Plex Sans" pitchFamily="34" charset="-122"/>
                <a:cs typeface="IBM Plex Sans" pitchFamily="34" charset="-120"/>
              </a:rPr>
              <a:t>Fotos sin espermatozoides</a:t>
            </a:r>
            <a:endParaRPr lang="en-US" sz="1400" dirty="0"/>
          </a:p>
        </p:txBody>
      </p:sp>
      <p:sp>
        <p:nvSpPr>
          <p:cNvPr id="16" name="Text 9"/>
          <p:cNvSpPr/>
          <p:nvPr/>
        </p:nvSpPr>
        <p:spPr>
          <a:xfrm>
            <a:off x="3683000" y="3296642"/>
            <a:ext cx="2145284"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Como de otros tejidos. El cuaderno tiene la opción, apagada por defecto.</a:t>
            </a:r>
            <a:endParaRPr lang="en-US" sz="1200" dirty="0"/>
          </a:p>
        </p:txBody>
      </p:sp>
      <p:pic>
        <p:nvPicPr>
          <p:cNvPr id="17" name="Image 5" descr="arrow-right">    </p:cNvPr>
          <p:cNvPicPr>
            <a:picLocks noChangeAspect="1"/>
          </p:cNvPicPr>
          <p:nvPr/>
        </p:nvPicPr>
        <p:blipFill>
          <a:blip r:embed="rId6"/>
          <a:srcRect l="0" r="0" t="0" b="0"/>
          <a:stretch/>
        </p:blipFill>
        <p:spPr>
          <a:xfrm>
            <a:off x="5994400" y="2817813"/>
            <a:ext cx="190500" cy="139700"/>
          </a:xfrm>
          <a:prstGeom prst="rect">
            <a:avLst/>
          </a:prstGeom>
        </p:spPr>
      </p:pic>
      <p:sp>
        <p:nvSpPr>
          <p:cNvPr id="18" name="Shape 10"/>
          <p:cNvSpPr/>
          <p:nvPr/>
        </p:nvSpPr>
        <p:spPr>
          <a:xfrm>
            <a:off x="6280150" y="1763911"/>
            <a:ext cx="2349500" cy="2247503"/>
          </a:xfrm>
          <a:prstGeom prst="roundRect">
            <a:avLst>
              <a:gd name="adj" fmla="val 5368"/>
            </a:avLst>
          </a:prstGeom>
          <a:solidFill>
            <a:srgbClr val="12304A"/>
          </a:solidFill>
          <a:ln w="12700">
            <a:solidFill>
              <a:srgbClr val="24506E"/>
            </a:solidFill>
            <a:prstDash val="solid"/>
          </a:ln>
        </p:spPr>
      </p:sp>
      <p:pic>
        <p:nvPicPr>
          <p:cNvPr id="19" name="Image 6" descr="Una foto completa apartada para validar, junto a fotos de entrenamiento">    </p:cNvPr>
          <p:cNvPicPr>
            <a:picLocks noChangeAspect="1"/>
          </p:cNvPicPr>
          <p:nvPr/>
        </p:nvPicPr>
        <p:blipFill>
          <a:blip r:embed="rId7"/>
          <a:srcRect l="0" r="0" t="0" b="0"/>
          <a:stretch/>
        </p:blipFill>
        <p:spPr>
          <a:xfrm>
            <a:off x="6413500" y="1884561"/>
            <a:ext cx="2032000" cy="571500"/>
          </a:xfrm>
          <a:prstGeom prst="rect">
            <a:avLst/>
          </a:prstGeom>
        </p:spPr>
      </p:pic>
      <p:sp>
        <p:nvSpPr>
          <p:cNvPr id="20" name="Text 11"/>
          <p:cNvSpPr/>
          <p:nvPr/>
        </p:nvSpPr>
        <p:spPr>
          <a:xfrm>
            <a:off x="6413500" y="2506861"/>
            <a:ext cx="2145284"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6CCFF6"/>
                </a:solidFill>
                <a:latin typeface="EB Garamond" pitchFamily="18" charset="0"/>
                <a:ea typeface="EB Garamond" pitchFamily="18" charset="-122"/>
                <a:cs typeface="EB Garamond" pitchFamily="18" charset="-120"/>
              </a:rPr>
              <a:t>3</a:t>
            </a:r>
            <a:endParaRPr lang="en-US" sz="2200" dirty="0"/>
          </a:p>
        </p:txBody>
      </p:sp>
      <p:sp>
        <p:nvSpPr>
          <p:cNvPr id="21" name="Text 12"/>
          <p:cNvSpPr/>
          <p:nvPr/>
        </p:nvSpPr>
        <p:spPr>
          <a:xfrm>
            <a:off x="6413500" y="2837061"/>
            <a:ext cx="214528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1F6F8"/>
                </a:solidFill>
                <a:latin typeface="IBM Plex Sans" pitchFamily="34" charset="0"/>
                <a:ea typeface="IBM Plex Sans" pitchFamily="34" charset="-122"/>
                <a:cs typeface="IBM Plex Sans" pitchFamily="34" charset="-120"/>
              </a:rPr>
              <a:t>Validar con fotos nuevas</a:t>
            </a:r>
            <a:endParaRPr lang="en-US" sz="1400" dirty="0"/>
          </a:p>
        </p:txBody>
      </p:sp>
      <p:sp>
        <p:nvSpPr>
          <p:cNvPr id="22" name="Text 13"/>
          <p:cNvSpPr/>
          <p:nvPr/>
        </p:nvSpPr>
        <p:spPr>
          <a:xfrm>
            <a:off x="6413500" y="3092252"/>
            <a:ext cx="2145284"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Fotos completas, con diez o más.</a:t>
            </a:r>
            <a:endParaRPr lang="en-US" sz="1200" dirty="0"/>
          </a:p>
        </p:txBody>
      </p:sp>
      <p:pic>
        <p:nvPicPr>
          <p:cNvPr id="23" name="Image 7" descr="arrow-right">    </p:cNvPr>
          <p:cNvPicPr>
            <a:picLocks noChangeAspect="1"/>
          </p:cNvPicPr>
          <p:nvPr/>
        </p:nvPicPr>
        <p:blipFill>
          <a:blip r:embed="rId8"/>
          <a:srcRect l="0" r="0" t="0" b="0"/>
          <a:stretch/>
        </p:blipFill>
        <p:spPr>
          <a:xfrm>
            <a:off x="8724900" y="2817813"/>
            <a:ext cx="190500" cy="139700"/>
          </a:xfrm>
          <a:prstGeom prst="rect">
            <a:avLst/>
          </a:prstGeom>
        </p:spPr>
      </p:pic>
      <p:sp>
        <p:nvSpPr>
          <p:cNvPr id="24" name="Shape 14"/>
          <p:cNvSpPr/>
          <p:nvPr/>
        </p:nvSpPr>
        <p:spPr>
          <a:xfrm>
            <a:off x="9013825" y="1767086"/>
            <a:ext cx="2355850" cy="2241153"/>
          </a:xfrm>
          <a:prstGeom prst="roundRect">
            <a:avLst>
              <a:gd name="adj" fmla="val 5242"/>
            </a:avLst>
          </a:prstGeom>
          <a:solidFill>
            <a:srgbClr val="12304A"/>
          </a:solidFill>
          <a:ln w="19050">
            <a:solidFill>
              <a:srgbClr val="F4A259"/>
            </a:solidFill>
            <a:prstDash val="solid"/>
          </a:ln>
        </p:spPr>
      </p:sp>
      <p:pic>
        <p:nvPicPr>
          <p:cNvPr id="25" name="Image 8" descr="Dos corridas que se comparan sobre la misma validación">    </p:cNvPr>
          <p:cNvPicPr>
            <a:picLocks noChangeAspect="1"/>
          </p:cNvPicPr>
          <p:nvPr/>
        </p:nvPicPr>
        <p:blipFill>
          <a:blip r:embed="rId9"/>
          <a:srcRect l="0" r="0" t="0" b="0"/>
          <a:stretch/>
        </p:blipFill>
        <p:spPr>
          <a:xfrm>
            <a:off x="9150350" y="1890911"/>
            <a:ext cx="2032000" cy="571500"/>
          </a:xfrm>
          <a:prstGeom prst="rect">
            <a:avLst/>
          </a:prstGeom>
        </p:spPr>
      </p:pic>
      <p:sp>
        <p:nvSpPr>
          <p:cNvPr id="26" name="Text 15"/>
          <p:cNvSpPr/>
          <p:nvPr/>
        </p:nvSpPr>
        <p:spPr>
          <a:xfrm>
            <a:off x="9150350" y="2513211"/>
            <a:ext cx="2145284"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4A259"/>
                </a:solidFill>
                <a:latin typeface="EB Garamond" pitchFamily="18" charset="0"/>
                <a:ea typeface="EB Garamond" pitchFamily="18" charset="-122"/>
                <a:cs typeface="EB Garamond" pitchFamily="18" charset="-120"/>
              </a:rPr>
              <a:t>4</a:t>
            </a:r>
            <a:endParaRPr lang="en-US" sz="2200" dirty="0"/>
          </a:p>
        </p:txBody>
      </p:sp>
      <p:sp>
        <p:nvSpPr>
          <p:cNvPr id="27" name="Text 16"/>
          <p:cNvSpPr/>
          <p:nvPr/>
        </p:nvSpPr>
        <p:spPr>
          <a:xfrm>
            <a:off x="9150350" y="2843411"/>
            <a:ext cx="2145284"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1F6F8"/>
                </a:solidFill>
                <a:latin typeface="IBM Plex Sans" pitchFamily="34" charset="0"/>
                <a:ea typeface="IBM Plex Sans" pitchFamily="34" charset="-122"/>
                <a:cs typeface="IBM Plex Sans" pitchFamily="34" charset="-120"/>
              </a:rPr>
              <a:t>Una corrida nueva</a:t>
            </a:r>
            <a:endParaRPr lang="en-US" sz="1400" dirty="0"/>
          </a:p>
        </p:txBody>
      </p:sp>
      <p:sp>
        <p:nvSpPr>
          <p:cNvPr id="28" name="Text 17"/>
          <p:cNvSpPr/>
          <p:nvPr/>
        </p:nvSpPr>
        <p:spPr>
          <a:xfrm>
            <a:off x="9150350" y="3098602"/>
            <a:ext cx="2145284"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Otro nombre, vuelve a partir de COCO y se compara con la anterior.</a:t>
            </a:r>
            <a:endParaRPr lang="en-US" sz="1200" dirty="0"/>
          </a:p>
        </p:txBody>
      </p:sp>
      <p:sp>
        <p:nvSpPr>
          <p:cNvPr id="29" name="Shape 18"/>
          <p:cNvSpPr/>
          <p:nvPr/>
        </p:nvSpPr>
        <p:spPr>
          <a:xfrm>
            <a:off x="812800" y="4170164"/>
            <a:ext cx="5213350" cy="976511"/>
          </a:xfrm>
          <a:prstGeom prst="roundRect">
            <a:avLst>
              <a:gd name="adj" fmla="val 13005"/>
            </a:avLst>
          </a:prstGeom>
          <a:solidFill>
            <a:srgbClr val="F4A259"/>
          </a:solidFill>
          <a:ln/>
        </p:spPr>
      </p:sp>
      <p:pic>
        <p:nvPicPr>
          <p:cNvPr id="30" name="Image 9" descr="Warning">    </p:cNvPr>
          <p:cNvPicPr>
            <a:picLocks noChangeAspect="1"/>
          </p:cNvPicPr>
          <p:nvPr/>
        </p:nvPicPr>
        <p:blipFill>
          <a:blip r:embed="rId10"/>
          <a:srcRect l="0" r="0" t="0" b="0"/>
          <a:stretch/>
        </p:blipFill>
        <p:spPr>
          <a:xfrm>
            <a:off x="990600" y="4506020"/>
            <a:ext cx="304800" cy="304800"/>
          </a:xfrm>
          <a:prstGeom prst="rect">
            <a:avLst/>
          </a:prstGeom>
        </p:spPr>
      </p:pic>
      <p:sp>
        <p:nvSpPr>
          <p:cNvPr id="31" name="Text 19"/>
          <p:cNvSpPr/>
          <p:nvPr/>
        </p:nvSpPr>
        <p:spPr>
          <a:xfrm>
            <a:off x="1409700" y="4538365"/>
            <a:ext cx="46164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406"/>
                </a:solidFill>
                <a:latin typeface="IBM Plex Sans" pitchFamily="34" charset="0"/>
                <a:ea typeface="IBM Plex Sans" pitchFamily="34" charset="-122"/>
                <a:cs typeface="IBM Plex Sans" pitchFamily="34" charset="-120"/>
              </a:rPr>
              <a:t>El sitio no aprende de las fotos que suben los usuarios.</a:t>
            </a:r>
            <a:endParaRPr lang="en-US" sz="1400" dirty="0"/>
          </a:p>
        </p:txBody>
      </p:sp>
      <p:sp>
        <p:nvSpPr>
          <p:cNvPr id="32" name="Shape 20"/>
          <p:cNvSpPr/>
          <p:nvPr/>
        </p:nvSpPr>
        <p:spPr>
          <a:xfrm>
            <a:off x="6146800" y="4176514"/>
            <a:ext cx="5226050" cy="963811"/>
          </a:xfrm>
          <a:prstGeom prst="roundRect">
            <a:avLst>
              <a:gd name="adj" fmla="val 12518"/>
            </a:avLst>
          </a:prstGeom>
          <a:solidFill>
            <a:srgbClr val="12304A"/>
          </a:solidFill>
          <a:ln w="12700">
            <a:solidFill>
              <a:srgbClr val="24506E"/>
            </a:solidFill>
            <a:prstDash val="solid"/>
          </a:ln>
        </p:spPr>
      </p:sp>
      <p:sp>
        <p:nvSpPr>
          <p:cNvPr id="33" name="Text 21"/>
          <p:cNvSpPr/>
          <p:nvPr/>
        </p:nvSpPr>
        <p:spPr>
          <a:xfrm>
            <a:off x="6330950" y="4309864"/>
            <a:ext cx="500348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EL CAMINO</a:t>
            </a:r>
            <a:endParaRPr lang="en-US" sz="1200" dirty="0"/>
          </a:p>
        </p:txBody>
      </p:sp>
      <p:sp>
        <p:nvSpPr>
          <p:cNvPr id="34" name="Text 22"/>
          <p:cNvSpPr/>
          <p:nvPr/>
        </p:nvSpPr>
        <p:spPr>
          <a:xfrm>
            <a:off x="6330950" y="4561284"/>
            <a:ext cx="50034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Etiquetar fotos nuevas, reentrenar en Colab y cambiar el archivo del modelo en el servidor.</a:t>
            </a:r>
            <a:endParaRPr lang="en-US" sz="1300" dirty="0"/>
          </a:p>
        </p:txBody>
      </p:sp>
      <p:sp>
        <p:nvSpPr>
          <p:cNvPr id="35" name="Text 23"/>
          <p:cNvSpPr/>
          <p:nvPr/>
        </p:nvSpPr>
        <p:spPr>
          <a:xfrm>
            <a:off x="812800" y="6238280"/>
            <a:ext cx="9483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4 · Los dibujos son esquemas</a:t>
            </a:r>
            <a:endParaRPr lang="en-US" sz="1200" dirty="0"/>
          </a:p>
        </p:txBody>
      </p:sp>
      <p:sp>
        <p:nvSpPr>
          <p:cNvPr id="3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CIERRE DEL MÓDULO 2</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Lo que vimos y lo que sigue</a:t>
            </a:r>
            <a:endParaRPr lang="en-US" sz="3600" dirty="0"/>
          </a:p>
        </p:txBody>
      </p:sp>
      <p:sp>
        <p:nvSpPr>
          <p:cNvPr id="6" name="Shape 2"/>
          <p:cNvSpPr/>
          <p:nvPr/>
        </p:nvSpPr>
        <p:spPr>
          <a:xfrm>
            <a:off x="819150" y="1751211"/>
            <a:ext cx="2568575" cy="762000"/>
          </a:xfrm>
          <a:prstGeom prst="roundRect">
            <a:avLst>
              <a:gd name="adj" fmla="val 10833"/>
            </a:avLst>
          </a:prstGeom>
          <a:solidFill>
            <a:srgbClr val="FCFDFD"/>
          </a:solidFill>
          <a:ln w="12700">
            <a:solidFill>
              <a:srgbClr val="D5E3EA"/>
            </a:solidFill>
            <a:prstDash val="solid"/>
          </a:ln>
        </p:spPr>
      </p:sp>
      <p:pic>
        <p:nvPicPr>
          <p:cNvPr id="7" name="Image 2" descr="Los 64 filtros de la primera capa">    </p:cNvPr>
          <p:cNvPicPr>
            <a:picLocks noChangeAspect="1"/>
          </p:cNvPicPr>
          <p:nvPr/>
        </p:nvPicPr>
        <p:blipFill>
          <a:blip r:embed="rId3"/>
          <a:srcRect l="0" r="0" t="0" b="0"/>
          <a:stretch/>
        </p:blipFill>
        <p:spPr>
          <a:xfrm>
            <a:off x="914400" y="1827411"/>
            <a:ext cx="609600" cy="609600"/>
          </a:xfrm>
          <a:prstGeom prst="roundRect">
            <a:avLst>
              <a:gd name="adj" fmla="val 8333"/>
            </a:avLst>
          </a:prstGeom>
        </p:spPr>
      </p:pic>
      <p:sp>
        <p:nvSpPr>
          <p:cNvPr id="8" name="Text 3"/>
          <p:cNvSpPr/>
          <p:nvPr/>
        </p:nvSpPr>
        <p:spPr>
          <a:xfrm>
            <a:off x="1612900" y="1828701"/>
            <a:ext cx="1730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Video 1</a:t>
            </a:r>
            <a:endParaRPr lang="en-US" sz="1200" dirty="0"/>
          </a:p>
        </p:txBody>
      </p:sp>
      <p:sp>
        <p:nvSpPr>
          <p:cNvPr id="9" name="Text 4"/>
          <p:cNvSpPr/>
          <p:nvPr/>
        </p:nvSpPr>
        <p:spPr>
          <a:xfrm>
            <a:off x="1612900" y="2054721"/>
            <a:ext cx="173037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Un filtro que recorre la imagen.</a:t>
            </a:r>
            <a:endParaRPr lang="en-US" sz="1200" dirty="0"/>
          </a:p>
        </p:txBody>
      </p:sp>
      <p:sp>
        <p:nvSpPr>
          <p:cNvPr id="10" name="Shape 5"/>
          <p:cNvSpPr/>
          <p:nvPr/>
        </p:nvSpPr>
        <p:spPr>
          <a:xfrm>
            <a:off x="3476625" y="1751211"/>
            <a:ext cx="2568575" cy="762000"/>
          </a:xfrm>
          <a:prstGeom prst="roundRect">
            <a:avLst>
              <a:gd name="adj" fmla="val 10833"/>
            </a:avLst>
          </a:prstGeom>
          <a:solidFill>
            <a:srgbClr val="FCFDFD"/>
          </a:solidFill>
          <a:ln w="12700">
            <a:solidFill>
              <a:srgbClr val="D5E3EA"/>
            </a:solidFill>
            <a:prstDash val="solid"/>
          </a:ln>
        </p:spPr>
      </p:sp>
      <p:pic>
        <p:nvPicPr>
          <p:cNvPr id="11" name="Image 3" descr="Los contornos que dibuja Mask R-CNN sobre una tesela">    </p:cNvPr>
          <p:cNvPicPr>
            <a:picLocks noChangeAspect="1"/>
          </p:cNvPicPr>
          <p:nvPr/>
        </p:nvPicPr>
        <p:blipFill>
          <a:blip r:embed="rId4"/>
          <a:srcRect l="0" r="0" t="0" b="0"/>
          <a:stretch/>
        </p:blipFill>
        <p:spPr>
          <a:xfrm>
            <a:off x="3571875" y="1827411"/>
            <a:ext cx="609600" cy="609600"/>
          </a:xfrm>
          <a:prstGeom prst="roundRect">
            <a:avLst>
              <a:gd name="adj" fmla="val 8333"/>
            </a:avLst>
          </a:prstGeom>
        </p:spPr>
      </p:pic>
      <p:sp>
        <p:nvSpPr>
          <p:cNvPr id="12" name="Text 6"/>
          <p:cNvSpPr/>
          <p:nvPr/>
        </p:nvSpPr>
        <p:spPr>
          <a:xfrm>
            <a:off x="4270375" y="1828701"/>
            <a:ext cx="1730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Video 2</a:t>
            </a:r>
            <a:endParaRPr lang="en-US" sz="1200" dirty="0"/>
          </a:p>
        </p:txBody>
      </p:sp>
      <p:sp>
        <p:nvSpPr>
          <p:cNvPr id="13" name="Text 7"/>
          <p:cNvSpPr/>
          <p:nvPr/>
        </p:nvSpPr>
        <p:spPr>
          <a:xfrm>
            <a:off x="4270375" y="2054721"/>
            <a:ext cx="173037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Una red de cinco etapas que contornea.</a:t>
            </a:r>
            <a:endParaRPr lang="en-US" sz="1200" dirty="0"/>
          </a:p>
        </p:txBody>
      </p:sp>
      <p:sp>
        <p:nvSpPr>
          <p:cNvPr id="14" name="Shape 8"/>
          <p:cNvSpPr/>
          <p:nvPr/>
        </p:nvSpPr>
        <p:spPr>
          <a:xfrm>
            <a:off x="6134100" y="1751211"/>
            <a:ext cx="2568575" cy="762000"/>
          </a:xfrm>
          <a:prstGeom prst="roundRect">
            <a:avLst>
              <a:gd name="adj" fmla="val 10833"/>
            </a:avLst>
          </a:prstGeom>
          <a:solidFill>
            <a:srgbClr val="FCFDFD"/>
          </a:solidFill>
          <a:ln w="12700">
            <a:solidFill>
              <a:srgbClr val="D5E3EA"/>
            </a:solidFill>
            <a:prstDash val="solid"/>
          </a:ln>
        </p:spPr>
      </p:sp>
      <p:pic>
        <p:nvPicPr>
          <p:cNvPr id="15" name="Image 4" descr="Un mapa de características de una red preentrenada">    </p:cNvPr>
          <p:cNvPicPr>
            <a:picLocks noChangeAspect="1"/>
          </p:cNvPicPr>
          <p:nvPr/>
        </p:nvPicPr>
        <p:blipFill>
          <a:blip r:embed="rId5"/>
          <a:srcRect l="0" r="0" t="0" b="0"/>
          <a:stretch/>
        </p:blipFill>
        <p:spPr>
          <a:xfrm>
            <a:off x="6229350" y="1827411"/>
            <a:ext cx="609600" cy="609600"/>
          </a:xfrm>
          <a:prstGeom prst="roundRect">
            <a:avLst>
              <a:gd name="adj" fmla="val 8333"/>
            </a:avLst>
          </a:prstGeom>
        </p:spPr>
      </p:pic>
      <p:sp>
        <p:nvSpPr>
          <p:cNvPr id="16" name="Text 9"/>
          <p:cNvSpPr/>
          <p:nvPr/>
        </p:nvSpPr>
        <p:spPr>
          <a:xfrm>
            <a:off x="6927850" y="1828701"/>
            <a:ext cx="1730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Video 3</a:t>
            </a:r>
            <a:endParaRPr lang="en-US" sz="1200" dirty="0"/>
          </a:p>
        </p:txBody>
      </p:sp>
      <p:sp>
        <p:nvSpPr>
          <p:cNvPr id="17" name="Text 10"/>
          <p:cNvSpPr/>
          <p:nvPr/>
        </p:nvSpPr>
        <p:spPr>
          <a:xfrm>
            <a:off x="6927850" y="2054721"/>
            <a:ext cx="173037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Una red preentrenada ahorra fotos.</a:t>
            </a:r>
            <a:endParaRPr lang="en-US" sz="1200" dirty="0"/>
          </a:p>
        </p:txBody>
      </p:sp>
      <p:sp>
        <p:nvSpPr>
          <p:cNvPr id="18" name="Shape 11"/>
          <p:cNvSpPr/>
          <p:nvPr/>
        </p:nvSpPr>
        <p:spPr>
          <a:xfrm>
            <a:off x="8794750" y="1754386"/>
            <a:ext cx="2574925" cy="755650"/>
          </a:xfrm>
          <a:prstGeom prst="roundRect">
            <a:avLst>
              <a:gd name="adj" fmla="val 10504"/>
            </a:avLst>
          </a:prstGeom>
          <a:solidFill>
            <a:srgbClr val="FCFDFD"/>
          </a:solidFill>
          <a:ln w="19050">
            <a:solidFill>
              <a:srgbClr val="A3480F"/>
            </a:solidFill>
            <a:prstDash val="solid"/>
          </a:ln>
        </p:spPr>
      </p:sp>
      <p:pic>
        <p:nvPicPr>
          <p:cNvPr id="19" name="Image 5" descr="Un espermatozoide con su contorno como polígono">    </p:cNvPr>
          <p:cNvPicPr>
            <a:picLocks noChangeAspect="1"/>
          </p:cNvPicPr>
          <p:nvPr/>
        </p:nvPicPr>
        <p:blipFill>
          <a:blip r:embed="rId6"/>
          <a:srcRect l="0" r="0" t="0" b="0"/>
          <a:stretch/>
        </p:blipFill>
        <p:spPr>
          <a:xfrm>
            <a:off x="8893175" y="1827411"/>
            <a:ext cx="609600" cy="609600"/>
          </a:xfrm>
          <a:prstGeom prst="roundRect">
            <a:avLst>
              <a:gd name="adj" fmla="val 8333"/>
            </a:avLst>
          </a:prstGeom>
        </p:spPr>
      </p:pic>
      <p:sp>
        <p:nvSpPr>
          <p:cNvPr id="20" name="Text 12"/>
          <p:cNvSpPr/>
          <p:nvPr/>
        </p:nvSpPr>
        <p:spPr>
          <a:xfrm>
            <a:off x="9591675" y="1828701"/>
            <a:ext cx="1730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Video 4</a:t>
            </a:r>
            <a:endParaRPr lang="en-US" sz="1200" dirty="0"/>
          </a:p>
        </p:txBody>
      </p:sp>
      <p:sp>
        <p:nvSpPr>
          <p:cNvPr id="21" name="Text 13"/>
          <p:cNvSpPr/>
          <p:nvPr/>
        </p:nvSpPr>
        <p:spPr>
          <a:xfrm>
            <a:off x="9591675" y="2054721"/>
            <a:ext cx="173037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Fotos bien anotadas y medidas.</a:t>
            </a:r>
            <a:endParaRPr lang="en-US" sz="1200" dirty="0"/>
          </a:p>
        </p:txBody>
      </p:sp>
      <p:sp>
        <p:nvSpPr>
          <p:cNvPr id="22" name="Shape 14"/>
          <p:cNvSpPr/>
          <p:nvPr/>
        </p:nvSpPr>
        <p:spPr>
          <a:xfrm>
            <a:off x="819150" y="2665611"/>
            <a:ext cx="7023100" cy="342900"/>
          </a:xfrm>
          <a:prstGeom prst="roundRect">
            <a:avLst>
              <a:gd name="adj" fmla="val 20370"/>
            </a:avLst>
          </a:prstGeom>
          <a:solidFill>
            <a:srgbClr val="FCFDFD"/>
          </a:solidFill>
          <a:ln w="12700">
            <a:solidFill>
              <a:srgbClr val="D5E3EA"/>
            </a:solidFill>
            <a:prstDash val="solid"/>
          </a:ln>
        </p:spPr>
      </p:sp>
      <p:pic>
        <p:nvPicPr>
          <p:cNvPr id="23" name="Image 6" descr="Check">    </p:cNvPr>
          <p:cNvPicPr>
            <a:picLocks noChangeAspect="1"/>
          </p:cNvPicPr>
          <p:nvPr/>
        </p:nvPicPr>
        <p:blipFill>
          <a:blip r:embed="rId7"/>
          <a:srcRect l="0" r="0" t="0" b="0"/>
          <a:stretch/>
        </p:blipFill>
        <p:spPr>
          <a:xfrm>
            <a:off x="939800" y="2735461"/>
            <a:ext cx="203200" cy="203200"/>
          </a:xfrm>
          <a:prstGeom prst="rect">
            <a:avLst/>
          </a:prstGeom>
        </p:spPr>
      </p:pic>
      <p:sp>
        <p:nvSpPr>
          <p:cNvPr id="24" name="Text 15"/>
          <p:cNvSpPr/>
          <p:nvPr/>
        </p:nvSpPr>
        <p:spPr>
          <a:xfrm>
            <a:off x="1244600" y="2741811"/>
            <a:ext cx="6671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Un dato es una foto con el contorno de cada espermatozoide. No hay un número fijo de fotos.</a:t>
            </a:r>
            <a:endParaRPr lang="en-US" sz="1200" dirty="0"/>
          </a:p>
        </p:txBody>
      </p:sp>
      <p:sp>
        <p:nvSpPr>
          <p:cNvPr id="25" name="Shape 16"/>
          <p:cNvSpPr/>
          <p:nvPr/>
        </p:nvSpPr>
        <p:spPr>
          <a:xfrm>
            <a:off x="819150" y="3072011"/>
            <a:ext cx="7023100" cy="342900"/>
          </a:xfrm>
          <a:prstGeom prst="roundRect">
            <a:avLst>
              <a:gd name="adj" fmla="val 20370"/>
            </a:avLst>
          </a:prstGeom>
          <a:solidFill>
            <a:srgbClr val="FCFDFD"/>
          </a:solidFill>
          <a:ln w="12700">
            <a:solidFill>
              <a:srgbClr val="D5E3EA"/>
            </a:solidFill>
            <a:prstDash val="solid"/>
          </a:ln>
        </p:spPr>
      </p:sp>
      <p:pic>
        <p:nvPicPr>
          <p:cNvPr id="26" name="Image 7" descr="Check">    </p:cNvPr>
          <p:cNvPicPr>
            <a:picLocks noChangeAspect="1"/>
          </p:cNvPicPr>
          <p:nvPr/>
        </p:nvPicPr>
        <p:blipFill>
          <a:blip r:embed="rId8"/>
          <a:srcRect l="0" r="0" t="0" b="0"/>
          <a:stretch/>
        </p:blipFill>
        <p:spPr>
          <a:xfrm>
            <a:off x="939800" y="3141861"/>
            <a:ext cx="203200" cy="203200"/>
          </a:xfrm>
          <a:prstGeom prst="rect">
            <a:avLst/>
          </a:prstGeom>
        </p:spPr>
      </p:pic>
      <p:sp>
        <p:nvSpPr>
          <p:cNvPr id="27" name="Text 17"/>
          <p:cNvSpPr/>
          <p:nvPr/>
        </p:nvSpPr>
        <p:spPr>
          <a:xfrm>
            <a:off x="1244600" y="3148211"/>
            <a:ext cx="6671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CVAT, un criterio escrito y quien valide. El borrador se corrige.</a:t>
            </a:r>
            <a:endParaRPr lang="en-US" sz="1200" dirty="0"/>
          </a:p>
        </p:txBody>
      </p:sp>
      <p:sp>
        <p:nvSpPr>
          <p:cNvPr id="28" name="Shape 18"/>
          <p:cNvSpPr/>
          <p:nvPr/>
        </p:nvSpPr>
        <p:spPr>
          <a:xfrm>
            <a:off x="819150" y="3478411"/>
            <a:ext cx="7023100" cy="342900"/>
          </a:xfrm>
          <a:prstGeom prst="roundRect">
            <a:avLst>
              <a:gd name="adj" fmla="val 20370"/>
            </a:avLst>
          </a:prstGeom>
          <a:solidFill>
            <a:srgbClr val="FCFDFD"/>
          </a:solidFill>
          <a:ln w="12700">
            <a:solidFill>
              <a:srgbClr val="D5E3EA"/>
            </a:solidFill>
            <a:prstDash val="solid"/>
          </a:ln>
        </p:spPr>
      </p:sp>
      <p:pic>
        <p:nvPicPr>
          <p:cNvPr id="29" name="Image 8" descr="Check">    </p:cNvPr>
          <p:cNvPicPr>
            <a:picLocks noChangeAspect="1"/>
          </p:cNvPicPr>
          <p:nvPr/>
        </p:nvPicPr>
        <p:blipFill>
          <a:blip r:embed="rId9"/>
          <a:srcRect l="0" r="0" t="0" b="0"/>
          <a:stretch/>
        </p:blipFill>
        <p:spPr>
          <a:xfrm>
            <a:off x="939800" y="3548261"/>
            <a:ext cx="203200" cy="203200"/>
          </a:xfrm>
          <a:prstGeom prst="rect">
            <a:avLst/>
          </a:prstGeom>
        </p:spPr>
      </p:pic>
      <p:sp>
        <p:nvSpPr>
          <p:cNvPr id="30" name="Text 19"/>
          <p:cNvSpPr/>
          <p:nvPr/>
        </p:nvSpPr>
        <p:spPr>
          <a:xfrm>
            <a:off x="1244600" y="3554611"/>
            <a:ext cx="6671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Con 4 fotos, la validación sale de las mismas fotos: es débil.</a:t>
            </a:r>
            <a:endParaRPr lang="en-US" sz="1200" dirty="0"/>
          </a:p>
        </p:txBody>
      </p:sp>
      <p:sp>
        <p:nvSpPr>
          <p:cNvPr id="31" name="Shape 20"/>
          <p:cNvSpPr/>
          <p:nvPr/>
        </p:nvSpPr>
        <p:spPr>
          <a:xfrm>
            <a:off x="819150" y="3884811"/>
            <a:ext cx="7023100" cy="342900"/>
          </a:xfrm>
          <a:prstGeom prst="roundRect">
            <a:avLst>
              <a:gd name="adj" fmla="val 20370"/>
            </a:avLst>
          </a:prstGeom>
          <a:solidFill>
            <a:srgbClr val="FCFDFD"/>
          </a:solidFill>
          <a:ln w="12700">
            <a:solidFill>
              <a:srgbClr val="D5E3EA"/>
            </a:solidFill>
            <a:prstDash val="solid"/>
          </a:ln>
        </p:spPr>
      </p:sp>
      <p:pic>
        <p:nvPicPr>
          <p:cNvPr id="32" name="Image 9" descr="Check">    </p:cNvPr>
          <p:cNvPicPr>
            <a:picLocks noChangeAspect="1"/>
          </p:cNvPicPr>
          <p:nvPr/>
        </p:nvPicPr>
        <p:blipFill>
          <a:blip r:embed="rId10"/>
          <a:srcRect l="0" r="0" t="0" b="0"/>
          <a:stretch/>
        </p:blipFill>
        <p:spPr>
          <a:xfrm>
            <a:off x="939800" y="3954661"/>
            <a:ext cx="203200" cy="203200"/>
          </a:xfrm>
          <a:prstGeom prst="rect">
            <a:avLst/>
          </a:prstGeom>
        </p:spPr>
      </p:pic>
      <p:sp>
        <p:nvSpPr>
          <p:cNvPr id="33" name="Text 21"/>
          <p:cNvSpPr/>
          <p:nvPr/>
        </p:nvSpPr>
        <p:spPr>
          <a:xfrm>
            <a:off x="1244600" y="3961011"/>
            <a:ext cx="6671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Aumento de datos, Colab y medidas: precisión, exhaustividad, F1 y AP50.</a:t>
            </a:r>
            <a:endParaRPr lang="en-US" sz="1200" dirty="0"/>
          </a:p>
        </p:txBody>
      </p:sp>
      <p:sp>
        <p:nvSpPr>
          <p:cNvPr id="34" name="Shape 22"/>
          <p:cNvSpPr/>
          <p:nvPr/>
        </p:nvSpPr>
        <p:spPr>
          <a:xfrm>
            <a:off x="819150" y="4291211"/>
            <a:ext cx="7023100" cy="342900"/>
          </a:xfrm>
          <a:prstGeom prst="roundRect">
            <a:avLst>
              <a:gd name="adj" fmla="val 20370"/>
            </a:avLst>
          </a:prstGeom>
          <a:solidFill>
            <a:srgbClr val="FCFDFD"/>
          </a:solidFill>
          <a:ln w="12700">
            <a:solidFill>
              <a:srgbClr val="D5E3EA"/>
            </a:solidFill>
            <a:prstDash val="solid"/>
          </a:ln>
        </p:spPr>
      </p:sp>
      <p:pic>
        <p:nvPicPr>
          <p:cNvPr id="35" name="Image 10" descr="Check">    </p:cNvPr>
          <p:cNvPicPr>
            <a:picLocks noChangeAspect="1"/>
          </p:cNvPicPr>
          <p:nvPr/>
        </p:nvPicPr>
        <p:blipFill>
          <a:blip r:embed="rId11"/>
          <a:srcRect l="0" r="0" t="0" b="0"/>
          <a:stretch/>
        </p:blipFill>
        <p:spPr>
          <a:xfrm>
            <a:off x="939800" y="4361061"/>
            <a:ext cx="203200" cy="203200"/>
          </a:xfrm>
          <a:prstGeom prst="rect">
            <a:avLst/>
          </a:prstGeom>
        </p:spPr>
      </p:pic>
      <p:sp>
        <p:nvSpPr>
          <p:cNvPr id="36" name="Text 23"/>
          <p:cNvSpPr/>
          <p:nvPr/>
        </p:nvSpPr>
        <p:spPr>
          <a:xfrm>
            <a:off x="1244600" y="4367411"/>
            <a:ext cx="6671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5566"/>
                </a:solidFill>
                <a:latin typeface="IBM Plex Sans" pitchFamily="34" charset="0"/>
                <a:ea typeface="IBM Plex Sans" pitchFamily="34" charset="-122"/>
                <a:cs typeface="IBM Plex Sans" pitchFamily="34" charset="-120"/>
              </a:rPr>
              <a:t>Umbral, sobreajuste y curvas. Las cifras son preliminares; mejorar es mejorar los datos.</a:t>
            </a:r>
            <a:endParaRPr lang="en-US" sz="1200" dirty="0"/>
          </a:p>
        </p:txBody>
      </p:sp>
      <p:sp>
        <p:nvSpPr>
          <p:cNvPr id="37" name="Shape 24"/>
          <p:cNvSpPr/>
          <p:nvPr/>
        </p:nvSpPr>
        <p:spPr>
          <a:xfrm>
            <a:off x="8077200" y="2659261"/>
            <a:ext cx="3302000" cy="2237482"/>
          </a:xfrm>
          <a:prstGeom prst="roundRect">
            <a:avLst>
              <a:gd name="adj" fmla="val 6811"/>
            </a:avLst>
          </a:prstGeom>
          <a:solidFill>
            <a:srgbClr val="F4A259"/>
          </a:solidFill>
          <a:ln/>
        </p:spPr>
      </p:sp>
      <p:sp>
        <p:nvSpPr>
          <p:cNvPr id="38" name="Text 25"/>
          <p:cNvSpPr/>
          <p:nvPr/>
        </p:nvSpPr>
        <p:spPr>
          <a:xfrm>
            <a:off x="8293100" y="286246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SIGUIENTE MÓDULO</a:t>
            </a:r>
            <a:endParaRPr lang="en-US" sz="1200" dirty="0"/>
          </a:p>
        </p:txBody>
      </p:sp>
      <p:sp>
        <p:nvSpPr>
          <p:cNvPr id="39" name="Text 26"/>
          <p:cNvSpPr/>
          <p:nvPr/>
        </p:nvSpPr>
        <p:spPr>
          <a:xfrm>
            <a:off x="8293100" y="3164681"/>
            <a:ext cx="2956306" cy="77212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2A1406"/>
                </a:solidFill>
                <a:latin typeface="EB Garamond" pitchFamily="18" charset="0"/>
                <a:ea typeface="EB Garamond" pitchFamily="18" charset="-122"/>
                <a:cs typeface="EB Garamond" pitchFamily="18" charset="-120"/>
              </a:rPr>
              <a:t>Módulo 3: el sitio funcionando</a:t>
            </a:r>
            <a:endParaRPr lang="en-US" sz="2800" dirty="0"/>
          </a:p>
        </p:txBody>
      </p:sp>
      <p:sp>
        <p:nvSpPr>
          <p:cNvPr id="40" name="Text 27"/>
          <p:cNvSpPr/>
          <p:nvPr/>
        </p:nvSpPr>
        <p:spPr>
          <a:xfrm>
            <a:off x="8293100" y="4000302"/>
            <a:ext cx="295630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1406"/>
                </a:solidFill>
                <a:latin typeface="IBM Plex Sans" pitchFamily="34" charset="0"/>
                <a:ea typeface="IBM Plex Sans" pitchFamily="34" charset="-122"/>
                <a:cs typeface="IBM Plex Sans" pitchFamily="34" charset="-120"/>
              </a:rPr>
              <a:t>Una cuenta, un análisis y sus resultados. Después, cómo está hecho por dentro, en código.</a:t>
            </a:r>
            <a:endParaRPr lang="en-US" sz="1300" dirty="0"/>
          </a:p>
        </p:txBody>
      </p:sp>
      <p:sp>
        <p:nvSpPr>
          <p:cNvPr id="41" name="Text 2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4</a:t>
            </a:r>
            <a:endParaRPr lang="en-US" sz="1200" dirty="0"/>
          </a:p>
        </p:txBody>
      </p:sp>
      <p:sp>
        <p:nvSpPr>
          <p:cNvPr id="42"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15 / 15</a:t>
            </a:r>
            <a:endParaRPr lang="en-US" sz="1200" dirty="0"/>
          </a:p>
        </p:txBody>
      </p:sp>
    </p:spTree>
  </p:cSld>
  <p:clrMapOvr>
    <a:masterClrMapping/>
  </p:clrMapOvr>
</p:sld>
</file>

<file path=ppt/theme/theme1.xml><?xml version="1.0" encoding="utf-8"?>
<a:theme xmlns:a="http://schemas.openxmlformats.org/drawingml/2006/main" name="Image Bio Pro · Módulo 2 · Video 4 Datos, entrenamiento y validación">
  <a:themeElements>
    <a:clrScheme name="Image Bio Pro · Módulo 2 · Video 4 Datos, entrenamiento y validación">
      <a:dk1>
        <a:srgbClr val="0C2A3E"/>
      </a:dk1>
      <a:lt1>
        <a:srgbClr val="F4F8FA"/>
      </a:lt1>
      <a:dk2>
        <a:srgbClr val="465E6D"/>
      </a:dk2>
      <a:lt2>
        <a:srgbClr val="DDE3E7"/>
      </a:lt2>
      <a:accent1>
        <a:srgbClr val="F4A259"/>
      </a:accent1>
      <a:accent2>
        <a:srgbClr val="6CCFF6"/>
      </a:accent2>
      <a:accent3>
        <a:srgbClr val="3E5566"/>
      </a:accent3>
      <a:accent4>
        <a:srgbClr val="A3480F"/>
      </a:accent4>
      <a:accent5>
        <a:srgbClr val="8FA9B8"/>
      </a:accent5>
      <a:accent6>
        <a:srgbClr val="0E6E9C"/>
      </a:accent6>
      <a:hlink>
        <a:srgbClr val="0563C1"/>
      </a:hlink>
      <a:folHlink>
        <a:srgbClr val="954F72"/>
      </a:folHlink>
    </a:clrScheme>
    <a:fontScheme name="Image Bio Pro · Módulo 2 · Video 4 Datos, entrenamiento y validación">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2 · Video 4 Datos, entrenamiento y validación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2026-10-29T03:39:05Z</dcterms:created>
  <dcterms:modified xsi:type="dcterms:W3CDTF">2026-10-29T03:39:05Z</dcterms:modified>
</cp:coreProperties>
</file>