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EB Garamond" pitchFamily="18"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del video 3 (decir): «En el video anterior construimos una neurona completa, con sus pesos, su sesgo y su activación. Ahora vamos a juntar muchas de ellas.» Idea central: Una neurona sola hace muy poco. Muchas neuronas forman una capa, las capas se apilan y eso es una red neuronal; con muchas capas se habla de aprendizaje profundo. Cien neuronas mirando los mismos números, cada una con su criterio, devuelven una lista de cien respuestas. La red que se usa en el proyecto tiene decenas de millones de pesos; un modelo entrenado tiene en cada uno un valor adecuado, y sin entrenar produce respuestas sin sentido. La comparación con el cerebro hay que tomarla con cautela: por llamarse neuronal, la red no piensa ni comprende. Preguntas frecuentes: no hay una respuesta única de cuántas capas; se parte de arquitecturas probadas. Las primeras capas responden a bordes y cambios de brillo, las siguientes a formas, y las últimas a objetos completos.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red pequeña con dos entradas, dos neuronas ocultas y una salida se calcula con cuatro multiplicaciones y unas sumas. Una red grande hace lo mismo, millones de veces. Cuatro multiplicaciones en la capa intermedia, dos más en la salida, unas sumas y una regla de activación. No cambia el tipo de operación, cambia la cantidad. Si el segundo peso de la primera neurona fuera tres: uno más seis, siete; la salida sería 14 menos 1, trece.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Con una sola capa la red solo puede combinar entradas de forma simple. Apilar capas permite construir ideas sobre otras ideas. La profundidad permite construir ideas complejas a partir de ideas simples, y por eso el aprendizaje profundo funciona tan bien con datos con estructura, como las imágenes. Hay un equilibrio entre pocas y demasiadas capas, y por eso se parte de arquitecturas probadas en problemas parecidos.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red aprende por ensayo y corrección: predice, mide cuánto se equivocó, ajusta los pesos y repite. La respuesta correcta la ponen las personas, al anotar las imágenes. Antes de entrenar los pesos son arbitrarios y la respuesta es casi aleatoria. Una sola pasada ajusta millones de pesos y el proceso repite eso miles de veces; por eso lo hace la computadora. Conviene entender el ciclo porque cuando algo sale mal casi siempre se debe a uno de sus pasos: ejemplos que no representan bien el problema, una medida de error mal elegida o un ajuste demasiado brusco. La anotación se hizo con una herramienta llamada CVAT.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Alguien tiene que dibujar el contorno de cada cabeza en las imágenes de entrenamiento. La red solo puede aprender lo que esas personas marcaron, con sus aciertos y sus errores. Es un trabajo lento y exigente: una persona abre cada imagen en la herramienta y dibuja cada contorno punto por punto. Es mucho trabajo, pero muy poco frente a los millones de ejemplos que necesitaría una red entrenada desde cero; hay una forma de ahorrar ejemplos que se ve en el siguiente módulo. Los modelos no son neutros: reflejan las decisiones de quienes los enseñaron. La cifra de unas 150 cabezas por imagen es aproximada.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Aprender con ejemplos que traen su respuesta se llama aprendizaje supervisado. Es el que usamos, y por eso necesitamos anotar las imágenes. Ejemplo clásico: mil imágenes con la etiqueta perro o gato. El no supervisado es útil para explorar datos pero no sirve para una tarea tan precisa como trazar el contorno de una célula. El de refuerzo se usa, por ejemplo, para enseñar a una máquina a jugar ajedrez. Para nuestro problema el supervisado es el adecuado porque se sabe exactamente qué se quiere: que la red encuentre cabezas.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pérdida es un número que resume qué tan mal lo hizo la red. Cuanto más cerca de la respuesta correcta, más baja; el entrenamiento consiste en bajarla. Sin ella la red no sabría si va mejorando o empeorando. Un error grande castiga mucho más que uno pequeño. En una red como la nuestra, todas las medidas se suman en un solo número, y ese es el que se intenta reducir. Por eso importa tanto el trabajo de quienes anotan: su cuidado y su criterio se convierten en el límite de lo que la red puede aprender.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Ajustar los pesos es como bajar una montaña con niebla: en cada paso se avanza hacia donde el suelo baja más. El tamaño del paso es la tasa de aprendizaje. Esa imagen es literalmente el algoritmo con que se entrena la red, el descenso del gradiente. El gradiente indica, para cada peso, en qué dirección moverlo y qué tan sensible es la pérdida a ese movimiento: si al subir un poco un peso la pérdida sube, hay que bajarlo. En nuestra red hay decenas de millones de direcciones, una por peso, y el gradiente da la inclinación en todas a la vez. Nada garantiza que el valle al que se llega sea el más profundo; por eso dos entrenamientos con puntos de partida distintos pueden dar resultados ligeramente distintos. Es una técnica clásica de optimización; lo que cambió es la escala.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tasa de aprendizaje es el tamaño del paso. Las decisiones que se toman antes de entrenar, como esta, se llaman hiperparámetros y se eligen probando. Cuando se dice que un modelo se entrenó de cierta manera, parte de esa manera son sus hiperparámetros; por eso el cuaderno de entrenamiento se comparte con su configuración, para que cualquiera pueda repetir el entrenamiento con las mismas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retropropagación calcula cuánto contribuyó cada peso al error, yendo hacia atrás desde la salida, capa por capa. Se parece a revisar los tiros fallados de Batalla naval. Se calcula con decenas de millones de pesos de forma eficiente porque la red es una cadena de operaciones simples y la contribución de cada una se calcula con reglas elementales. Con ella, una sola pasada hacia atrás da el gradiente de todos los pesos a la vez; sin esa técnica, entrenar redes tan grandes sería prácticamente imposible. Así, ensayo tras ensayo, una red que empezó respondiendo al azar termina marcando los espermatozoides. Cómo mira una imagen una red convolucional y cómo se aprovecha una red entrenada para otra cosa, se ve en el siguiente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cada ajuste se usa un lote de imágenes. Una iteración es un ajuste; una época es una pasada completa por todos los ejemplos. Se hacen muchas épocas. Con cien imágenes y lotes de cuatro, hay veinticinco lotes y veinticinco iteraciones por época. Comparación con estudiar para un examen: el lote es el montón de ejercicios que se resuelven antes de revisar los errores, la iteración es cada vez que se revisa y corrige, y la época es cada vez que se terminan todos los ejercicios del libro. No se aprende a la primera vuelta, sino repasando muchas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Como el entrenamiento usa azar, para poder repetirlo se fija una semilla y se documentan las decisiones. Así otra persona puede obtener el mismo modelo. Esto es importante en ciencia: un resultado que no se puede repetir es difícil de defender. Cuando el entrenamiento está en un cuaderno compartido, el cuaderno guarda los hiperparámetros, la separación de las imágenes y la semilla. Es el tercero de los tres principios del proyecto: que todo se pueda repetir.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red neuronal es una cadena de capas con pesos ajustables, que se ajustan con ejemplos mediante pérdida, gradiente y retropropagación. No hay comprensión: hay números ajustados. Con estas ideas ya están las bases de qué es una red neuronal y cómo aprende. En el siguiente módulo se ve cómo mira una imagen una red como la nuestra y por qué una red entrenada para otra cosa sirve para contar espermatozoides; después, el sitio funcionando; al final, los datos, el entrenamiento y la publicación.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 modelo funciona bien con imágenes parecidas a las de su entrenamiento. Con otras puede fallar sin avisar, y por eso se revisa siempre la imagen marcada. Nada de esto le quita valor al sistema: un instrumento de laboratorio también tiene su rango de uso, y saber cuál es parte de saber usarlo. Lo que hace diferente a este es que muestra su trabajo. Los errores de omisión son más difíciles de notar porque no hay contorno que mirar.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El problema era contar y medir a mano; vimos qué es una imagen digital, algunas definiciones y las bases de las redes neuronales: neurona, capas y cómo aprenden. Una última idea para llevarse: si quedó la impresión de que una red neuronal es una máquina de multiplicar y sumar, es una buena impresión. Quien se quede con eso entenderá por qué el sistema funciona y también por qué conviene revisarlo.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este módulo vimos qué es una red neuronal y cómo aprende. En el siguiente módulo se ve cómo mira una imagen una red como la nuestra y por qué una red entrenada para otra cosa sirve para contar espermatozoides; después, el sistema y su código, y al final, el entrenamiento en código y el despliegue en la nube. Gracias por acompañarme en este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F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1F6F8"/>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F1F6F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F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1F6F8"/>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F1F6F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jpe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VIDEO 3</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De la neurona a la capa y a la red</a:t>
            </a:r>
            <a:endParaRPr lang="en-US" sz="3600" dirty="0"/>
          </a:p>
        </p:txBody>
      </p:sp>
      <p:pic>
        <p:nvPicPr>
          <p:cNvPr id="6" name="Image 2" descr="Una red: tres entradas, dos capas intermedias de cuatro neuronas y una salida">    </p:cNvPr>
          <p:cNvPicPr>
            <a:picLocks noChangeAspect="1"/>
          </p:cNvPicPr>
          <p:nvPr/>
        </p:nvPicPr>
        <p:blipFill>
          <a:blip r:embed="rId3"/>
          <a:srcRect l="0" r="0" t="0" b="0"/>
          <a:stretch/>
        </p:blipFill>
        <p:spPr>
          <a:xfrm>
            <a:off x="812800" y="1954014"/>
            <a:ext cx="4826000" cy="2413000"/>
          </a:xfrm>
          <a:prstGeom prst="rect">
            <a:avLst/>
          </a:prstGeom>
        </p:spPr>
      </p:pic>
      <p:sp>
        <p:nvSpPr>
          <p:cNvPr id="7" name="Text 2"/>
          <p:cNvSpPr/>
          <p:nvPr/>
        </p:nvSpPr>
        <p:spPr>
          <a:xfrm>
            <a:off x="812800" y="4430514"/>
            <a:ext cx="6362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entrada</a:t>
            </a:r>
            <a:endParaRPr lang="en-US" sz="1200" dirty="0"/>
          </a:p>
        </p:txBody>
      </p:sp>
      <p:sp>
        <p:nvSpPr>
          <p:cNvPr id="8" name="Text 3"/>
          <p:cNvSpPr/>
          <p:nvPr/>
        </p:nvSpPr>
        <p:spPr>
          <a:xfrm>
            <a:off x="2661444" y="4430514"/>
            <a:ext cx="1504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capas intermedias</a:t>
            </a:r>
            <a:endParaRPr lang="en-US" sz="1200" dirty="0"/>
          </a:p>
        </p:txBody>
      </p:sp>
      <p:sp>
        <p:nvSpPr>
          <p:cNvPr id="9" name="Text 4"/>
          <p:cNvSpPr/>
          <p:nvPr/>
        </p:nvSpPr>
        <p:spPr>
          <a:xfrm>
            <a:off x="5152787" y="4430514"/>
            <a:ext cx="4860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salida</a:t>
            </a:r>
            <a:endParaRPr lang="en-US" sz="1200" dirty="0"/>
          </a:p>
        </p:txBody>
      </p:sp>
      <p:sp>
        <p:nvSpPr>
          <p:cNvPr id="10" name="Shape 5"/>
          <p:cNvSpPr/>
          <p:nvPr/>
        </p:nvSpPr>
        <p:spPr>
          <a:xfrm>
            <a:off x="5899150" y="1840111"/>
            <a:ext cx="5473700" cy="979091"/>
          </a:xfrm>
          <a:prstGeom prst="roundRect">
            <a:avLst>
              <a:gd name="adj" fmla="val 9728"/>
            </a:avLst>
          </a:prstGeom>
          <a:solidFill>
            <a:srgbClr val="FCFDFD"/>
          </a:solidFill>
          <a:ln w="12700">
            <a:solidFill>
              <a:srgbClr val="D5E3EA"/>
            </a:solidFill>
            <a:prstDash val="solid"/>
          </a:ln>
        </p:spPr>
      </p:sp>
      <p:sp>
        <p:nvSpPr>
          <p:cNvPr id="11" name="Text 6"/>
          <p:cNvSpPr/>
          <p:nvPr/>
        </p:nvSpPr>
        <p:spPr>
          <a:xfrm>
            <a:off x="6070600" y="1973461"/>
            <a:ext cx="52847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Una capa</a:t>
            </a:r>
            <a:endParaRPr lang="en-US" sz="1500" dirty="0"/>
          </a:p>
        </p:txBody>
      </p:sp>
      <p:sp>
        <p:nvSpPr>
          <p:cNvPr id="12" name="Text 7"/>
          <p:cNvSpPr/>
          <p:nvPr/>
        </p:nvSpPr>
        <p:spPr>
          <a:xfrm>
            <a:off x="6070600" y="2240161"/>
            <a:ext cx="528472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Muchas neuronas con las mismas entradas y pesos distintos: cada una hace una pregunta distinta.</a:t>
            </a:r>
            <a:endParaRPr lang="en-US" sz="1300" dirty="0"/>
          </a:p>
        </p:txBody>
      </p:sp>
      <p:sp>
        <p:nvSpPr>
          <p:cNvPr id="13" name="Shape 8"/>
          <p:cNvSpPr/>
          <p:nvPr/>
        </p:nvSpPr>
        <p:spPr>
          <a:xfrm>
            <a:off x="5899150" y="2933502"/>
            <a:ext cx="5473700" cy="979091"/>
          </a:xfrm>
          <a:prstGeom prst="roundRect">
            <a:avLst>
              <a:gd name="adj" fmla="val 9728"/>
            </a:avLst>
          </a:prstGeom>
          <a:solidFill>
            <a:srgbClr val="FCFDFD"/>
          </a:solidFill>
          <a:ln w="12700">
            <a:solidFill>
              <a:srgbClr val="D5E3EA"/>
            </a:solidFill>
            <a:prstDash val="solid"/>
          </a:ln>
        </p:spPr>
      </p:sp>
      <p:sp>
        <p:nvSpPr>
          <p:cNvPr id="14" name="Text 9"/>
          <p:cNvSpPr/>
          <p:nvPr/>
        </p:nvSpPr>
        <p:spPr>
          <a:xfrm>
            <a:off x="6070600" y="3066852"/>
            <a:ext cx="52847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Capas apiladas</a:t>
            </a:r>
            <a:endParaRPr lang="en-US" sz="1500" dirty="0"/>
          </a:p>
        </p:txBody>
      </p:sp>
      <p:sp>
        <p:nvSpPr>
          <p:cNvPr id="15" name="Text 10"/>
          <p:cNvSpPr/>
          <p:nvPr/>
        </p:nvSpPr>
        <p:spPr>
          <a:xfrm>
            <a:off x="6070600" y="3333552"/>
            <a:ext cx="528472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La salida de una capa es la entrada de la siguiente. Cada una ve un resumen más abstracto.</a:t>
            </a:r>
            <a:endParaRPr lang="en-US" sz="1300" dirty="0"/>
          </a:p>
        </p:txBody>
      </p:sp>
      <p:sp>
        <p:nvSpPr>
          <p:cNvPr id="16" name="Shape 11"/>
          <p:cNvSpPr/>
          <p:nvPr/>
        </p:nvSpPr>
        <p:spPr>
          <a:xfrm>
            <a:off x="5892800" y="4020542"/>
            <a:ext cx="5486400" cy="743545"/>
          </a:xfrm>
          <a:prstGeom prst="roundRect">
            <a:avLst>
              <a:gd name="adj" fmla="val 13664"/>
            </a:avLst>
          </a:prstGeom>
          <a:solidFill>
            <a:srgbClr val="0B1F2E"/>
          </a:solidFill>
          <a:ln/>
        </p:spPr>
      </p:sp>
      <p:sp>
        <p:nvSpPr>
          <p:cNvPr id="17" name="Text 12"/>
          <p:cNvSpPr/>
          <p:nvPr/>
        </p:nvSpPr>
        <p:spPr>
          <a:xfrm>
            <a:off x="6057900" y="4147542"/>
            <a:ext cx="53108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A259"/>
                </a:solidFill>
                <a:latin typeface="IBM Plex Sans" pitchFamily="34" charset="0"/>
                <a:ea typeface="IBM Plex Sans" pitchFamily="34" charset="-122"/>
                <a:cs typeface="IBM Plex Sans" pitchFamily="34" charset="-120"/>
              </a:rPr>
              <a:t>Aprendizaje profundo</a:t>
            </a:r>
            <a:endParaRPr lang="en-US" sz="1500" dirty="0"/>
          </a:p>
        </p:txBody>
      </p:sp>
      <p:sp>
        <p:nvSpPr>
          <p:cNvPr id="18" name="Text 13"/>
          <p:cNvSpPr/>
          <p:nvPr/>
        </p:nvSpPr>
        <p:spPr>
          <a:xfrm>
            <a:off x="6057900" y="4414242"/>
            <a:ext cx="531088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Redes con muchas capas. Los pesos son lo que la red sabe.</a:t>
            </a:r>
            <a:endParaRPr lang="en-US" sz="1300" dirty="0"/>
          </a:p>
        </p:txBody>
      </p:sp>
      <p:sp>
        <p:nvSpPr>
          <p:cNvPr id="19"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3 · Esquema ilustrativo</a:t>
            </a:r>
            <a:endParaRPr lang="en-US" sz="1200" dirty="0"/>
          </a:p>
        </p:txBody>
      </p:sp>
      <p:sp>
        <p:nvSpPr>
          <p:cNvPr id="20"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 / 16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VIDEO 3</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Una red pequeña, a mano</a:t>
            </a:r>
            <a:endParaRPr lang="en-US" sz="3600" dirty="0"/>
          </a:p>
        </p:txBody>
      </p:sp>
      <p:sp>
        <p:nvSpPr>
          <p:cNvPr id="6" name="Shape 2"/>
          <p:cNvSpPr/>
          <p:nvPr/>
        </p:nvSpPr>
        <p:spPr>
          <a:xfrm>
            <a:off x="819150" y="1840111"/>
            <a:ext cx="1892300" cy="1686421"/>
          </a:xfrm>
          <a:prstGeom prst="roundRect">
            <a:avLst>
              <a:gd name="adj" fmla="val 7154"/>
            </a:avLst>
          </a:prstGeom>
          <a:solidFill>
            <a:srgbClr val="12304A"/>
          </a:solidFill>
          <a:ln w="12700">
            <a:solidFill>
              <a:srgbClr val="24506E"/>
            </a:solidFill>
            <a:prstDash val="solid"/>
          </a:ln>
        </p:spPr>
      </p:sp>
      <p:sp>
        <p:nvSpPr>
          <p:cNvPr id="7" name="Text 3"/>
          <p:cNvSpPr/>
          <p:nvPr/>
        </p:nvSpPr>
        <p:spPr>
          <a:xfrm>
            <a:off x="977900" y="2316262"/>
            <a:ext cx="1625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ENTRADAS</a:t>
            </a:r>
            <a:endParaRPr lang="en-US" sz="1200" dirty="0"/>
          </a:p>
        </p:txBody>
      </p:sp>
      <p:sp>
        <p:nvSpPr>
          <p:cNvPr id="8" name="Text 4"/>
          <p:cNvSpPr/>
          <p:nvPr/>
        </p:nvSpPr>
        <p:spPr>
          <a:xfrm>
            <a:off x="977900" y="2593082"/>
            <a:ext cx="16256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1F6F8"/>
                </a:solidFill>
                <a:latin typeface="EB Garamond" pitchFamily="18" charset="0"/>
                <a:ea typeface="EB Garamond" pitchFamily="18" charset="-122"/>
                <a:cs typeface="EB Garamond" pitchFamily="18" charset="-120"/>
              </a:rPr>
              <a:t>1 y 2</a:t>
            </a:r>
            <a:endParaRPr lang="en-US" sz="3600" dirty="0"/>
          </a:p>
        </p:txBody>
      </p:sp>
      <p:pic>
        <p:nvPicPr>
          <p:cNvPr id="9" name="Image 2" descr="arrow-right">    </p:cNvPr>
          <p:cNvPicPr>
            <a:picLocks noChangeAspect="1"/>
          </p:cNvPicPr>
          <p:nvPr/>
        </p:nvPicPr>
        <p:blipFill>
          <a:blip r:embed="rId3"/>
          <a:srcRect l="0" r="0" t="0" b="0"/>
          <a:stretch/>
        </p:blipFill>
        <p:spPr>
          <a:xfrm>
            <a:off x="2819400" y="2556272"/>
            <a:ext cx="304800" cy="254000"/>
          </a:xfrm>
          <a:prstGeom prst="rect">
            <a:avLst/>
          </a:prstGeom>
        </p:spPr>
      </p:pic>
      <p:sp>
        <p:nvSpPr>
          <p:cNvPr id="10" name="Shape 5"/>
          <p:cNvSpPr/>
          <p:nvPr/>
        </p:nvSpPr>
        <p:spPr>
          <a:xfrm>
            <a:off x="3232150" y="1840111"/>
            <a:ext cx="4965700" cy="792361"/>
          </a:xfrm>
          <a:prstGeom prst="roundRect">
            <a:avLst>
              <a:gd name="adj" fmla="val 15227"/>
            </a:avLst>
          </a:prstGeom>
          <a:solidFill>
            <a:srgbClr val="12304A"/>
          </a:solidFill>
          <a:ln w="12700">
            <a:solidFill>
              <a:srgbClr val="24506E"/>
            </a:solidFill>
            <a:prstDash val="solid"/>
          </a:ln>
        </p:spPr>
      </p:sp>
      <p:sp>
        <p:nvSpPr>
          <p:cNvPr id="11" name="Text 6"/>
          <p:cNvSpPr/>
          <p:nvPr/>
        </p:nvSpPr>
        <p:spPr>
          <a:xfrm>
            <a:off x="3403600" y="1973461"/>
            <a:ext cx="47614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NEURONA A · PESOS 1 Y 1</a:t>
            </a:r>
            <a:endParaRPr lang="en-US" sz="1200" dirty="0"/>
          </a:p>
        </p:txBody>
      </p:sp>
      <p:sp>
        <p:nvSpPr>
          <p:cNvPr id="12" name="Text 7"/>
          <p:cNvSpPr/>
          <p:nvPr/>
        </p:nvSpPr>
        <p:spPr>
          <a:xfrm>
            <a:off x="3403600" y="2224881"/>
            <a:ext cx="47614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1F6F8"/>
                </a:solidFill>
                <a:latin typeface="IBM Plex Sans" pitchFamily="34" charset="0"/>
                <a:ea typeface="IBM Plex Sans" pitchFamily="34" charset="-122"/>
                <a:cs typeface="IBM Plex Sans" pitchFamily="34" charset="-120"/>
              </a:rPr>
              <a:t>1·1 + 2·1 = 3. Positivo: pasa. Sale </a:t>
            </a:r>
            <a:r>
              <a:rPr lang="en-US" sz="1400" b="1" dirty="0">
                <a:solidFill>
                  <a:srgbClr val="F4A259"/>
                </a:solidFill>
                <a:latin typeface="IBM Plex Sans" pitchFamily="34" charset="0"/>
                <a:ea typeface="IBM Plex Sans" pitchFamily="34" charset="-122"/>
                <a:cs typeface="IBM Plex Sans" pitchFamily="34" charset="-120"/>
              </a:rPr>
              <a:t>3</a:t>
            </a:r>
            <a:r>
              <a:rPr lang="en-US" sz="1400" dirty="0">
                <a:solidFill>
                  <a:srgbClr val="F1F6F8"/>
                </a:solidFill>
                <a:latin typeface="IBM Plex Sans" pitchFamily="34" charset="0"/>
                <a:ea typeface="IBM Plex Sans" pitchFamily="34" charset="-122"/>
                <a:cs typeface="IBM Plex Sans" pitchFamily="34" charset="-120"/>
              </a:rPr>
              <a:t>.</a:t>
            </a:r>
            <a:endParaRPr lang="en-US" sz="1400" dirty="0"/>
          </a:p>
        </p:txBody>
      </p:sp>
      <p:sp>
        <p:nvSpPr>
          <p:cNvPr id="13" name="Shape 8"/>
          <p:cNvSpPr/>
          <p:nvPr/>
        </p:nvSpPr>
        <p:spPr>
          <a:xfrm>
            <a:off x="3232150" y="2734072"/>
            <a:ext cx="4965700" cy="792460"/>
          </a:xfrm>
          <a:prstGeom prst="roundRect">
            <a:avLst>
              <a:gd name="adj" fmla="val 15225"/>
            </a:avLst>
          </a:prstGeom>
          <a:solidFill>
            <a:srgbClr val="12304A"/>
          </a:solidFill>
          <a:ln w="12700">
            <a:solidFill>
              <a:srgbClr val="24506E"/>
            </a:solidFill>
            <a:prstDash val="solid"/>
          </a:ln>
        </p:spPr>
      </p:sp>
      <p:sp>
        <p:nvSpPr>
          <p:cNvPr id="14" name="Text 9"/>
          <p:cNvSpPr/>
          <p:nvPr/>
        </p:nvSpPr>
        <p:spPr>
          <a:xfrm>
            <a:off x="3403600" y="2867422"/>
            <a:ext cx="47614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NEURONA B · PESOS 1 Y −1</a:t>
            </a:r>
            <a:endParaRPr lang="en-US" sz="1200" dirty="0"/>
          </a:p>
        </p:txBody>
      </p:sp>
      <p:sp>
        <p:nvSpPr>
          <p:cNvPr id="15" name="Text 10"/>
          <p:cNvSpPr/>
          <p:nvPr/>
        </p:nvSpPr>
        <p:spPr>
          <a:xfrm>
            <a:off x="3403600" y="3118842"/>
            <a:ext cx="47614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1F6F8"/>
                </a:solidFill>
                <a:latin typeface="IBM Plex Sans" pitchFamily="34" charset="0"/>
                <a:ea typeface="IBM Plex Sans" pitchFamily="34" charset="-122"/>
                <a:cs typeface="IBM Plex Sans" pitchFamily="34" charset="-120"/>
              </a:rPr>
              <a:t>1·1 + 2·(−1) = −1. Negativo: se apaga. Sale </a:t>
            </a:r>
            <a:r>
              <a:rPr lang="en-US" sz="1400" b="1" dirty="0">
                <a:solidFill>
                  <a:srgbClr val="F4A259"/>
                </a:solidFill>
                <a:latin typeface="IBM Plex Sans" pitchFamily="34" charset="0"/>
                <a:ea typeface="IBM Plex Sans" pitchFamily="34" charset="-122"/>
                <a:cs typeface="IBM Plex Sans" pitchFamily="34" charset="-120"/>
              </a:rPr>
              <a:t>0</a:t>
            </a:r>
            <a:r>
              <a:rPr lang="en-US" sz="1400" dirty="0">
                <a:solidFill>
                  <a:srgbClr val="F1F6F8"/>
                </a:solidFill>
                <a:latin typeface="IBM Plex Sans" pitchFamily="34" charset="0"/>
                <a:ea typeface="IBM Plex Sans" pitchFamily="34" charset="-122"/>
                <a:cs typeface="IBM Plex Sans" pitchFamily="34" charset="-120"/>
              </a:rPr>
              <a:t>.</a:t>
            </a:r>
            <a:endParaRPr lang="en-US" sz="1400" dirty="0"/>
          </a:p>
        </p:txBody>
      </p:sp>
      <p:pic>
        <p:nvPicPr>
          <p:cNvPr id="16" name="Image 3" descr="arrow-right">    </p:cNvPr>
          <p:cNvPicPr>
            <a:picLocks noChangeAspect="1"/>
          </p:cNvPicPr>
          <p:nvPr/>
        </p:nvPicPr>
        <p:blipFill>
          <a:blip r:embed="rId4"/>
          <a:srcRect l="0" r="0" t="0" b="0"/>
          <a:stretch/>
        </p:blipFill>
        <p:spPr>
          <a:xfrm>
            <a:off x="8305800" y="2556272"/>
            <a:ext cx="304800" cy="254000"/>
          </a:xfrm>
          <a:prstGeom prst="rect">
            <a:avLst/>
          </a:prstGeom>
        </p:spPr>
      </p:pic>
      <p:sp>
        <p:nvSpPr>
          <p:cNvPr id="17" name="Shape 11"/>
          <p:cNvSpPr/>
          <p:nvPr/>
        </p:nvSpPr>
        <p:spPr>
          <a:xfrm>
            <a:off x="8712200" y="1833761"/>
            <a:ext cx="2667000" cy="1699121"/>
          </a:xfrm>
          <a:prstGeom prst="roundRect">
            <a:avLst>
              <a:gd name="adj" fmla="val 7474"/>
            </a:avLst>
          </a:prstGeom>
          <a:solidFill>
            <a:srgbClr val="F4A259"/>
          </a:solidFill>
          <a:ln/>
        </p:spPr>
      </p:sp>
      <p:sp>
        <p:nvSpPr>
          <p:cNvPr id="18" name="Text 12"/>
          <p:cNvSpPr/>
          <p:nvPr/>
        </p:nvSpPr>
        <p:spPr>
          <a:xfrm>
            <a:off x="8864600" y="1986161"/>
            <a:ext cx="2433066"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1406"/>
                </a:solidFill>
                <a:latin typeface="IBM Plex Sans" pitchFamily="34" charset="0"/>
                <a:ea typeface="IBM Plex Sans" pitchFamily="34" charset="-122"/>
                <a:cs typeface="IBM Plex Sans" pitchFamily="34" charset="-120"/>
              </a:rPr>
              <a:t>SALIDA · PESOS 2 Y 1, SESGO −1</a:t>
            </a:r>
            <a:endParaRPr lang="en-US" sz="1200" dirty="0"/>
          </a:p>
        </p:txBody>
      </p:sp>
      <p:sp>
        <p:nvSpPr>
          <p:cNvPr id="19" name="Text 13"/>
          <p:cNvSpPr/>
          <p:nvPr/>
        </p:nvSpPr>
        <p:spPr>
          <a:xfrm>
            <a:off x="8864600" y="2476302"/>
            <a:ext cx="2433066"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1406"/>
                </a:solidFill>
                <a:latin typeface="IBM Plex Sans" pitchFamily="34" charset="0"/>
                <a:ea typeface="IBM Plex Sans" pitchFamily="34" charset="-122"/>
                <a:cs typeface="IBM Plex Sans" pitchFamily="34" charset="-120"/>
              </a:rPr>
              <a:t>3·2 + 0·1 = 6; menos 1 da</a:t>
            </a:r>
            <a:endParaRPr lang="en-US" sz="1400" dirty="0"/>
          </a:p>
        </p:txBody>
      </p:sp>
      <p:sp>
        <p:nvSpPr>
          <p:cNvPr id="20" name="Text 14"/>
          <p:cNvSpPr/>
          <p:nvPr/>
        </p:nvSpPr>
        <p:spPr>
          <a:xfrm>
            <a:off x="8864600" y="2770882"/>
            <a:ext cx="243306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A1406"/>
                </a:solidFill>
                <a:latin typeface="EB Garamond" pitchFamily="18" charset="0"/>
                <a:ea typeface="EB Garamond" pitchFamily="18" charset="-122"/>
                <a:cs typeface="EB Garamond" pitchFamily="18" charset="-120"/>
              </a:rPr>
              <a:t>5</a:t>
            </a:r>
            <a:endParaRPr lang="en-US" sz="4800" dirty="0"/>
          </a:p>
        </p:txBody>
      </p:sp>
      <p:sp>
        <p:nvSpPr>
          <p:cNvPr id="21" name="Shape 15"/>
          <p:cNvSpPr/>
          <p:nvPr/>
        </p:nvSpPr>
        <p:spPr>
          <a:xfrm>
            <a:off x="819150" y="3767832"/>
            <a:ext cx="10553700" cy="1841500"/>
          </a:xfrm>
          <a:prstGeom prst="roundRect">
            <a:avLst>
              <a:gd name="adj" fmla="val 6552"/>
            </a:avLst>
          </a:prstGeom>
          <a:solidFill>
            <a:srgbClr val="12304A"/>
          </a:solidFill>
          <a:ln w="12700">
            <a:solidFill>
              <a:srgbClr val="24506E"/>
            </a:solidFill>
            <a:prstDash val="solid"/>
          </a:ln>
        </p:spPr>
      </p:sp>
      <p:pic>
        <p:nvPicPr>
          <p:cNvPr id="22" name="Image 4" descr="Dibujo de la red pequeña: dos entradas, dos neuronas y una salida">    </p:cNvPr>
          <p:cNvPicPr>
            <a:picLocks noChangeAspect="1"/>
          </p:cNvPicPr>
          <p:nvPr/>
        </p:nvPicPr>
        <p:blipFill>
          <a:blip r:embed="rId5"/>
          <a:srcRect l="0" r="0" t="311" b="311"/>
          <a:stretch/>
        </p:blipFill>
        <p:spPr>
          <a:xfrm>
            <a:off x="1041400" y="3926582"/>
            <a:ext cx="2286000" cy="1524000"/>
          </a:xfrm>
          <a:prstGeom prst="roundRect">
            <a:avLst>
              <a:gd name="adj" fmla="val 5833"/>
            </a:avLst>
          </a:prstGeom>
        </p:spPr>
      </p:pic>
      <p:sp>
        <p:nvSpPr>
          <p:cNvPr id="23" name="Text 16"/>
          <p:cNvSpPr/>
          <p:nvPr/>
        </p:nvSpPr>
        <p:spPr>
          <a:xfrm>
            <a:off x="3454400" y="4448572"/>
            <a:ext cx="792708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1F6F8"/>
                </a:solidFill>
                <a:latin typeface="IBM Plex Sans" pitchFamily="34" charset="0"/>
                <a:ea typeface="IBM Plex Sans" pitchFamily="34" charset="-122"/>
                <a:cs typeface="IBM Plex Sans" pitchFamily="34" charset="-120"/>
              </a:rPr>
              <a:t>Si el segundo peso de la neurona A fuera 3 y no 1, la salida sería 13 y no 5. Entrenar es buscar los valores de todos los pesos que dan la respuesta correcta.</a:t>
            </a:r>
            <a:endParaRPr lang="en-US" sz="1400" dirty="0"/>
          </a:p>
        </p:txBody>
      </p:sp>
      <p:sp>
        <p:nvSpPr>
          <p:cNvPr id="24"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3 · Números de ejemplo</a:t>
            </a:r>
            <a:endParaRPr lang="en-US" sz="1200" dirty="0"/>
          </a:p>
        </p:txBody>
      </p:sp>
      <p:sp>
        <p:nvSpPr>
          <p:cNvPr id="25"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VIDEO 3</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Profundidad: por qué importan las capas</a:t>
            </a:r>
            <a:endParaRPr lang="en-US" sz="3600" dirty="0"/>
          </a:p>
        </p:txBody>
      </p:sp>
      <p:sp>
        <p:nvSpPr>
          <p:cNvPr id="6" name="Text 2"/>
          <p:cNvSpPr/>
          <p:nvPr/>
        </p:nvSpPr>
        <p:spPr>
          <a:xfrm>
            <a:off x="812800" y="1859161"/>
            <a:ext cx="113792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Para describir una casa a alguien que nunca ha visto una, cada nivel de la descripción se apoya en el anterior.</a:t>
            </a:r>
            <a:endParaRPr lang="en-US" sz="1500" dirty="0"/>
          </a:p>
        </p:txBody>
      </p:sp>
      <p:sp>
        <p:nvSpPr>
          <p:cNvPr id="7" name="Shape 3"/>
          <p:cNvSpPr/>
          <p:nvPr/>
        </p:nvSpPr>
        <p:spPr>
          <a:xfrm>
            <a:off x="819150" y="2376686"/>
            <a:ext cx="3179167" cy="1490762"/>
          </a:xfrm>
          <a:prstGeom prst="roundRect">
            <a:avLst>
              <a:gd name="adj" fmla="val 8093"/>
            </a:avLst>
          </a:prstGeom>
          <a:solidFill>
            <a:srgbClr val="FCFDFD"/>
          </a:solidFill>
          <a:ln w="12700">
            <a:solidFill>
              <a:srgbClr val="D5E3EA"/>
            </a:solidFill>
            <a:prstDash val="solid"/>
          </a:ln>
        </p:spPr>
      </p:sp>
      <p:sp>
        <p:nvSpPr>
          <p:cNvPr id="8" name="Text 4"/>
          <p:cNvSpPr/>
          <p:nvPr/>
        </p:nvSpPr>
        <p:spPr>
          <a:xfrm>
            <a:off x="1016000" y="2573536"/>
            <a:ext cx="286903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CAPA 1</a:t>
            </a:r>
            <a:endParaRPr lang="en-US" sz="1200" dirty="0"/>
          </a:p>
        </p:txBody>
      </p:sp>
      <p:sp>
        <p:nvSpPr>
          <p:cNvPr id="9" name="Text 5"/>
          <p:cNvSpPr/>
          <p:nvPr/>
        </p:nvSpPr>
        <p:spPr>
          <a:xfrm>
            <a:off x="1016000" y="2850356"/>
            <a:ext cx="286903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C2A3E"/>
                </a:solidFill>
                <a:latin typeface="IBM Plex Sans" pitchFamily="34" charset="0"/>
                <a:ea typeface="IBM Plex Sans" pitchFamily="34" charset="-122"/>
                <a:cs typeface="IBM Plex Sans" pitchFamily="34" charset="-120"/>
              </a:rPr>
              <a:t>Piezas simples</a:t>
            </a:r>
            <a:endParaRPr lang="en-US" sz="1700" dirty="0"/>
          </a:p>
        </p:txBody>
      </p:sp>
      <p:sp>
        <p:nvSpPr>
          <p:cNvPr id="10" name="Text 6"/>
          <p:cNvSpPr/>
          <p:nvPr/>
        </p:nvSpPr>
        <p:spPr>
          <a:xfrm>
            <a:off x="1016000" y="3172916"/>
            <a:ext cx="286903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Líneas rectas, ángulos y superficies planas.</a:t>
            </a:r>
            <a:endParaRPr lang="en-US" sz="1400" dirty="0"/>
          </a:p>
        </p:txBody>
      </p:sp>
      <p:pic>
        <p:nvPicPr>
          <p:cNvPr id="11" name="Image 2" descr="arrow-right">    </p:cNvPr>
          <p:cNvPicPr>
            <a:picLocks noChangeAspect="1"/>
          </p:cNvPicPr>
          <p:nvPr/>
        </p:nvPicPr>
        <p:blipFill>
          <a:blip r:embed="rId3"/>
          <a:srcRect l="0" r="0" t="0" b="0"/>
          <a:stretch/>
        </p:blipFill>
        <p:spPr>
          <a:xfrm>
            <a:off x="4106267" y="2995017"/>
            <a:ext cx="304800" cy="254000"/>
          </a:xfrm>
          <a:prstGeom prst="rect">
            <a:avLst/>
          </a:prstGeom>
        </p:spPr>
      </p:pic>
      <p:sp>
        <p:nvSpPr>
          <p:cNvPr id="12" name="Shape 7"/>
          <p:cNvSpPr/>
          <p:nvPr/>
        </p:nvSpPr>
        <p:spPr>
          <a:xfrm>
            <a:off x="4519017" y="2376686"/>
            <a:ext cx="3179266" cy="1490762"/>
          </a:xfrm>
          <a:prstGeom prst="roundRect">
            <a:avLst>
              <a:gd name="adj" fmla="val 8093"/>
            </a:avLst>
          </a:prstGeom>
          <a:solidFill>
            <a:srgbClr val="FCFDFD"/>
          </a:solidFill>
          <a:ln w="12700">
            <a:solidFill>
              <a:srgbClr val="D5E3EA"/>
            </a:solidFill>
            <a:prstDash val="solid"/>
          </a:ln>
        </p:spPr>
      </p:sp>
      <p:sp>
        <p:nvSpPr>
          <p:cNvPr id="13" name="Text 8"/>
          <p:cNvSpPr/>
          <p:nvPr/>
        </p:nvSpPr>
        <p:spPr>
          <a:xfrm>
            <a:off x="4715867" y="2573536"/>
            <a:ext cx="286913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CAPA 2</a:t>
            </a:r>
            <a:endParaRPr lang="en-US" sz="1200" dirty="0"/>
          </a:p>
        </p:txBody>
      </p:sp>
      <p:sp>
        <p:nvSpPr>
          <p:cNvPr id="14" name="Text 9"/>
          <p:cNvSpPr/>
          <p:nvPr/>
        </p:nvSpPr>
        <p:spPr>
          <a:xfrm>
            <a:off x="4715867" y="2850356"/>
            <a:ext cx="286913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C2A3E"/>
                </a:solidFill>
                <a:latin typeface="IBM Plex Sans" pitchFamily="34" charset="0"/>
                <a:ea typeface="IBM Plex Sans" pitchFamily="34" charset="-122"/>
                <a:cs typeface="IBM Plex Sans" pitchFamily="34" charset="-120"/>
              </a:rPr>
              <a:t>Partes</a:t>
            </a:r>
            <a:endParaRPr lang="en-US" sz="1700" dirty="0"/>
          </a:p>
        </p:txBody>
      </p:sp>
      <p:sp>
        <p:nvSpPr>
          <p:cNvPr id="15" name="Text 10"/>
          <p:cNvSpPr/>
          <p:nvPr/>
        </p:nvSpPr>
        <p:spPr>
          <a:xfrm>
            <a:off x="4715867" y="3172916"/>
            <a:ext cx="29760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Una puerta, una ventana, un techo.</a:t>
            </a:r>
            <a:endParaRPr lang="en-US" sz="1400" dirty="0"/>
          </a:p>
        </p:txBody>
      </p:sp>
      <p:pic>
        <p:nvPicPr>
          <p:cNvPr id="16" name="Image 3" descr="arrow-right">    </p:cNvPr>
          <p:cNvPicPr>
            <a:picLocks noChangeAspect="1"/>
          </p:cNvPicPr>
          <p:nvPr/>
        </p:nvPicPr>
        <p:blipFill>
          <a:blip r:embed="rId4"/>
          <a:srcRect l="0" r="0" t="0" b="0"/>
          <a:stretch/>
        </p:blipFill>
        <p:spPr>
          <a:xfrm>
            <a:off x="7806234" y="2995017"/>
            <a:ext cx="304800" cy="254000"/>
          </a:xfrm>
          <a:prstGeom prst="rect">
            <a:avLst/>
          </a:prstGeom>
        </p:spPr>
      </p:pic>
      <p:sp>
        <p:nvSpPr>
          <p:cNvPr id="17" name="Shape 11"/>
          <p:cNvSpPr/>
          <p:nvPr/>
        </p:nvSpPr>
        <p:spPr>
          <a:xfrm>
            <a:off x="8212634" y="2370336"/>
            <a:ext cx="3166566" cy="1503462"/>
          </a:xfrm>
          <a:prstGeom prst="roundRect">
            <a:avLst>
              <a:gd name="adj" fmla="val 8447"/>
            </a:avLst>
          </a:prstGeom>
          <a:solidFill>
            <a:srgbClr val="0B1F2E"/>
          </a:solidFill>
          <a:ln/>
        </p:spPr>
      </p:sp>
      <p:sp>
        <p:nvSpPr>
          <p:cNvPr id="18" name="Text 12"/>
          <p:cNvSpPr/>
          <p:nvPr/>
        </p:nvSpPr>
        <p:spPr>
          <a:xfrm>
            <a:off x="8403134" y="2560836"/>
            <a:ext cx="286913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CAPA 3</a:t>
            </a:r>
            <a:endParaRPr lang="en-US" sz="1200" dirty="0"/>
          </a:p>
        </p:txBody>
      </p:sp>
      <p:sp>
        <p:nvSpPr>
          <p:cNvPr id="19" name="Text 13"/>
          <p:cNvSpPr/>
          <p:nvPr/>
        </p:nvSpPr>
        <p:spPr>
          <a:xfrm>
            <a:off x="8403134" y="2837656"/>
            <a:ext cx="286913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1F6F8"/>
                </a:solidFill>
                <a:latin typeface="IBM Plex Sans" pitchFamily="34" charset="0"/>
                <a:ea typeface="IBM Plex Sans" pitchFamily="34" charset="-122"/>
                <a:cs typeface="IBM Plex Sans" pitchFamily="34" charset="-120"/>
              </a:rPr>
              <a:t>El objeto</a:t>
            </a:r>
            <a:endParaRPr lang="en-US" sz="1700" dirty="0"/>
          </a:p>
        </p:txBody>
      </p:sp>
      <p:sp>
        <p:nvSpPr>
          <p:cNvPr id="20" name="Text 14"/>
          <p:cNvSpPr/>
          <p:nvPr/>
        </p:nvSpPr>
        <p:spPr>
          <a:xfrm>
            <a:off x="8403134" y="3160216"/>
            <a:ext cx="286913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Una casa: puerta, ventanas y techo acomodados.</a:t>
            </a:r>
            <a:endParaRPr lang="en-US" sz="1400" dirty="0"/>
          </a:p>
        </p:txBody>
      </p:sp>
      <p:pic>
        <p:nvPicPr>
          <p:cNvPr id="21" name="Image 4" descr="Tres etapas: líneas sueltas, piezas separadas y la casa armada">    </p:cNvPr>
          <p:cNvPicPr>
            <a:picLocks noChangeAspect="1"/>
          </p:cNvPicPr>
          <p:nvPr/>
        </p:nvPicPr>
        <p:blipFill>
          <a:blip r:embed="rId5"/>
          <a:srcRect l="0" r="0" t="171" b="171"/>
          <a:stretch/>
        </p:blipFill>
        <p:spPr>
          <a:xfrm>
            <a:off x="825500" y="4140498"/>
            <a:ext cx="2260600" cy="1511300"/>
          </a:xfrm>
          <a:prstGeom prst="roundRect">
            <a:avLst>
              <a:gd name="adj" fmla="val 5042"/>
            </a:avLst>
          </a:prstGeom>
        </p:spPr>
      </p:pic>
      <p:sp>
        <p:nvSpPr>
          <p:cNvPr id="22" name="Shape 15"/>
          <p:cNvSpPr/>
          <p:nvPr/>
        </p:nvSpPr>
        <p:spPr>
          <a:xfrm>
            <a:off x="819150" y="4134148"/>
            <a:ext cx="2273300" cy="1524000"/>
          </a:xfrm>
          <a:prstGeom prst="roundRect">
            <a:avLst>
              <a:gd name="adj" fmla="val 5417"/>
            </a:avLst>
          </a:prstGeom>
          <a:noFill/>
          <a:ln w="12700">
            <a:solidFill>
              <a:srgbClr val="D5E3EA"/>
            </a:solidFill>
            <a:prstDash val="solid"/>
          </a:ln>
        </p:spPr>
      </p:sp>
      <p:sp>
        <p:nvSpPr>
          <p:cNvPr id="23" name="Shape 16"/>
          <p:cNvSpPr/>
          <p:nvPr/>
        </p:nvSpPr>
        <p:spPr>
          <a:xfrm>
            <a:off x="3251200" y="4360267"/>
            <a:ext cx="3987800" cy="1071761"/>
          </a:xfrm>
          <a:prstGeom prst="roundRect">
            <a:avLst>
              <a:gd name="adj" fmla="val 11850"/>
            </a:avLst>
          </a:prstGeom>
          <a:solidFill>
            <a:srgbClr val="E3EFF5"/>
          </a:solidFill>
          <a:ln/>
        </p:spPr>
      </p:sp>
      <p:sp>
        <p:nvSpPr>
          <p:cNvPr id="24" name="Text 17"/>
          <p:cNvSpPr/>
          <p:nvPr/>
        </p:nvSpPr>
        <p:spPr>
          <a:xfrm>
            <a:off x="3416300" y="4525367"/>
            <a:ext cx="376732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Con una sola capa</a:t>
            </a:r>
            <a:endParaRPr lang="en-US" sz="1500" dirty="0"/>
          </a:p>
        </p:txBody>
      </p:sp>
      <p:sp>
        <p:nvSpPr>
          <p:cNvPr id="25" name="Text 18"/>
          <p:cNvSpPr/>
          <p:nvPr/>
        </p:nvSpPr>
        <p:spPr>
          <a:xfrm>
            <a:off x="3416300" y="4804767"/>
            <a:ext cx="376732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Habría que describir la casa directo desde los píxeles, con un número enorme de neuronas.</a:t>
            </a:r>
            <a:endParaRPr lang="en-US" sz="1300" dirty="0"/>
          </a:p>
        </p:txBody>
      </p:sp>
      <p:sp>
        <p:nvSpPr>
          <p:cNvPr id="26" name="Shape 19"/>
          <p:cNvSpPr/>
          <p:nvPr/>
        </p:nvSpPr>
        <p:spPr>
          <a:xfrm>
            <a:off x="7391400" y="4244677"/>
            <a:ext cx="3987800" cy="1302841"/>
          </a:xfrm>
          <a:prstGeom prst="roundRect">
            <a:avLst>
              <a:gd name="adj" fmla="val 9748"/>
            </a:avLst>
          </a:prstGeom>
          <a:solidFill>
            <a:srgbClr val="E3EFF5"/>
          </a:solidFill>
          <a:ln/>
        </p:spPr>
      </p:sp>
      <p:sp>
        <p:nvSpPr>
          <p:cNvPr id="27" name="Text 20"/>
          <p:cNvSpPr/>
          <p:nvPr/>
        </p:nvSpPr>
        <p:spPr>
          <a:xfrm>
            <a:off x="7556500" y="4409777"/>
            <a:ext cx="376732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Pero más no siempre es mejor</a:t>
            </a:r>
            <a:endParaRPr lang="en-US" sz="1500" dirty="0"/>
          </a:p>
        </p:txBody>
      </p:sp>
      <p:sp>
        <p:nvSpPr>
          <p:cNvPr id="28" name="Text 21"/>
          <p:cNvSpPr/>
          <p:nvPr/>
        </p:nvSpPr>
        <p:spPr>
          <a:xfrm>
            <a:off x="7556500" y="4689177"/>
            <a:ext cx="376732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Cada capa agrega pesos que ajustar. Con pocos ejemplos, una red muy profunda aprende de memoria.</a:t>
            </a:r>
            <a:endParaRPr lang="en-US" sz="1300" dirty="0"/>
          </a:p>
        </p:txBody>
      </p:sp>
      <p:sp>
        <p:nvSpPr>
          <p:cNvPr id="29" name="Text 2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3</a:t>
            </a:r>
            <a:endParaRPr lang="en-US" sz="1200" dirty="0"/>
          </a:p>
        </p:txBody>
      </p:sp>
      <p:sp>
        <p:nvSpPr>
          <p:cNvPr id="30"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VIDEO 3 · CÓMO APRENDE UNA RED</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Ensayo y corrección</a:t>
            </a:r>
            <a:endParaRPr lang="en-US" sz="3600" dirty="0"/>
          </a:p>
        </p:txBody>
      </p:sp>
      <p:sp>
        <p:nvSpPr>
          <p:cNvPr id="6" name="Shape 2"/>
          <p:cNvSpPr/>
          <p:nvPr/>
        </p:nvSpPr>
        <p:spPr>
          <a:xfrm>
            <a:off x="819150" y="1840111"/>
            <a:ext cx="2533650" cy="1242020"/>
          </a:xfrm>
          <a:prstGeom prst="roundRect">
            <a:avLst>
              <a:gd name="adj" fmla="val 9714"/>
            </a:avLst>
          </a:prstGeom>
          <a:solidFill>
            <a:srgbClr val="12304A"/>
          </a:solidFill>
          <a:ln w="12700">
            <a:solidFill>
              <a:srgbClr val="24506E"/>
            </a:solidFill>
            <a:prstDash val="solid"/>
          </a:ln>
        </p:spPr>
      </p:sp>
      <p:sp>
        <p:nvSpPr>
          <p:cNvPr id="7" name="Text 3"/>
          <p:cNvSpPr/>
          <p:nvPr/>
        </p:nvSpPr>
        <p:spPr>
          <a:xfrm>
            <a:off x="990600" y="2011561"/>
            <a:ext cx="225647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1</a:t>
            </a:r>
            <a:endParaRPr lang="en-US" sz="2800" dirty="0"/>
          </a:p>
        </p:txBody>
      </p:sp>
      <p:sp>
        <p:nvSpPr>
          <p:cNvPr id="8" name="Text 4"/>
          <p:cNvSpPr/>
          <p:nvPr/>
        </p:nvSpPr>
        <p:spPr>
          <a:xfrm>
            <a:off x="990600" y="2430661"/>
            <a:ext cx="225647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1F6F8"/>
                </a:solidFill>
                <a:latin typeface="IBM Plex Sans" pitchFamily="34" charset="0"/>
                <a:ea typeface="IBM Plex Sans" pitchFamily="34" charset="-122"/>
                <a:cs typeface="IBM Plex Sans" pitchFamily="34" charset="-120"/>
              </a:rPr>
              <a:t>Predice con los pesos que tiene en ese momento.</a:t>
            </a:r>
            <a:endParaRPr lang="en-US" sz="1400" dirty="0"/>
          </a:p>
        </p:txBody>
      </p:sp>
      <p:sp>
        <p:nvSpPr>
          <p:cNvPr id="9" name="Shape 5"/>
          <p:cNvSpPr/>
          <p:nvPr/>
        </p:nvSpPr>
        <p:spPr>
          <a:xfrm>
            <a:off x="3492500" y="1840111"/>
            <a:ext cx="2533650" cy="1242020"/>
          </a:xfrm>
          <a:prstGeom prst="roundRect">
            <a:avLst>
              <a:gd name="adj" fmla="val 9714"/>
            </a:avLst>
          </a:prstGeom>
          <a:solidFill>
            <a:srgbClr val="12304A"/>
          </a:solidFill>
          <a:ln w="12700">
            <a:solidFill>
              <a:srgbClr val="24506E"/>
            </a:solidFill>
            <a:prstDash val="solid"/>
          </a:ln>
        </p:spPr>
      </p:sp>
      <p:sp>
        <p:nvSpPr>
          <p:cNvPr id="10" name="Text 6"/>
          <p:cNvSpPr/>
          <p:nvPr/>
        </p:nvSpPr>
        <p:spPr>
          <a:xfrm>
            <a:off x="3663950" y="2011561"/>
            <a:ext cx="225647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2</a:t>
            </a:r>
            <a:endParaRPr lang="en-US" sz="2800" dirty="0"/>
          </a:p>
        </p:txBody>
      </p:sp>
      <p:sp>
        <p:nvSpPr>
          <p:cNvPr id="11" name="Text 7"/>
          <p:cNvSpPr/>
          <p:nvPr/>
        </p:nvSpPr>
        <p:spPr>
          <a:xfrm>
            <a:off x="3663950" y="2430661"/>
            <a:ext cx="225647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1F6F8"/>
                </a:solidFill>
                <a:latin typeface="IBM Plex Sans" pitchFamily="34" charset="0"/>
                <a:ea typeface="IBM Plex Sans" pitchFamily="34" charset="-122"/>
                <a:cs typeface="IBM Plex Sans" pitchFamily="34" charset="-120"/>
              </a:rPr>
              <a:t>Se compara con la respuesta correcta.</a:t>
            </a:r>
            <a:endParaRPr lang="en-US" sz="1400" dirty="0"/>
          </a:p>
        </p:txBody>
      </p:sp>
      <p:sp>
        <p:nvSpPr>
          <p:cNvPr id="12" name="Shape 8"/>
          <p:cNvSpPr/>
          <p:nvPr/>
        </p:nvSpPr>
        <p:spPr>
          <a:xfrm>
            <a:off x="6165850" y="1840111"/>
            <a:ext cx="2533650" cy="1242020"/>
          </a:xfrm>
          <a:prstGeom prst="roundRect">
            <a:avLst>
              <a:gd name="adj" fmla="val 9714"/>
            </a:avLst>
          </a:prstGeom>
          <a:solidFill>
            <a:srgbClr val="12304A"/>
          </a:solidFill>
          <a:ln w="12700">
            <a:solidFill>
              <a:srgbClr val="24506E"/>
            </a:solidFill>
            <a:prstDash val="solid"/>
          </a:ln>
        </p:spPr>
      </p:sp>
      <p:sp>
        <p:nvSpPr>
          <p:cNvPr id="13" name="Text 9"/>
          <p:cNvSpPr/>
          <p:nvPr/>
        </p:nvSpPr>
        <p:spPr>
          <a:xfrm>
            <a:off x="6337300" y="2011561"/>
            <a:ext cx="225647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3</a:t>
            </a:r>
            <a:endParaRPr lang="en-US" sz="2800" dirty="0"/>
          </a:p>
        </p:txBody>
      </p:sp>
      <p:sp>
        <p:nvSpPr>
          <p:cNvPr id="14" name="Text 10"/>
          <p:cNvSpPr/>
          <p:nvPr/>
        </p:nvSpPr>
        <p:spPr>
          <a:xfrm>
            <a:off x="6337300" y="2430661"/>
            <a:ext cx="225647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1F6F8"/>
                </a:solidFill>
                <a:latin typeface="IBM Plex Sans" pitchFamily="34" charset="0"/>
                <a:ea typeface="IBM Plex Sans" pitchFamily="34" charset="-122"/>
                <a:cs typeface="IBM Plex Sans" pitchFamily="34" charset="-120"/>
              </a:rPr>
              <a:t>Ajusta un poco los pesos.</a:t>
            </a:r>
            <a:endParaRPr lang="en-US" sz="1400" dirty="0"/>
          </a:p>
        </p:txBody>
      </p:sp>
      <p:sp>
        <p:nvSpPr>
          <p:cNvPr id="15" name="Shape 11"/>
          <p:cNvSpPr/>
          <p:nvPr/>
        </p:nvSpPr>
        <p:spPr>
          <a:xfrm>
            <a:off x="8839200" y="1840111"/>
            <a:ext cx="2533650" cy="1242020"/>
          </a:xfrm>
          <a:prstGeom prst="roundRect">
            <a:avLst>
              <a:gd name="adj" fmla="val 9714"/>
            </a:avLst>
          </a:prstGeom>
          <a:solidFill>
            <a:srgbClr val="12304A"/>
          </a:solidFill>
          <a:ln w="12700">
            <a:solidFill>
              <a:srgbClr val="24506E"/>
            </a:solidFill>
            <a:prstDash val="solid"/>
          </a:ln>
        </p:spPr>
      </p:sp>
      <p:sp>
        <p:nvSpPr>
          <p:cNvPr id="16" name="Text 12"/>
          <p:cNvSpPr/>
          <p:nvPr/>
        </p:nvSpPr>
        <p:spPr>
          <a:xfrm>
            <a:off x="9010650" y="2011561"/>
            <a:ext cx="225647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4</a:t>
            </a:r>
            <a:endParaRPr lang="en-US" sz="2800" dirty="0"/>
          </a:p>
        </p:txBody>
      </p:sp>
      <p:sp>
        <p:nvSpPr>
          <p:cNvPr id="17" name="Text 13"/>
          <p:cNvSpPr/>
          <p:nvPr/>
        </p:nvSpPr>
        <p:spPr>
          <a:xfrm>
            <a:off x="9010650" y="2430661"/>
            <a:ext cx="225647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1F6F8"/>
                </a:solidFill>
                <a:latin typeface="IBM Plex Sans" pitchFamily="34" charset="0"/>
                <a:ea typeface="IBM Plex Sans" pitchFamily="34" charset="-122"/>
                <a:cs typeface="IBM Plex Sans" pitchFamily="34" charset="-120"/>
              </a:rPr>
              <a:t>Repite con otro ejemplo, miles de veces.</a:t>
            </a:r>
            <a:endParaRPr lang="en-US" sz="1400" dirty="0"/>
          </a:p>
        </p:txBody>
      </p:sp>
      <p:sp>
        <p:nvSpPr>
          <p:cNvPr id="18" name="Shape 14"/>
          <p:cNvSpPr/>
          <p:nvPr/>
        </p:nvSpPr>
        <p:spPr>
          <a:xfrm>
            <a:off x="819150" y="3323431"/>
            <a:ext cx="5194300" cy="1104702"/>
          </a:xfrm>
          <a:prstGeom prst="roundRect">
            <a:avLst>
              <a:gd name="adj" fmla="val 10921"/>
            </a:avLst>
          </a:prstGeom>
          <a:solidFill>
            <a:srgbClr val="12304A"/>
          </a:solidFill>
          <a:ln w="12700">
            <a:solidFill>
              <a:srgbClr val="24506E"/>
            </a:solidFill>
            <a:prstDash val="solid"/>
          </a:ln>
        </p:spPr>
      </p:sp>
      <p:sp>
        <p:nvSpPr>
          <p:cNvPr id="19" name="Text 15"/>
          <p:cNvSpPr/>
          <p:nvPr/>
        </p:nvSpPr>
        <p:spPr>
          <a:xfrm>
            <a:off x="990600" y="3494881"/>
            <a:ext cx="499694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LA PÉRDIDA</a:t>
            </a:r>
            <a:endParaRPr lang="en-US" sz="1200" dirty="0"/>
          </a:p>
        </p:txBody>
      </p:sp>
      <p:sp>
        <p:nvSpPr>
          <p:cNvPr id="20" name="Text 16"/>
          <p:cNvSpPr/>
          <p:nvPr/>
        </p:nvSpPr>
        <p:spPr>
          <a:xfrm>
            <a:off x="990600" y="3759002"/>
            <a:ext cx="499694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Un número que resume cuánto se equivocó la red. Pequeño si marca justo lo que las personas marcaron.</a:t>
            </a:r>
            <a:endParaRPr lang="en-US" sz="1400" dirty="0"/>
          </a:p>
        </p:txBody>
      </p:sp>
      <p:sp>
        <p:nvSpPr>
          <p:cNvPr id="21" name="Shape 17"/>
          <p:cNvSpPr/>
          <p:nvPr/>
        </p:nvSpPr>
        <p:spPr>
          <a:xfrm>
            <a:off x="6178550" y="3323431"/>
            <a:ext cx="5194300" cy="1104702"/>
          </a:xfrm>
          <a:prstGeom prst="roundRect">
            <a:avLst>
              <a:gd name="adj" fmla="val 10921"/>
            </a:avLst>
          </a:prstGeom>
          <a:solidFill>
            <a:srgbClr val="12304A"/>
          </a:solidFill>
          <a:ln w="12700">
            <a:solidFill>
              <a:srgbClr val="24506E"/>
            </a:solidFill>
            <a:prstDash val="solid"/>
          </a:ln>
        </p:spPr>
      </p:sp>
      <p:sp>
        <p:nvSpPr>
          <p:cNvPr id="22" name="Text 18"/>
          <p:cNvSpPr/>
          <p:nvPr/>
        </p:nvSpPr>
        <p:spPr>
          <a:xfrm>
            <a:off x="6350000" y="3494881"/>
            <a:ext cx="499694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QUIÉN DA LA RESPUESTA</a:t>
            </a:r>
            <a:endParaRPr lang="en-US" sz="1200" dirty="0"/>
          </a:p>
        </p:txBody>
      </p:sp>
      <p:sp>
        <p:nvSpPr>
          <p:cNvPr id="23" name="Text 19"/>
          <p:cNvSpPr/>
          <p:nvPr/>
        </p:nvSpPr>
        <p:spPr>
          <a:xfrm>
            <a:off x="6350000" y="3759002"/>
            <a:ext cx="499694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Las personas, al anotar cada imagen. El modelo es un espejo comprimido de esas anotaciones.</a:t>
            </a:r>
            <a:endParaRPr lang="en-US" sz="1400" dirty="0"/>
          </a:p>
        </p:txBody>
      </p:sp>
      <p:sp>
        <p:nvSpPr>
          <p:cNvPr id="24" name="Text 20"/>
          <p:cNvSpPr/>
          <p:nvPr/>
        </p:nvSpPr>
        <p:spPr>
          <a:xfrm>
            <a:off x="812800" y="4663083"/>
            <a:ext cx="981075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Nadie le explica a la red qué es un espermatozoide: solo se necesitan ejemplos con respuesta y una forma de medir qué tan lejos estuvo. Todo lo demás es mecánico.</a:t>
            </a:r>
            <a:endParaRPr lang="en-US" sz="1300" dirty="0"/>
          </a:p>
        </p:txBody>
      </p:sp>
      <p:sp>
        <p:nvSpPr>
          <p:cNvPr id="25"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3</a:t>
            </a:r>
            <a:endParaRPr lang="en-US" sz="1200" dirty="0"/>
          </a:p>
        </p:txBody>
      </p:sp>
      <p:sp>
        <p:nvSpPr>
          <p:cNvPr id="26"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614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F4A259"/>
                </a:solidFill>
                <a:latin typeface="IBM Plex Sans" pitchFamily="34" charset="0"/>
                <a:ea typeface="IBM Plex Sans" pitchFamily="34" charset="-122"/>
                <a:cs typeface="IBM Plex Sans" pitchFamily="34" charset="-120"/>
              </a:rPr>
              <a:t>VIDEO 3</a:t>
            </a:r>
            <a:endParaRPr lang="en-US" sz="1196" dirty="0"/>
          </a:p>
        </p:txBody>
      </p:sp>
      <p:sp>
        <p:nvSpPr>
          <p:cNvPr id="5" name="Text 1"/>
          <p:cNvSpPr/>
          <p:nvPr>
            <p:ph type="title"/>
          </p:nvPr>
        </p:nvSpPr>
        <p:spPr>
          <a:xfrm>
            <a:off x="812800" y="1099741"/>
            <a:ext cx="10883392" cy="46712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1F6F8"/>
                </a:solidFill>
                <a:latin typeface="EB Garamond" pitchFamily="18" charset="0"/>
                <a:ea typeface="EB Garamond" pitchFamily="18" charset="-122"/>
                <a:cs typeface="EB Garamond" pitchFamily="18" charset="-120"/>
              </a:rPr>
              <a:t>Anotar imágenes: de dónde salen las respuestas</a:t>
            </a:r>
            <a:endParaRPr lang="en-US" sz="3200" dirty="0"/>
          </a:p>
        </p:txBody>
      </p:sp>
      <p:sp>
        <p:nvSpPr>
          <p:cNvPr id="6" name="Shape 2"/>
          <p:cNvSpPr/>
          <p:nvPr/>
        </p:nvSpPr>
        <p:spPr>
          <a:xfrm>
            <a:off x="819150" y="1770360"/>
            <a:ext cx="3280767" cy="1120080"/>
          </a:xfrm>
          <a:prstGeom prst="roundRect">
            <a:avLst>
              <a:gd name="adj" fmla="val 10772"/>
            </a:avLst>
          </a:prstGeom>
          <a:solidFill>
            <a:srgbClr val="12304A"/>
          </a:solidFill>
          <a:ln w="12700">
            <a:solidFill>
              <a:srgbClr val="24506E"/>
            </a:solidFill>
            <a:prstDash val="solid"/>
          </a:ln>
        </p:spPr>
      </p:sp>
      <p:sp>
        <p:nvSpPr>
          <p:cNvPr id="7" name="Text 3"/>
          <p:cNvSpPr/>
          <p:nvPr/>
        </p:nvSpPr>
        <p:spPr>
          <a:xfrm>
            <a:off x="990600" y="1941810"/>
            <a:ext cx="3026003"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4A259"/>
                </a:solidFill>
                <a:latin typeface="EB Garamond" pitchFamily="18" charset="0"/>
                <a:ea typeface="EB Garamond" pitchFamily="18" charset="-122"/>
                <a:cs typeface="EB Garamond" pitchFamily="18" charset="-120"/>
              </a:rPr>
              <a:t>150</a:t>
            </a:r>
            <a:endParaRPr lang="en-US" sz="4000" dirty="0"/>
          </a:p>
        </p:txBody>
      </p:sp>
      <p:sp>
        <p:nvSpPr>
          <p:cNvPr id="8" name="Text 4"/>
          <p:cNvSpPr/>
          <p:nvPr/>
        </p:nvSpPr>
        <p:spPr>
          <a:xfrm>
            <a:off x="990600" y="2487910"/>
            <a:ext cx="30260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contornos por imagen, más o menos</a:t>
            </a:r>
            <a:endParaRPr lang="en-US" sz="1300" dirty="0"/>
          </a:p>
        </p:txBody>
      </p:sp>
      <p:sp>
        <p:nvSpPr>
          <p:cNvPr id="9" name="Text 5"/>
          <p:cNvSpPr/>
          <p:nvPr/>
        </p:nvSpPr>
        <p:spPr>
          <a:xfrm>
            <a:off x="4233267" y="2117030"/>
            <a:ext cx="365760"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6CCFF6"/>
                </a:solidFill>
                <a:latin typeface="IBM Plex Sans" pitchFamily="34" charset="0"/>
                <a:ea typeface="IBM Plex Sans" pitchFamily="34" charset="-122"/>
                <a:cs typeface="IBM Plex Sans" pitchFamily="34" charset="-120"/>
              </a:rPr>
              <a:t>→</a:t>
            </a:r>
            <a:endParaRPr lang="en-US" sz="2400" dirty="0"/>
          </a:p>
        </p:txBody>
      </p:sp>
      <p:sp>
        <p:nvSpPr>
          <p:cNvPr id="10" name="Shape 6"/>
          <p:cNvSpPr/>
          <p:nvPr/>
        </p:nvSpPr>
        <p:spPr>
          <a:xfrm>
            <a:off x="4671417" y="1770360"/>
            <a:ext cx="3280866" cy="1120080"/>
          </a:xfrm>
          <a:prstGeom prst="roundRect">
            <a:avLst>
              <a:gd name="adj" fmla="val 10772"/>
            </a:avLst>
          </a:prstGeom>
          <a:solidFill>
            <a:srgbClr val="12304A"/>
          </a:solidFill>
          <a:ln w="12700">
            <a:solidFill>
              <a:srgbClr val="24506E"/>
            </a:solidFill>
            <a:prstDash val="solid"/>
          </a:ln>
        </p:spPr>
      </p:sp>
      <p:sp>
        <p:nvSpPr>
          <p:cNvPr id="11" name="Text 7"/>
          <p:cNvSpPr/>
          <p:nvPr/>
        </p:nvSpPr>
        <p:spPr>
          <a:xfrm>
            <a:off x="4842867" y="1941810"/>
            <a:ext cx="3026105"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4A259"/>
                </a:solidFill>
                <a:latin typeface="EB Garamond" pitchFamily="18" charset="0"/>
                <a:ea typeface="EB Garamond" pitchFamily="18" charset="-122"/>
                <a:cs typeface="EB Garamond" pitchFamily="18" charset="-120"/>
              </a:rPr>
              <a:t>+1,500</a:t>
            </a:r>
            <a:endParaRPr lang="en-US" sz="4000" dirty="0"/>
          </a:p>
        </p:txBody>
      </p:sp>
      <p:sp>
        <p:nvSpPr>
          <p:cNvPr id="12" name="Text 8"/>
          <p:cNvSpPr/>
          <p:nvPr/>
        </p:nvSpPr>
        <p:spPr>
          <a:xfrm>
            <a:off x="4842867" y="2487910"/>
            <a:ext cx="302610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con solo diez imágenes</a:t>
            </a:r>
            <a:endParaRPr lang="en-US" sz="1300" dirty="0"/>
          </a:p>
        </p:txBody>
      </p:sp>
      <p:sp>
        <p:nvSpPr>
          <p:cNvPr id="13" name="Shape 9"/>
          <p:cNvSpPr/>
          <p:nvPr/>
        </p:nvSpPr>
        <p:spPr>
          <a:xfrm>
            <a:off x="8091984" y="1770360"/>
            <a:ext cx="3280866" cy="1120080"/>
          </a:xfrm>
          <a:prstGeom prst="roundRect">
            <a:avLst>
              <a:gd name="adj" fmla="val 10772"/>
            </a:avLst>
          </a:prstGeom>
          <a:solidFill>
            <a:srgbClr val="12304A"/>
          </a:solidFill>
          <a:ln w="12700">
            <a:solidFill>
              <a:srgbClr val="24506E"/>
            </a:solidFill>
            <a:prstDash val="solid"/>
          </a:ln>
        </p:spPr>
      </p:sp>
      <p:sp>
        <p:nvSpPr>
          <p:cNvPr id="14" name="Text 10"/>
          <p:cNvSpPr/>
          <p:nvPr/>
        </p:nvSpPr>
        <p:spPr>
          <a:xfrm>
            <a:off x="8263434" y="1941810"/>
            <a:ext cx="3026105"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4A259"/>
                </a:solidFill>
                <a:latin typeface="EB Garamond" pitchFamily="18" charset="0"/>
                <a:ea typeface="EB Garamond" pitchFamily="18" charset="-122"/>
                <a:cs typeface="EB Garamond" pitchFamily="18" charset="-120"/>
              </a:rPr>
              <a:t>CVAT</a:t>
            </a:r>
            <a:endParaRPr lang="en-US" sz="4000" dirty="0"/>
          </a:p>
        </p:txBody>
      </p:sp>
      <p:sp>
        <p:nvSpPr>
          <p:cNvPr id="15" name="Text 11"/>
          <p:cNvSpPr/>
          <p:nvPr/>
        </p:nvSpPr>
        <p:spPr>
          <a:xfrm>
            <a:off x="8263434" y="2487910"/>
            <a:ext cx="302610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la herramienta, sin publicar los datos</a:t>
            </a:r>
            <a:endParaRPr lang="en-US" sz="1300" dirty="0"/>
          </a:p>
        </p:txBody>
      </p:sp>
      <p:sp>
        <p:nvSpPr>
          <p:cNvPr id="16" name="Shape 12"/>
          <p:cNvSpPr/>
          <p:nvPr/>
        </p:nvSpPr>
        <p:spPr>
          <a:xfrm>
            <a:off x="819150" y="3125688"/>
            <a:ext cx="7327900" cy="951111"/>
          </a:xfrm>
          <a:prstGeom prst="roundRect">
            <a:avLst>
              <a:gd name="adj" fmla="val 12685"/>
            </a:avLst>
          </a:prstGeom>
          <a:solidFill>
            <a:srgbClr val="12304A"/>
          </a:solidFill>
          <a:ln w="12700">
            <a:solidFill>
              <a:srgbClr val="24506E"/>
            </a:solidFill>
            <a:prstDash val="solid"/>
          </a:ln>
        </p:spPr>
      </p:sp>
      <p:sp>
        <p:nvSpPr>
          <p:cNvPr id="17" name="Text 13"/>
          <p:cNvSpPr/>
          <p:nvPr/>
        </p:nvSpPr>
        <p:spPr>
          <a:xfrm>
            <a:off x="977900" y="3246338"/>
            <a:ext cx="722071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LO DELICADO ES EL CRITERIO</a:t>
            </a:r>
            <a:endParaRPr lang="en-US" sz="1200" dirty="0"/>
          </a:p>
        </p:txBody>
      </p:sp>
      <p:sp>
        <p:nvSpPr>
          <p:cNvPr id="18" name="Text 14"/>
          <p:cNvSpPr/>
          <p:nvPr/>
        </p:nvSpPr>
        <p:spPr>
          <a:xfrm>
            <a:off x="977900" y="3510459"/>
            <a:ext cx="722071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¿Una mancha difusa cuenta? ¿Una cabeza tapada por una cola? ¿Dos cabezas pegadas se dibujan juntas o separadas? Cada decisión es algo que la red va a aprender.</a:t>
            </a:r>
            <a:endParaRPr lang="en-US" sz="1300" dirty="0"/>
          </a:p>
        </p:txBody>
      </p:sp>
      <p:sp>
        <p:nvSpPr>
          <p:cNvPr id="19" name="Shape 15"/>
          <p:cNvSpPr/>
          <p:nvPr/>
        </p:nvSpPr>
        <p:spPr>
          <a:xfrm>
            <a:off x="819150" y="4191099"/>
            <a:ext cx="7327900" cy="951111"/>
          </a:xfrm>
          <a:prstGeom prst="roundRect">
            <a:avLst>
              <a:gd name="adj" fmla="val 12685"/>
            </a:avLst>
          </a:prstGeom>
          <a:solidFill>
            <a:srgbClr val="12304A"/>
          </a:solidFill>
          <a:ln w="12700">
            <a:solidFill>
              <a:srgbClr val="24506E"/>
            </a:solidFill>
            <a:prstDash val="solid"/>
          </a:ln>
        </p:spPr>
      </p:sp>
      <p:sp>
        <p:nvSpPr>
          <p:cNvPr id="20" name="Text 16"/>
          <p:cNvSpPr/>
          <p:nvPr/>
        </p:nvSpPr>
        <p:spPr>
          <a:xfrm>
            <a:off x="977900" y="4311749"/>
            <a:ext cx="722071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POR ESO</a:t>
            </a:r>
            <a:endParaRPr lang="en-US" sz="1200" dirty="0"/>
          </a:p>
        </p:txBody>
      </p:sp>
      <p:sp>
        <p:nvSpPr>
          <p:cNvPr id="21" name="Text 17"/>
          <p:cNvSpPr/>
          <p:nvPr/>
        </p:nvSpPr>
        <p:spPr>
          <a:xfrm>
            <a:off x="977900" y="4575870"/>
            <a:ext cx="722071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Un criterio escrito y alguien que valide las anotaciones. Anotaciones cuidadosas dan una red cuidadosa; descuidadas, una red que aprende el descuido.</a:t>
            </a:r>
            <a:endParaRPr lang="en-US" sz="1300" dirty="0"/>
          </a:p>
        </p:txBody>
      </p:sp>
      <p:pic>
        <p:nvPicPr>
          <p:cNvPr id="22" name="Image 2" descr="Células con fluorescencia y el contorno de cada núcleo dibujado en naranja">    </p:cNvPr>
          <p:cNvPicPr>
            <a:picLocks noChangeAspect="1"/>
          </p:cNvPicPr>
          <p:nvPr/>
        </p:nvPicPr>
        <p:blipFill>
          <a:blip r:embed="rId3"/>
          <a:srcRect l="0" r="0" t="542" b="542"/>
          <a:stretch/>
        </p:blipFill>
        <p:spPr>
          <a:xfrm>
            <a:off x="8331200" y="3119338"/>
            <a:ext cx="3048000" cy="2280047"/>
          </a:xfrm>
          <a:prstGeom prst="roundRect">
            <a:avLst>
              <a:gd name="adj" fmla="val 4456"/>
            </a:avLst>
          </a:prstGeom>
        </p:spPr>
      </p:pic>
      <p:sp>
        <p:nvSpPr>
          <p:cNvPr id="23" name="Text 18"/>
          <p:cNvSpPr/>
          <p:nvPr/>
        </p:nvSpPr>
        <p:spPr>
          <a:xfrm>
            <a:off x="8331200" y="5450185"/>
            <a:ext cx="3139440" cy="41721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3D7E2"/>
                </a:solidFill>
                <a:latin typeface="IBM Plex Sans" pitchFamily="34" charset="0"/>
                <a:ea typeface="IBM Plex Sans" pitchFamily="34" charset="-122"/>
                <a:cs typeface="IBM Plex Sans" pitchFamily="34" charset="-120"/>
              </a:rPr>
              <a:t>Un ejemplo con otro tipo de célula: cada núcleo lleva su contorno dibujado a mano.</a:t>
            </a:r>
            <a:endParaRPr lang="en-US" sz="1200" dirty="0"/>
          </a:p>
        </p:txBody>
      </p:sp>
      <p:sp>
        <p:nvSpPr>
          <p:cNvPr id="24"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3 · Foto: Erin Rod (CC BY 4.0), Wikimedia Commons; contornos añadidos</a:t>
            </a:r>
            <a:endParaRPr lang="en-US" sz="1200" dirty="0"/>
          </a:p>
        </p:txBody>
      </p:sp>
      <p:sp>
        <p:nvSpPr>
          <p:cNvPr id="25"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2569"/>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A3480F"/>
                </a:solidFill>
                <a:latin typeface="IBM Plex Sans" pitchFamily="34" charset="0"/>
                <a:ea typeface="IBM Plex Sans" pitchFamily="34" charset="-122"/>
                <a:cs typeface="IBM Plex Sans" pitchFamily="34" charset="-120"/>
              </a:rPr>
              <a:t>VIDEO 3</a:t>
            </a:r>
            <a:endParaRPr lang="en-US" sz="1196" dirty="0"/>
          </a:p>
        </p:txBody>
      </p:sp>
      <p:sp>
        <p:nvSpPr>
          <p:cNvPr id="5" name="Text 1"/>
          <p:cNvSpPr/>
          <p:nvPr>
            <p:ph type="title"/>
          </p:nvPr>
        </p:nvSpPr>
        <p:spPr>
          <a:xfrm>
            <a:off x="812800" y="1096169"/>
            <a:ext cx="10883392" cy="513655"/>
          </a:xfrm>
          <a:prstGeom prst="rect">
            <a:avLst/>
          </a:prstGeom>
          <a:noFill/>
          <a:ln/>
        </p:spPr>
        <p:txBody>
          <a:bodyPr wrap="square" lIns="0" tIns="0" rIns="0" bIns="0" rtlCol="0" anchor="t">
            <a:normAutofit/>
          </a:bodyPr>
          <a:lstStyle/>
          <a:p>
            <a:pPr algn="l" indent="0" marL="0">
              <a:lnSpc>
                <a:spcPts val="3873"/>
              </a:lnSpc>
              <a:buNone/>
            </a:pPr>
            <a:r>
              <a:rPr lang="en-US" sz="3521" b="1" i="0" dirty="0">
                <a:solidFill>
                  <a:srgbClr val="0C2A3E"/>
                </a:solidFill>
                <a:latin typeface="EB Garamond" pitchFamily="18" charset="0"/>
                <a:ea typeface="EB Garamond" pitchFamily="18" charset="-122"/>
                <a:cs typeface="EB Garamond" pitchFamily="18" charset="-120"/>
              </a:rPr>
              <a:t>Con respuestas y sin respuestas</a:t>
            </a:r>
            <a:endParaRPr lang="en-US" sz="3521" dirty="0"/>
          </a:p>
        </p:txBody>
      </p:sp>
      <p:sp>
        <p:nvSpPr>
          <p:cNvPr id="6" name="Shape 2"/>
          <p:cNvSpPr/>
          <p:nvPr/>
        </p:nvSpPr>
        <p:spPr>
          <a:xfrm>
            <a:off x="812800" y="1838424"/>
            <a:ext cx="3848100" cy="3045520"/>
          </a:xfrm>
          <a:prstGeom prst="roundRect">
            <a:avLst>
              <a:gd name="adj" fmla="val 4170"/>
            </a:avLst>
          </a:prstGeom>
          <a:solidFill>
            <a:srgbClr val="0B1F2E"/>
          </a:solidFill>
          <a:ln/>
        </p:spPr>
      </p:sp>
      <p:sp>
        <p:nvSpPr>
          <p:cNvPr id="7" name="Text 3"/>
          <p:cNvSpPr/>
          <p:nvPr/>
        </p:nvSpPr>
        <p:spPr>
          <a:xfrm>
            <a:off x="1003300" y="1990824"/>
            <a:ext cx="3571113" cy="231973"/>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F4A259"/>
                </a:solidFill>
                <a:latin typeface="IBM Plex Sans" pitchFamily="34" charset="0"/>
                <a:ea typeface="IBM Plex Sans" pitchFamily="34" charset="-122"/>
                <a:cs typeface="IBM Plex Sans" pitchFamily="34" charset="-120"/>
              </a:rPr>
              <a:t>EL QUE USAMOS</a:t>
            </a:r>
            <a:endParaRPr lang="en-US" sz="1196" dirty="0"/>
          </a:p>
        </p:txBody>
      </p:sp>
      <p:sp>
        <p:nvSpPr>
          <p:cNvPr id="8" name="Text 4"/>
          <p:cNvSpPr/>
          <p:nvPr/>
        </p:nvSpPr>
        <p:spPr>
          <a:xfrm>
            <a:off x="1003300" y="2273598"/>
            <a:ext cx="3571113" cy="305792"/>
          </a:xfrm>
          <a:prstGeom prst="rect">
            <a:avLst/>
          </a:prstGeom>
          <a:noFill/>
          <a:ln/>
        </p:spPr>
        <p:txBody>
          <a:bodyPr wrap="square" lIns="0" tIns="0" rIns="0" bIns="0" rtlCol="0" anchor="t">
            <a:normAutofit/>
          </a:bodyPr>
          <a:lstStyle/>
          <a:p>
            <a:pPr algn="l" indent="0" marL="0">
              <a:lnSpc>
                <a:spcPts val="2223"/>
              </a:lnSpc>
              <a:buNone/>
            </a:pPr>
            <a:r>
              <a:rPr lang="en-US" sz="1852" b="1" dirty="0">
                <a:solidFill>
                  <a:srgbClr val="F1F6F8"/>
                </a:solidFill>
                <a:latin typeface="IBM Plex Sans" pitchFamily="34" charset="0"/>
                <a:ea typeface="IBM Plex Sans" pitchFamily="34" charset="-122"/>
                <a:cs typeface="IBM Plex Sans" pitchFamily="34" charset="-120"/>
              </a:rPr>
              <a:t>Aprendizaje supervisado</a:t>
            </a:r>
            <a:endParaRPr lang="en-US" sz="1852" dirty="0"/>
          </a:p>
        </p:txBody>
      </p:sp>
      <p:sp>
        <p:nvSpPr>
          <p:cNvPr id="9" name="Text 5"/>
          <p:cNvSpPr/>
          <p:nvPr/>
        </p:nvSpPr>
        <p:spPr>
          <a:xfrm>
            <a:off x="1003300" y="2630190"/>
            <a:ext cx="3571113" cy="989211"/>
          </a:xfrm>
          <a:prstGeom prst="rect">
            <a:avLst/>
          </a:prstGeom>
          <a:noFill/>
          <a:ln/>
        </p:spPr>
        <p:txBody>
          <a:bodyPr wrap="square" lIns="0" tIns="0" rIns="0" bIns="0" rtlCol="0" anchor="t">
            <a:normAutofit/>
          </a:bodyPr>
          <a:lstStyle/>
          <a:p>
            <a:pPr algn="l" indent="0" marL="0">
              <a:lnSpc>
                <a:spcPts val="1905"/>
              </a:lnSpc>
              <a:buNone/>
            </a:pPr>
            <a:r>
              <a:rPr lang="en-US" sz="1361" dirty="0">
                <a:solidFill>
                  <a:srgbClr val="C3D7E2"/>
                </a:solidFill>
                <a:latin typeface="IBM Plex Sans" pitchFamily="34" charset="0"/>
                <a:ea typeface="IBM Plex Sans" pitchFamily="34" charset="-122"/>
                <a:cs typeface="IBM Plex Sans" pitchFamily="34" charset="-120"/>
              </a:rPr>
              <a:t>Los ejemplos traen su respuesta: imágenes con el contorno de cada cabeza ya dibujado. Alguien supervisa porque ya dijo cuál es la respuesta.</a:t>
            </a:r>
            <a:endParaRPr lang="en-US" sz="1361" dirty="0"/>
          </a:p>
        </p:txBody>
      </p:sp>
      <p:pic>
        <p:nvPicPr>
          <p:cNvPr id="10" name="Image 2" descr="Un perro, con la etiqueta perro">    </p:cNvPr>
          <p:cNvPicPr>
            <a:picLocks noChangeAspect="1"/>
          </p:cNvPicPr>
          <p:nvPr/>
        </p:nvPicPr>
        <p:blipFill>
          <a:blip r:embed="rId3"/>
          <a:srcRect l="0" r="0" t="1760" b="1760"/>
          <a:stretch/>
        </p:blipFill>
        <p:spPr>
          <a:xfrm>
            <a:off x="1003300" y="3670201"/>
            <a:ext cx="1270000" cy="816868"/>
          </a:xfrm>
          <a:prstGeom prst="roundRect">
            <a:avLst>
              <a:gd name="adj" fmla="val 9328"/>
            </a:avLst>
          </a:prstGeom>
        </p:spPr>
      </p:pic>
      <p:sp>
        <p:nvSpPr>
          <p:cNvPr id="11" name="Text 6"/>
          <p:cNvSpPr/>
          <p:nvPr/>
        </p:nvSpPr>
        <p:spPr>
          <a:xfrm>
            <a:off x="1003300" y="4525169"/>
            <a:ext cx="1320800" cy="231775"/>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F4A259"/>
                </a:solidFill>
                <a:latin typeface="IBM Plex Sans" pitchFamily="34" charset="0"/>
                <a:ea typeface="IBM Plex Sans" pitchFamily="34" charset="-122"/>
                <a:cs typeface="IBM Plex Sans" pitchFamily="34" charset="-120"/>
              </a:rPr>
              <a:t>Etiqueta: perro</a:t>
            </a:r>
            <a:endParaRPr lang="en-US" sz="1196" dirty="0"/>
          </a:p>
        </p:txBody>
      </p:sp>
      <p:pic>
        <p:nvPicPr>
          <p:cNvPr id="12" name="Image 3" descr="Un gato, con la etiqueta gato">    </p:cNvPr>
          <p:cNvPicPr>
            <a:picLocks noChangeAspect="1"/>
          </p:cNvPicPr>
          <p:nvPr/>
        </p:nvPicPr>
        <p:blipFill>
          <a:blip r:embed="rId4"/>
          <a:srcRect l="0" r="0" t="1760" b="1760"/>
          <a:stretch/>
        </p:blipFill>
        <p:spPr>
          <a:xfrm>
            <a:off x="2362200" y="3670201"/>
            <a:ext cx="1270000" cy="816868"/>
          </a:xfrm>
          <a:prstGeom prst="roundRect">
            <a:avLst>
              <a:gd name="adj" fmla="val 9328"/>
            </a:avLst>
          </a:prstGeom>
        </p:spPr>
      </p:pic>
      <p:sp>
        <p:nvSpPr>
          <p:cNvPr id="13" name="Text 7"/>
          <p:cNvSpPr/>
          <p:nvPr/>
        </p:nvSpPr>
        <p:spPr>
          <a:xfrm>
            <a:off x="2362200" y="4525169"/>
            <a:ext cx="1320800" cy="231775"/>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F4A259"/>
                </a:solidFill>
                <a:latin typeface="IBM Plex Sans" pitchFamily="34" charset="0"/>
                <a:ea typeface="IBM Plex Sans" pitchFamily="34" charset="-122"/>
                <a:cs typeface="IBM Plex Sans" pitchFamily="34" charset="-120"/>
              </a:rPr>
              <a:t>Etiqueta: gato</a:t>
            </a:r>
            <a:endParaRPr lang="en-US" sz="1196" dirty="0"/>
          </a:p>
        </p:txBody>
      </p:sp>
      <p:sp>
        <p:nvSpPr>
          <p:cNvPr id="14" name="Shape 8"/>
          <p:cNvSpPr/>
          <p:nvPr/>
        </p:nvSpPr>
        <p:spPr>
          <a:xfrm>
            <a:off x="4819650" y="1844774"/>
            <a:ext cx="3194050" cy="3032820"/>
          </a:xfrm>
          <a:prstGeom prst="roundRect">
            <a:avLst>
              <a:gd name="adj" fmla="val 3978"/>
            </a:avLst>
          </a:prstGeom>
          <a:solidFill>
            <a:srgbClr val="FCFDFD"/>
          </a:solidFill>
          <a:ln w="12700">
            <a:solidFill>
              <a:srgbClr val="D5E3EA"/>
            </a:solidFill>
            <a:prstDash val="solid"/>
          </a:ln>
        </p:spPr>
      </p:sp>
      <p:sp>
        <p:nvSpPr>
          <p:cNvPr id="15" name="Text 9"/>
          <p:cNvSpPr/>
          <p:nvPr/>
        </p:nvSpPr>
        <p:spPr>
          <a:xfrm>
            <a:off x="5041900" y="2067024"/>
            <a:ext cx="283203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SIN RESPUESTAS</a:t>
            </a:r>
            <a:endParaRPr lang="en-US" sz="1200" dirty="0"/>
          </a:p>
        </p:txBody>
      </p:sp>
      <p:sp>
        <p:nvSpPr>
          <p:cNvPr id="16" name="Text 10"/>
          <p:cNvSpPr/>
          <p:nvPr/>
        </p:nvSpPr>
        <p:spPr>
          <a:xfrm>
            <a:off x="5041900" y="2369245"/>
            <a:ext cx="28320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C2A3E"/>
                </a:solidFill>
                <a:latin typeface="IBM Plex Sans" pitchFamily="34" charset="0"/>
                <a:ea typeface="IBM Plex Sans" pitchFamily="34" charset="-122"/>
                <a:cs typeface="IBM Plex Sans" pitchFamily="34" charset="-120"/>
              </a:rPr>
              <a:t>No supervisado</a:t>
            </a:r>
            <a:endParaRPr lang="en-US" sz="1700" dirty="0"/>
          </a:p>
        </p:txBody>
      </p:sp>
      <p:sp>
        <p:nvSpPr>
          <p:cNvPr id="17" name="Text 11"/>
          <p:cNvSpPr/>
          <p:nvPr/>
        </p:nvSpPr>
        <p:spPr>
          <a:xfrm>
            <a:off x="5041900" y="2717205"/>
            <a:ext cx="2832037"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Datos sin etiquetas: la computadora busca estructura, por ejemplo agrupar imágenes parecidas.</a:t>
            </a:r>
            <a:endParaRPr lang="en-US" sz="1400" dirty="0"/>
          </a:p>
        </p:txBody>
      </p:sp>
      <p:sp>
        <p:nvSpPr>
          <p:cNvPr id="18" name="Shape 12"/>
          <p:cNvSpPr/>
          <p:nvPr/>
        </p:nvSpPr>
        <p:spPr>
          <a:xfrm>
            <a:off x="8178800" y="1844774"/>
            <a:ext cx="3194050" cy="3032820"/>
          </a:xfrm>
          <a:prstGeom prst="roundRect">
            <a:avLst>
              <a:gd name="adj" fmla="val 3978"/>
            </a:avLst>
          </a:prstGeom>
          <a:solidFill>
            <a:srgbClr val="FCFDFD"/>
          </a:solidFill>
          <a:ln w="12700">
            <a:solidFill>
              <a:srgbClr val="D5E3EA"/>
            </a:solidFill>
            <a:prstDash val="solid"/>
          </a:ln>
        </p:spPr>
      </p:sp>
      <p:sp>
        <p:nvSpPr>
          <p:cNvPr id="19" name="Text 13"/>
          <p:cNvSpPr/>
          <p:nvPr/>
        </p:nvSpPr>
        <p:spPr>
          <a:xfrm>
            <a:off x="8401050" y="2067024"/>
            <a:ext cx="283203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CON PREMIOS</a:t>
            </a:r>
            <a:endParaRPr lang="en-US" sz="1200" dirty="0"/>
          </a:p>
        </p:txBody>
      </p:sp>
      <p:sp>
        <p:nvSpPr>
          <p:cNvPr id="20" name="Text 14"/>
          <p:cNvSpPr/>
          <p:nvPr/>
        </p:nvSpPr>
        <p:spPr>
          <a:xfrm>
            <a:off x="8401050" y="2369245"/>
            <a:ext cx="28320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C2A3E"/>
                </a:solidFill>
                <a:latin typeface="IBM Plex Sans" pitchFamily="34" charset="0"/>
                <a:ea typeface="IBM Plex Sans" pitchFamily="34" charset="-122"/>
                <a:cs typeface="IBM Plex Sans" pitchFamily="34" charset="-120"/>
              </a:rPr>
              <a:t>Por refuerzo</a:t>
            </a:r>
            <a:endParaRPr lang="en-US" sz="1700" dirty="0"/>
          </a:p>
        </p:txBody>
      </p:sp>
      <p:sp>
        <p:nvSpPr>
          <p:cNvPr id="21" name="Text 15"/>
          <p:cNvSpPr/>
          <p:nvPr/>
        </p:nvSpPr>
        <p:spPr>
          <a:xfrm>
            <a:off x="8401050" y="2717205"/>
            <a:ext cx="283203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Prueba acciones y recibe premios o castigos, como en un juego o al controlar un robot.</a:t>
            </a:r>
            <a:endParaRPr lang="en-US" sz="1400" dirty="0"/>
          </a:p>
        </p:txBody>
      </p:sp>
      <p:sp>
        <p:nvSpPr>
          <p:cNvPr id="22" name="Shape 16"/>
          <p:cNvSpPr/>
          <p:nvPr/>
        </p:nvSpPr>
        <p:spPr>
          <a:xfrm>
            <a:off x="812800" y="5137944"/>
            <a:ext cx="10566400" cy="704056"/>
          </a:xfrm>
          <a:prstGeom prst="roundRect">
            <a:avLst>
              <a:gd name="adj" fmla="val 18038"/>
            </a:avLst>
          </a:prstGeom>
          <a:solidFill>
            <a:srgbClr val="E3EFF5"/>
          </a:solidFill>
          <a:ln/>
        </p:spPr>
      </p:sp>
      <p:pic>
        <p:nvPicPr>
          <p:cNvPr id="23" name="Image 4" descr="Warning">    </p:cNvPr>
          <p:cNvPicPr>
            <a:picLocks noChangeAspect="1"/>
          </p:cNvPicPr>
          <p:nvPr/>
        </p:nvPicPr>
        <p:blipFill>
          <a:blip r:embed="rId5"/>
          <a:srcRect l="-103" r="-103" t="0" b="0"/>
          <a:stretch/>
        </p:blipFill>
        <p:spPr>
          <a:xfrm>
            <a:off x="1041400" y="5337572"/>
            <a:ext cx="241796" cy="304800"/>
          </a:xfrm>
          <a:prstGeom prst="rect">
            <a:avLst/>
          </a:prstGeom>
        </p:spPr>
      </p:pic>
      <p:sp>
        <p:nvSpPr>
          <p:cNvPr id="24" name="Text 17"/>
          <p:cNvSpPr/>
          <p:nvPr/>
        </p:nvSpPr>
        <p:spPr>
          <a:xfrm>
            <a:off x="1410196" y="5232797"/>
            <a:ext cx="1003261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En el aprendizaje supervisado, las respuestas son la fuente de todo lo que la red aprende. Si no son buenas, ningún entrenamiento lo compensa.</a:t>
            </a:r>
            <a:endParaRPr lang="en-US" sz="1500" dirty="0"/>
          </a:p>
        </p:txBody>
      </p:sp>
      <p:sp>
        <p:nvSpPr>
          <p:cNvPr id="25" name="Text 18"/>
          <p:cNvSpPr/>
          <p:nvPr/>
        </p:nvSpPr>
        <p:spPr>
          <a:xfrm>
            <a:off x="812800" y="6024959"/>
            <a:ext cx="91567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3 · Fotos: Roberto Contreras (CC BY 4.0) y Anil Öztas (CC BY-SA 4.0), Wikimedia Commons</a:t>
            </a:r>
            <a:endParaRPr lang="en-US" sz="1200" dirty="0"/>
          </a:p>
        </p:txBody>
      </p:sp>
      <p:sp>
        <p:nvSpPr>
          <p:cNvPr id="26"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VIDEO 3</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La función de pérdida</a:t>
            </a:r>
            <a:endParaRPr lang="en-US" sz="3600" dirty="0"/>
          </a:p>
        </p:txBody>
      </p:sp>
      <p:sp>
        <p:nvSpPr>
          <p:cNvPr id="6" name="Text 2"/>
          <p:cNvSpPr/>
          <p:nvPr/>
        </p:nvSpPr>
        <p:spPr>
          <a:xfrm>
            <a:off x="812800" y="1782961"/>
            <a:ext cx="98107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1F6F8"/>
                </a:solidFill>
                <a:latin typeface="IBM Plex Sans" pitchFamily="34" charset="0"/>
                <a:ea typeface="IBM Plex Sans" pitchFamily="34" charset="-122"/>
                <a:cs typeface="IBM Plex Sans" pitchFamily="34" charset="-120"/>
              </a:rPr>
              <a:t>La brújula del entrenamiento: un número que se calcula comparando lo que la red predijo con lo que las personas marcaron.</a:t>
            </a:r>
            <a:endParaRPr lang="en-US" sz="1400" dirty="0"/>
          </a:p>
        </p:txBody>
      </p:sp>
      <p:sp>
        <p:nvSpPr>
          <p:cNvPr id="7" name="Shape 3"/>
          <p:cNvSpPr/>
          <p:nvPr/>
        </p:nvSpPr>
        <p:spPr>
          <a:xfrm>
            <a:off x="819150" y="2447131"/>
            <a:ext cx="3594100" cy="1212056"/>
          </a:xfrm>
          <a:prstGeom prst="roundRect">
            <a:avLst>
              <a:gd name="adj" fmla="val 9954"/>
            </a:avLst>
          </a:prstGeom>
          <a:solidFill>
            <a:srgbClr val="12304A"/>
          </a:solidFill>
          <a:ln w="12700">
            <a:solidFill>
              <a:srgbClr val="24506E"/>
            </a:solidFill>
            <a:prstDash val="solid"/>
          </a:ln>
        </p:spPr>
      </p:sp>
      <p:sp>
        <p:nvSpPr>
          <p:cNvPr id="8" name="Text 4"/>
          <p:cNvSpPr/>
          <p:nvPr/>
        </p:nvSpPr>
        <p:spPr>
          <a:xfrm>
            <a:off x="952500" y="2580481"/>
            <a:ext cx="342722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DOS CONDICIONES</a:t>
            </a:r>
            <a:endParaRPr lang="en-US" sz="1200" dirty="0"/>
          </a:p>
        </p:txBody>
      </p:sp>
      <p:sp>
        <p:nvSpPr>
          <p:cNvPr id="9" name="Text 5"/>
          <p:cNvSpPr/>
          <p:nvPr/>
        </p:nvSpPr>
        <p:spPr>
          <a:xfrm>
            <a:off x="952500" y="2857302"/>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Más baja mientras mejor sea la predicción, y calculable de forma automática para cada ejemplo.</a:t>
            </a:r>
            <a:endParaRPr lang="en-US" sz="1300" dirty="0"/>
          </a:p>
        </p:txBody>
      </p:sp>
      <p:sp>
        <p:nvSpPr>
          <p:cNvPr id="10" name="Shape 6"/>
          <p:cNvSpPr/>
          <p:nvPr/>
        </p:nvSpPr>
        <p:spPr>
          <a:xfrm>
            <a:off x="4578350" y="2447131"/>
            <a:ext cx="3594100" cy="1212056"/>
          </a:xfrm>
          <a:prstGeom prst="roundRect">
            <a:avLst>
              <a:gd name="adj" fmla="val 9954"/>
            </a:avLst>
          </a:prstGeom>
          <a:solidFill>
            <a:srgbClr val="12304A"/>
          </a:solidFill>
          <a:ln w="12700">
            <a:solidFill>
              <a:srgbClr val="24506E"/>
            </a:solidFill>
            <a:prstDash val="solid"/>
          </a:ln>
        </p:spPr>
      </p:sp>
      <p:sp>
        <p:nvSpPr>
          <p:cNvPr id="11" name="Text 7"/>
          <p:cNvSpPr/>
          <p:nvPr/>
        </p:nvSpPr>
        <p:spPr>
          <a:xfrm>
            <a:off x="4711700" y="2580481"/>
            <a:ext cx="342722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UN EJEMPLO SENCILLO</a:t>
            </a:r>
            <a:endParaRPr lang="en-US" sz="1200" dirty="0"/>
          </a:p>
        </p:txBody>
      </p:sp>
      <p:sp>
        <p:nvSpPr>
          <p:cNvPr id="12" name="Text 8"/>
          <p:cNvSpPr/>
          <p:nvPr/>
        </p:nvSpPr>
        <p:spPr>
          <a:xfrm>
            <a:off x="4711700" y="2857302"/>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Adivinar un tamaño: error al cuadrado. Si la red dice 5 y era 4, la pérdida es 1; si dice 7, es 9.</a:t>
            </a:r>
            <a:endParaRPr lang="en-US" sz="1300" dirty="0"/>
          </a:p>
        </p:txBody>
      </p:sp>
      <p:sp>
        <p:nvSpPr>
          <p:cNvPr id="13" name="Shape 9"/>
          <p:cNvSpPr/>
          <p:nvPr/>
        </p:nvSpPr>
        <p:spPr>
          <a:xfrm>
            <a:off x="819150" y="3824288"/>
            <a:ext cx="3594100" cy="1212056"/>
          </a:xfrm>
          <a:prstGeom prst="roundRect">
            <a:avLst>
              <a:gd name="adj" fmla="val 9954"/>
            </a:avLst>
          </a:prstGeom>
          <a:solidFill>
            <a:srgbClr val="12304A"/>
          </a:solidFill>
          <a:ln w="12700">
            <a:solidFill>
              <a:srgbClr val="24506E"/>
            </a:solidFill>
            <a:prstDash val="solid"/>
          </a:ln>
        </p:spPr>
      </p:sp>
      <p:sp>
        <p:nvSpPr>
          <p:cNvPr id="14" name="Text 10"/>
          <p:cNvSpPr/>
          <p:nvPr/>
        </p:nvSpPr>
        <p:spPr>
          <a:xfrm>
            <a:off x="952500" y="3957638"/>
            <a:ext cx="342722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EN NUESTRA RED</a:t>
            </a:r>
            <a:endParaRPr lang="en-US" sz="1200" dirty="0"/>
          </a:p>
        </p:txBody>
      </p:sp>
      <p:sp>
        <p:nvSpPr>
          <p:cNvPr id="15" name="Text 11"/>
          <p:cNvSpPr/>
          <p:nvPr/>
        </p:nvSpPr>
        <p:spPr>
          <a:xfrm>
            <a:off x="952500" y="4234458"/>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Combina si acertó que ahí había una cabeza, qué tan bien quedó su ubicación y cuánto coincide el contorno con el de la persona.</a:t>
            </a:r>
            <a:endParaRPr lang="en-US" sz="1300" dirty="0"/>
          </a:p>
        </p:txBody>
      </p:sp>
      <p:sp>
        <p:nvSpPr>
          <p:cNvPr id="16" name="Shape 12"/>
          <p:cNvSpPr/>
          <p:nvPr/>
        </p:nvSpPr>
        <p:spPr>
          <a:xfrm>
            <a:off x="4578350" y="3824288"/>
            <a:ext cx="3594100" cy="1212056"/>
          </a:xfrm>
          <a:prstGeom prst="roundRect">
            <a:avLst>
              <a:gd name="adj" fmla="val 9954"/>
            </a:avLst>
          </a:prstGeom>
          <a:solidFill>
            <a:srgbClr val="12304A"/>
          </a:solidFill>
          <a:ln w="12700">
            <a:solidFill>
              <a:srgbClr val="24506E"/>
            </a:solidFill>
            <a:prstDash val="solid"/>
          </a:ln>
        </p:spPr>
      </p:sp>
      <p:sp>
        <p:nvSpPr>
          <p:cNvPr id="17" name="Text 13"/>
          <p:cNvSpPr/>
          <p:nvPr/>
        </p:nvSpPr>
        <p:spPr>
          <a:xfrm>
            <a:off x="4711700" y="3957638"/>
            <a:ext cx="342722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LA CURVA</a:t>
            </a:r>
            <a:endParaRPr lang="en-US" sz="1200" dirty="0"/>
          </a:p>
        </p:txBody>
      </p:sp>
      <p:sp>
        <p:nvSpPr>
          <p:cNvPr id="18" name="Text 14"/>
          <p:cNvSpPr/>
          <p:nvPr/>
        </p:nvSpPr>
        <p:spPr>
          <a:xfrm>
            <a:off x="4711700" y="4234458"/>
            <a:ext cx="34272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Al principio es alta y baja deprisa; después baja cada vez más despacio y se estabiliza.</a:t>
            </a:r>
            <a:endParaRPr lang="en-US" sz="1300" dirty="0"/>
          </a:p>
        </p:txBody>
      </p:sp>
      <p:pic>
        <p:nvPicPr>
          <p:cNvPr id="19" name="Image 2" descr="Dos contornos de la misma cabeza que no coinciden del todo, y la curva de la pérdida que baja y se aplana">    </p:cNvPr>
          <p:cNvPicPr>
            <a:picLocks noChangeAspect="1"/>
          </p:cNvPicPr>
          <p:nvPr/>
        </p:nvPicPr>
        <p:blipFill>
          <a:blip r:embed="rId3"/>
          <a:srcRect l="0" r="0" t="0" b="0"/>
          <a:stretch/>
        </p:blipFill>
        <p:spPr>
          <a:xfrm>
            <a:off x="8331200" y="2719388"/>
            <a:ext cx="3048000" cy="2044700"/>
          </a:xfrm>
          <a:prstGeom prst="rect">
            <a:avLst/>
          </a:prstGeom>
        </p:spPr>
      </p:pic>
      <p:sp>
        <p:nvSpPr>
          <p:cNvPr id="20" name="Shape 15"/>
          <p:cNvSpPr/>
          <p:nvPr/>
        </p:nvSpPr>
        <p:spPr>
          <a:xfrm>
            <a:off x="812800" y="5220494"/>
            <a:ext cx="10566400" cy="609600"/>
          </a:xfrm>
          <a:prstGeom prst="roundRect">
            <a:avLst>
              <a:gd name="adj" fmla="val 20833"/>
            </a:avLst>
          </a:prstGeom>
          <a:solidFill>
            <a:srgbClr val="F4A259"/>
          </a:solidFill>
          <a:ln/>
        </p:spPr>
      </p:sp>
      <p:pic>
        <p:nvPicPr>
          <p:cNvPr id="21" name="Image 3" descr="Warning">    </p:cNvPr>
          <p:cNvPicPr>
            <a:picLocks noChangeAspect="1"/>
          </p:cNvPicPr>
          <p:nvPr/>
        </p:nvPicPr>
        <p:blipFill>
          <a:blip r:embed="rId4"/>
          <a:srcRect l="0" r="0" t="0" b="0"/>
          <a:stretch/>
        </p:blipFill>
        <p:spPr>
          <a:xfrm>
            <a:off x="1028700" y="5372894"/>
            <a:ext cx="304800" cy="304800"/>
          </a:xfrm>
          <a:prstGeom prst="rect">
            <a:avLst/>
          </a:prstGeom>
        </p:spPr>
      </p:pic>
      <p:sp>
        <p:nvSpPr>
          <p:cNvPr id="22" name="Text 16"/>
          <p:cNvSpPr/>
          <p:nvPr/>
        </p:nvSpPr>
        <p:spPr>
          <a:xfrm>
            <a:off x="1460500" y="5413871"/>
            <a:ext cx="99187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La pérdida dice qué tan bien se ajusta la red a las respuestas dadas, no qué tanto entiende: si tienen errores, los reproduce.</a:t>
            </a:r>
            <a:endParaRPr lang="en-US" sz="1300" dirty="0"/>
          </a:p>
        </p:txBody>
      </p:sp>
      <p:sp>
        <p:nvSpPr>
          <p:cNvPr id="23"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3</a:t>
            </a:r>
            <a:endParaRPr lang="en-US" sz="1200" dirty="0"/>
          </a:p>
        </p:txBody>
      </p:sp>
      <p:sp>
        <p:nvSpPr>
          <p:cNvPr id="24"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VIDEO 3 · CÓMO APRENDE UNA RED</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Ajustar: bajar la montaña con niebla</a:t>
            </a:r>
            <a:endParaRPr lang="en-US" sz="3600" dirty="0"/>
          </a:p>
        </p:txBody>
      </p:sp>
      <p:pic>
        <p:nvPicPr>
          <p:cNvPr id="6" name="Image 2" descr="Un terreno con una pendiente que baja hacia un valle y una bolita que avanza en pasos hacia el fondo">    </p:cNvPr>
          <p:cNvPicPr>
            <a:picLocks noChangeAspect="1"/>
          </p:cNvPicPr>
          <p:nvPr/>
        </p:nvPicPr>
        <p:blipFill>
          <a:blip r:embed="rId3"/>
          <a:srcRect l="0" r="0" t="0" b="0"/>
          <a:stretch/>
        </p:blipFill>
        <p:spPr>
          <a:xfrm>
            <a:off x="812800" y="1833761"/>
            <a:ext cx="4445000" cy="2413000"/>
          </a:xfrm>
          <a:prstGeom prst="rect">
            <a:avLst/>
          </a:prstGeom>
        </p:spPr>
      </p:pic>
      <p:sp>
        <p:nvSpPr>
          <p:cNvPr id="7" name="Text 2"/>
          <p:cNvSpPr/>
          <p:nvPr/>
        </p:nvSpPr>
        <p:spPr>
          <a:xfrm>
            <a:off x="812800" y="4310261"/>
            <a:ext cx="979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pérdida alta</a:t>
            </a:r>
            <a:endParaRPr lang="en-US" sz="1200" dirty="0"/>
          </a:p>
        </p:txBody>
      </p:sp>
      <p:sp>
        <p:nvSpPr>
          <p:cNvPr id="8" name="Text 3"/>
          <p:cNvSpPr/>
          <p:nvPr/>
        </p:nvSpPr>
        <p:spPr>
          <a:xfrm>
            <a:off x="3757970" y="4310261"/>
            <a:ext cx="149983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valle: pérdida baja</a:t>
            </a:r>
            <a:endParaRPr lang="en-US" sz="1200" dirty="0"/>
          </a:p>
        </p:txBody>
      </p:sp>
      <p:sp>
        <p:nvSpPr>
          <p:cNvPr id="9" name="Shape 4"/>
          <p:cNvSpPr/>
          <p:nvPr/>
        </p:nvSpPr>
        <p:spPr>
          <a:xfrm>
            <a:off x="5518150" y="1856780"/>
            <a:ext cx="5854700" cy="446980"/>
          </a:xfrm>
          <a:prstGeom prst="roundRect">
            <a:avLst>
              <a:gd name="adj" fmla="val 18468"/>
            </a:avLst>
          </a:prstGeom>
          <a:solidFill>
            <a:srgbClr val="FCFDFD"/>
          </a:solidFill>
          <a:ln w="12700">
            <a:solidFill>
              <a:srgbClr val="D5E3EA"/>
            </a:solidFill>
            <a:prstDash val="solid"/>
          </a:ln>
        </p:spPr>
      </p:sp>
      <p:sp>
        <p:nvSpPr>
          <p:cNvPr id="10" name="Text 5"/>
          <p:cNvSpPr/>
          <p:nvPr/>
        </p:nvSpPr>
        <p:spPr>
          <a:xfrm>
            <a:off x="5689600" y="1964730"/>
            <a:ext cx="156495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C2A3E"/>
                </a:solidFill>
                <a:latin typeface="IBM Plex Sans" pitchFamily="34" charset="0"/>
                <a:ea typeface="IBM Plex Sans" pitchFamily="34" charset="-122"/>
                <a:cs typeface="IBM Plex Sans" pitchFamily="34" charset="-120"/>
              </a:rPr>
              <a:t>Altura del terreno</a:t>
            </a:r>
            <a:endParaRPr lang="en-US" sz="1300" dirty="0"/>
          </a:p>
        </p:txBody>
      </p:sp>
      <p:sp>
        <p:nvSpPr>
          <p:cNvPr id="11" name="Text 6"/>
          <p:cNvSpPr/>
          <p:nvPr/>
        </p:nvSpPr>
        <p:spPr>
          <a:xfrm>
            <a:off x="10276284" y="1964730"/>
            <a:ext cx="925116"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A3480F"/>
                </a:solidFill>
                <a:latin typeface="IBM Plex Sans" pitchFamily="34" charset="0"/>
                <a:ea typeface="IBM Plex Sans" pitchFamily="34" charset="-122"/>
                <a:cs typeface="IBM Plex Sans" pitchFamily="34" charset="-120"/>
              </a:rPr>
              <a:t>la pérdida</a:t>
            </a:r>
            <a:endParaRPr lang="en-US" sz="1300" dirty="0"/>
          </a:p>
        </p:txBody>
      </p:sp>
      <p:sp>
        <p:nvSpPr>
          <p:cNvPr id="12" name="Shape 7"/>
          <p:cNvSpPr/>
          <p:nvPr/>
        </p:nvSpPr>
        <p:spPr>
          <a:xfrm>
            <a:off x="5518150" y="2405360"/>
            <a:ext cx="5854700" cy="446980"/>
          </a:xfrm>
          <a:prstGeom prst="roundRect">
            <a:avLst>
              <a:gd name="adj" fmla="val 18468"/>
            </a:avLst>
          </a:prstGeom>
          <a:solidFill>
            <a:srgbClr val="FCFDFD"/>
          </a:solidFill>
          <a:ln w="12700">
            <a:solidFill>
              <a:srgbClr val="D5E3EA"/>
            </a:solidFill>
            <a:prstDash val="solid"/>
          </a:ln>
        </p:spPr>
      </p:sp>
      <p:sp>
        <p:nvSpPr>
          <p:cNvPr id="13" name="Text 8"/>
          <p:cNvSpPr/>
          <p:nvPr/>
        </p:nvSpPr>
        <p:spPr>
          <a:xfrm>
            <a:off x="5689600" y="2513310"/>
            <a:ext cx="7458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C2A3E"/>
                </a:solidFill>
                <a:latin typeface="IBM Plex Sans" pitchFamily="34" charset="0"/>
                <a:ea typeface="IBM Plex Sans" pitchFamily="34" charset="-122"/>
                <a:cs typeface="IBM Plex Sans" pitchFamily="34" charset="-120"/>
              </a:rPr>
              <a:t>Posición</a:t>
            </a:r>
            <a:endParaRPr lang="en-US" sz="1300" dirty="0"/>
          </a:p>
        </p:txBody>
      </p:sp>
      <p:sp>
        <p:nvSpPr>
          <p:cNvPr id="14" name="Text 9"/>
          <p:cNvSpPr/>
          <p:nvPr/>
        </p:nvSpPr>
        <p:spPr>
          <a:xfrm>
            <a:off x="9786342" y="2513310"/>
            <a:ext cx="1415058"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A3480F"/>
                </a:solidFill>
                <a:latin typeface="IBM Plex Sans" pitchFamily="34" charset="0"/>
                <a:ea typeface="IBM Plex Sans" pitchFamily="34" charset="-122"/>
                <a:cs typeface="IBM Plex Sans" pitchFamily="34" charset="-120"/>
              </a:rPr>
              <a:t>todos los pesos</a:t>
            </a:r>
            <a:endParaRPr lang="en-US" sz="1300" dirty="0"/>
          </a:p>
        </p:txBody>
      </p:sp>
      <p:sp>
        <p:nvSpPr>
          <p:cNvPr id="15" name="Shape 10"/>
          <p:cNvSpPr/>
          <p:nvPr/>
        </p:nvSpPr>
        <p:spPr>
          <a:xfrm>
            <a:off x="5518150" y="2953941"/>
            <a:ext cx="5854700" cy="446980"/>
          </a:xfrm>
          <a:prstGeom prst="roundRect">
            <a:avLst>
              <a:gd name="adj" fmla="val 18468"/>
            </a:avLst>
          </a:prstGeom>
          <a:solidFill>
            <a:srgbClr val="FCFDFD"/>
          </a:solidFill>
          <a:ln w="12700">
            <a:solidFill>
              <a:srgbClr val="D5E3EA"/>
            </a:solidFill>
            <a:prstDash val="solid"/>
          </a:ln>
        </p:spPr>
      </p:sp>
      <p:sp>
        <p:nvSpPr>
          <p:cNvPr id="16" name="Text 11"/>
          <p:cNvSpPr/>
          <p:nvPr/>
        </p:nvSpPr>
        <p:spPr>
          <a:xfrm>
            <a:off x="5689600" y="3061891"/>
            <a:ext cx="18396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C2A3E"/>
                </a:solidFill>
                <a:latin typeface="IBM Plex Sans" pitchFamily="34" charset="0"/>
                <a:ea typeface="IBM Plex Sans" pitchFamily="34" charset="-122"/>
                <a:cs typeface="IBM Plex Sans" pitchFamily="34" charset="-120"/>
              </a:rPr>
              <a:t>Inclinación del suelo</a:t>
            </a:r>
            <a:endParaRPr lang="en-US" sz="1300" dirty="0"/>
          </a:p>
        </p:txBody>
      </p:sp>
      <p:sp>
        <p:nvSpPr>
          <p:cNvPr id="17" name="Text 12"/>
          <p:cNvSpPr/>
          <p:nvPr/>
        </p:nvSpPr>
        <p:spPr>
          <a:xfrm>
            <a:off x="10107097" y="3061891"/>
            <a:ext cx="1094303"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A3480F"/>
                </a:solidFill>
                <a:latin typeface="IBM Plex Sans" pitchFamily="34" charset="0"/>
                <a:ea typeface="IBM Plex Sans" pitchFamily="34" charset="-122"/>
                <a:cs typeface="IBM Plex Sans" pitchFamily="34" charset="-120"/>
              </a:rPr>
              <a:t>el gradiente</a:t>
            </a:r>
            <a:endParaRPr lang="en-US" sz="1300" dirty="0"/>
          </a:p>
        </p:txBody>
      </p:sp>
      <p:sp>
        <p:nvSpPr>
          <p:cNvPr id="18" name="Shape 13"/>
          <p:cNvSpPr/>
          <p:nvPr/>
        </p:nvSpPr>
        <p:spPr>
          <a:xfrm>
            <a:off x="5518150" y="3502521"/>
            <a:ext cx="5854700" cy="446980"/>
          </a:xfrm>
          <a:prstGeom prst="roundRect">
            <a:avLst>
              <a:gd name="adj" fmla="val 18468"/>
            </a:avLst>
          </a:prstGeom>
          <a:solidFill>
            <a:srgbClr val="FCFDFD"/>
          </a:solidFill>
          <a:ln w="12700">
            <a:solidFill>
              <a:srgbClr val="D5E3EA"/>
            </a:solidFill>
            <a:prstDash val="solid"/>
          </a:ln>
        </p:spPr>
      </p:sp>
      <p:sp>
        <p:nvSpPr>
          <p:cNvPr id="19" name="Text 14"/>
          <p:cNvSpPr/>
          <p:nvPr/>
        </p:nvSpPr>
        <p:spPr>
          <a:xfrm>
            <a:off x="5689600" y="3610471"/>
            <a:ext cx="150673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C2A3E"/>
                </a:solidFill>
                <a:latin typeface="IBM Plex Sans" pitchFamily="34" charset="0"/>
                <a:ea typeface="IBM Plex Sans" pitchFamily="34" charset="-122"/>
                <a:cs typeface="IBM Plex Sans" pitchFamily="34" charset="-120"/>
              </a:rPr>
              <a:t>Tamaño del paso</a:t>
            </a:r>
            <a:endParaRPr lang="en-US" sz="1300" dirty="0"/>
          </a:p>
        </p:txBody>
      </p:sp>
      <p:sp>
        <p:nvSpPr>
          <p:cNvPr id="20" name="Text 15"/>
          <p:cNvSpPr/>
          <p:nvPr/>
        </p:nvSpPr>
        <p:spPr>
          <a:xfrm>
            <a:off x="9401770" y="3610471"/>
            <a:ext cx="179963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A3480F"/>
                </a:solidFill>
                <a:latin typeface="IBM Plex Sans" pitchFamily="34" charset="0"/>
                <a:ea typeface="IBM Plex Sans" pitchFamily="34" charset="-122"/>
                <a:cs typeface="IBM Plex Sans" pitchFamily="34" charset="-120"/>
              </a:rPr>
              <a:t>tasa de aprendizaje</a:t>
            </a:r>
            <a:endParaRPr lang="en-US" sz="1300" dirty="0"/>
          </a:p>
        </p:txBody>
      </p:sp>
      <p:sp>
        <p:nvSpPr>
          <p:cNvPr id="21" name="Text 16"/>
          <p:cNvSpPr/>
          <p:nvPr/>
        </p:nvSpPr>
        <p:spPr>
          <a:xfrm>
            <a:off x="5511800" y="4044752"/>
            <a:ext cx="604342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No se ve el valle, solo la pendiente: en cada paso se avanza hacia donde el suelo baja más.</a:t>
            </a:r>
            <a:endParaRPr lang="en-US" sz="1300" dirty="0"/>
          </a:p>
        </p:txBody>
      </p:sp>
      <p:sp>
        <p:nvSpPr>
          <p:cNvPr id="22"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3 · Esquema ilustrativo</a:t>
            </a:r>
            <a:endParaRPr lang="en-US" sz="1200" dirty="0"/>
          </a:p>
        </p:txBody>
      </p:sp>
      <p:sp>
        <p:nvSpPr>
          <p:cNvPr id="23"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VIDEO 3</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1F6F8"/>
                </a:solidFill>
                <a:latin typeface="EB Garamond" pitchFamily="18" charset="0"/>
                <a:ea typeface="EB Garamond" pitchFamily="18" charset="-122"/>
                <a:cs typeface="EB Garamond" pitchFamily="18" charset="-120"/>
              </a:rPr>
              <a:t>Tasa de aprendizaje e hiperparámetros</a:t>
            </a:r>
            <a:endParaRPr lang="en-US" sz="3200" dirty="0"/>
          </a:p>
        </p:txBody>
      </p:sp>
      <p:sp>
        <p:nvSpPr>
          <p:cNvPr id="6" name="Shape 2"/>
          <p:cNvSpPr/>
          <p:nvPr/>
        </p:nvSpPr>
        <p:spPr>
          <a:xfrm>
            <a:off x="819150" y="1809651"/>
            <a:ext cx="3407767" cy="1678583"/>
          </a:xfrm>
          <a:prstGeom prst="roundRect">
            <a:avLst>
              <a:gd name="adj" fmla="val 7188"/>
            </a:avLst>
          </a:prstGeom>
          <a:solidFill>
            <a:srgbClr val="12304A"/>
          </a:solidFill>
          <a:ln w="12700">
            <a:solidFill>
              <a:srgbClr val="24506E"/>
            </a:solidFill>
            <a:prstDash val="solid"/>
          </a:ln>
        </p:spPr>
      </p:sp>
      <p:sp>
        <p:nvSpPr>
          <p:cNvPr id="7" name="Text 3"/>
          <p:cNvSpPr/>
          <p:nvPr/>
        </p:nvSpPr>
        <p:spPr>
          <a:xfrm>
            <a:off x="1016000" y="2006501"/>
            <a:ext cx="310448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PASO MUY GRANDE</a:t>
            </a:r>
            <a:endParaRPr lang="en-US" sz="1200" dirty="0"/>
          </a:p>
        </p:txBody>
      </p:sp>
      <p:sp>
        <p:nvSpPr>
          <p:cNvPr id="8" name="Text 4"/>
          <p:cNvSpPr/>
          <p:nvPr/>
        </p:nvSpPr>
        <p:spPr>
          <a:xfrm>
            <a:off x="1016000" y="2296021"/>
            <a:ext cx="3104489"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Se pasa por encima del fondo y llega al otro lado. La pérdida rebota y nunca se estabiliza.</a:t>
            </a:r>
            <a:endParaRPr lang="en-US" sz="1400" dirty="0"/>
          </a:p>
        </p:txBody>
      </p:sp>
      <p:sp>
        <p:nvSpPr>
          <p:cNvPr id="9" name="Shape 5"/>
          <p:cNvSpPr/>
          <p:nvPr/>
        </p:nvSpPr>
        <p:spPr>
          <a:xfrm>
            <a:off x="4392017" y="1809651"/>
            <a:ext cx="3407866" cy="1678583"/>
          </a:xfrm>
          <a:prstGeom prst="roundRect">
            <a:avLst>
              <a:gd name="adj" fmla="val 7188"/>
            </a:avLst>
          </a:prstGeom>
          <a:solidFill>
            <a:srgbClr val="12304A"/>
          </a:solidFill>
          <a:ln w="12700">
            <a:solidFill>
              <a:srgbClr val="24506E"/>
            </a:solidFill>
            <a:prstDash val="solid"/>
          </a:ln>
        </p:spPr>
      </p:sp>
      <p:sp>
        <p:nvSpPr>
          <p:cNvPr id="10" name="Text 6"/>
          <p:cNvSpPr/>
          <p:nvPr/>
        </p:nvSpPr>
        <p:spPr>
          <a:xfrm>
            <a:off x="4588867" y="2006501"/>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PASO MUY PEQUEÑO</a:t>
            </a:r>
            <a:endParaRPr lang="en-US" sz="1200" dirty="0"/>
          </a:p>
        </p:txBody>
      </p:sp>
      <p:sp>
        <p:nvSpPr>
          <p:cNvPr id="11" name="Text 7"/>
          <p:cNvSpPr/>
          <p:nvPr/>
        </p:nvSpPr>
        <p:spPr>
          <a:xfrm>
            <a:off x="4588867" y="2296021"/>
            <a:ext cx="3104591"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F6F8"/>
                </a:solidFill>
                <a:latin typeface="IBM Plex Sans" pitchFamily="34" charset="0"/>
                <a:ea typeface="IBM Plex Sans" pitchFamily="34" charset="-122"/>
                <a:cs typeface="IBM Plex Sans" pitchFamily="34" charset="-120"/>
              </a:rPr>
              <a:t>Baja, pero tan despacio que el entrenamiento tardaría una eternidad, y con una máquina que se paga por tiempo, también cuesta.</a:t>
            </a:r>
            <a:endParaRPr lang="en-US" sz="1400" dirty="0"/>
          </a:p>
        </p:txBody>
      </p:sp>
      <p:sp>
        <p:nvSpPr>
          <p:cNvPr id="12" name="Shape 8"/>
          <p:cNvSpPr/>
          <p:nvPr/>
        </p:nvSpPr>
        <p:spPr>
          <a:xfrm>
            <a:off x="7958634" y="1803301"/>
            <a:ext cx="3420566" cy="1691283"/>
          </a:xfrm>
          <a:prstGeom prst="roundRect">
            <a:avLst>
              <a:gd name="adj" fmla="val 7509"/>
            </a:avLst>
          </a:prstGeom>
          <a:solidFill>
            <a:srgbClr val="F4A259"/>
          </a:solidFill>
          <a:ln/>
        </p:spPr>
      </p:sp>
      <p:sp>
        <p:nvSpPr>
          <p:cNvPr id="13" name="Text 9"/>
          <p:cNvSpPr/>
          <p:nvPr/>
        </p:nvSpPr>
        <p:spPr>
          <a:xfrm>
            <a:off x="8149134" y="1993801"/>
            <a:ext cx="313075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1406"/>
                </a:solidFill>
                <a:latin typeface="IBM Plex Sans" pitchFamily="34" charset="0"/>
                <a:ea typeface="IBM Plex Sans" pitchFamily="34" charset="-122"/>
                <a:cs typeface="IBM Plex Sans" pitchFamily="34" charset="-120"/>
              </a:rPr>
              <a:t>EL PASO IDEAL</a:t>
            </a:r>
            <a:endParaRPr lang="en-US" sz="1200" dirty="0"/>
          </a:p>
        </p:txBody>
      </p:sp>
      <p:sp>
        <p:nvSpPr>
          <p:cNvPr id="14" name="Text 10"/>
          <p:cNvSpPr/>
          <p:nvPr/>
        </p:nvSpPr>
        <p:spPr>
          <a:xfrm>
            <a:off x="8149134" y="2283321"/>
            <a:ext cx="3130753"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406"/>
                </a:solidFill>
                <a:latin typeface="IBM Plex Sans" pitchFamily="34" charset="0"/>
                <a:ea typeface="IBM Plex Sans" pitchFamily="34" charset="-122"/>
                <a:cs typeface="IBM Plex Sans" pitchFamily="34" charset="-120"/>
              </a:rPr>
              <a:t>Está en medio y no hay una fórmula: se prueba. Suele empezar grande y reducirse al acercarse al fondo.</a:t>
            </a:r>
            <a:endParaRPr lang="en-US" sz="1400" dirty="0"/>
          </a:p>
        </p:txBody>
      </p:sp>
      <p:sp>
        <p:nvSpPr>
          <p:cNvPr id="15" name="Shape 11"/>
          <p:cNvSpPr/>
          <p:nvPr/>
        </p:nvSpPr>
        <p:spPr>
          <a:xfrm>
            <a:off x="819150" y="3754934"/>
            <a:ext cx="7734300" cy="2047081"/>
          </a:xfrm>
          <a:prstGeom prst="roundRect">
            <a:avLst>
              <a:gd name="adj" fmla="val 5894"/>
            </a:avLst>
          </a:prstGeom>
          <a:solidFill>
            <a:srgbClr val="12304A"/>
          </a:solidFill>
          <a:ln w="12700">
            <a:solidFill>
              <a:srgbClr val="24506E"/>
            </a:solidFill>
            <a:prstDash val="solid"/>
          </a:ln>
        </p:spPr>
      </p:sp>
      <p:sp>
        <p:nvSpPr>
          <p:cNvPr id="16" name="Text 12"/>
          <p:cNvSpPr/>
          <p:nvPr/>
        </p:nvSpPr>
        <p:spPr>
          <a:xfrm>
            <a:off x="1016000" y="3951784"/>
            <a:ext cx="756081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HIPERPARÁMETRO</a:t>
            </a:r>
            <a:endParaRPr lang="en-US" sz="1200" dirty="0"/>
          </a:p>
        </p:txBody>
      </p:sp>
      <p:sp>
        <p:nvSpPr>
          <p:cNvPr id="17" name="Text 13"/>
          <p:cNvSpPr/>
          <p:nvPr/>
        </p:nvSpPr>
        <p:spPr>
          <a:xfrm>
            <a:off x="1016000" y="4241304"/>
            <a:ext cx="75608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F6F8"/>
                </a:solidFill>
                <a:latin typeface="IBM Plex Sans" pitchFamily="34" charset="0"/>
                <a:ea typeface="IBM Plex Sans" pitchFamily="34" charset="-122"/>
                <a:cs typeface="IBM Plex Sans" pitchFamily="34" charset="-120"/>
              </a:rPr>
              <a:t>Una decisión que se toma antes de entrenar y que no aprende la red. Los pesos los ajusta el entrenamiento; los hiperparámetros los elige la persona.</a:t>
            </a:r>
            <a:endParaRPr lang="en-US" sz="1500" dirty="0"/>
          </a:p>
        </p:txBody>
      </p:sp>
      <p:sp>
        <p:nvSpPr>
          <p:cNvPr id="18" name="Text 14"/>
          <p:cNvSpPr/>
          <p:nvPr/>
        </p:nvSpPr>
        <p:spPr>
          <a:xfrm>
            <a:off x="1016000" y="4850904"/>
            <a:ext cx="1776115" cy="332680"/>
          </a:xfrm>
          <a:prstGeom prst="roundRect">
            <a:avLst>
              <a:gd name="adj" fmla="val 50000"/>
            </a:avLst>
          </a:prstGeom>
          <a:solidFill>
            <a:srgbClr val="6CCFF6"/>
          </a:solidFill>
          <a:ln/>
        </p:spPr>
        <p:txBody>
          <a:bodyPr wrap="none" lIns="0" tIns="0" rIns="0" bIns="0" rtlCol="0" anchor="ctr">
            <a:normAutofit/>
          </a:bodyPr>
          <a:lstStyle/>
          <a:p>
            <a:pPr algn="ctr"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Tasa de aprendizaje</a:t>
            </a:r>
            <a:endParaRPr lang="en-US" sz="1300" dirty="0"/>
          </a:p>
        </p:txBody>
      </p:sp>
      <p:sp>
        <p:nvSpPr>
          <p:cNvPr id="19" name="Text 15"/>
          <p:cNvSpPr/>
          <p:nvPr/>
        </p:nvSpPr>
        <p:spPr>
          <a:xfrm>
            <a:off x="2881015" y="4850904"/>
            <a:ext cx="2989957" cy="332680"/>
          </a:xfrm>
          <a:prstGeom prst="roundRect">
            <a:avLst>
              <a:gd name="adj" fmla="val 50000"/>
            </a:avLst>
          </a:prstGeom>
          <a:solidFill>
            <a:srgbClr val="6CCFF6"/>
          </a:solidFill>
          <a:ln/>
        </p:spPr>
        <p:txBody>
          <a:bodyPr wrap="none" lIns="0" tIns="0" rIns="0" bIns="0" rtlCol="0" anchor="ctr">
            <a:normAutofit/>
          </a:bodyPr>
          <a:lstStyle/>
          <a:p>
            <a:pPr algn="ctr"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Cuántas veces se recorren los datos</a:t>
            </a:r>
            <a:endParaRPr lang="en-US" sz="1300" dirty="0"/>
          </a:p>
        </p:txBody>
      </p:sp>
      <p:sp>
        <p:nvSpPr>
          <p:cNvPr id="20" name="Text 16"/>
          <p:cNvSpPr/>
          <p:nvPr/>
        </p:nvSpPr>
        <p:spPr>
          <a:xfrm>
            <a:off x="5959872" y="4850904"/>
            <a:ext cx="1764109" cy="332680"/>
          </a:xfrm>
          <a:prstGeom prst="roundRect">
            <a:avLst>
              <a:gd name="adj" fmla="val 50000"/>
            </a:avLst>
          </a:prstGeom>
          <a:solidFill>
            <a:srgbClr val="6CCFF6"/>
          </a:solidFill>
          <a:ln/>
        </p:spPr>
        <p:txBody>
          <a:bodyPr wrap="none" lIns="0" tIns="0" rIns="0" bIns="0" rtlCol="0" anchor="ctr">
            <a:normAutofit/>
          </a:bodyPr>
          <a:lstStyle/>
          <a:p>
            <a:pPr algn="ctr"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Ejemplos por ajuste</a:t>
            </a:r>
            <a:endParaRPr lang="en-US" sz="1300" dirty="0"/>
          </a:p>
        </p:txBody>
      </p:sp>
      <p:sp>
        <p:nvSpPr>
          <p:cNvPr id="21" name="Text 17"/>
          <p:cNvSpPr/>
          <p:nvPr/>
        </p:nvSpPr>
        <p:spPr>
          <a:xfrm>
            <a:off x="1016000" y="5272484"/>
            <a:ext cx="1585416" cy="332680"/>
          </a:xfrm>
          <a:prstGeom prst="roundRect">
            <a:avLst>
              <a:gd name="adj" fmla="val 50000"/>
            </a:avLst>
          </a:prstGeom>
          <a:solidFill>
            <a:srgbClr val="6CCFF6"/>
          </a:solidFill>
          <a:ln/>
        </p:spPr>
        <p:txBody>
          <a:bodyPr wrap="none" lIns="0" tIns="0" rIns="0" bIns="0" rtlCol="0" anchor="ctr">
            <a:normAutofit/>
          </a:bodyPr>
          <a:lstStyle/>
          <a:p>
            <a:pPr algn="ctr"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Número de capas</a:t>
            </a:r>
            <a:endParaRPr lang="en-US" sz="1300" dirty="0"/>
          </a:p>
        </p:txBody>
      </p:sp>
      <p:pic>
        <p:nvPicPr>
          <p:cNvPr id="22" name="Image 2" descr="Tres valles: pasos enormes que rebotan, pasos diminutos que casi no avanzan y pasos que se acortan hasta el fondo">    </p:cNvPr>
          <p:cNvPicPr>
            <a:picLocks noChangeAspect="1"/>
          </p:cNvPicPr>
          <p:nvPr/>
        </p:nvPicPr>
        <p:blipFill>
          <a:blip r:embed="rId3"/>
          <a:srcRect l="44" r="44" t="0" b="0"/>
          <a:stretch/>
        </p:blipFill>
        <p:spPr>
          <a:xfrm>
            <a:off x="8712200" y="3883124"/>
            <a:ext cx="2667000" cy="1790700"/>
          </a:xfrm>
          <a:prstGeom prst="roundRect">
            <a:avLst>
              <a:gd name="adj" fmla="val 4965"/>
            </a:avLst>
          </a:prstGeom>
        </p:spPr>
      </p:pic>
      <p:sp>
        <p:nvSpPr>
          <p:cNvPr id="23"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3</a:t>
            </a:r>
            <a:endParaRPr lang="en-US" sz="1200" dirty="0"/>
          </a:p>
        </p:txBody>
      </p:sp>
      <p:sp>
        <p:nvSpPr>
          <p:cNvPr id="24"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VIDEO 3 · CÓMO APRENDE UNA RED</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Retropropagación: repartir el error</a:t>
            </a:r>
            <a:endParaRPr lang="en-US" sz="3600" dirty="0"/>
          </a:p>
        </p:txBody>
      </p:sp>
      <p:sp>
        <p:nvSpPr>
          <p:cNvPr id="6" name="Text 2"/>
          <p:cNvSpPr/>
          <p:nvPr/>
        </p:nvSpPr>
        <p:spPr>
          <a:xfrm>
            <a:off x="812800" y="1808361"/>
            <a:ext cx="1638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E9C"/>
                </a:solidFill>
                <a:latin typeface="IBM Plex Sans" pitchFamily="34" charset="0"/>
                <a:ea typeface="IBM Plex Sans" pitchFamily="34" charset="-122"/>
                <a:cs typeface="IBM Plex Sans" pitchFamily="34" charset="-120"/>
              </a:rPr>
              <a:t>Los datos van hacia adelante</a:t>
            </a:r>
            <a:endParaRPr lang="en-US" sz="1200" dirty="0"/>
          </a:p>
        </p:txBody>
      </p:sp>
      <p:sp>
        <p:nvSpPr>
          <p:cNvPr id="7" name="Text 3"/>
          <p:cNvSpPr/>
          <p:nvPr/>
        </p:nvSpPr>
        <p:spPr>
          <a:xfrm>
            <a:off x="2489200" y="1808361"/>
            <a:ext cx="1460500" cy="426641"/>
          </a:xfrm>
          <a:custGeom>
            <a:avLst/>
            <a:gdLst/>
            <a:ahLst/>
            <a:cxnLst/>
            <a:rect l="l" t="t" r="r" b="b"/>
            <a:pathLst>
              <a:path w="1460500" h="426641">
                <a:moveTo>
                  <a:pt x="76200" y="0"/>
                </a:moveTo>
                <a:lnTo>
                  <a:pt x="1384300" y="0"/>
                </a:lnTo>
                <a:arcTo hR="76200" wR="76200" stAng="16200000" swAng="5400000"/>
                <a:lnTo>
                  <a:pt x="1460500" y="350441"/>
                </a:lnTo>
                <a:arcTo hR="76200" wR="76200" stAng="0" swAng="5400000"/>
                <a:lnTo>
                  <a:pt x="76200" y="426641"/>
                </a:lnTo>
                <a:arcTo hR="76200" wR="76200" stAng="5400000" swAng="5400000"/>
                <a:lnTo>
                  <a:pt x="0" y="76200"/>
                </a:lnTo>
                <a:arcTo hR="76200" wR="76200" stAng="10800000" swAng="5400000"/>
                <a:close/>
              </a:path>
            </a:pathLst>
          </a:custGeom>
          <a:solidFill>
            <a:srgbClr val="E3EFF5"/>
          </a:solidFill>
          <a:ln/>
        </p:spPr>
        <p:txBody>
          <a:bodyPr wrap="square" lIns="0" tIns="88900" rIns="0" bIns="63500" rtlCol="0" anchor="t">
            <a:normAutofit/>
          </a:bodyPr>
          <a:lstStyle/>
          <a:p>
            <a:pPr algn="ctr" indent="0" marL="0">
              <a:lnSpc>
                <a:spcPts val="1960"/>
              </a:lnSpc>
              <a:buNone/>
            </a:pPr>
            <a:r>
              <a:rPr lang="en-US" sz="1400" b="1" dirty="0">
                <a:solidFill>
                  <a:srgbClr val="0C2A3E"/>
                </a:solidFill>
                <a:latin typeface="IBM Plex Sans" pitchFamily="34" charset="0"/>
                <a:ea typeface="IBM Plex Sans" pitchFamily="34" charset="-122"/>
                <a:cs typeface="IBM Plex Sans" pitchFamily="34" charset="-120"/>
              </a:rPr>
              <a:t>Entrada</a:t>
            </a:r>
            <a:endParaRPr lang="en-US" sz="1400" dirty="0"/>
          </a:p>
        </p:txBody>
      </p:sp>
      <p:pic>
        <p:nvPicPr>
          <p:cNvPr id="8" name="Image 2" descr="arrow-right">    </p:cNvPr>
          <p:cNvPicPr>
            <a:picLocks noChangeAspect="1"/>
          </p:cNvPicPr>
          <p:nvPr/>
        </p:nvPicPr>
        <p:blipFill>
          <a:blip r:embed="rId3"/>
          <a:srcRect l="0" r="0" t="0" b="0"/>
          <a:stretch/>
        </p:blipFill>
        <p:spPr>
          <a:xfrm>
            <a:off x="4038600" y="1913731"/>
            <a:ext cx="355600" cy="215900"/>
          </a:xfrm>
          <a:prstGeom prst="rect">
            <a:avLst/>
          </a:prstGeom>
        </p:spPr>
      </p:pic>
      <p:sp>
        <p:nvSpPr>
          <p:cNvPr id="9" name="Text 4"/>
          <p:cNvSpPr/>
          <p:nvPr/>
        </p:nvSpPr>
        <p:spPr>
          <a:xfrm>
            <a:off x="4483100" y="1808361"/>
            <a:ext cx="1460500" cy="426641"/>
          </a:xfrm>
          <a:custGeom>
            <a:avLst/>
            <a:gdLst/>
            <a:ahLst/>
            <a:cxnLst/>
            <a:rect l="l" t="t" r="r" b="b"/>
            <a:pathLst>
              <a:path w="1460500" h="426641">
                <a:moveTo>
                  <a:pt x="76200" y="0"/>
                </a:moveTo>
                <a:lnTo>
                  <a:pt x="1384300" y="0"/>
                </a:lnTo>
                <a:arcTo hR="76200" wR="76200" stAng="16200000" swAng="5400000"/>
                <a:lnTo>
                  <a:pt x="1460500" y="350441"/>
                </a:lnTo>
                <a:arcTo hR="76200" wR="76200" stAng="0" swAng="5400000"/>
                <a:lnTo>
                  <a:pt x="76200" y="426641"/>
                </a:lnTo>
                <a:arcTo hR="76200" wR="76200" stAng="5400000" swAng="5400000"/>
                <a:lnTo>
                  <a:pt x="0" y="76200"/>
                </a:lnTo>
                <a:arcTo hR="76200" wR="76200" stAng="10800000" swAng="5400000"/>
                <a:close/>
              </a:path>
            </a:pathLst>
          </a:custGeom>
          <a:solidFill>
            <a:srgbClr val="E3EFF5"/>
          </a:solidFill>
          <a:ln/>
        </p:spPr>
        <p:txBody>
          <a:bodyPr wrap="square" lIns="0" tIns="88900" rIns="0" bIns="63500" rtlCol="0" anchor="t">
            <a:normAutofit/>
          </a:bodyPr>
          <a:lstStyle/>
          <a:p>
            <a:pPr algn="ctr" indent="0" marL="0">
              <a:lnSpc>
                <a:spcPts val="1960"/>
              </a:lnSpc>
              <a:buNone/>
            </a:pPr>
            <a:r>
              <a:rPr lang="en-US" sz="1400" b="1" dirty="0">
                <a:solidFill>
                  <a:srgbClr val="0C2A3E"/>
                </a:solidFill>
                <a:latin typeface="IBM Plex Sans" pitchFamily="34" charset="0"/>
                <a:ea typeface="IBM Plex Sans" pitchFamily="34" charset="-122"/>
                <a:cs typeface="IBM Plex Sans" pitchFamily="34" charset="-120"/>
              </a:rPr>
              <a:t>Capa 1</a:t>
            </a:r>
            <a:endParaRPr lang="en-US" sz="1400" dirty="0"/>
          </a:p>
        </p:txBody>
      </p:sp>
      <p:pic>
        <p:nvPicPr>
          <p:cNvPr id="10" name="Image 3" descr="arrow-right">    </p:cNvPr>
          <p:cNvPicPr>
            <a:picLocks noChangeAspect="1"/>
          </p:cNvPicPr>
          <p:nvPr/>
        </p:nvPicPr>
        <p:blipFill>
          <a:blip r:embed="rId4"/>
          <a:srcRect l="0" r="0" t="0" b="0"/>
          <a:stretch/>
        </p:blipFill>
        <p:spPr>
          <a:xfrm>
            <a:off x="6032500" y="1913731"/>
            <a:ext cx="355600" cy="215900"/>
          </a:xfrm>
          <a:prstGeom prst="rect">
            <a:avLst/>
          </a:prstGeom>
        </p:spPr>
      </p:pic>
      <p:sp>
        <p:nvSpPr>
          <p:cNvPr id="11" name="Text 5"/>
          <p:cNvSpPr/>
          <p:nvPr/>
        </p:nvSpPr>
        <p:spPr>
          <a:xfrm>
            <a:off x="6477000" y="1808361"/>
            <a:ext cx="1460500" cy="426641"/>
          </a:xfrm>
          <a:custGeom>
            <a:avLst/>
            <a:gdLst/>
            <a:ahLst/>
            <a:cxnLst/>
            <a:rect l="l" t="t" r="r" b="b"/>
            <a:pathLst>
              <a:path w="1460500" h="426641">
                <a:moveTo>
                  <a:pt x="76200" y="0"/>
                </a:moveTo>
                <a:lnTo>
                  <a:pt x="1384300" y="0"/>
                </a:lnTo>
                <a:arcTo hR="76200" wR="76200" stAng="16200000" swAng="5400000"/>
                <a:lnTo>
                  <a:pt x="1460500" y="350441"/>
                </a:lnTo>
                <a:arcTo hR="76200" wR="76200" stAng="0" swAng="5400000"/>
                <a:lnTo>
                  <a:pt x="76200" y="426641"/>
                </a:lnTo>
                <a:arcTo hR="76200" wR="76200" stAng="5400000" swAng="5400000"/>
                <a:lnTo>
                  <a:pt x="0" y="76200"/>
                </a:lnTo>
                <a:arcTo hR="76200" wR="76200" stAng="10800000" swAng="5400000"/>
                <a:close/>
              </a:path>
            </a:pathLst>
          </a:custGeom>
          <a:solidFill>
            <a:srgbClr val="E3EFF5"/>
          </a:solidFill>
          <a:ln/>
        </p:spPr>
        <p:txBody>
          <a:bodyPr wrap="square" lIns="0" tIns="88900" rIns="0" bIns="63500" rtlCol="0" anchor="t">
            <a:normAutofit/>
          </a:bodyPr>
          <a:lstStyle/>
          <a:p>
            <a:pPr algn="ctr" indent="0" marL="0">
              <a:lnSpc>
                <a:spcPts val="1960"/>
              </a:lnSpc>
              <a:buNone/>
            </a:pPr>
            <a:r>
              <a:rPr lang="en-US" sz="1400" b="1" dirty="0">
                <a:solidFill>
                  <a:srgbClr val="0C2A3E"/>
                </a:solidFill>
                <a:latin typeface="IBM Plex Sans" pitchFamily="34" charset="0"/>
                <a:ea typeface="IBM Plex Sans" pitchFamily="34" charset="-122"/>
                <a:cs typeface="IBM Plex Sans" pitchFamily="34" charset="-120"/>
              </a:rPr>
              <a:t>Capa 2</a:t>
            </a:r>
            <a:endParaRPr lang="en-US" sz="1400" dirty="0"/>
          </a:p>
        </p:txBody>
      </p:sp>
      <p:pic>
        <p:nvPicPr>
          <p:cNvPr id="12" name="Image 4" descr="arrow-right">    </p:cNvPr>
          <p:cNvPicPr>
            <a:picLocks noChangeAspect="1"/>
          </p:cNvPicPr>
          <p:nvPr/>
        </p:nvPicPr>
        <p:blipFill>
          <a:blip r:embed="rId5"/>
          <a:srcRect l="0" r="0" t="0" b="0"/>
          <a:stretch/>
        </p:blipFill>
        <p:spPr>
          <a:xfrm>
            <a:off x="8026400" y="1913731"/>
            <a:ext cx="355600" cy="215900"/>
          </a:xfrm>
          <a:prstGeom prst="rect">
            <a:avLst/>
          </a:prstGeom>
        </p:spPr>
      </p:pic>
      <p:sp>
        <p:nvSpPr>
          <p:cNvPr id="13" name="Text 6"/>
          <p:cNvSpPr/>
          <p:nvPr/>
        </p:nvSpPr>
        <p:spPr>
          <a:xfrm>
            <a:off x="8470900" y="1808361"/>
            <a:ext cx="1270000" cy="426641"/>
          </a:xfrm>
          <a:custGeom>
            <a:avLst/>
            <a:gdLst/>
            <a:ahLst/>
            <a:cxnLst/>
            <a:rect l="l" t="t" r="r" b="b"/>
            <a:pathLst>
              <a:path w="1270000" h="426641">
                <a:moveTo>
                  <a:pt x="76200" y="0"/>
                </a:moveTo>
                <a:lnTo>
                  <a:pt x="1193800" y="0"/>
                </a:lnTo>
                <a:arcTo hR="76200" wR="76200" stAng="16200000" swAng="5400000"/>
                <a:lnTo>
                  <a:pt x="1270000" y="350441"/>
                </a:lnTo>
                <a:arcTo hR="76200" wR="76200" stAng="0" swAng="5400000"/>
                <a:lnTo>
                  <a:pt x="76200" y="426641"/>
                </a:lnTo>
                <a:arcTo hR="76200" wR="76200" stAng="5400000" swAng="5400000"/>
                <a:lnTo>
                  <a:pt x="0" y="76200"/>
                </a:lnTo>
                <a:arcTo hR="76200" wR="76200" stAng="10800000" swAng="5400000"/>
                <a:close/>
              </a:path>
            </a:pathLst>
          </a:custGeom>
          <a:solidFill>
            <a:srgbClr val="E3EFF5"/>
          </a:solidFill>
          <a:ln/>
        </p:spPr>
        <p:txBody>
          <a:bodyPr wrap="square" lIns="0" tIns="88900" rIns="0" bIns="63500" rtlCol="0" anchor="t">
            <a:normAutofit/>
          </a:bodyPr>
          <a:lstStyle/>
          <a:p>
            <a:pPr algn="ctr" indent="0" marL="0">
              <a:lnSpc>
                <a:spcPts val="1960"/>
              </a:lnSpc>
              <a:buNone/>
            </a:pPr>
            <a:r>
              <a:rPr lang="en-US" sz="1400" b="1" dirty="0">
                <a:solidFill>
                  <a:srgbClr val="0C2A3E"/>
                </a:solidFill>
                <a:latin typeface="IBM Plex Sans" pitchFamily="34" charset="0"/>
                <a:ea typeface="IBM Plex Sans" pitchFamily="34" charset="-122"/>
                <a:cs typeface="IBM Plex Sans" pitchFamily="34" charset="-120"/>
              </a:rPr>
              <a:t>Salida</a:t>
            </a:r>
            <a:endParaRPr lang="en-US" sz="1400" dirty="0"/>
          </a:p>
        </p:txBody>
      </p:sp>
      <p:sp>
        <p:nvSpPr>
          <p:cNvPr id="14" name="Text 7"/>
          <p:cNvSpPr/>
          <p:nvPr/>
        </p:nvSpPr>
        <p:spPr>
          <a:xfrm>
            <a:off x="812800" y="2311202"/>
            <a:ext cx="1638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480F"/>
                </a:solidFill>
                <a:latin typeface="IBM Plex Sans" pitchFamily="34" charset="0"/>
                <a:ea typeface="IBM Plex Sans" pitchFamily="34" charset="-122"/>
                <a:cs typeface="IBM Plex Sans" pitchFamily="34" charset="-120"/>
              </a:rPr>
              <a:t>El error se reparte hacia atrás</a:t>
            </a:r>
            <a:endParaRPr lang="en-US" sz="1200" dirty="0"/>
          </a:p>
        </p:txBody>
      </p:sp>
      <p:pic>
        <p:nvPicPr>
          <p:cNvPr id="15" name="Image 5" descr="arrow-left">    </p:cNvPr>
          <p:cNvPicPr>
            <a:picLocks noChangeAspect="1"/>
          </p:cNvPicPr>
          <p:nvPr/>
        </p:nvPicPr>
        <p:blipFill>
          <a:blip r:embed="rId6"/>
          <a:srcRect l="0" r="0" t="0" b="0"/>
          <a:stretch/>
        </p:blipFill>
        <p:spPr>
          <a:xfrm>
            <a:off x="4038600" y="2416572"/>
            <a:ext cx="355600" cy="215900"/>
          </a:xfrm>
          <a:prstGeom prst="rect">
            <a:avLst/>
          </a:prstGeom>
        </p:spPr>
      </p:pic>
      <p:pic>
        <p:nvPicPr>
          <p:cNvPr id="16" name="Image 6" descr="arrow-left">    </p:cNvPr>
          <p:cNvPicPr>
            <a:picLocks noChangeAspect="1"/>
          </p:cNvPicPr>
          <p:nvPr/>
        </p:nvPicPr>
        <p:blipFill>
          <a:blip r:embed="rId7"/>
          <a:srcRect l="0" r="0" t="0" b="0"/>
          <a:stretch/>
        </p:blipFill>
        <p:spPr>
          <a:xfrm>
            <a:off x="6032500" y="2416572"/>
            <a:ext cx="355600" cy="215900"/>
          </a:xfrm>
          <a:prstGeom prst="rect">
            <a:avLst/>
          </a:prstGeom>
        </p:spPr>
      </p:pic>
      <p:pic>
        <p:nvPicPr>
          <p:cNvPr id="17" name="Image 7" descr="arrow-left">    </p:cNvPr>
          <p:cNvPicPr>
            <a:picLocks noChangeAspect="1"/>
          </p:cNvPicPr>
          <p:nvPr/>
        </p:nvPicPr>
        <p:blipFill>
          <a:blip r:embed="rId8"/>
          <a:srcRect l="0" r="0" t="0" b="0"/>
          <a:stretch/>
        </p:blipFill>
        <p:spPr>
          <a:xfrm>
            <a:off x="8026400" y="2416572"/>
            <a:ext cx="355600" cy="215900"/>
          </a:xfrm>
          <a:prstGeom prst="rect">
            <a:avLst/>
          </a:prstGeom>
        </p:spPr>
      </p:pic>
      <p:sp>
        <p:nvSpPr>
          <p:cNvPr id="18" name="Text 8"/>
          <p:cNvSpPr/>
          <p:nvPr/>
        </p:nvSpPr>
        <p:spPr>
          <a:xfrm>
            <a:off x="8470900" y="2332732"/>
            <a:ext cx="1270000" cy="383480"/>
          </a:xfrm>
          <a:custGeom>
            <a:avLst/>
            <a:gdLst/>
            <a:ahLst/>
            <a:cxnLst/>
            <a:rect l="l" t="t" r="r" b="b"/>
            <a:pathLst>
              <a:path w="1270000" h="383480">
                <a:moveTo>
                  <a:pt x="76200" y="0"/>
                </a:moveTo>
                <a:lnTo>
                  <a:pt x="1193800" y="0"/>
                </a:lnTo>
                <a:arcTo hR="76200" wR="76200" stAng="16200000" swAng="5400000"/>
                <a:lnTo>
                  <a:pt x="1270000" y="307280"/>
                </a:lnTo>
                <a:arcTo hR="76200" wR="76200" stAng="0" swAng="5400000"/>
                <a:lnTo>
                  <a:pt x="76200" y="383480"/>
                </a:lnTo>
                <a:arcTo hR="76200" wR="76200" stAng="5400000" swAng="5400000"/>
                <a:lnTo>
                  <a:pt x="0" y="76200"/>
                </a:lnTo>
                <a:arcTo hR="76200" wR="76200" stAng="10800000" swAng="5400000"/>
                <a:close/>
              </a:path>
            </a:pathLst>
          </a:custGeom>
          <a:solidFill>
            <a:srgbClr val="F4A259"/>
          </a:solidFill>
          <a:ln/>
        </p:spPr>
        <p:txBody>
          <a:bodyPr wrap="square" lIns="0" tIns="76200" rIns="0" bIns="50800" rtlCol="0" anchor="t">
            <a:normAutofit/>
          </a:bodyPr>
          <a:lstStyle/>
          <a:p>
            <a:pPr algn="ctr" indent="0" marL="0">
              <a:lnSpc>
                <a:spcPts val="1820"/>
              </a:lnSpc>
              <a:buNone/>
            </a:pPr>
            <a:r>
              <a:rPr lang="en-US" sz="1300" b="1" dirty="0">
                <a:solidFill>
                  <a:srgbClr val="2A1406"/>
                </a:solidFill>
                <a:latin typeface="IBM Plex Sans" pitchFamily="34" charset="0"/>
                <a:ea typeface="IBM Plex Sans" pitchFamily="34" charset="-122"/>
                <a:cs typeface="IBM Plex Sans" pitchFamily="34" charset="-120"/>
              </a:rPr>
              <a:t>Error</a:t>
            </a:r>
            <a:endParaRPr lang="en-US" sz="1300" dirty="0"/>
          </a:p>
        </p:txBody>
      </p:sp>
      <p:sp>
        <p:nvSpPr>
          <p:cNvPr id="19" name="Shape 9"/>
          <p:cNvSpPr/>
          <p:nvPr/>
        </p:nvSpPr>
        <p:spPr>
          <a:xfrm>
            <a:off x="819150" y="2947392"/>
            <a:ext cx="5194300" cy="1549400"/>
          </a:xfrm>
          <a:prstGeom prst="roundRect">
            <a:avLst>
              <a:gd name="adj" fmla="val 7787"/>
            </a:avLst>
          </a:prstGeom>
          <a:solidFill>
            <a:srgbClr val="FCFDFD"/>
          </a:solidFill>
          <a:ln w="12700">
            <a:solidFill>
              <a:srgbClr val="D5E3EA"/>
            </a:solidFill>
            <a:prstDash val="solid"/>
          </a:ln>
        </p:spPr>
      </p:sp>
      <p:sp>
        <p:nvSpPr>
          <p:cNvPr id="20" name="Text 10"/>
          <p:cNvSpPr/>
          <p:nvPr/>
        </p:nvSpPr>
        <p:spPr>
          <a:xfrm>
            <a:off x="977900" y="3106142"/>
            <a:ext cx="502310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Cadena de montaje</a:t>
            </a:r>
            <a:endParaRPr lang="en-US" sz="1500" dirty="0"/>
          </a:p>
        </p:txBody>
      </p:sp>
      <p:sp>
        <p:nvSpPr>
          <p:cNvPr id="21" name="Text 11"/>
          <p:cNvSpPr/>
          <p:nvPr/>
        </p:nvSpPr>
        <p:spPr>
          <a:xfrm>
            <a:off x="977900" y="3385542"/>
            <a:ext cx="502310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Sale un producto defectuoso. Caminando hacia atrás se pregunta a cada estación cuánto contribuyó, y cada una corrige lo suyo, un poco.</a:t>
            </a:r>
            <a:endParaRPr lang="en-US" sz="1300" dirty="0"/>
          </a:p>
        </p:txBody>
      </p:sp>
      <p:sp>
        <p:nvSpPr>
          <p:cNvPr id="22" name="Shape 12"/>
          <p:cNvSpPr/>
          <p:nvPr/>
        </p:nvSpPr>
        <p:spPr>
          <a:xfrm>
            <a:off x="6178550" y="2947392"/>
            <a:ext cx="5194300" cy="1549400"/>
          </a:xfrm>
          <a:prstGeom prst="roundRect">
            <a:avLst>
              <a:gd name="adj" fmla="val 7787"/>
            </a:avLst>
          </a:prstGeom>
          <a:solidFill>
            <a:srgbClr val="FCFDFD"/>
          </a:solidFill>
          <a:ln w="12700">
            <a:solidFill>
              <a:srgbClr val="D5E3EA"/>
            </a:solidFill>
            <a:prstDash val="solid"/>
          </a:ln>
        </p:spPr>
      </p:sp>
      <p:sp>
        <p:nvSpPr>
          <p:cNvPr id="23" name="Text 13"/>
          <p:cNvSpPr/>
          <p:nvPr/>
        </p:nvSpPr>
        <p:spPr>
          <a:xfrm>
            <a:off x="6337300" y="3106142"/>
            <a:ext cx="502310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Batalla naval</a:t>
            </a:r>
            <a:endParaRPr lang="en-US" sz="1500" dirty="0"/>
          </a:p>
        </p:txBody>
      </p:sp>
      <p:sp>
        <p:nvSpPr>
          <p:cNvPr id="24" name="Text 14"/>
          <p:cNvSpPr/>
          <p:nvPr/>
        </p:nvSpPr>
        <p:spPr>
          <a:xfrm>
            <a:off x="6337300" y="3515122"/>
            <a:ext cx="3911219"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Al principio se dispara casi al azar. Las piezas blancas, los tiros fallados, ayudan a ver de dónde viene el error.</a:t>
            </a:r>
            <a:endParaRPr lang="en-US" sz="1300" dirty="0"/>
          </a:p>
        </p:txBody>
      </p:sp>
      <p:pic>
        <p:nvPicPr>
          <p:cNvPr id="25" name="Image 8" descr="Tablero de Batalla naval con tiros fallados en blanco y aciertos en rojo">    </p:cNvPr>
          <p:cNvPicPr>
            <a:picLocks noChangeAspect="1"/>
          </p:cNvPicPr>
          <p:nvPr/>
        </p:nvPicPr>
        <p:blipFill>
          <a:blip r:embed="rId9"/>
          <a:srcRect l="0" r="0" t="0" b="0"/>
          <a:stretch/>
        </p:blipFill>
        <p:spPr>
          <a:xfrm>
            <a:off x="10261600" y="3385542"/>
            <a:ext cx="952500" cy="952500"/>
          </a:xfrm>
          <a:prstGeom prst="rect">
            <a:avLst/>
          </a:prstGeom>
        </p:spPr>
      </p:pic>
      <p:sp>
        <p:nvSpPr>
          <p:cNvPr id="26" name="Shape 15"/>
          <p:cNvSpPr/>
          <p:nvPr/>
        </p:nvSpPr>
        <p:spPr>
          <a:xfrm>
            <a:off x="812800" y="4706342"/>
            <a:ext cx="10566400" cy="725091"/>
          </a:xfrm>
          <a:prstGeom prst="roundRect">
            <a:avLst>
              <a:gd name="adj" fmla="val 17515"/>
            </a:avLst>
          </a:prstGeom>
          <a:solidFill>
            <a:srgbClr val="0B1F2E"/>
          </a:solidFill>
          <a:ln/>
        </p:spPr>
      </p:sp>
      <p:pic>
        <p:nvPicPr>
          <p:cNvPr id="27" name="Image 9" descr="Lightning">    </p:cNvPr>
          <p:cNvPicPr>
            <a:picLocks noChangeAspect="1"/>
          </p:cNvPicPr>
          <p:nvPr/>
        </p:nvPicPr>
        <p:blipFill>
          <a:blip r:embed="rId10"/>
          <a:srcRect l="-491" r="-491" t="0" b="0"/>
          <a:stretch/>
        </p:blipFill>
        <p:spPr>
          <a:xfrm>
            <a:off x="1028700" y="4929188"/>
            <a:ext cx="224433" cy="279400"/>
          </a:xfrm>
          <a:prstGeom prst="rect">
            <a:avLst/>
          </a:prstGeom>
        </p:spPr>
      </p:pic>
      <p:sp>
        <p:nvSpPr>
          <p:cNvPr id="28" name="Text 16"/>
          <p:cNvSpPr/>
          <p:nvPr/>
        </p:nvSpPr>
        <p:spPr>
          <a:xfrm>
            <a:off x="1380133" y="4846042"/>
            <a:ext cx="1007666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1F6F8"/>
                </a:solidFill>
                <a:latin typeface="IBM Plex Sans" pitchFamily="34" charset="0"/>
                <a:ea typeface="IBM Plex Sans" pitchFamily="34" charset="-122"/>
                <a:cs typeface="IBM Plex Sans" pitchFamily="34" charset="-120"/>
              </a:rPr>
              <a:t>Un ciclo: entra la imagen, se predice, se calcula la pérdida, la retropropagación reparte el error y el descenso del gradiente mueve cada peso. Y se pasa a la siguiente.</a:t>
            </a:r>
            <a:endParaRPr lang="en-US" sz="1300" dirty="0"/>
          </a:p>
        </p:txBody>
      </p:sp>
      <p:sp>
        <p:nvSpPr>
          <p:cNvPr id="29"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3</a:t>
            </a:r>
            <a:endParaRPr lang="en-US" sz="1200" dirty="0"/>
          </a:p>
        </p:txBody>
      </p:sp>
      <p:sp>
        <p:nvSpPr>
          <p:cNvPr id="3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VIDEO 3</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Lotes, iteraciones y épocas</a:t>
            </a:r>
            <a:endParaRPr lang="en-US" sz="3600" dirty="0"/>
          </a:p>
        </p:txBody>
      </p:sp>
      <p:sp>
        <p:nvSpPr>
          <p:cNvPr id="6" name="Shape 2"/>
          <p:cNvSpPr/>
          <p:nvPr/>
        </p:nvSpPr>
        <p:spPr>
          <a:xfrm>
            <a:off x="819150" y="1814711"/>
            <a:ext cx="3218061" cy="1120080"/>
          </a:xfrm>
          <a:prstGeom prst="roundRect">
            <a:avLst>
              <a:gd name="adj" fmla="val 10772"/>
            </a:avLst>
          </a:prstGeom>
          <a:solidFill>
            <a:srgbClr val="12304A"/>
          </a:solidFill>
          <a:ln w="12700">
            <a:solidFill>
              <a:srgbClr val="24506E"/>
            </a:solidFill>
            <a:prstDash val="solid"/>
          </a:ln>
        </p:spPr>
      </p:sp>
      <p:sp>
        <p:nvSpPr>
          <p:cNvPr id="7" name="Text 3"/>
          <p:cNvSpPr/>
          <p:nvPr/>
        </p:nvSpPr>
        <p:spPr>
          <a:xfrm>
            <a:off x="990600" y="1986161"/>
            <a:ext cx="2961416"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4A259"/>
                </a:solidFill>
                <a:latin typeface="EB Garamond" pitchFamily="18" charset="0"/>
                <a:ea typeface="EB Garamond" pitchFamily="18" charset="-122"/>
                <a:cs typeface="EB Garamond" pitchFamily="18" charset="-120"/>
              </a:rPr>
              <a:t>100</a:t>
            </a:r>
            <a:endParaRPr lang="en-US" sz="4000" dirty="0"/>
          </a:p>
        </p:txBody>
      </p:sp>
      <p:sp>
        <p:nvSpPr>
          <p:cNvPr id="8" name="Text 4"/>
          <p:cNvSpPr/>
          <p:nvPr/>
        </p:nvSpPr>
        <p:spPr>
          <a:xfrm>
            <a:off x="990600" y="2532261"/>
            <a:ext cx="296141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imágenes de entrenamiento</a:t>
            </a:r>
            <a:endParaRPr lang="en-US" sz="1300" dirty="0"/>
          </a:p>
        </p:txBody>
      </p:sp>
      <p:sp>
        <p:nvSpPr>
          <p:cNvPr id="9" name="Text 5"/>
          <p:cNvSpPr/>
          <p:nvPr/>
        </p:nvSpPr>
        <p:spPr>
          <a:xfrm>
            <a:off x="4170561" y="2161381"/>
            <a:ext cx="233759"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6CCFF6"/>
                </a:solidFill>
                <a:latin typeface="IBM Plex Sans" pitchFamily="34" charset="0"/>
                <a:ea typeface="IBM Plex Sans" pitchFamily="34" charset="-122"/>
                <a:cs typeface="IBM Plex Sans" pitchFamily="34" charset="-120"/>
              </a:rPr>
              <a:t>÷</a:t>
            </a:r>
            <a:endParaRPr lang="en-US" sz="2400" dirty="0"/>
          </a:p>
        </p:txBody>
      </p:sp>
      <p:sp>
        <p:nvSpPr>
          <p:cNvPr id="10" name="Shape 6"/>
          <p:cNvSpPr/>
          <p:nvPr/>
        </p:nvSpPr>
        <p:spPr>
          <a:xfrm>
            <a:off x="4486870" y="1814711"/>
            <a:ext cx="3218160" cy="1120080"/>
          </a:xfrm>
          <a:prstGeom prst="roundRect">
            <a:avLst>
              <a:gd name="adj" fmla="val 10772"/>
            </a:avLst>
          </a:prstGeom>
          <a:solidFill>
            <a:srgbClr val="12304A"/>
          </a:solidFill>
          <a:ln w="12700">
            <a:solidFill>
              <a:srgbClr val="24506E"/>
            </a:solidFill>
            <a:prstDash val="solid"/>
          </a:ln>
        </p:spPr>
      </p:sp>
      <p:sp>
        <p:nvSpPr>
          <p:cNvPr id="11" name="Text 7"/>
          <p:cNvSpPr/>
          <p:nvPr/>
        </p:nvSpPr>
        <p:spPr>
          <a:xfrm>
            <a:off x="4658320" y="1986161"/>
            <a:ext cx="296151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4A259"/>
                </a:solidFill>
                <a:latin typeface="EB Garamond" pitchFamily="18" charset="0"/>
                <a:ea typeface="EB Garamond" pitchFamily="18" charset="-122"/>
                <a:cs typeface="EB Garamond" pitchFamily="18" charset="-120"/>
              </a:rPr>
              <a:t>4</a:t>
            </a:r>
            <a:endParaRPr lang="en-US" sz="4000" dirty="0"/>
          </a:p>
        </p:txBody>
      </p:sp>
      <p:sp>
        <p:nvSpPr>
          <p:cNvPr id="12" name="Text 8"/>
          <p:cNvSpPr/>
          <p:nvPr/>
        </p:nvSpPr>
        <p:spPr>
          <a:xfrm>
            <a:off x="4658320" y="2532261"/>
            <a:ext cx="29615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imágenes por lote</a:t>
            </a:r>
            <a:endParaRPr lang="en-US" sz="1300" dirty="0"/>
          </a:p>
        </p:txBody>
      </p:sp>
      <p:sp>
        <p:nvSpPr>
          <p:cNvPr id="13" name="Text 9"/>
          <p:cNvSpPr/>
          <p:nvPr/>
        </p:nvSpPr>
        <p:spPr>
          <a:xfrm>
            <a:off x="7838380" y="2161381"/>
            <a:ext cx="233759"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6CCFF6"/>
                </a:solidFill>
                <a:latin typeface="IBM Plex Sans" pitchFamily="34" charset="0"/>
                <a:ea typeface="IBM Plex Sans" pitchFamily="34" charset="-122"/>
                <a:cs typeface="IBM Plex Sans" pitchFamily="34" charset="-120"/>
              </a:rPr>
              <a:t>=</a:t>
            </a:r>
            <a:endParaRPr lang="en-US" sz="2400" dirty="0"/>
          </a:p>
        </p:txBody>
      </p:sp>
      <p:sp>
        <p:nvSpPr>
          <p:cNvPr id="14" name="Shape 10"/>
          <p:cNvSpPr/>
          <p:nvPr/>
        </p:nvSpPr>
        <p:spPr>
          <a:xfrm>
            <a:off x="8154690" y="1814711"/>
            <a:ext cx="3218160" cy="1120080"/>
          </a:xfrm>
          <a:prstGeom prst="roundRect">
            <a:avLst>
              <a:gd name="adj" fmla="val 10772"/>
            </a:avLst>
          </a:prstGeom>
          <a:solidFill>
            <a:srgbClr val="12304A"/>
          </a:solidFill>
          <a:ln w="12700">
            <a:solidFill>
              <a:srgbClr val="24506E"/>
            </a:solidFill>
            <a:prstDash val="solid"/>
          </a:ln>
        </p:spPr>
      </p:sp>
      <p:sp>
        <p:nvSpPr>
          <p:cNvPr id="15" name="Text 11"/>
          <p:cNvSpPr/>
          <p:nvPr/>
        </p:nvSpPr>
        <p:spPr>
          <a:xfrm>
            <a:off x="8326140" y="1986161"/>
            <a:ext cx="296151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4A259"/>
                </a:solidFill>
                <a:latin typeface="EB Garamond" pitchFamily="18" charset="0"/>
                <a:ea typeface="EB Garamond" pitchFamily="18" charset="-122"/>
                <a:cs typeface="EB Garamond" pitchFamily="18" charset="-120"/>
              </a:rPr>
              <a:t>25</a:t>
            </a:r>
            <a:endParaRPr lang="en-US" sz="4000" dirty="0"/>
          </a:p>
        </p:txBody>
      </p:sp>
      <p:sp>
        <p:nvSpPr>
          <p:cNvPr id="16" name="Text 12"/>
          <p:cNvSpPr/>
          <p:nvPr/>
        </p:nvSpPr>
        <p:spPr>
          <a:xfrm>
            <a:off x="8326140" y="2532261"/>
            <a:ext cx="29615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lotes, es decir, 25 iteraciones</a:t>
            </a:r>
            <a:endParaRPr lang="en-US" sz="1300" dirty="0"/>
          </a:p>
        </p:txBody>
      </p:sp>
      <p:sp>
        <p:nvSpPr>
          <p:cNvPr id="17" name="Shape 13"/>
          <p:cNvSpPr/>
          <p:nvPr/>
        </p:nvSpPr>
        <p:spPr>
          <a:xfrm>
            <a:off x="819150" y="3150691"/>
            <a:ext cx="8115300" cy="474960"/>
          </a:xfrm>
          <a:prstGeom prst="roundRect">
            <a:avLst>
              <a:gd name="adj" fmla="val 25402"/>
            </a:avLst>
          </a:prstGeom>
          <a:solidFill>
            <a:srgbClr val="12304A"/>
          </a:solidFill>
          <a:ln w="12700">
            <a:solidFill>
              <a:srgbClr val="24506E"/>
            </a:solidFill>
            <a:prstDash val="solid"/>
          </a:ln>
        </p:spPr>
      </p:sp>
      <p:sp>
        <p:nvSpPr>
          <p:cNvPr id="18" name="Text 14"/>
          <p:cNvSpPr/>
          <p:nvPr/>
        </p:nvSpPr>
        <p:spPr>
          <a:xfrm>
            <a:off x="990600" y="3258641"/>
            <a:ext cx="11938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A259"/>
                </a:solidFill>
                <a:latin typeface="IBM Plex Sans" pitchFamily="34" charset="0"/>
                <a:ea typeface="IBM Plex Sans" pitchFamily="34" charset="-122"/>
                <a:cs typeface="IBM Plex Sans" pitchFamily="34" charset="-120"/>
              </a:rPr>
              <a:t>Lote</a:t>
            </a:r>
            <a:endParaRPr lang="en-US" sz="1700" dirty="0"/>
          </a:p>
        </p:txBody>
      </p:sp>
      <p:sp>
        <p:nvSpPr>
          <p:cNvPr id="19" name="Text 15"/>
          <p:cNvSpPr/>
          <p:nvPr/>
        </p:nvSpPr>
        <p:spPr>
          <a:xfrm>
            <a:off x="2286000" y="3276699"/>
            <a:ext cx="543710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Un grupo pequeño de imágenes con el que se calcula el error.</a:t>
            </a:r>
            <a:endParaRPr lang="en-US" sz="1300" dirty="0"/>
          </a:p>
        </p:txBody>
      </p:sp>
      <p:sp>
        <p:nvSpPr>
          <p:cNvPr id="20" name="Shape 16"/>
          <p:cNvSpPr/>
          <p:nvPr/>
        </p:nvSpPr>
        <p:spPr>
          <a:xfrm>
            <a:off x="819150" y="3727252"/>
            <a:ext cx="8115300" cy="474960"/>
          </a:xfrm>
          <a:prstGeom prst="roundRect">
            <a:avLst>
              <a:gd name="adj" fmla="val 25402"/>
            </a:avLst>
          </a:prstGeom>
          <a:solidFill>
            <a:srgbClr val="12304A"/>
          </a:solidFill>
          <a:ln w="12700">
            <a:solidFill>
              <a:srgbClr val="24506E"/>
            </a:solidFill>
            <a:prstDash val="solid"/>
          </a:ln>
        </p:spPr>
      </p:sp>
      <p:sp>
        <p:nvSpPr>
          <p:cNvPr id="21" name="Text 17"/>
          <p:cNvSpPr/>
          <p:nvPr/>
        </p:nvSpPr>
        <p:spPr>
          <a:xfrm>
            <a:off x="990600" y="3835202"/>
            <a:ext cx="11938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A259"/>
                </a:solidFill>
                <a:latin typeface="IBM Plex Sans" pitchFamily="34" charset="0"/>
                <a:ea typeface="IBM Plex Sans" pitchFamily="34" charset="-122"/>
                <a:cs typeface="IBM Plex Sans" pitchFamily="34" charset="-120"/>
              </a:rPr>
              <a:t>Iteración</a:t>
            </a:r>
            <a:endParaRPr lang="en-US" sz="1700" dirty="0"/>
          </a:p>
        </p:txBody>
      </p:sp>
      <p:sp>
        <p:nvSpPr>
          <p:cNvPr id="22" name="Text 18"/>
          <p:cNvSpPr/>
          <p:nvPr/>
        </p:nvSpPr>
        <p:spPr>
          <a:xfrm>
            <a:off x="2286000" y="3853259"/>
            <a:ext cx="371070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Un ajuste de los pesos, hecho con un lote.</a:t>
            </a:r>
            <a:endParaRPr lang="en-US" sz="1300" dirty="0"/>
          </a:p>
        </p:txBody>
      </p:sp>
      <p:sp>
        <p:nvSpPr>
          <p:cNvPr id="23" name="Shape 19"/>
          <p:cNvSpPr/>
          <p:nvPr/>
        </p:nvSpPr>
        <p:spPr>
          <a:xfrm>
            <a:off x="819150" y="4303812"/>
            <a:ext cx="8115300" cy="474960"/>
          </a:xfrm>
          <a:prstGeom prst="roundRect">
            <a:avLst>
              <a:gd name="adj" fmla="val 25402"/>
            </a:avLst>
          </a:prstGeom>
          <a:solidFill>
            <a:srgbClr val="12304A"/>
          </a:solidFill>
          <a:ln w="12700">
            <a:solidFill>
              <a:srgbClr val="24506E"/>
            </a:solidFill>
            <a:prstDash val="solid"/>
          </a:ln>
        </p:spPr>
      </p:sp>
      <p:sp>
        <p:nvSpPr>
          <p:cNvPr id="24" name="Text 20"/>
          <p:cNvSpPr/>
          <p:nvPr/>
        </p:nvSpPr>
        <p:spPr>
          <a:xfrm>
            <a:off x="990600" y="4411762"/>
            <a:ext cx="11938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A259"/>
                </a:solidFill>
                <a:latin typeface="IBM Plex Sans" pitchFamily="34" charset="0"/>
                <a:ea typeface="IBM Plex Sans" pitchFamily="34" charset="-122"/>
                <a:cs typeface="IBM Plex Sans" pitchFamily="34" charset="-120"/>
              </a:rPr>
              <a:t>Época</a:t>
            </a:r>
            <a:endParaRPr lang="en-US" sz="1700" dirty="0"/>
          </a:p>
        </p:txBody>
      </p:sp>
      <p:sp>
        <p:nvSpPr>
          <p:cNvPr id="25" name="Text 21"/>
          <p:cNvSpPr/>
          <p:nvPr/>
        </p:nvSpPr>
        <p:spPr>
          <a:xfrm>
            <a:off x="2286000" y="4429820"/>
            <a:ext cx="573012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Una pasada completa por todas las imágenes. Se hacen muchas.</a:t>
            </a:r>
            <a:endParaRPr lang="en-US" sz="1300" dirty="0"/>
          </a:p>
        </p:txBody>
      </p:sp>
      <p:pic>
        <p:nvPicPr>
          <p:cNvPr id="26" name="Image 2" descr="Cuatro lotes de cuatro imágenes y una flecha que da la vuelta para recorrerlos otra vez">    </p:cNvPr>
          <p:cNvPicPr>
            <a:picLocks noChangeAspect="1"/>
          </p:cNvPicPr>
          <p:nvPr/>
        </p:nvPicPr>
        <p:blipFill>
          <a:blip r:embed="rId3"/>
          <a:srcRect l="103" r="103" t="0" b="0"/>
          <a:stretch/>
        </p:blipFill>
        <p:spPr>
          <a:xfrm>
            <a:off x="9093200" y="3196332"/>
            <a:ext cx="2286000" cy="1536700"/>
          </a:xfrm>
          <a:prstGeom prst="roundRect">
            <a:avLst>
              <a:gd name="adj" fmla="val 5785"/>
            </a:avLst>
          </a:prstGeom>
        </p:spPr>
      </p:pic>
      <p:sp>
        <p:nvSpPr>
          <p:cNvPr id="27" name="Shape 22"/>
          <p:cNvSpPr/>
          <p:nvPr/>
        </p:nvSpPr>
        <p:spPr>
          <a:xfrm>
            <a:off x="819150" y="4994672"/>
            <a:ext cx="10553700" cy="763191"/>
          </a:xfrm>
          <a:prstGeom prst="roundRect">
            <a:avLst>
              <a:gd name="adj" fmla="val 15809"/>
            </a:avLst>
          </a:prstGeom>
          <a:solidFill>
            <a:srgbClr val="12304A"/>
          </a:solidFill>
          <a:ln w="12700">
            <a:solidFill>
              <a:srgbClr val="24506E"/>
            </a:solidFill>
            <a:prstDash val="solid"/>
          </a:ln>
        </p:spPr>
      </p:sp>
      <p:pic>
        <p:nvPicPr>
          <p:cNvPr id="28" name="Image 3" descr="Warning">    </p:cNvPr>
          <p:cNvPicPr>
            <a:picLocks noChangeAspect="1"/>
          </p:cNvPicPr>
          <p:nvPr/>
        </p:nvPicPr>
        <p:blipFill>
          <a:blip r:embed="rId4"/>
          <a:srcRect l="-321" r="-321" t="0" b="0"/>
          <a:stretch/>
        </p:blipFill>
        <p:spPr>
          <a:xfrm>
            <a:off x="1041400" y="5236567"/>
            <a:ext cx="249237" cy="279400"/>
          </a:xfrm>
          <a:prstGeom prst="rect">
            <a:avLst/>
          </a:prstGeom>
        </p:spPr>
      </p:pic>
      <p:sp>
        <p:nvSpPr>
          <p:cNvPr id="29" name="Text 23"/>
          <p:cNvSpPr/>
          <p:nvPr/>
        </p:nvSpPr>
        <p:spPr>
          <a:xfrm>
            <a:off x="1417638" y="5153422"/>
            <a:ext cx="1002495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1F6F8"/>
                </a:solidFill>
                <a:latin typeface="IBM Plex Sans" pitchFamily="34" charset="0"/>
                <a:ea typeface="IBM Plex Sans" pitchFamily="34" charset="-122"/>
                <a:cs typeface="IBM Plex Sans" pitchFamily="34" charset="-120"/>
              </a:rPr>
              <a:t>Demasiadas épocas y la red se aprende los ejemplos de memoria. Por eso se separan imágenes que nunca usa para ajustarse; se ve en el módulo 2.</a:t>
            </a:r>
            <a:endParaRPr lang="en-US" sz="1300" dirty="0"/>
          </a:p>
        </p:txBody>
      </p:sp>
      <p:sp>
        <p:nvSpPr>
          <p:cNvPr id="30" name="Text 2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3 · Números de ejemplo</a:t>
            </a:r>
            <a:endParaRPr lang="en-US" sz="1200" dirty="0"/>
          </a:p>
        </p:txBody>
      </p:sp>
      <p:sp>
        <p:nvSpPr>
          <p:cNvPr id="31"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VIDEO 3</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Semillas y repetibilidad</a:t>
            </a:r>
            <a:endParaRPr lang="en-US" sz="3600" dirty="0"/>
          </a:p>
        </p:txBody>
      </p:sp>
      <p:sp>
        <p:nvSpPr>
          <p:cNvPr id="6" name="Shape 2"/>
          <p:cNvSpPr/>
          <p:nvPr/>
        </p:nvSpPr>
        <p:spPr>
          <a:xfrm>
            <a:off x="819150" y="1763911"/>
            <a:ext cx="6591300" cy="895350"/>
          </a:xfrm>
          <a:prstGeom prst="roundRect">
            <a:avLst>
              <a:gd name="adj" fmla="val 13475"/>
            </a:avLst>
          </a:prstGeom>
          <a:solidFill>
            <a:srgbClr val="FCFDFD"/>
          </a:solidFill>
          <a:ln w="12700">
            <a:solidFill>
              <a:srgbClr val="D5E3EA"/>
            </a:solidFill>
            <a:prstDash val="solid"/>
          </a:ln>
        </p:spPr>
      </p:sp>
      <p:sp>
        <p:nvSpPr>
          <p:cNvPr id="7" name="Text 3"/>
          <p:cNvSpPr/>
          <p:nvPr/>
        </p:nvSpPr>
        <p:spPr>
          <a:xfrm>
            <a:off x="977900" y="1871861"/>
            <a:ext cx="64620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Dónde hay azar</a:t>
            </a:r>
            <a:endParaRPr lang="en-US" sz="1500" dirty="0"/>
          </a:p>
        </p:txBody>
      </p:sp>
      <p:sp>
        <p:nvSpPr>
          <p:cNvPr id="8" name="Text 4"/>
          <p:cNvSpPr/>
          <p:nvPr/>
        </p:nvSpPr>
        <p:spPr>
          <a:xfrm>
            <a:off x="977900" y="2138561"/>
            <a:ext cx="6462014"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E5566"/>
                </a:solidFill>
                <a:latin typeface="IBM Plex Sans" pitchFamily="34" charset="0"/>
                <a:ea typeface="IBM Plex Sans" pitchFamily="34" charset="-122"/>
                <a:cs typeface="IBM Plex Sans" pitchFamily="34" charset="-120"/>
              </a:rPr>
              <a:t>En los pesos iniciales, en el orden en que se barajan las imágenes y en alterar ligeramente las imágenes en cada pasada.</a:t>
            </a:r>
            <a:endParaRPr lang="en-US" sz="1250" dirty="0"/>
          </a:p>
        </p:txBody>
      </p:sp>
      <p:sp>
        <p:nvSpPr>
          <p:cNvPr id="9" name="Shape 5"/>
          <p:cNvSpPr/>
          <p:nvPr/>
        </p:nvSpPr>
        <p:spPr>
          <a:xfrm>
            <a:off x="819150" y="2760861"/>
            <a:ext cx="6591300" cy="895350"/>
          </a:xfrm>
          <a:prstGeom prst="roundRect">
            <a:avLst>
              <a:gd name="adj" fmla="val 13475"/>
            </a:avLst>
          </a:prstGeom>
          <a:solidFill>
            <a:srgbClr val="FCFDFD"/>
          </a:solidFill>
          <a:ln w="12700">
            <a:solidFill>
              <a:srgbClr val="D5E3EA"/>
            </a:solidFill>
            <a:prstDash val="solid"/>
          </a:ln>
        </p:spPr>
      </p:sp>
      <p:sp>
        <p:nvSpPr>
          <p:cNvPr id="10" name="Text 6"/>
          <p:cNvSpPr/>
          <p:nvPr/>
        </p:nvSpPr>
        <p:spPr>
          <a:xfrm>
            <a:off x="977900" y="2868811"/>
            <a:ext cx="64620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La semilla</a:t>
            </a:r>
            <a:endParaRPr lang="en-US" sz="1500" dirty="0"/>
          </a:p>
        </p:txBody>
      </p:sp>
      <p:sp>
        <p:nvSpPr>
          <p:cNvPr id="11" name="Text 7"/>
          <p:cNvSpPr/>
          <p:nvPr/>
        </p:nvSpPr>
        <p:spPr>
          <a:xfrm>
            <a:off x="977900" y="3135511"/>
            <a:ext cx="6462014"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E5566"/>
                </a:solidFill>
                <a:latin typeface="IBM Plex Sans" pitchFamily="34" charset="0"/>
                <a:ea typeface="IBM Plex Sans" pitchFamily="34" charset="-122"/>
                <a:cs typeface="IBM Plex Sans" pitchFamily="34" charset="-120"/>
              </a:rPr>
              <a:t>Una computadora genera números que parecen al azar a partir de un valor inicial. Con la misma semilla, la secuencia es siempre la misma.</a:t>
            </a:r>
            <a:endParaRPr lang="en-US" sz="1250" dirty="0"/>
          </a:p>
        </p:txBody>
      </p:sp>
      <p:sp>
        <p:nvSpPr>
          <p:cNvPr id="12" name="Shape 8"/>
          <p:cNvSpPr/>
          <p:nvPr/>
        </p:nvSpPr>
        <p:spPr>
          <a:xfrm>
            <a:off x="812800" y="3751461"/>
            <a:ext cx="6604000" cy="882650"/>
          </a:xfrm>
          <a:prstGeom prst="roundRect">
            <a:avLst>
              <a:gd name="adj" fmla="val 14388"/>
            </a:avLst>
          </a:prstGeom>
          <a:solidFill>
            <a:srgbClr val="0B1F2E"/>
          </a:solidFill>
          <a:ln/>
        </p:spPr>
      </p:sp>
      <p:sp>
        <p:nvSpPr>
          <p:cNvPr id="13" name="Text 9"/>
          <p:cNvSpPr/>
          <p:nvPr/>
        </p:nvSpPr>
        <p:spPr>
          <a:xfrm>
            <a:off x="965200" y="3853061"/>
            <a:ext cx="64881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A259"/>
                </a:solidFill>
                <a:latin typeface="IBM Plex Sans" pitchFamily="34" charset="0"/>
                <a:ea typeface="IBM Plex Sans" pitchFamily="34" charset="-122"/>
                <a:cs typeface="IBM Plex Sans" pitchFamily="34" charset="-120"/>
              </a:rPr>
              <a:t>Entonces</a:t>
            </a:r>
            <a:endParaRPr lang="en-US" sz="1500" dirty="0"/>
          </a:p>
        </p:txBody>
      </p:sp>
      <p:sp>
        <p:nvSpPr>
          <p:cNvPr id="14" name="Text 10"/>
          <p:cNvSpPr/>
          <p:nvPr/>
        </p:nvSpPr>
        <p:spPr>
          <a:xfrm>
            <a:off x="965200" y="4119761"/>
            <a:ext cx="6488176"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C3D7E2"/>
                </a:solidFill>
                <a:latin typeface="IBM Plex Sans" pitchFamily="34" charset="0"/>
                <a:ea typeface="IBM Plex Sans" pitchFamily="34" charset="-122"/>
                <a:cs typeface="IBM Plex Sans" pitchFamily="34" charset="-120"/>
              </a:rPr>
              <a:t>Con los mismos datos, las mismas decisiones y la misma semilla, otra persona obtiene el mismo resultado. Por eso el cuaderno las guarda.</a:t>
            </a:r>
            <a:endParaRPr lang="en-US" sz="1250" dirty="0"/>
          </a:p>
        </p:txBody>
      </p:sp>
      <p:sp>
        <p:nvSpPr>
          <p:cNvPr id="15" name="Shape 11"/>
          <p:cNvSpPr/>
          <p:nvPr/>
        </p:nvSpPr>
        <p:spPr>
          <a:xfrm>
            <a:off x="819150" y="4729361"/>
            <a:ext cx="6591300" cy="895350"/>
          </a:xfrm>
          <a:prstGeom prst="roundRect">
            <a:avLst>
              <a:gd name="adj" fmla="val 13475"/>
            </a:avLst>
          </a:prstGeom>
          <a:solidFill>
            <a:srgbClr val="FCFDFD"/>
          </a:solidFill>
          <a:ln w="12700">
            <a:solidFill>
              <a:srgbClr val="D5E3EA"/>
            </a:solidFill>
            <a:prstDash val="solid"/>
          </a:ln>
        </p:spPr>
      </p:sp>
      <p:sp>
        <p:nvSpPr>
          <p:cNvPr id="16" name="Text 12"/>
          <p:cNvSpPr/>
          <p:nvPr/>
        </p:nvSpPr>
        <p:spPr>
          <a:xfrm>
            <a:off x="977900" y="4837311"/>
            <a:ext cx="64620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Con cuidado</a:t>
            </a:r>
            <a:endParaRPr lang="en-US" sz="1500" dirty="0"/>
          </a:p>
        </p:txBody>
      </p:sp>
      <p:sp>
        <p:nvSpPr>
          <p:cNvPr id="17" name="Text 13"/>
          <p:cNvSpPr/>
          <p:nvPr/>
        </p:nvSpPr>
        <p:spPr>
          <a:xfrm>
            <a:off x="977900" y="5104011"/>
            <a:ext cx="6462014"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E5566"/>
                </a:solidFill>
                <a:latin typeface="IBM Plex Sans" pitchFamily="34" charset="0"/>
                <a:ea typeface="IBM Plex Sans" pitchFamily="34" charset="-122"/>
                <a:cs typeface="IBM Plex Sans" pitchFamily="34" charset="-120"/>
              </a:rPr>
              <a:t>Algunas operaciones de las tarjetas gráficas no son estrictamente deterministas: se busca que los resultados sean comparables.</a:t>
            </a:r>
            <a:endParaRPr lang="en-US" sz="1250" dirty="0"/>
          </a:p>
        </p:txBody>
      </p:sp>
      <p:pic>
        <p:nvPicPr>
          <p:cNvPr id="18" name="Image 2" descr="Una semilla de la que salen dos filas de dados exactamente iguales">    </p:cNvPr>
          <p:cNvPicPr>
            <a:picLocks noChangeAspect="1"/>
          </p:cNvPicPr>
          <p:nvPr/>
        </p:nvPicPr>
        <p:blipFill>
          <a:blip r:embed="rId3"/>
          <a:srcRect l="0" r="0" t="227" b="227"/>
          <a:stretch/>
        </p:blipFill>
        <p:spPr>
          <a:xfrm>
            <a:off x="7581900" y="1770261"/>
            <a:ext cx="3784600" cy="2527300"/>
          </a:xfrm>
          <a:prstGeom prst="roundRect">
            <a:avLst>
              <a:gd name="adj" fmla="val 3015"/>
            </a:avLst>
          </a:prstGeom>
        </p:spPr>
      </p:pic>
      <p:sp>
        <p:nvSpPr>
          <p:cNvPr id="19" name="Shape 14"/>
          <p:cNvSpPr/>
          <p:nvPr/>
        </p:nvSpPr>
        <p:spPr>
          <a:xfrm>
            <a:off x="7575550" y="1763911"/>
            <a:ext cx="3797300" cy="2540000"/>
          </a:xfrm>
          <a:prstGeom prst="roundRect">
            <a:avLst>
              <a:gd name="adj" fmla="val 3250"/>
            </a:avLst>
          </a:prstGeom>
          <a:noFill/>
          <a:ln w="12700">
            <a:solidFill>
              <a:srgbClr val="D5E3EA"/>
            </a:solidFill>
            <a:prstDash val="solid"/>
          </a:ln>
        </p:spPr>
      </p:sp>
      <p:sp>
        <p:nvSpPr>
          <p:cNvPr id="20" name="Shape 15"/>
          <p:cNvSpPr/>
          <p:nvPr/>
        </p:nvSpPr>
        <p:spPr>
          <a:xfrm>
            <a:off x="7569200" y="4437261"/>
            <a:ext cx="3810000" cy="847725"/>
          </a:xfrm>
          <a:prstGeom prst="roundRect">
            <a:avLst>
              <a:gd name="adj" fmla="val 14981"/>
            </a:avLst>
          </a:prstGeom>
          <a:solidFill>
            <a:srgbClr val="E3EFF5"/>
          </a:solidFill>
          <a:ln/>
        </p:spPr>
      </p:sp>
      <p:pic>
        <p:nvPicPr>
          <p:cNvPr id="21" name="Image 3" descr="Warning">    </p:cNvPr>
          <p:cNvPicPr>
            <a:picLocks noChangeAspect="1"/>
          </p:cNvPicPr>
          <p:nvPr/>
        </p:nvPicPr>
        <p:blipFill>
          <a:blip r:embed="rId4"/>
          <a:srcRect l="0" r="0" t="-1149" b="-1149"/>
          <a:stretch/>
        </p:blipFill>
        <p:spPr>
          <a:xfrm>
            <a:off x="7721600" y="4734123"/>
            <a:ext cx="99318" cy="254000"/>
          </a:xfrm>
          <a:prstGeom prst="rect">
            <a:avLst/>
          </a:prstGeom>
        </p:spPr>
      </p:pic>
      <p:sp>
        <p:nvSpPr>
          <p:cNvPr id="22" name="Text 16"/>
          <p:cNvSpPr/>
          <p:nvPr/>
        </p:nvSpPr>
        <p:spPr>
          <a:xfrm>
            <a:off x="7922518" y="4551561"/>
            <a:ext cx="3403410"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0C2A3E"/>
                </a:solidFill>
                <a:latin typeface="IBM Plex Sans" pitchFamily="34" charset="0"/>
                <a:ea typeface="IBM Plex Sans" pitchFamily="34" charset="-122"/>
                <a:cs typeface="IBM Plex Sans" pitchFamily="34" charset="-120"/>
              </a:rPr>
              <a:t>Que un entrenamiento sea repetible no significa que sea correcto. Es la condición para poder revisarlo, no una garantía.</a:t>
            </a:r>
            <a:endParaRPr lang="en-US" sz="1250" dirty="0"/>
          </a:p>
        </p:txBody>
      </p:sp>
      <p:sp>
        <p:nvSpPr>
          <p:cNvPr id="23"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3</a:t>
            </a:r>
            <a:endParaRPr lang="en-US" sz="1200" dirty="0"/>
          </a:p>
        </p:txBody>
      </p:sp>
      <p:sp>
        <p:nvSpPr>
          <p:cNvPr id="24"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VIDEO 3</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Repaso: lo que hace una red</a:t>
            </a:r>
            <a:endParaRPr lang="en-US" sz="3600" dirty="0"/>
          </a:p>
        </p:txBody>
      </p:sp>
      <p:sp>
        <p:nvSpPr>
          <p:cNvPr id="6" name="Shape 2"/>
          <p:cNvSpPr/>
          <p:nvPr/>
        </p:nvSpPr>
        <p:spPr>
          <a:xfrm>
            <a:off x="819150" y="1840111"/>
            <a:ext cx="10553700" cy="495300"/>
          </a:xfrm>
          <a:prstGeom prst="roundRect">
            <a:avLst>
              <a:gd name="adj" fmla="val 19231"/>
            </a:avLst>
          </a:prstGeom>
          <a:solidFill>
            <a:srgbClr val="FCFDFD"/>
          </a:solidFill>
          <a:ln w="12700">
            <a:solidFill>
              <a:srgbClr val="D5E3EA"/>
            </a:solidFill>
            <a:prstDash val="solid"/>
          </a:ln>
        </p:spPr>
      </p:sp>
      <p:sp>
        <p:nvSpPr>
          <p:cNvPr id="7" name="Text 3"/>
          <p:cNvSpPr/>
          <p:nvPr/>
        </p:nvSpPr>
        <p:spPr>
          <a:xfrm>
            <a:off x="1016000" y="1948061"/>
            <a:ext cx="3048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3480F"/>
                </a:solidFill>
                <a:latin typeface="EB Garamond" pitchFamily="18" charset="0"/>
                <a:ea typeface="EB Garamond" pitchFamily="18" charset="-122"/>
                <a:cs typeface="EB Garamond" pitchFamily="18" charset="-120"/>
              </a:rPr>
              <a:t>1</a:t>
            </a:r>
            <a:endParaRPr lang="en-US" sz="2200" dirty="0"/>
          </a:p>
        </p:txBody>
      </p:sp>
      <p:sp>
        <p:nvSpPr>
          <p:cNvPr id="8" name="Text 4"/>
          <p:cNvSpPr/>
          <p:nvPr/>
        </p:nvSpPr>
        <p:spPr>
          <a:xfrm>
            <a:off x="1447800" y="1967706"/>
            <a:ext cx="8708827"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C2A3E"/>
                </a:solidFill>
                <a:latin typeface="IBM Plex Sans" pitchFamily="34" charset="0"/>
                <a:ea typeface="IBM Plex Sans" pitchFamily="34" charset="-122"/>
                <a:cs typeface="IBM Plex Sans" pitchFamily="34" charset="-120"/>
              </a:rPr>
              <a:t>Una neurona</a:t>
            </a:r>
            <a:r>
              <a:rPr lang="en-US" sz="1400" dirty="0">
                <a:solidFill>
                  <a:srgbClr val="0C2A3E"/>
                </a:solidFill>
                <a:latin typeface="IBM Plex Sans" pitchFamily="34" charset="0"/>
                <a:ea typeface="IBM Plex Sans" pitchFamily="34" charset="-122"/>
                <a:cs typeface="IBM Plex Sans" pitchFamily="34" charset="-120"/>
              </a:rPr>
              <a:t> multiplica entradas por pesos, suma, agrega un sesgo y aplica una activación.</a:t>
            </a:r>
            <a:endParaRPr lang="en-US" sz="1400" dirty="0"/>
          </a:p>
        </p:txBody>
      </p:sp>
      <p:sp>
        <p:nvSpPr>
          <p:cNvPr id="9" name="Shape 5"/>
          <p:cNvSpPr/>
          <p:nvPr/>
        </p:nvSpPr>
        <p:spPr>
          <a:xfrm>
            <a:off x="819150" y="2437011"/>
            <a:ext cx="10553700" cy="495300"/>
          </a:xfrm>
          <a:prstGeom prst="roundRect">
            <a:avLst>
              <a:gd name="adj" fmla="val 19231"/>
            </a:avLst>
          </a:prstGeom>
          <a:solidFill>
            <a:srgbClr val="FCFDFD"/>
          </a:solidFill>
          <a:ln w="12700">
            <a:solidFill>
              <a:srgbClr val="D5E3EA"/>
            </a:solidFill>
            <a:prstDash val="solid"/>
          </a:ln>
        </p:spPr>
      </p:sp>
      <p:sp>
        <p:nvSpPr>
          <p:cNvPr id="10" name="Text 6"/>
          <p:cNvSpPr/>
          <p:nvPr/>
        </p:nvSpPr>
        <p:spPr>
          <a:xfrm>
            <a:off x="1016000" y="2544961"/>
            <a:ext cx="3048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3480F"/>
                </a:solidFill>
                <a:latin typeface="EB Garamond" pitchFamily="18" charset="0"/>
                <a:ea typeface="EB Garamond" pitchFamily="18" charset="-122"/>
                <a:cs typeface="EB Garamond" pitchFamily="18" charset="-120"/>
              </a:rPr>
              <a:t>2</a:t>
            </a:r>
            <a:endParaRPr lang="en-US" sz="2200" dirty="0"/>
          </a:p>
        </p:txBody>
      </p:sp>
      <p:sp>
        <p:nvSpPr>
          <p:cNvPr id="11" name="Text 7"/>
          <p:cNvSpPr/>
          <p:nvPr/>
        </p:nvSpPr>
        <p:spPr>
          <a:xfrm>
            <a:off x="1447800" y="2564606"/>
            <a:ext cx="9846707"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C2A3E"/>
                </a:solidFill>
                <a:latin typeface="IBM Plex Sans" pitchFamily="34" charset="0"/>
                <a:ea typeface="IBM Plex Sans" pitchFamily="34" charset="-122"/>
                <a:cs typeface="IBM Plex Sans" pitchFamily="34" charset="-120"/>
              </a:rPr>
              <a:t>Muchas neuronas</a:t>
            </a:r>
            <a:r>
              <a:rPr lang="en-US" sz="1400" dirty="0">
                <a:solidFill>
                  <a:srgbClr val="0C2A3E"/>
                </a:solidFill>
                <a:latin typeface="IBM Plex Sans" pitchFamily="34" charset="0"/>
                <a:ea typeface="IBM Plex Sans" pitchFamily="34" charset="-122"/>
                <a:cs typeface="IBM Plex Sans" pitchFamily="34" charset="-120"/>
              </a:rPr>
              <a:t> forman una capa; capas apiladas, una red; con muchas capas, aprendizaje profundo.</a:t>
            </a:r>
            <a:endParaRPr lang="en-US" sz="1400" dirty="0"/>
          </a:p>
        </p:txBody>
      </p:sp>
      <p:sp>
        <p:nvSpPr>
          <p:cNvPr id="12" name="Shape 8"/>
          <p:cNvSpPr/>
          <p:nvPr/>
        </p:nvSpPr>
        <p:spPr>
          <a:xfrm>
            <a:off x="819150" y="3033911"/>
            <a:ext cx="10553700" cy="495300"/>
          </a:xfrm>
          <a:prstGeom prst="roundRect">
            <a:avLst>
              <a:gd name="adj" fmla="val 19231"/>
            </a:avLst>
          </a:prstGeom>
          <a:solidFill>
            <a:srgbClr val="FCFDFD"/>
          </a:solidFill>
          <a:ln w="12700">
            <a:solidFill>
              <a:srgbClr val="D5E3EA"/>
            </a:solidFill>
            <a:prstDash val="solid"/>
          </a:ln>
        </p:spPr>
      </p:sp>
      <p:sp>
        <p:nvSpPr>
          <p:cNvPr id="13" name="Text 9"/>
          <p:cNvSpPr/>
          <p:nvPr/>
        </p:nvSpPr>
        <p:spPr>
          <a:xfrm>
            <a:off x="1016000" y="3141861"/>
            <a:ext cx="3048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3480F"/>
                </a:solidFill>
                <a:latin typeface="EB Garamond" pitchFamily="18" charset="0"/>
                <a:ea typeface="EB Garamond" pitchFamily="18" charset="-122"/>
                <a:cs typeface="EB Garamond" pitchFamily="18" charset="-120"/>
              </a:rPr>
              <a:t>3</a:t>
            </a:r>
            <a:endParaRPr lang="en-US" sz="2200" dirty="0"/>
          </a:p>
        </p:txBody>
      </p:sp>
      <p:sp>
        <p:nvSpPr>
          <p:cNvPr id="14" name="Text 10"/>
          <p:cNvSpPr/>
          <p:nvPr/>
        </p:nvSpPr>
        <p:spPr>
          <a:xfrm>
            <a:off x="1447800" y="3161506"/>
            <a:ext cx="8745736"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C2A3E"/>
                </a:solidFill>
                <a:latin typeface="IBM Plex Sans" pitchFamily="34" charset="0"/>
                <a:ea typeface="IBM Plex Sans" pitchFamily="34" charset="-122"/>
                <a:cs typeface="IBM Plex Sans" pitchFamily="34" charset="-120"/>
              </a:rPr>
              <a:t>Sin entrenar,</a:t>
            </a:r>
            <a:r>
              <a:rPr lang="en-US" sz="1400" dirty="0">
                <a:solidFill>
                  <a:srgbClr val="0C2A3E"/>
                </a:solidFill>
                <a:latin typeface="IBM Plex Sans" pitchFamily="34" charset="0"/>
                <a:ea typeface="IBM Plex Sans" pitchFamily="34" charset="-122"/>
                <a:cs typeface="IBM Plex Sans" pitchFamily="34" charset="-120"/>
              </a:rPr>
              <a:t> los pesos son arbitrarios: no es una red mala, es una que todavía no aprendió.</a:t>
            </a:r>
            <a:endParaRPr lang="en-US" sz="1400" dirty="0"/>
          </a:p>
        </p:txBody>
      </p:sp>
      <p:sp>
        <p:nvSpPr>
          <p:cNvPr id="15" name="Shape 11"/>
          <p:cNvSpPr/>
          <p:nvPr/>
        </p:nvSpPr>
        <p:spPr>
          <a:xfrm>
            <a:off x="819150" y="3630811"/>
            <a:ext cx="10553700" cy="495300"/>
          </a:xfrm>
          <a:prstGeom prst="roundRect">
            <a:avLst>
              <a:gd name="adj" fmla="val 19231"/>
            </a:avLst>
          </a:prstGeom>
          <a:solidFill>
            <a:srgbClr val="FCFDFD"/>
          </a:solidFill>
          <a:ln w="12700">
            <a:solidFill>
              <a:srgbClr val="D5E3EA"/>
            </a:solidFill>
            <a:prstDash val="solid"/>
          </a:ln>
        </p:spPr>
      </p:sp>
      <p:sp>
        <p:nvSpPr>
          <p:cNvPr id="16" name="Text 12"/>
          <p:cNvSpPr/>
          <p:nvPr/>
        </p:nvSpPr>
        <p:spPr>
          <a:xfrm>
            <a:off x="1016000" y="3738761"/>
            <a:ext cx="30480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3480F"/>
                </a:solidFill>
                <a:latin typeface="EB Garamond" pitchFamily="18" charset="0"/>
                <a:ea typeface="EB Garamond" pitchFamily="18" charset="-122"/>
                <a:cs typeface="EB Garamond" pitchFamily="18" charset="-120"/>
              </a:rPr>
              <a:t>4</a:t>
            </a:r>
            <a:endParaRPr lang="en-US" sz="2200" dirty="0"/>
          </a:p>
        </p:txBody>
      </p:sp>
      <p:sp>
        <p:nvSpPr>
          <p:cNvPr id="17" name="Text 13"/>
          <p:cNvSpPr/>
          <p:nvPr/>
        </p:nvSpPr>
        <p:spPr>
          <a:xfrm>
            <a:off x="1447800" y="3758406"/>
            <a:ext cx="991870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C2A3E"/>
                </a:solidFill>
                <a:latin typeface="IBM Plex Sans" pitchFamily="34" charset="0"/>
                <a:ea typeface="IBM Plex Sans" pitchFamily="34" charset="-122"/>
                <a:cs typeface="IBM Plex Sans" pitchFamily="34" charset="-120"/>
              </a:rPr>
              <a:t>Para aprender,</a:t>
            </a:r>
            <a:r>
              <a:rPr lang="en-US" sz="1400" dirty="0">
                <a:solidFill>
                  <a:srgbClr val="0C2A3E"/>
                </a:solidFill>
                <a:latin typeface="IBM Plex Sans" pitchFamily="34" charset="0"/>
                <a:ea typeface="IBM Plex Sans" pitchFamily="34" charset="-122"/>
                <a:cs typeface="IBM Plex Sans" pitchFamily="34" charset="-120"/>
              </a:rPr>
              <a:t> ejemplos anotados, pérdida, retropropagación y descenso del gradiente, durante muchas épocas.</a:t>
            </a:r>
            <a:endParaRPr lang="en-US" sz="1400" dirty="0"/>
          </a:p>
        </p:txBody>
      </p:sp>
      <p:sp>
        <p:nvSpPr>
          <p:cNvPr id="18" name="Shape 14"/>
          <p:cNvSpPr/>
          <p:nvPr/>
        </p:nvSpPr>
        <p:spPr>
          <a:xfrm>
            <a:off x="812800" y="4361061"/>
            <a:ext cx="10566400" cy="784820"/>
          </a:xfrm>
          <a:prstGeom prst="roundRect">
            <a:avLst>
              <a:gd name="adj" fmla="val 16182"/>
            </a:avLst>
          </a:prstGeom>
          <a:solidFill>
            <a:srgbClr val="0B1F2E"/>
          </a:solidFill>
          <a:ln/>
        </p:spPr>
      </p:sp>
      <p:pic>
        <p:nvPicPr>
          <p:cNvPr id="19" name="Image 2" descr="Lightbulb">    </p:cNvPr>
          <p:cNvPicPr>
            <a:picLocks noChangeAspect="1"/>
          </p:cNvPicPr>
          <p:nvPr/>
        </p:nvPicPr>
        <p:blipFill>
          <a:blip r:embed="rId3"/>
          <a:srcRect l="-499" r="-499" t="0" b="0"/>
          <a:stretch/>
        </p:blipFill>
        <p:spPr>
          <a:xfrm>
            <a:off x="1028700" y="4601071"/>
            <a:ext cx="230882" cy="304800"/>
          </a:xfrm>
          <a:prstGeom prst="rect">
            <a:avLst/>
          </a:prstGeom>
        </p:spPr>
      </p:pic>
      <p:sp>
        <p:nvSpPr>
          <p:cNvPr id="20" name="Text 15"/>
          <p:cNvSpPr/>
          <p:nvPr/>
        </p:nvSpPr>
        <p:spPr>
          <a:xfrm>
            <a:off x="1386582" y="4513461"/>
            <a:ext cx="1007002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1F6F8"/>
                </a:solidFill>
                <a:latin typeface="IBM Plex Sans" pitchFamily="34" charset="0"/>
                <a:ea typeface="IBM Plex Sans" pitchFamily="34" charset="-122"/>
                <a:cs typeface="IBM Plex Sans" pitchFamily="34" charset="-120"/>
              </a:rPr>
              <a:t>Lo más importante es lo que no hay: no hay comprensión, ni reglas escritas a mano, ni nada misterioso. Hay números ajustados con paciencia a partir de ejemplos.</a:t>
            </a:r>
            <a:endParaRPr lang="en-US" sz="1400" dirty="0"/>
          </a:p>
        </p:txBody>
      </p:sp>
      <p:sp>
        <p:nvSpPr>
          <p:cNvPr id="21"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3</a:t>
            </a:r>
            <a:endParaRPr lang="en-US" sz="1200" dirty="0"/>
          </a:p>
        </p:txBody>
      </p:sp>
      <p:sp>
        <p:nvSpPr>
          <p:cNvPr id="22"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VIDEO 3</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1F6F8"/>
                </a:solidFill>
                <a:latin typeface="EB Garamond" pitchFamily="18" charset="0"/>
                <a:ea typeface="EB Garamond" pitchFamily="18" charset="-122"/>
                <a:cs typeface="EB Garamond" pitchFamily="18" charset="-120"/>
              </a:rPr>
              <a:t>Límites y cuidados al usar un modelo</a:t>
            </a:r>
            <a:endParaRPr lang="en-US" sz="3200" dirty="0"/>
          </a:p>
        </p:txBody>
      </p:sp>
      <p:sp>
        <p:nvSpPr>
          <p:cNvPr id="6" name="Shape 2"/>
          <p:cNvSpPr/>
          <p:nvPr/>
        </p:nvSpPr>
        <p:spPr>
          <a:xfrm>
            <a:off x="819150" y="1784251"/>
            <a:ext cx="3424734" cy="1265436"/>
          </a:xfrm>
          <a:prstGeom prst="roundRect">
            <a:avLst>
              <a:gd name="adj" fmla="val 9534"/>
            </a:avLst>
          </a:prstGeom>
          <a:solidFill>
            <a:srgbClr val="12304A"/>
          </a:solidFill>
          <a:ln w="12700">
            <a:solidFill>
              <a:srgbClr val="24506E"/>
            </a:solidFill>
            <a:prstDash val="solid"/>
          </a:ln>
        </p:spPr>
      </p:sp>
      <p:sp>
        <p:nvSpPr>
          <p:cNvPr id="7" name="Text 3"/>
          <p:cNvSpPr/>
          <p:nvPr/>
        </p:nvSpPr>
        <p:spPr>
          <a:xfrm>
            <a:off x="977900" y="1943001"/>
            <a:ext cx="32004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A259"/>
                </a:solidFill>
                <a:latin typeface="IBM Plex Sans" pitchFamily="34" charset="0"/>
                <a:ea typeface="IBM Plex Sans" pitchFamily="34" charset="-122"/>
                <a:cs typeface="IBM Plex Sans" pitchFamily="34" charset="-120"/>
              </a:rPr>
              <a:t>El dominio</a:t>
            </a:r>
            <a:endParaRPr lang="en-US" sz="1500" dirty="0"/>
          </a:p>
        </p:txBody>
      </p:sp>
      <p:sp>
        <p:nvSpPr>
          <p:cNvPr id="8" name="Text 4"/>
          <p:cNvSpPr/>
          <p:nvPr/>
        </p:nvSpPr>
        <p:spPr>
          <a:xfrm>
            <a:off x="977900" y="2222401"/>
            <a:ext cx="320045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Funciona bien con imágenes parecidas a las de su entrenamiento. Fuera de eso puede fallar sin avisar.</a:t>
            </a:r>
            <a:endParaRPr lang="en-US" sz="1300" dirty="0"/>
          </a:p>
        </p:txBody>
      </p:sp>
      <p:sp>
        <p:nvSpPr>
          <p:cNvPr id="9" name="Shape 5"/>
          <p:cNvSpPr/>
          <p:nvPr/>
        </p:nvSpPr>
        <p:spPr>
          <a:xfrm>
            <a:off x="4383584" y="1784251"/>
            <a:ext cx="3424734" cy="1265436"/>
          </a:xfrm>
          <a:prstGeom prst="roundRect">
            <a:avLst>
              <a:gd name="adj" fmla="val 9534"/>
            </a:avLst>
          </a:prstGeom>
          <a:solidFill>
            <a:srgbClr val="12304A"/>
          </a:solidFill>
          <a:ln w="12700">
            <a:solidFill>
              <a:srgbClr val="24506E"/>
            </a:solidFill>
            <a:prstDash val="solid"/>
          </a:ln>
        </p:spPr>
      </p:sp>
      <p:sp>
        <p:nvSpPr>
          <p:cNvPr id="10" name="Text 6"/>
          <p:cNvSpPr/>
          <p:nvPr/>
        </p:nvSpPr>
        <p:spPr>
          <a:xfrm>
            <a:off x="4542334" y="1943001"/>
            <a:ext cx="32004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A259"/>
                </a:solidFill>
                <a:latin typeface="IBM Plex Sans" pitchFamily="34" charset="0"/>
                <a:ea typeface="IBM Plex Sans" pitchFamily="34" charset="-122"/>
                <a:cs typeface="IBM Plex Sans" pitchFamily="34" charset="-120"/>
              </a:rPr>
              <a:t>No duda</a:t>
            </a:r>
            <a:endParaRPr lang="en-US" sz="1500" dirty="0"/>
          </a:p>
        </p:txBody>
      </p:sp>
      <p:sp>
        <p:nvSpPr>
          <p:cNvPr id="11" name="Text 7"/>
          <p:cNvSpPr/>
          <p:nvPr/>
        </p:nvSpPr>
        <p:spPr>
          <a:xfrm>
            <a:off x="4542334" y="2222401"/>
            <a:ext cx="320045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Marca lo que cree que es una cabeza con el mismo aspecto que una perfecta. La revisión humana es parte del proceso.</a:t>
            </a:r>
            <a:endParaRPr lang="en-US" sz="1300" dirty="0"/>
          </a:p>
        </p:txBody>
      </p:sp>
      <p:sp>
        <p:nvSpPr>
          <p:cNvPr id="12" name="Shape 8"/>
          <p:cNvSpPr/>
          <p:nvPr/>
        </p:nvSpPr>
        <p:spPr>
          <a:xfrm>
            <a:off x="7948017" y="1784251"/>
            <a:ext cx="3424734" cy="1265436"/>
          </a:xfrm>
          <a:prstGeom prst="roundRect">
            <a:avLst>
              <a:gd name="adj" fmla="val 9534"/>
            </a:avLst>
          </a:prstGeom>
          <a:solidFill>
            <a:srgbClr val="12304A"/>
          </a:solidFill>
          <a:ln w="12700">
            <a:solidFill>
              <a:srgbClr val="24506E"/>
            </a:solidFill>
            <a:prstDash val="solid"/>
          </a:ln>
        </p:spPr>
      </p:sp>
      <p:sp>
        <p:nvSpPr>
          <p:cNvPr id="13" name="Text 9"/>
          <p:cNvSpPr/>
          <p:nvPr/>
        </p:nvSpPr>
        <p:spPr>
          <a:xfrm>
            <a:off x="8106767" y="1943001"/>
            <a:ext cx="32004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A259"/>
                </a:solidFill>
                <a:latin typeface="IBM Plex Sans" pitchFamily="34" charset="0"/>
                <a:ea typeface="IBM Plex Sans" pitchFamily="34" charset="-122"/>
                <a:cs typeface="IBM Plex Sans" pitchFamily="34" charset="-120"/>
              </a:rPr>
              <a:t>Dos tipos de error</a:t>
            </a:r>
            <a:endParaRPr lang="en-US" sz="1500" dirty="0"/>
          </a:p>
        </p:txBody>
      </p:sp>
      <p:sp>
        <p:nvSpPr>
          <p:cNvPr id="14" name="Text 10"/>
          <p:cNvSpPr/>
          <p:nvPr/>
        </p:nvSpPr>
        <p:spPr>
          <a:xfrm>
            <a:off x="8106767" y="2222401"/>
            <a:ext cx="320045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Marcar lo que no es cabeza, o dejar sin marcar una que sí está. Por eso se mira la imagen entera.</a:t>
            </a:r>
            <a:endParaRPr lang="en-US" sz="1300" dirty="0"/>
          </a:p>
        </p:txBody>
      </p:sp>
      <p:sp>
        <p:nvSpPr>
          <p:cNvPr id="15" name="Shape 11"/>
          <p:cNvSpPr/>
          <p:nvPr/>
        </p:nvSpPr>
        <p:spPr>
          <a:xfrm>
            <a:off x="819150" y="3189387"/>
            <a:ext cx="3424734" cy="1265436"/>
          </a:xfrm>
          <a:prstGeom prst="roundRect">
            <a:avLst>
              <a:gd name="adj" fmla="val 9534"/>
            </a:avLst>
          </a:prstGeom>
          <a:solidFill>
            <a:srgbClr val="12304A"/>
          </a:solidFill>
          <a:ln w="12700">
            <a:solidFill>
              <a:srgbClr val="24506E"/>
            </a:solidFill>
            <a:prstDash val="solid"/>
          </a:ln>
        </p:spPr>
      </p:sp>
      <p:sp>
        <p:nvSpPr>
          <p:cNvPr id="16" name="Text 12"/>
          <p:cNvSpPr/>
          <p:nvPr/>
        </p:nvSpPr>
        <p:spPr>
          <a:xfrm>
            <a:off x="977900" y="3348137"/>
            <a:ext cx="32004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A259"/>
                </a:solidFill>
                <a:latin typeface="IBM Plex Sans" pitchFamily="34" charset="0"/>
                <a:ea typeface="IBM Plex Sans" pitchFamily="34" charset="-122"/>
                <a:cs typeface="IBM Plex Sans" pitchFamily="34" charset="-120"/>
              </a:rPr>
              <a:t>Refleja sus datos</a:t>
            </a:r>
            <a:endParaRPr lang="en-US" sz="1500" dirty="0"/>
          </a:p>
        </p:txBody>
      </p:sp>
      <p:sp>
        <p:nvSpPr>
          <p:cNvPr id="17" name="Text 13"/>
          <p:cNvSpPr/>
          <p:nvPr/>
        </p:nvSpPr>
        <p:spPr>
          <a:xfrm>
            <a:off x="977900" y="3627537"/>
            <a:ext cx="320045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Con pocos ejemplos de una situación, la maneja peor. Mejorarlo exige más ejemplos, variados y bien anotados.</a:t>
            </a:r>
            <a:endParaRPr lang="en-US" sz="1300" dirty="0"/>
          </a:p>
        </p:txBody>
      </p:sp>
      <p:sp>
        <p:nvSpPr>
          <p:cNvPr id="18" name="Shape 14"/>
          <p:cNvSpPr/>
          <p:nvPr/>
        </p:nvSpPr>
        <p:spPr>
          <a:xfrm>
            <a:off x="4383584" y="3189387"/>
            <a:ext cx="3424734" cy="1265436"/>
          </a:xfrm>
          <a:prstGeom prst="roundRect">
            <a:avLst>
              <a:gd name="adj" fmla="val 9534"/>
            </a:avLst>
          </a:prstGeom>
          <a:solidFill>
            <a:srgbClr val="12304A"/>
          </a:solidFill>
          <a:ln w="12700">
            <a:solidFill>
              <a:srgbClr val="24506E"/>
            </a:solidFill>
            <a:prstDash val="solid"/>
          </a:ln>
        </p:spPr>
      </p:sp>
      <p:sp>
        <p:nvSpPr>
          <p:cNvPr id="19" name="Text 15"/>
          <p:cNvSpPr/>
          <p:nvPr/>
        </p:nvSpPr>
        <p:spPr>
          <a:xfrm>
            <a:off x="4542334" y="3348137"/>
            <a:ext cx="32004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A259"/>
                </a:solidFill>
                <a:latin typeface="IBM Plex Sans" pitchFamily="34" charset="0"/>
                <a:ea typeface="IBM Plex Sans" pitchFamily="34" charset="-122"/>
                <a:cs typeface="IBM Plex Sans" pitchFamily="34" charset="-120"/>
              </a:rPr>
              <a:t>Un buen caso no basta</a:t>
            </a:r>
            <a:endParaRPr lang="en-US" sz="1500" dirty="0"/>
          </a:p>
        </p:txBody>
      </p:sp>
      <p:sp>
        <p:nvSpPr>
          <p:cNvPr id="20" name="Text 16"/>
          <p:cNvSpPr/>
          <p:nvPr/>
        </p:nvSpPr>
        <p:spPr>
          <a:xfrm>
            <a:off x="4542334" y="3627537"/>
            <a:ext cx="320045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Que funcione en unas imágenes no garantiza que funcione en todas. Hay que verificar con imágenes propias.</a:t>
            </a:r>
            <a:endParaRPr lang="en-US" sz="1300" dirty="0"/>
          </a:p>
        </p:txBody>
      </p:sp>
      <p:sp>
        <p:nvSpPr>
          <p:cNvPr id="21" name="Shape 17"/>
          <p:cNvSpPr/>
          <p:nvPr/>
        </p:nvSpPr>
        <p:spPr>
          <a:xfrm>
            <a:off x="7941667" y="3183037"/>
            <a:ext cx="3437434" cy="1278136"/>
          </a:xfrm>
          <a:prstGeom prst="roundRect">
            <a:avLst>
              <a:gd name="adj" fmla="val 9936"/>
            </a:avLst>
          </a:prstGeom>
          <a:solidFill>
            <a:srgbClr val="F4A259"/>
          </a:solidFill>
          <a:ln/>
        </p:spPr>
      </p:sp>
      <p:sp>
        <p:nvSpPr>
          <p:cNvPr id="22" name="Text 18"/>
          <p:cNvSpPr/>
          <p:nvPr/>
        </p:nvSpPr>
        <p:spPr>
          <a:xfrm>
            <a:off x="8094067" y="3348137"/>
            <a:ext cx="32266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A1406"/>
                </a:solidFill>
                <a:latin typeface="IBM Plex Sans" pitchFamily="34" charset="0"/>
                <a:ea typeface="IBM Plex Sans" pitchFamily="34" charset="-122"/>
                <a:cs typeface="IBM Plex Sans" pitchFamily="34" charset="-120"/>
              </a:rPr>
              <a:t>Muestra su trabajo</a:t>
            </a:r>
            <a:endParaRPr lang="en-US" sz="1500" dirty="0"/>
          </a:p>
        </p:txBody>
      </p:sp>
      <p:sp>
        <p:nvSpPr>
          <p:cNvPr id="23" name="Text 19"/>
          <p:cNvSpPr/>
          <p:nvPr/>
        </p:nvSpPr>
        <p:spPr>
          <a:xfrm>
            <a:off x="8094067" y="3627537"/>
            <a:ext cx="3226613"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Cada resultado trae la imagen marcada, para comprobar si los contornos tienen sentido.</a:t>
            </a:r>
            <a:endParaRPr lang="en-US" sz="1300" dirty="0"/>
          </a:p>
        </p:txBody>
      </p:sp>
      <p:sp>
        <p:nvSpPr>
          <p:cNvPr id="24"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3</a:t>
            </a:r>
            <a:endParaRPr lang="en-US" sz="1200" dirty="0"/>
          </a:p>
        </p:txBody>
      </p:sp>
      <p:sp>
        <p:nvSpPr>
          <p:cNvPr id="25"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CIERRE</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Lo que vimos en este módulo</a:t>
            </a:r>
            <a:endParaRPr lang="en-US" sz="3600" dirty="0"/>
          </a:p>
        </p:txBody>
      </p:sp>
      <p:sp>
        <p:nvSpPr>
          <p:cNvPr id="6" name="Shape 2"/>
          <p:cNvSpPr/>
          <p:nvPr/>
        </p:nvSpPr>
        <p:spPr>
          <a:xfrm>
            <a:off x="819150" y="1865511"/>
            <a:ext cx="5194300" cy="1210270"/>
          </a:xfrm>
          <a:prstGeom prst="roundRect">
            <a:avLst>
              <a:gd name="adj" fmla="val 9969"/>
            </a:avLst>
          </a:prstGeom>
          <a:solidFill>
            <a:srgbClr val="FCFDFD"/>
          </a:solidFill>
          <a:ln w="12700">
            <a:solidFill>
              <a:srgbClr val="D5E3EA"/>
            </a:solidFill>
            <a:prstDash val="solid"/>
          </a:ln>
        </p:spPr>
      </p:sp>
      <p:sp>
        <p:nvSpPr>
          <p:cNvPr id="7" name="Text 3"/>
          <p:cNvSpPr/>
          <p:nvPr/>
        </p:nvSpPr>
        <p:spPr>
          <a:xfrm>
            <a:off x="1028700" y="2075061"/>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EL PROBLEMA</a:t>
            </a:r>
            <a:endParaRPr lang="en-US" sz="1200" dirty="0"/>
          </a:p>
        </p:txBody>
      </p:sp>
      <p:sp>
        <p:nvSpPr>
          <p:cNvPr id="8" name="Text 4"/>
          <p:cNvSpPr/>
          <p:nvPr/>
        </p:nvSpPr>
        <p:spPr>
          <a:xfrm>
            <a:off x="1028700" y="2351881"/>
            <a:ext cx="491845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Contar y medir a mano es lento y cambia según quién lo haga.</a:t>
            </a:r>
            <a:endParaRPr lang="en-US" sz="1500" dirty="0"/>
          </a:p>
        </p:txBody>
      </p:sp>
      <p:sp>
        <p:nvSpPr>
          <p:cNvPr id="9" name="Shape 5"/>
          <p:cNvSpPr/>
          <p:nvPr/>
        </p:nvSpPr>
        <p:spPr>
          <a:xfrm>
            <a:off x="6178550" y="1865511"/>
            <a:ext cx="5194300" cy="1210270"/>
          </a:xfrm>
          <a:prstGeom prst="roundRect">
            <a:avLst>
              <a:gd name="adj" fmla="val 9969"/>
            </a:avLst>
          </a:prstGeom>
          <a:solidFill>
            <a:srgbClr val="FCFDFD"/>
          </a:solidFill>
          <a:ln w="12700">
            <a:solidFill>
              <a:srgbClr val="D5E3EA"/>
            </a:solidFill>
            <a:prstDash val="solid"/>
          </a:ln>
        </p:spPr>
      </p:sp>
      <p:sp>
        <p:nvSpPr>
          <p:cNvPr id="10" name="Text 6"/>
          <p:cNvSpPr/>
          <p:nvPr/>
        </p:nvSpPr>
        <p:spPr>
          <a:xfrm>
            <a:off x="6388100" y="2075061"/>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LA IMAGEN DIGITAL</a:t>
            </a:r>
            <a:endParaRPr lang="en-US" sz="1200" dirty="0"/>
          </a:p>
        </p:txBody>
      </p:sp>
      <p:sp>
        <p:nvSpPr>
          <p:cNvPr id="11" name="Text 7"/>
          <p:cNvSpPr/>
          <p:nvPr/>
        </p:nvSpPr>
        <p:spPr>
          <a:xfrm>
            <a:off x="6388100" y="2351881"/>
            <a:ext cx="491845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Una tabla de números, con sus formatos y su escala.</a:t>
            </a:r>
            <a:endParaRPr lang="en-US" sz="1500" dirty="0"/>
          </a:p>
        </p:txBody>
      </p:sp>
      <p:sp>
        <p:nvSpPr>
          <p:cNvPr id="12" name="Shape 8"/>
          <p:cNvSpPr/>
          <p:nvPr/>
        </p:nvSpPr>
        <p:spPr>
          <a:xfrm>
            <a:off x="819150" y="3240881"/>
            <a:ext cx="5194300" cy="953095"/>
          </a:xfrm>
          <a:prstGeom prst="roundRect">
            <a:avLst>
              <a:gd name="adj" fmla="val 12659"/>
            </a:avLst>
          </a:prstGeom>
          <a:solidFill>
            <a:srgbClr val="FCFDFD"/>
          </a:solidFill>
          <a:ln w="12700">
            <a:solidFill>
              <a:srgbClr val="D5E3EA"/>
            </a:solidFill>
            <a:prstDash val="solid"/>
          </a:ln>
        </p:spPr>
      </p:sp>
      <p:sp>
        <p:nvSpPr>
          <p:cNvPr id="13" name="Text 9"/>
          <p:cNvSpPr/>
          <p:nvPr/>
        </p:nvSpPr>
        <p:spPr>
          <a:xfrm>
            <a:off x="1028700" y="3450431"/>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DEFINICIONES</a:t>
            </a:r>
            <a:endParaRPr lang="en-US" sz="1200" dirty="0"/>
          </a:p>
        </p:txBody>
      </p:sp>
      <p:sp>
        <p:nvSpPr>
          <p:cNvPr id="14" name="Text 10"/>
          <p:cNvSpPr/>
          <p:nvPr/>
        </p:nvSpPr>
        <p:spPr>
          <a:xfrm>
            <a:off x="1028700" y="3727252"/>
            <a:ext cx="491845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Red neuronal, modelo, entrenamiento e inferencia.</a:t>
            </a:r>
            <a:endParaRPr lang="en-US" sz="1500" dirty="0"/>
          </a:p>
        </p:txBody>
      </p:sp>
      <p:sp>
        <p:nvSpPr>
          <p:cNvPr id="15" name="Shape 11"/>
          <p:cNvSpPr/>
          <p:nvPr/>
        </p:nvSpPr>
        <p:spPr>
          <a:xfrm>
            <a:off x="6178550" y="3240881"/>
            <a:ext cx="5194300" cy="953095"/>
          </a:xfrm>
          <a:prstGeom prst="roundRect">
            <a:avLst>
              <a:gd name="adj" fmla="val 12659"/>
            </a:avLst>
          </a:prstGeom>
          <a:solidFill>
            <a:srgbClr val="FCFDFD"/>
          </a:solidFill>
          <a:ln w="12700">
            <a:solidFill>
              <a:srgbClr val="D5E3EA"/>
            </a:solidFill>
            <a:prstDash val="solid"/>
          </a:ln>
        </p:spPr>
      </p:sp>
      <p:sp>
        <p:nvSpPr>
          <p:cNvPr id="16" name="Text 12"/>
          <p:cNvSpPr/>
          <p:nvPr/>
        </p:nvSpPr>
        <p:spPr>
          <a:xfrm>
            <a:off x="6388100" y="3450431"/>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REDES NEURONALES</a:t>
            </a:r>
            <a:endParaRPr lang="en-US" sz="1200" dirty="0"/>
          </a:p>
        </p:txBody>
      </p:sp>
      <p:sp>
        <p:nvSpPr>
          <p:cNvPr id="17" name="Text 13"/>
          <p:cNvSpPr/>
          <p:nvPr/>
        </p:nvSpPr>
        <p:spPr>
          <a:xfrm>
            <a:off x="6388100" y="3727252"/>
            <a:ext cx="491845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La neurona, la capa, la red y cómo aprende.</a:t>
            </a:r>
            <a:endParaRPr lang="en-US" sz="1500" dirty="0"/>
          </a:p>
        </p:txBody>
      </p:sp>
      <p:sp>
        <p:nvSpPr>
          <p:cNvPr id="18" name="Shape 14"/>
          <p:cNvSpPr/>
          <p:nvPr/>
        </p:nvSpPr>
        <p:spPr>
          <a:xfrm>
            <a:off x="812800" y="4454327"/>
            <a:ext cx="10566400" cy="869950"/>
          </a:xfrm>
          <a:prstGeom prst="roundRect">
            <a:avLst>
              <a:gd name="adj" fmla="val 14599"/>
            </a:avLst>
          </a:prstGeom>
          <a:solidFill>
            <a:srgbClr val="0B1F2E"/>
          </a:solidFill>
          <a:ln/>
        </p:spPr>
      </p:sp>
      <p:pic>
        <p:nvPicPr>
          <p:cNvPr id="19" name="Image 2" descr="Lightbulb">    </p:cNvPr>
          <p:cNvPicPr>
            <a:picLocks noChangeAspect="1"/>
          </p:cNvPicPr>
          <p:nvPr/>
        </p:nvPicPr>
        <p:blipFill>
          <a:blip r:embed="rId3"/>
          <a:srcRect l="-539" r="-539" t="0" b="0"/>
          <a:stretch/>
        </p:blipFill>
        <p:spPr>
          <a:xfrm>
            <a:off x="1041400" y="4736902"/>
            <a:ext cx="186134" cy="304800"/>
          </a:xfrm>
          <a:prstGeom prst="rect">
            <a:avLst/>
          </a:prstGeom>
        </p:spPr>
      </p:pic>
      <p:sp>
        <p:nvSpPr>
          <p:cNvPr id="20" name="Text 15"/>
          <p:cNvSpPr/>
          <p:nvPr/>
        </p:nvSpPr>
        <p:spPr>
          <a:xfrm>
            <a:off x="1354534" y="4632127"/>
            <a:ext cx="1008994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Una red neuronal es una máquina de multiplicar y sumar. Lo que la hace poderosa no es una inteligencia escondida, sino la cantidad de operaciones simples y el cuidado con que se ajustan.</a:t>
            </a:r>
            <a:endParaRPr lang="en-US" sz="1500" dirty="0"/>
          </a:p>
        </p:txBody>
      </p:sp>
      <p:sp>
        <p:nvSpPr>
          <p:cNvPr id="21"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3</a:t>
            </a:r>
            <a:endParaRPr lang="en-US" sz="1200" dirty="0"/>
          </a:p>
        </p:txBody>
      </p:sp>
      <p:sp>
        <p:nvSpPr>
          <p:cNvPr id="22"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124598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4A259"/>
                </a:solidFill>
                <a:latin typeface="IBM Plex Sans" pitchFamily="34" charset="0"/>
                <a:ea typeface="IBM Plex Sans" pitchFamily="34" charset="-122"/>
                <a:cs typeface="IBM Plex Sans" pitchFamily="34" charset="-120"/>
              </a:rPr>
              <a:t>SIGUIENTE MÓDULO</a:t>
            </a:r>
            <a:endParaRPr lang="en-US" sz="1400" dirty="0"/>
          </a:p>
        </p:txBody>
      </p:sp>
      <p:sp>
        <p:nvSpPr>
          <p:cNvPr id="5" name="Text 1"/>
          <p:cNvSpPr/>
          <p:nvPr>
            <p:ph type="title"/>
          </p:nvPr>
        </p:nvSpPr>
        <p:spPr>
          <a:xfrm>
            <a:off x="812800" y="1723430"/>
            <a:ext cx="10883392"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1F6F8"/>
                </a:solidFill>
                <a:latin typeface="EB Garamond" pitchFamily="18" charset="0"/>
                <a:ea typeface="EB Garamond" pitchFamily="18" charset="-122"/>
                <a:cs typeface="EB Garamond" pitchFamily="18" charset="-120"/>
              </a:rPr>
              <a:t>¿Cómo sabe el sistema dónde hay un espermatozoide?</a:t>
            </a:r>
            <a:endParaRPr lang="en-US" sz="4800" dirty="0"/>
          </a:p>
        </p:txBody>
      </p:sp>
      <p:sp>
        <p:nvSpPr>
          <p:cNvPr id="6" name="Text 2"/>
          <p:cNvSpPr/>
          <p:nvPr/>
        </p:nvSpPr>
        <p:spPr>
          <a:xfrm>
            <a:off x="812800" y="3232150"/>
            <a:ext cx="9810750" cy="608211"/>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C3D7E2"/>
                </a:solidFill>
                <a:latin typeface="IBM Plex Sans" pitchFamily="34" charset="0"/>
                <a:ea typeface="IBM Plex Sans" pitchFamily="34" charset="-122"/>
                <a:cs typeface="IBM Plex Sans" pitchFamily="34" charset="-120"/>
              </a:rPr>
              <a:t>Cómo mira una imagen una red convolucional, cómo se aprovecha una red entrenada para otra cosa y cómo se preparan los datos y se entrena.</a:t>
            </a:r>
            <a:endParaRPr lang="en-US" sz="1700" dirty="0"/>
          </a:p>
        </p:txBody>
      </p:sp>
      <p:sp>
        <p:nvSpPr>
          <p:cNvPr id="7" name="Shape 3"/>
          <p:cNvSpPr/>
          <p:nvPr/>
        </p:nvSpPr>
        <p:spPr>
          <a:xfrm>
            <a:off x="819150" y="4049911"/>
            <a:ext cx="5194300" cy="821630"/>
          </a:xfrm>
          <a:prstGeom prst="roundRect">
            <a:avLst>
              <a:gd name="adj" fmla="val 14684"/>
            </a:avLst>
          </a:prstGeom>
          <a:solidFill>
            <a:srgbClr val="12304A"/>
          </a:solidFill>
          <a:ln w="12700">
            <a:solidFill>
              <a:srgbClr val="24506E"/>
            </a:solidFill>
            <a:prstDash val="solid"/>
          </a:ln>
        </p:spPr>
      </p:sp>
      <p:sp>
        <p:nvSpPr>
          <p:cNvPr id="8" name="Text 4"/>
          <p:cNvSpPr/>
          <p:nvPr/>
        </p:nvSpPr>
        <p:spPr>
          <a:xfrm>
            <a:off x="977900" y="4208661"/>
            <a:ext cx="502310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MÓDULO 3</a:t>
            </a:r>
            <a:endParaRPr lang="en-US" sz="1200" dirty="0"/>
          </a:p>
        </p:txBody>
      </p:sp>
      <p:sp>
        <p:nvSpPr>
          <p:cNvPr id="9" name="Text 5"/>
          <p:cNvSpPr/>
          <p:nvPr/>
        </p:nvSpPr>
        <p:spPr>
          <a:xfrm>
            <a:off x="977900" y="4472781"/>
            <a:ext cx="502310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1F6F8"/>
                </a:solidFill>
                <a:latin typeface="IBM Plex Sans" pitchFamily="34" charset="0"/>
                <a:ea typeface="IBM Plex Sans" pitchFamily="34" charset="-122"/>
                <a:cs typeface="IBM Plex Sans" pitchFamily="34" charset="-120"/>
              </a:rPr>
              <a:t>El sistema y su código.</a:t>
            </a:r>
            <a:endParaRPr lang="en-US" sz="1400" dirty="0"/>
          </a:p>
        </p:txBody>
      </p:sp>
      <p:sp>
        <p:nvSpPr>
          <p:cNvPr id="10" name="Shape 6"/>
          <p:cNvSpPr/>
          <p:nvPr/>
        </p:nvSpPr>
        <p:spPr>
          <a:xfrm>
            <a:off x="6178550" y="4049911"/>
            <a:ext cx="5194300" cy="821630"/>
          </a:xfrm>
          <a:prstGeom prst="roundRect">
            <a:avLst>
              <a:gd name="adj" fmla="val 14684"/>
            </a:avLst>
          </a:prstGeom>
          <a:solidFill>
            <a:srgbClr val="12304A"/>
          </a:solidFill>
          <a:ln w="12700">
            <a:solidFill>
              <a:srgbClr val="24506E"/>
            </a:solidFill>
            <a:prstDash val="solid"/>
          </a:ln>
        </p:spPr>
      </p:sp>
      <p:sp>
        <p:nvSpPr>
          <p:cNvPr id="11" name="Text 7"/>
          <p:cNvSpPr/>
          <p:nvPr/>
        </p:nvSpPr>
        <p:spPr>
          <a:xfrm>
            <a:off x="6337300" y="4208661"/>
            <a:ext cx="502310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MÓDULO 4</a:t>
            </a:r>
            <a:endParaRPr lang="en-US" sz="1200" dirty="0"/>
          </a:p>
        </p:txBody>
      </p:sp>
      <p:sp>
        <p:nvSpPr>
          <p:cNvPr id="12" name="Text 8"/>
          <p:cNvSpPr/>
          <p:nvPr/>
        </p:nvSpPr>
        <p:spPr>
          <a:xfrm>
            <a:off x="6337300" y="4472781"/>
            <a:ext cx="502310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1F6F8"/>
                </a:solidFill>
                <a:latin typeface="IBM Plex Sans" pitchFamily="34" charset="0"/>
                <a:ea typeface="IBM Plex Sans" pitchFamily="34" charset="-122"/>
                <a:cs typeface="IBM Plex Sans" pitchFamily="34" charset="-120"/>
              </a:rPr>
              <a:t>El entrenamiento en código y el despliegue en la nube.</a:t>
            </a:r>
            <a:endParaRPr lang="en-US" sz="1400" dirty="0"/>
          </a:p>
        </p:txBody>
      </p:sp>
      <p:sp>
        <p:nvSpPr>
          <p:cNvPr id="13" name="Text 9"/>
          <p:cNvSpPr/>
          <p:nvPr/>
        </p:nvSpPr>
        <p:spPr>
          <a:xfrm>
            <a:off x="812800" y="5106491"/>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4A259"/>
                </a:solidFill>
                <a:latin typeface="IBM Plex Sans" pitchFamily="34" charset="0"/>
                <a:ea typeface="IBM Plex Sans" pitchFamily="34" charset="-122"/>
                <a:cs typeface="IBM Plex Sans" pitchFamily="34" charset="-120"/>
              </a:rPr>
              <a:t>Gracias por acompañarme en este módulo.</a:t>
            </a:r>
            <a:endParaRPr lang="en-US" sz="1700" dirty="0"/>
          </a:p>
        </p:txBody>
      </p:sp>
      <p:sp>
        <p:nvSpPr>
          <p:cNvPr id="14"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Cierre</a:t>
            </a:r>
            <a:endParaRPr lang="en-US" sz="1200" dirty="0"/>
          </a:p>
        </p:txBody>
      </p:sp>
      <p:sp>
        <p:nvSpPr>
          <p:cNvPr id="15"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16 / 16</a:t>
            </a:r>
            <a:endParaRPr lang="en-US" sz="1200" dirty="0"/>
          </a:p>
        </p:txBody>
      </p:sp>
    </p:spTree>
  </p:cSld>
  <p:clrMapOvr>
    <a:masterClrMapping/>
  </p:clrMapOvr>
</p:sld>
</file>

<file path=ppt/theme/theme1.xml><?xml version="1.0" encoding="utf-8"?>
<a:theme xmlns:a="http://schemas.openxmlformats.org/drawingml/2006/main" name="Image Bio Pro · Módulo 1 · Video 3: Capas, cómo aprende una red y cierre">
  <a:themeElements>
    <a:clrScheme name="Image Bio Pro · Módulo 1 · Video 3: Capas, cómo aprende una red y cierre">
      <a:dk1>
        <a:srgbClr val="0B1F2E"/>
      </a:dk1>
      <a:lt1>
        <a:srgbClr val="F1F6F8"/>
      </a:lt1>
      <a:dk2>
        <a:srgbClr val="223542"/>
      </a:dk2>
      <a:lt2>
        <a:srgbClr val="B8C0C6"/>
      </a:lt2>
      <a:accent1>
        <a:srgbClr val="F4A259"/>
      </a:accent1>
      <a:accent2>
        <a:srgbClr val="12304A"/>
      </a:accent2>
      <a:accent3>
        <a:srgbClr val="6CCFF6"/>
      </a:accent3>
      <a:accent4>
        <a:srgbClr val="A3480F"/>
      </a:accent4>
      <a:accent5>
        <a:srgbClr val="8FA9B8"/>
      </a:accent5>
      <a:accent6>
        <a:srgbClr val="3E5566"/>
      </a:accent6>
      <a:hlink>
        <a:srgbClr val="0563C1"/>
      </a:hlink>
      <a:folHlink>
        <a:srgbClr val="954F72"/>
      </a:folHlink>
    </a:clrScheme>
    <a:fontScheme name="Image Bio Pro · Módulo 1 · Video 3: Capas, cómo aprende una red y cier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Bio Pro · Módulo 1 · Video 3: Capas, cómo aprende una red y cierre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2026-10-26T03:45:03Z</dcterms:created>
  <dcterms:modified xsi:type="dcterms:W3CDTF">2026-10-26T03:45:03Z</dcterms:modified>
</cp:coreProperties>
</file>