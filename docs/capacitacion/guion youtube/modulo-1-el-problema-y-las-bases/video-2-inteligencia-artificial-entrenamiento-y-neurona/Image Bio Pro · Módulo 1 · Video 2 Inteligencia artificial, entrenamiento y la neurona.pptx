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EB Garamond" pitchFamily="18"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video 2 (decir): «En el video anterior vimos qué es una imagen digital: una tabla de números, con sus formatos y su escala. Ahora vamos con la inteligencia artificial.» Idea central: Sin darnos cuenta, usamos inteligencia artificial todos los días: al escribir, al buscar, al ver recomendaciones. Casi todo se basa en aprender de ejemplos. Estas herramientas no son mágicas ni inteligentes en el sentido humano: son muy buenas para lo que vieron en sus ejemplos y se equivocan de maneras a veces sorprendentes. Lo que se hace en este curso es ver cómo funciona esa idea con un caso cercano: contar y medir células.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 biología, la inteligencia artificial ayuda a contar, medir y localizar estructuras en imágenes de microscopio. Su valor está en la rapidez y en la consistencia. Tareas: contar (tedioso a mano), localizar (la tarea que nos ocupa: encontrar cada cabeza), medir (tamaño, forma o intensidad), clasificar (depende de la calidad de los ejemplos) y filtrar (señalar cuáles imágenes merecen atención). La persona decide qué preguntas hacer, interpreta los resultados y detecta cuándo algo no tiene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Inteligencia artificial, aprendizaje automático, redes neuronales y aprendizaje profundo son capas de un mismo campo, de lo más amplio a lo más específico. Son círculos que se contienen unos a otros. No toda la inteligencia artificial aprende de ejemplos: un programa de reglas escritas también cuenta en el sentido amplio. Cuando se habla de IA en los medios casi siempre se habla de aprendizaje profundo. Imagen para llevarse: en la programación tradicional yo escribo las reglas; en el aprendizaje automático doy ejemplos y la computadora descubre las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Estas son las palabras para los cuatro módulos. No se leen todas: se dejan en pantalla y se explica cada una con las propias palabras en las diapositivas siguientes: red neuronal, Colab, Python, Flask, modelo y servidor. Entrenamiento e inferencia se explican aparte porque son las que más confunden.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red neuronal es un programa formado por muchas operaciones pequeñas conectadas, cuyos valores se ajustan a partir de ejemplos en lugar de escribirse a mano. Aprende, pero no como una persona: no comprende lo que hace; ejemplo tras ejemplo sus pesos se acercan a valores que producen la respuesta correcta. El nombre viene de una inspiración en las neuronas del cerebro, pero hay que tomar la comparación con cautela: no es un cerebro. Existen redes de unas decenas de pesos, que se estudian a mano, y redes de millones. En las próximas diapositivas se construye una desde su pieza más pequeña.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modelo es el archivo que guarda lo que la red aprendió: sus pesos. Por sí solo no hace nada; hace falta un programa que lo cargue y lo use. Si la red fuera una receta, el modelo sería la receta escrita con las cantidades ya afinadas. En el proyecto es un archivo con extensión .pt, el formato en que PyTorch guarda sus modelos; cada uno pesa unos 170 megabytes (hay uno para fluorescencia y otro para fondo claro). Un modelo fijo se puede repetir: dos personas con la misma imagen y el mismo modelo obtienen el mismo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Entrenar es aprender la receta y se hace aparte, en Colab; la inferencia es cocinarla, y se hace en el servidor. Para mejorar el modelo no se toca el sitio, solo se cambia el archivo. Las dos etapas están separadas a propósito porque son trabajos de naturaleza distinta: el entrenamiento es mucho cálculo y poca frecuencia; la inferencia es poco cálculo, muchas veces. El sitio no necesita saber cómo se entrenó el modelo, solo necesita el archivo. El modelo no sigue aprendiendo mientras la gente lo usa: los pesos no cambian.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Entrenar es ajustar los pesos con ejemplos anotados. Necesita muchos cálculos, una máquina potente y se hace pocas veces. Es la diferencia entre estudiar con los ejercicios del libro y presentar un examen con ejercicios nuevos. Se hace en un entorno aparte, Google Colab; como está en un cuaderno queda documentado qué datos se usaron, qué decisiones se tomaron y qué resultado se obtuvo. El producto es el archivo del modelo: lo único que sale de ahí y lo único que necesita el sitio. Nota: la pérdida, el gradiente y la retropropagación se explican en el video 3; aquí solo se nombran.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Inferencia es usar el modelo ya entrenado para analizar una imagen nueva. Es una sola pasada, sin ajustar nada, y basta con el procesador de una computadora normal. No hay pérdida, ni gradiente, ni retropropagación. En la inferencia la persona está esperando con la página abierta, por eso el modelo se carga una sola vez, al iniciar el servidor. Uno es el estudio, largo y costoso; el otro es el trabajo diario, rápido y repetible.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primera idea para contar es usar el brillo: todo píxel por encima de cierto valor es célula. Sirve como primera aproximación, pero las reglas se multiplican y se enredan. Con la fila de ocho, ocho, sesenta, ciento cuarenta, doscientos treinta, doscientos treinta, ciento cuarenta, sesenta, ocho, ocho: con umbral cien la célula mide cuatro píxeles; con umbral cincuenta, seis. Un cambio de cincuenta puntos cambió el tamaño en la mitad, y no hay una respuesta correcta. Un método cuyo resultado depende de un número elegido sin razón clara no es un buen instrumento de medición. El sitio incluye el umbral solo como respaldo. Cada regla nueva trae sus excepciones; por eso se recurre al aprendizaje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red neuronal no entiende qué es un espermatozoide. Es un reconocedor de patrones muy sofisticado, y eso sirve para razonar cuándo va a funcionar y cuándo no. Una persona sabe qué es una célula y para qué sirve contarla; la red solo tiene una función muy complicada que recibe números y produce números. Si se le muestra otro tipo de tejido no responde «esto no es lo que sé hacer»: responde con la misma seguridad, porque no puede medir su propia ignorancia. La confianza depende de cuánto se parecen las imágenes nuevas a las del entrenamiento. Nos quita el misterio: es una máquina de reconocer patrones, muy buena, que hay que usar con criterio.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umbral usa una regla fija sobre un píxel. La red usa millones de reglas ajustadas con ejemplos, que miran vecindarios. Cambia quién escribe las reglas. La red también tiene un costo: necesita ejemplos anotados y entrenamiento, y sus decisiones son más difíciles de explicar; no se puede señalar una regla que decidió. Por eso se separa lo que decide la red, dónde está cada cabeza, de lo que se calcula con código, todo lo demás: la red localiza y el código mide. Eso se verá con detalle en el módulo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Una neurona artificial es una operación muy pequeña en cuatro pasos: recibe números, los multiplica por pesos, los suma y decide si se activa. Cuenta del píxel naranja con canales entre cero y uno (0.94, 0.48 y 0.17): 0.94 por 2 es 1.88; menos 0.48, menos 0.17, da 1.23; menos el sesgo 0.3, queda cerca de 0.93, que se dice como cerca de 0.94. Píxel azul (20, 30, 220), entradas 0.08, 0.12 y 0.86: el rojo aporta 0.16, el verde resta 0.12, el azul resta 0.86 y con el sesgo el total es −1.12; la activación lo convierte en cero. Sin que nadie le dijera la palabra rojo, la neurona distingue un píxel rojo de uno azul solo por cómo están puestos sus pesos. La potencia de una red no viene de que cada neurona sea inteligente, sino de que hay millones de ellas bien ajustadas.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El sesgo mueve el punto de activación. Con el mismo píxel y los mismos pesos, un sesgo más exigente apaga la neurona y uno más permisivo la deja encendida. Sin sesgo, la neurona responde en proporción al brillo desde el más tenue. Con sesgo de menos cero punto seis, la cuenta es brillo menos 0.6: el píxel de 0.2 da −0.4, que la activación convierte en cero; el de 0.5 da −0.1, también cero; solo el de 0.9 da 0.3. Un sesgo negativo con una activación que apaga todo lo que no lo supera es, en cierto modo, un umbral; la diferencia es que aquí no lo elige una persona sino el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La activación introduce una torcedura en la suma: si el total es negativo la salida es cero, y si es positivo se deja pasar. Sin ella, apilar capas no serviría de nada. Una operación lineal es aquella en que, si duplico la entrada, se duplica la salida. La función más usada se llama rectificadora porque rectifica los negativos. Con muchas de estas esquinas en capas, la red puede dibujar curvas, bordes y formas: es la diferencia entre trazar con una sola regla recta y trazar con miles de segmentos pequeños. Con pesos, sesgo y activación se entiende una neurona completa. Cierre del video 2 (decir): «En el siguiente video juntamos muchas neuronas en capas y vemos cómo aprende una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C2A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09961"/>
            <a:ext cx="10566400" cy="4135239"/>
          </a:xfrm>
          <a:prstGeom prst="rect">
            <a:avLst/>
          </a:prstGeom>
          <a:noFill/>
          <a:ln/>
        </p:spPr>
        <p:txBody>
          <a:bodyPr wrap="square" lIns="0" tIns="0" rIns="0" bIns="0" rtlCol="0" anchor="t"/>
          <a:lstStyle>
            <a:lvl1pPr algn="l" indent="0" marL="0">
              <a:lnSpc>
                <a:spcPct val="140000"/>
              </a:lnSpc>
              <a:buNone/>
              <a:defRPr lang="en-US" sz="1600" dirty="0">
                <a:solidFill>
                  <a:srgbClr val="0C2A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jpe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inteligencia artificial a nuestro alrededor</a:t>
            </a:r>
            <a:endParaRPr lang="en-US" sz="3600" dirty="0"/>
          </a:p>
        </p:txBody>
      </p:sp>
      <p:sp>
        <p:nvSpPr>
          <p:cNvPr id="6" name="Shape 2"/>
          <p:cNvSpPr/>
          <p:nvPr/>
        </p:nvSpPr>
        <p:spPr>
          <a:xfrm>
            <a:off x="819150" y="1840111"/>
            <a:ext cx="3416300" cy="1489571"/>
          </a:xfrm>
          <a:prstGeom prst="roundRect">
            <a:avLst>
              <a:gd name="adj" fmla="val 8100"/>
            </a:avLst>
          </a:prstGeom>
          <a:solidFill>
            <a:srgbClr val="12304A"/>
          </a:solidFill>
          <a:ln w="12700">
            <a:solidFill>
              <a:srgbClr val="24506E"/>
            </a:solidFill>
            <a:prstDash val="solid"/>
          </a:ln>
        </p:spPr>
      </p:sp>
      <p:pic>
        <p:nvPicPr>
          <p:cNvPr id="7" name="Image 2" descr="Chat">    </p:cNvPr>
          <p:cNvPicPr>
            <a:picLocks noChangeAspect="1"/>
          </p:cNvPicPr>
          <p:nvPr/>
        </p:nvPicPr>
        <p:blipFill>
          <a:blip r:embed="rId3"/>
          <a:srcRect l="0" r="0" t="0" b="0"/>
          <a:stretch/>
        </p:blipFill>
        <p:spPr>
          <a:xfrm>
            <a:off x="1003300" y="2024261"/>
            <a:ext cx="304800" cy="304800"/>
          </a:xfrm>
          <a:prstGeom prst="rect">
            <a:avLst/>
          </a:prstGeom>
        </p:spPr>
      </p:pic>
      <p:sp>
        <p:nvSpPr>
          <p:cNvPr id="8" name="Text 3"/>
          <p:cNvSpPr/>
          <p:nvPr/>
        </p:nvSpPr>
        <p:spPr>
          <a:xfrm>
            <a:off x="1003300" y="2392561"/>
            <a:ext cx="31394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Teclado del teléfono</a:t>
            </a:r>
            <a:endParaRPr lang="en-US" sz="1600" dirty="0"/>
          </a:p>
        </p:txBody>
      </p:sp>
      <p:sp>
        <p:nvSpPr>
          <p:cNvPr id="9" name="Text 4"/>
          <p:cNvSpPr/>
          <p:nvPr/>
        </p:nvSpPr>
        <p:spPr>
          <a:xfrm>
            <a:off x="1003300" y="2699841"/>
            <a:ext cx="31394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Aprendió de millones de textos qué palabra suele seguir a cuál.</a:t>
            </a:r>
            <a:endParaRPr lang="en-US" sz="1300" dirty="0"/>
          </a:p>
        </p:txBody>
      </p:sp>
      <p:sp>
        <p:nvSpPr>
          <p:cNvPr id="10" name="Shape 5"/>
          <p:cNvSpPr/>
          <p:nvPr/>
        </p:nvSpPr>
        <p:spPr>
          <a:xfrm>
            <a:off x="4387850" y="1840111"/>
            <a:ext cx="3416300" cy="1489571"/>
          </a:xfrm>
          <a:prstGeom prst="roundRect">
            <a:avLst>
              <a:gd name="adj" fmla="val 8100"/>
            </a:avLst>
          </a:prstGeom>
          <a:solidFill>
            <a:srgbClr val="12304A"/>
          </a:solidFill>
          <a:ln w="12700">
            <a:solidFill>
              <a:srgbClr val="24506E"/>
            </a:solidFill>
            <a:prstDash val="solid"/>
          </a:ln>
        </p:spPr>
      </p:sp>
      <p:pic>
        <p:nvPicPr>
          <p:cNvPr id="11" name="Image 3" descr="PaperPlane">    </p:cNvPr>
          <p:cNvPicPr>
            <a:picLocks noChangeAspect="1"/>
          </p:cNvPicPr>
          <p:nvPr/>
        </p:nvPicPr>
        <p:blipFill>
          <a:blip r:embed="rId4"/>
          <a:srcRect l="0" r="0" t="0" b="0"/>
          <a:stretch/>
        </p:blipFill>
        <p:spPr>
          <a:xfrm>
            <a:off x="4572000" y="2024261"/>
            <a:ext cx="304800" cy="304800"/>
          </a:xfrm>
          <a:prstGeom prst="rect">
            <a:avLst/>
          </a:prstGeom>
        </p:spPr>
      </p:pic>
      <p:sp>
        <p:nvSpPr>
          <p:cNvPr id="12" name="Text 6"/>
          <p:cNvSpPr/>
          <p:nvPr/>
        </p:nvSpPr>
        <p:spPr>
          <a:xfrm>
            <a:off x="4572000" y="2392561"/>
            <a:ext cx="31394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Correo no deseado</a:t>
            </a:r>
            <a:endParaRPr lang="en-US" sz="1600" dirty="0"/>
          </a:p>
        </p:txBody>
      </p:sp>
      <p:sp>
        <p:nvSpPr>
          <p:cNvPr id="13" name="Text 7"/>
          <p:cNvSpPr/>
          <p:nvPr/>
        </p:nvSpPr>
        <p:spPr>
          <a:xfrm>
            <a:off x="4572000" y="2699841"/>
            <a:ext cx="31394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Aprendió de muchos correos marcados como basura.</a:t>
            </a:r>
            <a:endParaRPr lang="en-US" sz="1300" dirty="0"/>
          </a:p>
        </p:txBody>
      </p:sp>
      <p:sp>
        <p:nvSpPr>
          <p:cNvPr id="14" name="Shape 8"/>
          <p:cNvSpPr/>
          <p:nvPr/>
        </p:nvSpPr>
        <p:spPr>
          <a:xfrm>
            <a:off x="7956550" y="1840111"/>
            <a:ext cx="3416300" cy="1489571"/>
          </a:xfrm>
          <a:prstGeom prst="roundRect">
            <a:avLst>
              <a:gd name="adj" fmla="val 8100"/>
            </a:avLst>
          </a:prstGeom>
          <a:solidFill>
            <a:srgbClr val="12304A"/>
          </a:solidFill>
          <a:ln w="12700">
            <a:solidFill>
              <a:srgbClr val="24506E"/>
            </a:solidFill>
            <a:prstDash val="solid"/>
          </a:ln>
        </p:spPr>
      </p:sp>
      <p:pic>
        <p:nvPicPr>
          <p:cNvPr id="15" name="Image 4" descr="Play">    </p:cNvPr>
          <p:cNvPicPr>
            <a:picLocks noChangeAspect="1"/>
          </p:cNvPicPr>
          <p:nvPr/>
        </p:nvPicPr>
        <p:blipFill>
          <a:blip r:embed="rId5"/>
          <a:srcRect l="0" r="0" t="0" b="0"/>
          <a:stretch/>
        </p:blipFill>
        <p:spPr>
          <a:xfrm>
            <a:off x="8140700" y="2024261"/>
            <a:ext cx="304800" cy="304800"/>
          </a:xfrm>
          <a:prstGeom prst="rect">
            <a:avLst/>
          </a:prstGeom>
        </p:spPr>
      </p:pic>
      <p:sp>
        <p:nvSpPr>
          <p:cNvPr id="16" name="Text 9"/>
          <p:cNvSpPr/>
          <p:nvPr/>
        </p:nvSpPr>
        <p:spPr>
          <a:xfrm>
            <a:off x="8140700" y="2392561"/>
            <a:ext cx="31394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Videos recomendados</a:t>
            </a:r>
            <a:endParaRPr lang="en-US" sz="1600" dirty="0"/>
          </a:p>
        </p:txBody>
      </p:sp>
      <p:sp>
        <p:nvSpPr>
          <p:cNvPr id="17" name="Text 10"/>
          <p:cNvSpPr/>
          <p:nvPr/>
        </p:nvSpPr>
        <p:spPr>
          <a:xfrm>
            <a:off x="8140700" y="2699841"/>
            <a:ext cx="31394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Aprendió de lo que miraron personas parecidas a uno.</a:t>
            </a:r>
            <a:endParaRPr lang="en-US" sz="1300" dirty="0"/>
          </a:p>
        </p:txBody>
      </p:sp>
      <p:sp>
        <p:nvSpPr>
          <p:cNvPr id="18" name="Shape 11"/>
          <p:cNvSpPr/>
          <p:nvPr/>
        </p:nvSpPr>
        <p:spPr>
          <a:xfrm>
            <a:off x="819150" y="3482082"/>
            <a:ext cx="3416300" cy="1489571"/>
          </a:xfrm>
          <a:prstGeom prst="roundRect">
            <a:avLst>
              <a:gd name="adj" fmla="val 8100"/>
            </a:avLst>
          </a:prstGeom>
          <a:solidFill>
            <a:srgbClr val="12304A"/>
          </a:solidFill>
          <a:ln w="12700">
            <a:solidFill>
              <a:srgbClr val="24506E"/>
            </a:solidFill>
            <a:prstDash val="solid"/>
          </a:ln>
        </p:spPr>
      </p:sp>
      <p:pic>
        <p:nvPicPr>
          <p:cNvPr id="19" name="Image 5" descr="Globe">    </p:cNvPr>
          <p:cNvPicPr>
            <a:picLocks noChangeAspect="1"/>
          </p:cNvPicPr>
          <p:nvPr/>
        </p:nvPicPr>
        <p:blipFill>
          <a:blip r:embed="rId6"/>
          <a:srcRect l="0" r="0" t="0" b="0"/>
          <a:stretch/>
        </p:blipFill>
        <p:spPr>
          <a:xfrm>
            <a:off x="1003300" y="3666232"/>
            <a:ext cx="304800" cy="304800"/>
          </a:xfrm>
          <a:prstGeom prst="rect">
            <a:avLst/>
          </a:prstGeom>
        </p:spPr>
      </p:pic>
      <p:sp>
        <p:nvSpPr>
          <p:cNvPr id="20" name="Text 12"/>
          <p:cNvSpPr/>
          <p:nvPr/>
        </p:nvSpPr>
        <p:spPr>
          <a:xfrm>
            <a:off x="1003300" y="4034532"/>
            <a:ext cx="31394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Voz y traducción</a:t>
            </a:r>
            <a:endParaRPr lang="en-US" sz="1600" dirty="0"/>
          </a:p>
        </p:txBody>
      </p:sp>
      <p:sp>
        <p:nvSpPr>
          <p:cNvPr id="21" name="Text 13"/>
          <p:cNvSpPr/>
          <p:nvPr/>
        </p:nvSpPr>
        <p:spPr>
          <a:xfrm>
            <a:off x="1003300" y="4341813"/>
            <a:ext cx="31394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Aprendió de grabaciones transcritas y de textos traducidos.</a:t>
            </a:r>
            <a:endParaRPr lang="en-US" sz="1300" dirty="0"/>
          </a:p>
        </p:txBody>
      </p:sp>
      <p:sp>
        <p:nvSpPr>
          <p:cNvPr id="22" name="Shape 14"/>
          <p:cNvSpPr/>
          <p:nvPr/>
        </p:nvSpPr>
        <p:spPr>
          <a:xfrm>
            <a:off x="4387850" y="3482082"/>
            <a:ext cx="3416300" cy="1489571"/>
          </a:xfrm>
          <a:prstGeom prst="roundRect">
            <a:avLst>
              <a:gd name="adj" fmla="val 8100"/>
            </a:avLst>
          </a:prstGeom>
          <a:solidFill>
            <a:srgbClr val="12304A"/>
          </a:solidFill>
          <a:ln w="12700">
            <a:solidFill>
              <a:srgbClr val="24506E"/>
            </a:solidFill>
            <a:prstDash val="solid"/>
          </a:ln>
        </p:spPr>
      </p:sp>
      <p:pic>
        <p:nvPicPr>
          <p:cNvPr id="23" name="Image 6" descr="Users">    </p:cNvPr>
          <p:cNvPicPr>
            <a:picLocks noChangeAspect="1"/>
          </p:cNvPicPr>
          <p:nvPr/>
        </p:nvPicPr>
        <p:blipFill>
          <a:blip r:embed="rId7"/>
          <a:srcRect l="0" r="0" t="0" b="0"/>
          <a:stretch/>
        </p:blipFill>
        <p:spPr>
          <a:xfrm>
            <a:off x="4572000" y="3666232"/>
            <a:ext cx="304800" cy="304800"/>
          </a:xfrm>
          <a:prstGeom prst="rect">
            <a:avLst/>
          </a:prstGeom>
        </p:spPr>
      </p:pic>
      <p:sp>
        <p:nvSpPr>
          <p:cNvPr id="24" name="Text 15"/>
          <p:cNvSpPr/>
          <p:nvPr/>
        </p:nvSpPr>
        <p:spPr>
          <a:xfrm>
            <a:off x="4572000" y="4034532"/>
            <a:ext cx="31394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1F6F8"/>
                </a:solidFill>
                <a:latin typeface="IBM Plex Sans" pitchFamily="34" charset="0"/>
                <a:ea typeface="IBM Plex Sans" pitchFamily="34" charset="-122"/>
                <a:cs typeface="IBM Plex Sans" pitchFamily="34" charset="-120"/>
              </a:rPr>
              <a:t>Fotos y cámara</a:t>
            </a:r>
            <a:endParaRPr lang="en-US" sz="1600" dirty="0"/>
          </a:p>
        </p:txBody>
      </p:sp>
      <p:sp>
        <p:nvSpPr>
          <p:cNvPr id="25" name="Text 16"/>
          <p:cNvSpPr/>
          <p:nvPr/>
        </p:nvSpPr>
        <p:spPr>
          <a:xfrm>
            <a:off x="4572000" y="4341813"/>
            <a:ext cx="313944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Agrupa fotos por personas y enfoca caras con muchos ejemplos.</a:t>
            </a:r>
            <a:endParaRPr lang="en-US" sz="1300" dirty="0"/>
          </a:p>
        </p:txBody>
      </p:sp>
      <p:sp>
        <p:nvSpPr>
          <p:cNvPr id="26" name="Shape 17"/>
          <p:cNvSpPr/>
          <p:nvPr/>
        </p:nvSpPr>
        <p:spPr>
          <a:xfrm>
            <a:off x="7950200" y="3475732"/>
            <a:ext cx="3429000" cy="1502271"/>
          </a:xfrm>
          <a:prstGeom prst="roundRect">
            <a:avLst>
              <a:gd name="adj" fmla="val 8454"/>
            </a:avLst>
          </a:prstGeom>
          <a:solidFill>
            <a:srgbClr val="F4A259"/>
          </a:solidFill>
          <a:ln/>
        </p:spPr>
      </p:sp>
      <p:sp>
        <p:nvSpPr>
          <p:cNvPr id="27" name="Text 18"/>
          <p:cNvSpPr/>
          <p:nvPr/>
        </p:nvSpPr>
        <p:spPr>
          <a:xfrm>
            <a:off x="8128000" y="3728442"/>
            <a:ext cx="3165602"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1406"/>
                </a:solidFill>
                <a:latin typeface="IBM Plex Sans" pitchFamily="34" charset="0"/>
                <a:ea typeface="IBM Plex Sans" pitchFamily="34" charset="-122"/>
                <a:cs typeface="IBM Plex Sans" pitchFamily="34" charset="-120"/>
              </a:rPr>
              <a:t>En ningún caso alguien escribió las reglas</a:t>
            </a:r>
            <a:endParaRPr lang="en-US" sz="1600" dirty="0"/>
          </a:p>
        </p:txBody>
      </p:sp>
      <p:sp>
        <p:nvSpPr>
          <p:cNvPr id="28" name="Text 19"/>
          <p:cNvSpPr/>
          <p:nvPr/>
        </p:nvSpPr>
        <p:spPr>
          <a:xfrm>
            <a:off x="8128000" y="4279503"/>
            <a:ext cx="31656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1406"/>
                </a:solidFill>
                <a:latin typeface="IBM Plex Sans" pitchFamily="34" charset="0"/>
                <a:ea typeface="IBM Plex Sans" pitchFamily="34" charset="-122"/>
                <a:cs typeface="IBM Plex Sans" pitchFamily="34" charset="-120"/>
              </a:rPr>
              <a:t>Se reunieron ejemplos y se dejó que el sistema encontrara qué los distingue.</a:t>
            </a:r>
            <a:endParaRPr lang="en-US" sz="1300" dirty="0"/>
          </a:p>
        </p:txBody>
      </p:sp>
      <p:sp>
        <p:nvSpPr>
          <p:cNvPr id="29"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30"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 / 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La inteligencia artificial con imágenes de células</a:t>
            </a:r>
            <a:endParaRPr lang="en-US" sz="3200" dirty="0"/>
          </a:p>
        </p:txBody>
      </p:sp>
      <p:sp>
        <p:nvSpPr>
          <p:cNvPr id="6" name="Shape 2"/>
          <p:cNvSpPr/>
          <p:nvPr/>
        </p:nvSpPr>
        <p:spPr>
          <a:xfrm>
            <a:off x="819150" y="1784251"/>
            <a:ext cx="6743700" cy="434280"/>
          </a:xfrm>
          <a:prstGeom prst="roundRect">
            <a:avLst>
              <a:gd name="adj" fmla="val 27782"/>
            </a:avLst>
          </a:prstGeom>
          <a:solidFill>
            <a:srgbClr val="FCFDFD"/>
          </a:solidFill>
          <a:ln w="12700">
            <a:solidFill>
              <a:srgbClr val="D5E3EA"/>
            </a:solidFill>
            <a:prstDash val="solid"/>
          </a:ln>
        </p:spPr>
      </p:sp>
      <p:sp>
        <p:nvSpPr>
          <p:cNvPr id="7" name="Text 3"/>
          <p:cNvSpPr/>
          <p:nvPr/>
        </p:nvSpPr>
        <p:spPr>
          <a:xfrm>
            <a:off x="990600" y="1879501"/>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Contar</a:t>
            </a:r>
            <a:endParaRPr lang="en-US" sz="1600" dirty="0"/>
          </a:p>
        </p:txBody>
      </p:sp>
      <p:sp>
        <p:nvSpPr>
          <p:cNvPr id="8" name="Text 4"/>
          <p:cNvSpPr/>
          <p:nvPr/>
        </p:nvSpPr>
        <p:spPr>
          <a:xfrm>
            <a:off x="2413000" y="1889919"/>
            <a:ext cx="413420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Células, núcleos o colonias, con un criterio fijo.</a:t>
            </a:r>
            <a:endParaRPr lang="en-US" sz="1300" dirty="0"/>
          </a:p>
        </p:txBody>
      </p:sp>
      <p:sp>
        <p:nvSpPr>
          <p:cNvPr id="9" name="Shape 5"/>
          <p:cNvSpPr/>
          <p:nvPr/>
        </p:nvSpPr>
        <p:spPr>
          <a:xfrm>
            <a:off x="812800" y="2301081"/>
            <a:ext cx="6756400" cy="421580"/>
          </a:xfrm>
          <a:prstGeom prst="roundRect">
            <a:avLst>
              <a:gd name="adj" fmla="val 30125"/>
            </a:avLst>
          </a:prstGeom>
          <a:solidFill>
            <a:srgbClr val="0B1F2E"/>
          </a:solidFill>
          <a:ln/>
        </p:spPr>
      </p:sp>
      <p:sp>
        <p:nvSpPr>
          <p:cNvPr id="10" name="Text 6"/>
          <p:cNvSpPr/>
          <p:nvPr/>
        </p:nvSpPr>
        <p:spPr>
          <a:xfrm>
            <a:off x="977900" y="2389981"/>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59"/>
                </a:solidFill>
                <a:latin typeface="IBM Plex Sans" pitchFamily="34" charset="0"/>
                <a:ea typeface="IBM Plex Sans" pitchFamily="34" charset="-122"/>
                <a:cs typeface="IBM Plex Sans" pitchFamily="34" charset="-120"/>
              </a:rPr>
              <a:t>Localizar</a:t>
            </a:r>
            <a:endParaRPr lang="en-US" sz="1600" dirty="0"/>
          </a:p>
        </p:txBody>
      </p:sp>
      <p:sp>
        <p:nvSpPr>
          <p:cNvPr id="11" name="Text 7"/>
          <p:cNvSpPr/>
          <p:nvPr/>
        </p:nvSpPr>
        <p:spPr>
          <a:xfrm>
            <a:off x="2400300" y="2400399"/>
            <a:ext cx="390953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Encontrar cada estructura. Es nuestra tarea.</a:t>
            </a:r>
            <a:endParaRPr lang="en-US" sz="1300" dirty="0"/>
          </a:p>
        </p:txBody>
      </p:sp>
      <p:sp>
        <p:nvSpPr>
          <p:cNvPr id="12" name="Shape 8"/>
          <p:cNvSpPr/>
          <p:nvPr/>
        </p:nvSpPr>
        <p:spPr>
          <a:xfrm>
            <a:off x="812800" y="2798862"/>
            <a:ext cx="6756400" cy="421580"/>
          </a:xfrm>
          <a:prstGeom prst="roundRect">
            <a:avLst>
              <a:gd name="adj" fmla="val 30125"/>
            </a:avLst>
          </a:prstGeom>
          <a:solidFill>
            <a:srgbClr val="0B1F2E"/>
          </a:solidFill>
          <a:ln/>
        </p:spPr>
      </p:sp>
      <p:sp>
        <p:nvSpPr>
          <p:cNvPr id="13" name="Text 9"/>
          <p:cNvSpPr/>
          <p:nvPr/>
        </p:nvSpPr>
        <p:spPr>
          <a:xfrm>
            <a:off x="977900" y="2887762"/>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59"/>
                </a:solidFill>
                <a:latin typeface="IBM Plex Sans" pitchFamily="34" charset="0"/>
                <a:ea typeface="IBM Plex Sans" pitchFamily="34" charset="-122"/>
                <a:cs typeface="IBM Plex Sans" pitchFamily="34" charset="-120"/>
              </a:rPr>
              <a:t>Medir</a:t>
            </a:r>
            <a:endParaRPr lang="en-US" sz="1600" dirty="0"/>
          </a:p>
        </p:txBody>
      </p:sp>
      <p:sp>
        <p:nvSpPr>
          <p:cNvPr id="14" name="Text 10"/>
          <p:cNvSpPr/>
          <p:nvPr/>
        </p:nvSpPr>
        <p:spPr>
          <a:xfrm>
            <a:off x="2400300" y="2898180"/>
            <a:ext cx="364509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Tamaño, forma o intensidad de cada una.</a:t>
            </a:r>
            <a:endParaRPr lang="en-US" sz="1300" dirty="0"/>
          </a:p>
        </p:txBody>
      </p:sp>
      <p:sp>
        <p:nvSpPr>
          <p:cNvPr id="15" name="Shape 11"/>
          <p:cNvSpPr/>
          <p:nvPr/>
        </p:nvSpPr>
        <p:spPr>
          <a:xfrm>
            <a:off x="819150" y="3302992"/>
            <a:ext cx="6743700" cy="434280"/>
          </a:xfrm>
          <a:prstGeom prst="roundRect">
            <a:avLst>
              <a:gd name="adj" fmla="val 27782"/>
            </a:avLst>
          </a:prstGeom>
          <a:solidFill>
            <a:srgbClr val="FCFDFD"/>
          </a:solidFill>
          <a:ln w="12700">
            <a:solidFill>
              <a:srgbClr val="D5E3EA"/>
            </a:solidFill>
            <a:prstDash val="solid"/>
          </a:ln>
        </p:spPr>
      </p:sp>
      <p:sp>
        <p:nvSpPr>
          <p:cNvPr id="16" name="Text 12"/>
          <p:cNvSpPr/>
          <p:nvPr/>
        </p:nvSpPr>
        <p:spPr>
          <a:xfrm>
            <a:off x="990600" y="3398242"/>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Clasificar</a:t>
            </a:r>
            <a:endParaRPr lang="en-US" sz="1600" dirty="0"/>
          </a:p>
        </p:txBody>
      </p:sp>
      <p:sp>
        <p:nvSpPr>
          <p:cNvPr id="17" name="Text 13"/>
          <p:cNvSpPr/>
          <p:nvPr/>
        </p:nvSpPr>
        <p:spPr>
          <a:xfrm>
            <a:off x="2413000" y="3408660"/>
            <a:ext cx="293882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Decidir de qué tipo es una célula.</a:t>
            </a:r>
            <a:endParaRPr lang="en-US" sz="1300" dirty="0"/>
          </a:p>
        </p:txBody>
      </p:sp>
      <p:sp>
        <p:nvSpPr>
          <p:cNvPr id="18" name="Shape 14"/>
          <p:cNvSpPr/>
          <p:nvPr/>
        </p:nvSpPr>
        <p:spPr>
          <a:xfrm>
            <a:off x="819150" y="3826173"/>
            <a:ext cx="6743700" cy="434280"/>
          </a:xfrm>
          <a:prstGeom prst="roundRect">
            <a:avLst>
              <a:gd name="adj" fmla="val 27782"/>
            </a:avLst>
          </a:prstGeom>
          <a:solidFill>
            <a:srgbClr val="FCFDFD"/>
          </a:solidFill>
          <a:ln w="12700">
            <a:solidFill>
              <a:srgbClr val="D5E3EA"/>
            </a:solidFill>
            <a:prstDash val="solid"/>
          </a:ln>
        </p:spPr>
      </p:sp>
      <p:sp>
        <p:nvSpPr>
          <p:cNvPr id="19" name="Text 15"/>
          <p:cNvSpPr/>
          <p:nvPr/>
        </p:nvSpPr>
        <p:spPr>
          <a:xfrm>
            <a:off x="990600" y="3921423"/>
            <a:ext cx="13208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Filtrar</a:t>
            </a:r>
            <a:endParaRPr lang="en-US" sz="1600" dirty="0"/>
          </a:p>
        </p:txBody>
      </p:sp>
      <p:sp>
        <p:nvSpPr>
          <p:cNvPr id="20" name="Text 16"/>
          <p:cNvSpPr/>
          <p:nvPr/>
        </p:nvSpPr>
        <p:spPr>
          <a:xfrm>
            <a:off x="2413000" y="3931841"/>
            <a:ext cx="366057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Señalar qué imágenes merecen atención.</a:t>
            </a:r>
            <a:endParaRPr lang="en-US" sz="1300" dirty="0"/>
          </a:p>
        </p:txBody>
      </p:sp>
      <p:pic>
        <p:nvPicPr>
          <p:cNvPr id="21" name="Image 2" descr="Células marcadas con fluorescencia: núcleos en azul, filamentos en verde y mitocondrias en naranja, sobre fondo oscuro">    </p:cNvPr>
          <p:cNvPicPr>
            <a:picLocks noChangeAspect="1"/>
          </p:cNvPicPr>
          <p:nvPr/>
        </p:nvPicPr>
        <p:blipFill>
          <a:blip r:embed="rId3"/>
          <a:srcRect l="0" r="0" t="3719" b="3719"/>
          <a:stretch/>
        </p:blipFill>
        <p:spPr>
          <a:xfrm>
            <a:off x="7823200" y="1777901"/>
            <a:ext cx="3556000" cy="2489200"/>
          </a:xfrm>
          <a:prstGeom prst="roundRect">
            <a:avLst>
              <a:gd name="adj" fmla="val 4082"/>
            </a:avLst>
          </a:prstGeom>
        </p:spPr>
      </p:pic>
      <p:sp>
        <p:nvSpPr>
          <p:cNvPr id="22" name="Text 17"/>
          <p:cNvSpPr/>
          <p:nvPr/>
        </p:nvSpPr>
        <p:spPr>
          <a:xfrm>
            <a:off x="7823200" y="4317901"/>
            <a:ext cx="366268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5E7280"/>
                </a:solidFill>
                <a:latin typeface="IBM Plex Sans" pitchFamily="34" charset="0"/>
                <a:ea typeface="IBM Plex Sans" pitchFamily="34" charset="-122"/>
                <a:cs typeface="IBM Plex Sans" pitchFamily="34" charset="-120"/>
              </a:rPr>
              <a:t>Células con fluorescencia: lo marcado brilla sobre fondo oscuro.</a:t>
            </a:r>
            <a:endParaRPr lang="en-US" sz="1100" dirty="0"/>
          </a:p>
        </p:txBody>
      </p:sp>
      <p:sp>
        <p:nvSpPr>
          <p:cNvPr id="23" name="Shape 18"/>
          <p:cNvSpPr/>
          <p:nvPr/>
        </p:nvSpPr>
        <p:spPr>
          <a:xfrm>
            <a:off x="812800" y="4909641"/>
            <a:ext cx="10566400" cy="869950"/>
          </a:xfrm>
          <a:prstGeom prst="roundRect">
            <a:avLst>
              <a:gd name="adj" fmla="val 14599"/>
            </a:avLst>
          </a:prstGeom>
          <a:solidFill>
            <a:srgbClr val="E3EFF5"/>
          </a:solidFill>
          <a:ln/>
        </p:spPr>
      </p:sp>
      <p:pic>
        <p:nvPicPr>
          <p:cNvPr id="24" name="Image 3" descr="Verified">    </p:cNvPr>
          <p:cNvPicPr>
            <a:picLocks noChangeAspect="1"/>
          </p:cNvPicPr>
          <p:nvPr/>
        </p:nvPicPr>
        <p:blipFill>
          <a:blip r:embed="rId4"/>
          <a:srcRect l="-335" r="-335" t="0" b="0"/>
          <a:stretch/>
        </p:blipFill>
        <p:spPr>
          <a:xfrm>
            <a:off x="1041400" y="5192216"/>
            <a:ext cx="223738" cy="304800"/>
          </a:xfrm>
          <a:prstGeom prst="rect">
            <a:avLst/>
          </a:prstGeom>
        </p:spPr>
      </p:pic>
      <p:sp>
        <p:nvSpPr>
          <p:cNvPr id="25" name="Text 19"/>
          <p:cNvSpPr/>
          <p:nvPr/>
        </p:nvSpPr>
        <p:spPr>
          <a:xfrm>
            <a:off x="1392138" y="5087441"/>
            <a:ext cx="1005121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La IA no sustituye el criterio de quien investiga. Un resultado es una medición con sus márgenes de error, no una verdad, y por eso siempre se puede revisar.</a:t>
            </a:r>
            <a:endParaRPr lang="en-US" sz="1500" dirty="0"/>
          </a:p>
        </p:txBody>
      </p:sp>
      <p:sp>
        <p:nvSpPr>
          <p:cNvPr id="26" name="Text 2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 · Foto: Erin Rod (CC BY 4.0), Wikimedia Commons</a:t>
            </a:r>
            <a:endParaRPr lang="en-US" sz="1200" dirty="0"/>
          </a:p>
        </p:txBody>
      </p:sp>
      <p:sp>
        <p:nvSpPr>
          <p:cNvPr id="27"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Algunas definiciones de inteligencia artificial</a:t>
            </a:r>
            <a:endParaRPr lang="en-US" sz="3200" dirty="0"/>
          </a:p>
        </p:txBody>
      </p:sp>
      <p:pic>
        <p:nvPicPr>
          <p:cNvPr id="6" name="Image 2" descr="Cuatro círculos, uno dentro de otro: inteligencia artificial, aprendizaje automático, redes neuronales y aprendizaje profundo">    </p:cNvPr>
          <p:cNvPicPr>
            <a:picLocks noChangeAspect="1"/>
          </p:cNvPicPr>
          <p:nvPr/>
        </p:nvPicPr>
        <p:blipFill>
          <a:blip r:embed="rId3"/>
          <a:srcRect l="0" r="0" t="0" b="0"/>
          <a:stretch/>
        </p:blipFill>
        <p:spPr>
          <a:xfrm>
            <a:off x="812800" y="1777901"/>
            <a:ext cx="3429000" cy="3302000"/>
          </a:xfrm>
          <a:prstGeom prst="rect">
            <a:avLst/>
          </a:prstGeom>
        </p:spPr>
      </p:pic>
      <p:sp>
        <p:nvSpPr>
          <p:cNvPr id="7" name="Shape 2"/>
          <p:cNvSpPr/>
          <p:nvPr/>
        </p:nvSpPr>
        <p:spPr>
          <a:xfrm>
            <a:off x="4603750" y="2032695"/>
            <a:ext cx="6769100" cy="421580"/>
          </a:xfrm>
          <a:prstGeom prst="roundRect">
            <a:avLst>
              <a:gd name="adj" fmla="val 19581"/>
            </a:avLst>
          </a:prstGeom>
          <a:solidFill>
            <a:srgbClr val="FCFDFD"/>
          </a:solidFill>
          <a:ln w="12700">
            <a:solidFill>
              <a:srgbClr val="D5E3EA"/>
            </a:solidFill>
            <a:prstDash val="solid"/>
          </a:ln>
        </p:spPr>
      </p:sp>
      <p:sp>
        <p:nvSpPr>
          <p:cNvPr id="8" name="Shape 3"/>
          <p:cNvSpPr/>
          <p:nvPr/>
        </p:nvSpPr>
        <p:spPr>
          <a:xfrm>
            <a:off x="4772025" y="2164060"/>
            <a:ext cx="158750" cy="158750"/>
          </a:xfrm>
          <a:prstGeom prst="roundRect">
            <a:avLst>
              <a:gd name="adj" fmla="val 50000"/>
            </a:avLst>
          </a:prstGeom>
          <a:solidFill>
            <a:srgbClr val="E3EFF5"/>
          </a:solidFill>
          <a:ln w="19050">
            <a:solidFill>
              <a:srgbClr val="0E6E9C"/>
            </a:solidFill>
            <a:prstDash val="solid"/>
          </a:ln>
        </p:spPr>
      </p:sp>
      <p:sp>
        <p:nvSpPr>
          <p:cNvPr id="9" name="Text 4"/>
          <p:cNvSpPr/>
          <p:nvPr/>
        </p:nvSpPr>
        <p:spPr>
          <a:xfrm>
            <a:off x="5054600" y="2127945"/>
            <a:ext cx="430958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C2A3E"/>
                </a:solidFill>
                <a:latin typeface="IBM Plex Sans" pitchFamily="34" charset="0"/>
                <a:ea typeface="IBM Plex Sans" pitchFamily="34" charset="-122"/>
                <a:cs typeface="IBM Plex Sans" pitchFamily="34" charset="-120"/>
              </a:rPr>
              <a:t>Inteligencia artificial:</a:t>
            </a:r>
            <a:r>
              <a:rPr lang="en-US" sz="1400" dirty="0">
                <a:solidFill>
                  <a:srgbClr val="0C2A3E"/>
                </a:solidFill>
                <a:latin typeface="IBM Plex Sans" pitchFamily="34" charset="0"/>
                <a:ea typeface="IBM Plex Sans" pitchFamily="34" charset="-122"/>
                <a:cs typeface="IBM Plex Sans" pitchFamily="34" charset="-120"/>
              </a:rPr>
              <a:t> el campo más amplio.</a:t>
            </a:r>
            <a:endParaRPr lang="en-US" sz="1400" dirty="0"/>
          </a:p>
        </p:txBody>
      </p:sp>
      <p:sp>
        <p:nvSpPr>
          <p:cNvPr id="10" name="Shape 5"/>
          <p:cNvSpPr/>
          <p:nvPr/>
        </p:nvSpPr>
        <p:spPr>
          <a:xfrm>
            <a:off x="4603750" y="2555875"/>
            <a:ext cx="6769100" cy="421580"/>
          </a:xfrm>
          <a:prstGeom prst="roundRect">
            <a:avLst>
              <a:gd name="adj" fmla="val 19581"/>
            </a:avLst>
          </a:prstGeom>
          <a:solidFill>
            <a:srgbClr val="FCFDFD"/>
          </a:solidFill>
          <a:ln w="12700">
            <a:solidFill>
              <a:srgbClr val="D5E3EA"/>
            </a:solidFill>
            <a:prstDash val="solid"/>
          </a:ln>
        </p:spPr>
      </p:sp>
      <p:sp>
        <p:nvSpPr>
          <p:cNvPr id="11" name="Shape 6"/>
          <p:cNvSpPr/>
          <p:nvPr/>
        </p:nvSpPr>
        <p:spPr>
          <a:xfrm>
            <a:off x="4772025" y="2687241"/>
            <a:ext cx="158750" cy="158750"/>
          </a:xfrm>
          <a:prstGeom prst="roundRect">
            <a:avLst>
              <a:gd name="adj" fmla="val 50000"/>
            </a:avLst>
          </a:prstGeom>
          <a:solidFill>
            <a:srgbClr val="C9DCE6"/>
          </a:solidFill>
          <a:ln w="19050">
            <a:solidFill>
              <a:srgbClr val="0E6E9C"/>
            </a:solidFill>
            <a:prstDash val="solid"/>
          </a:ln>
        </p:spPr>
      </p:sp>
      <p:sp>
        <p:nvSpPr>
          <p:cNvPr id="12" name="Text 7"/>
          <p:cNvSpPr/>
          <p:nvPr/>
        </p:nvSpPr>
        <p:spPr>
          <a:xfrm>
            <a:off x="5054600" y="2651125"/>
            <a:ext cx="522791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C2A3E"/>
                </a:solidFill>
                <a:latin typeface="IBM Plex Sans" pitchFamily="34" charset="0"/>
                <a:ea typeface="IBM Plex Sans" pitchFamily="34" charset="-122"/>
                <a:cs typeface="IBM Plex Sans" pitchFamily="34" charset="-120"/>
              </a:rPr>
              <a:t>Aprendizaje automático:</a:t>
            </a:r>
            <a:r>
              <a:rPr lang="en-US" sz="1400" dirty="0">
                <a:solidFill>
                  <a:srgbClr val="0C2A3E"/>
                </a:solidFill>
                <a:latin typeface="IBM Plex Sans" pitchFamily="34" charset="0"/>
                <a:ea typeface="IBM Plex Sans" pitchFamily="34" charset="-122"/>
                <a:cs typeface="IBM Plex Sans" pitchFamily="34" charset="-120"/>
              </a:rPr>
              <a:t> lo que aprende de ejemplos.</a:t>
            </a:r>
            <a:endParaRPr lang="en-US" sz="1400" dirty="0"/>
          </a:p>
        </p:txBody>
      </p:sp>
      <p:sp>
        <p:nvSpPr>
          <p:cNvPr id="13" name="Shape 8"/>
          <p:cNvSpPr/>
          <p:nvPr/>
        </p:nvSpPr>
        <p:spPr>
          <a:xfrm>
            <a:off x="4603750" y="3079055"/>
            <a:ext cx="6769100" cy="421580"/>
          </a:xfrm>
          <a:prstGeom prst="roundRect">
            <a:avLst>
              <a:gd name="adj" fmla="val 19581"/>
            </a:avLst>
          </a:prstGeom>
          <a:solidFill>
            <a:srgbClr val="FCFDFD"/>
          </a:solidFill>
          <a:ln w="12700">
            <a:solidFill>
              <a:srgbClr val="D5E3EA"/>
            </a:solidFill>
            <a:prstDash val="solid"/>
          </a:ln>
        </p:spPr>
      </p:sp>
      <p:sp>
        <p:nvSpPr>
          <p:cNvPr id="14" name="Shape 9"/>
          <p:cNvSpPr/>
          <p:nvPr/>
        </p:nvSpPr>
        <p:spPr>
          <a:xfrm>
            <a:off x="4772025" y="3210421"/>
            <a:ext cx="158750" cy="158750"/>
          </a:xfrm>
          <a:prstGeom prst="roundRect">
            <a:avLst>
              <a:gd name="adj" fmla="val 50000"/>
            </a:avLst>
          </a:prstGeom>
          <a:solidFill>
            <a:srgbClr val="9EC3D6"/>
          </a:solidFill>
          <a:ln w="19050">
            <a:solidFill>
              <a:srgbClr val="0E6E9C"/>
            </a:solidFill>
            <a:prstDash val="solid"/>
          </a:ln>
        </p:spPr>
      </p:sp>
      <p:sp>
        <p:nvSpPr>
          <p:cNvPr id="15" name="Text 10"/>
          <p:cNvSpPr/>
          <p:nvPr/>
        </p:nvSpPr>
        <p:spPr>
          <a:xfrm>
            <a:off x="5054600" y="3174305"/>
            <a:ext cx="565213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C2A3E"/>
                </a:solidFill>
                <a:latin typeface="IBM Plex Sans" pitchFamily="34" charset="0"/>
                <a:ea typeface="IBM Plex Sans" pitchFamily="34" charset="-122"/>
                <a:cs typeface="IBM Plex Sans" pitchFamily="34" charset="-120"/>
              </a:rPr>
              <a:t>Redes neuronales:</a:t>
            </a:r>
            <a:r>
              <a:rPr lang="en-US" sz="1400" dirty="0">
                <a:solidFill>
                  <a:srgbClr val="0C2A3E"/>
                </a:solidFill>
                <a:latin typeface="IBM Plex Sans" pitchFamily="34" charset="0"/>
                <a:ea typeface="IBM Plex Sans" pitchFamily="34" charset="-122"/>
                <a:cs typeface="IBM Plex Sans" pitchFamily="34" charset="-120"/>
              </a:rPr>
              <a:t> una técnica de aprendizaje automático.</a:t>
            </a:r>
            <a:endParaRPr lang="en-US" sz="1400" dirty="0"/>
          </a:p>
        </p:txBody>
      </p:sp>
      <p:sp>
        <p:nvSpPr>
          <p:cNvPr id="16" name="Shape 11"/>
          <p:cNvSpPr/>
          <p:nvPr/>
        </p:nvSpPr>
        <p:spPr>
          <a:xfrm>
            <a:off x="4603750" y="3602236"/>
            <a:ext cx="6769100" cy="421580"/>
          </a:xfrm>
          <a:prstGeom prst="roundRect">
            <a:avLst>
              <a:gd name="adj" fmla="val 19581"/>
            </a:avLst>
          </a:prstGeom>
          <a:solidFill>
            <a:srgbClr val="FCFDFD"/>
          </a:solidFill>
          <a:ln w="12700">
            <a:solidFill>
              <a:srgbClr val="D5E3EA"/>
            </a:solidFill>
            <a:prstDash val="solid"/>
          </a:ln>
        </p:spPr>
      </p:sp>
      <p:sp>
        <p:nvSpPr>
          <p:cNvPr id="17" name="Shape 12"/>
          <p:cNvSpPr/>
          <p:nvPr/>
        </p:nvSpPr>
        <p:spPr>
          <a:xfrm>
            <a:off x="4772025" y="3733602"/>
            <a:ext cx="158750" cy="158750"/>
          </a:xfrm>
          <a:prstGeom prst="roundRect">
            <a:avLst>
              <a:gd name="adj" fmla="val 50000"/>
            </a:avLst>
          </a:prstGeom>
          <a:solidFill>
            <a:srgbClr val="0B1F2E"/>
          </a:solidFill>
          <a:ln w="19050">
            <a:solidFill>
              <a:srgbClr val="F4A259"/>
            </a:solidFill>
            <a:prstDash val="solid"/>
          </a:ln>
        </p:spPr>
      </p:sp>
      <p:sp>
        <p:nvSpPr>
          <p:cNvPr id="18" name="Text 13"/>
          <p:cNvSpPr/>
          <p:nvPr/>
        </p:nvSpPr>
        <p:spPr>
          <a:xfrm>
            <a:off x="5054600" y="3697486"/>
            <a:ext cx="470868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C2A3E"/>
                </a:solidFill>
                <a:latin typeface="IBM Plex Sans" pitchFamily="34" charset="0"/>
                <a:ea typeface="IBM Plex Sans" pitchFamily="34" charset="-122"/>
                <a:cs typeface="IBM Plex Sans" pitchFamily="34" charset="-120"/>
              </a:rPr>
              <a:t>Aprendizaje profundo:</a:t>
            </a:r>
            <a:r>
              <a:rPr lang="en-US" sz="1400" dirty="0">
                <a:solidFill>
                  <a:srgbClr val="0C2A3E"/>
                </a:solidFill>
                <a:latin typeface="IBM Plex Sans" pitchFamily="34" charset="0"/>
                <a:ea typeface="IBM Plex Sans" pitchFamily="34" charset="-122"/>
                <a:cs typeface="IBM Plex Sans" pitchFamily="34" charset="-120"/>
              </a:rPr>
              <a:t> redes con muchas capas.</a:t>
            </a:r>
            <a:endParaRPr lang="en-US" sz="1400" dirty="0"/>
          </a:p>
        </p:txBody>
      </p:sp>
      <p:sp>
        <p:nvSpPr>
          <p:cNvPr id="19" name="Shape 14"/>
          <p:cNvSpPr/>
          <p:nvPr/>
        </p:nvSpPr>
        <p:spPr>
          <a:xfrm>
            <a:off x="4597400" y="4119066"/>
            <a:ext cx="6781800" cy="712391"/>
          </a:xfrm>
          <a:prstGeom prst="roundRect">
            <a:avLst>
              <a:gd name="adj" fmla="val 12479"/>
            </a:avLst>
          </a:prstGeom>
          <a:solidFill>
            <a:srgbClr val="0B1F2E"/>
          </a:solidFill>
          <a:ln/>
        </p:spPr>
      </p:sp>
      <p:sp>
        <p:nvSpPr>
          <p:cNvPr id="20" name="Text 15"/>
          <p:cNvSpPr/>
          <p:nvPr/>
        </p:nvSpPr>
        <p:spPr>
          <a:xfrm>
            <a:off x="4749800" y="4233366"/>
            <a:ext cx="667131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Programación tradicional: reglas + datos → respuestas.</a:t>
            </a:r>
            <a:endParaRPr lang="en-US" sz="1300" dirty="0"/>
          </a:p>
        </p:txBody>
      </p:sp>
      <p:sp>
        <p:nvSpPr>
          <p:cNvPr id="21" name="Text 16"/>
          <p:cNvSpPr/>
          <p:nvPr/>
        </p:nvSpPr>
        <p:spPr>
          <a:xfrm>
            <a:off x="4749800" y="4494312"/>
            <a:ext cx="667131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A259"/>
                </a:solidFill>
                <a:latin typeface="IBM Plex Sans" pitchFamily="34" charset="0"/>
                <a:ea typeface="IBM Plex Sans" pitchFamily="34" charset="-122"/>
                <a:cs typeface="IBM Plex Sans" pitchFamily="34" charset="-120"/>
              </a:rPr>
              <a:t>Aprendizaje automático: datos + respuestas → reglas.</a:t>
            </a:r>
            <a:endParaRPr lang="en-US" sz="1300" dirty="0"/>
          </a:p>
        </p:txBody>
      </p:sp>
      <p:sp>
        <p:nvSpPr>
          <p:cNvPr id="22"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23"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EN UNA FRASE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Palabras que vamos a escuchar</a:t>
            </a:r>
            <a:endParaRPr lang="en-US" sz="3600" dirty="0"/>
          </a:p>
        </p:txBody>
      </p:sp>
      <p:sp>
        <p:nvSpPr>
          <p:cNvPr id="6" name="Shape 2"/>
          <p:cNvSpPr/>
          <p:nvPr/>
        </p:nvSpPr>
        <p:spPr>
          <a:xfrm>
            <a:off x="819150" y="1840111"/>
            <a:ext cx="2533650" cy="1042591"/>
          </a:xfrm>
          <a:prstGeom prst="roundRect">
            <a:avLst>
              <a:gd name="adj" fmla="val 10354"/>
            </a:avLst>
          </a:prstGeom>
          <a:solidFill>
            <a:srgbClr val="FCFDFD"/>
          </a:solidFill>
          <a:ln w="12700">
            <a:solidFill>
              <a:srgbClr val="D5E3EA"/>
            </a:solidFill>
            <a:prstDash val="solid"/>
          </a:ln>
        </p:spPr>
      </p:sp>
      <p:sp>
        <p:nvSpPr>
          <p:cNvPr id="7" name="Text 3"/>
          <p:cNvSpPr/>
          <p:nvPr/>
        </p:nvSpPr>
        <p:spPr>
          <a:xfrm>
            <a:off x="977900" y="1998861"/>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Red neuronal</a:t>
            </a:r>
            <a:endParaRPr lang="en-US" sz="1500" dirty="0"/>
          </a:p>
        </p:txBody>
      </p:sp>
      <p:sp>
        <p:nvSpPr>
          <p:cNvPr id="8" name="Text 4"/>
          <p:cNvSpPr/>
          <p:nvPr/>
        </p:nvSpPr>
        <p:spPr>
          <a:xfrm>
            <a:off x="977900" y="2278261"/>
            <a:ext cx="22826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Un programa que aprende de ejemplos.</a:t>
            </a:r>
            <a:endParaRPr lang="en-US" sz="1300" dirty="0"/>
          </a:p>
        </p:txBody>
      </p:sp>
      <p:sp>
        <p:nvSpPr>
          <p:cNvPr id="9" name="Shape 5"/>
          <p:cNvSpPr/>
          <p:nvPr/>
        </p:nvSpPr>
        <p:spPr>
          <a:xfrm>
            <a:off x="3492500" y="1840111"/>
            <a:ext cx="2533650" cy="1042591"/>
          </a:xfrm>
          <a:prstGeom prst="roundRect">
            <a:avLst>
              <a:gd name="adj" fmla="val 10354"/>
            </a:avLst>
          </a:prstGeom>
          <a:solidFill>
            <a:srgbClr val="FCFDFD"/>
          </a:solidFill>
          <a:ln w="12700">
            <a:solidFill>
              <a:srgbClr val="D5E3EA"/>
            </a:solidFill>
            <a:prstDash val="solid"/>
          </a:ln>
        </p:spPr>
      </p:sp>
      <p:sp>
        <p:nvSpPr>
          <p:cNvPr id="10" name="Text 6"/>
          <p:cNvSpPr/>
          <p:nvPr/>
        </p:nvSpPr>
        <p:spPr>
          <a:xfrm>
            <a:off x="3651250" y="1998861"/>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Google Colab</a:t>
            </a:r>
            <a:endParaRPr lang="en-US" sz="1500" dirty="0"/>
          </a:p>
        </p:txBody>
      </p:sp>
      <p:sp>
        <p:nvSpPr>
          <p:cNvPr id="11" name="Text 7"/>
          <p:cNvSpPr/>
          <p:nvPr/>
        </p:nvSpPr>
        <p:spPr>
          <a:xfrm>
            <a:off x="3651250" y="2278261"/>
            <a:ext cx="22826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Un entorno para programar en la nube.</a:t>
            </a:r>
            <a:endParaRPr lang="en-US" sz="1300" dirty="0"/>
          </a:p>
        </p:txBody>
      </p:sp>
      <p:sp>
        <p:nvSpPr>
          <p:cNvPr id="12" name="Shape 8"/>
          <p:cNvSpPr/>
          <p:nvPr/>
        </p:nvSpPr>
        <p:spPr>
          <a:xfrm>
            <a:off x="6165850" y="1840111"/>
            <a:ext cx="2533650" cy="1042591"/>
          </a:xfrm>
          <a:prstGeom prst="roundRect">
            <a:avLst>
              <a:gd name="adj" fmla="val 10354"/>
            </a:avLst>
          </a:prstGeom>
          <a:solidFill>
            <a:srgbClr val="FCFDFD"/>
          </a:solidFill>
          <a:ln w="12700">
            <a:solidFill>
              <a:srgbClr val="D5E3EA"/>
            </a:solidFill>
            <a:prstDash val="solid"/>
          </a:ln>
        </p:spPr>
      </p:sp>
      <p:sp>
        <p:nvSpPr>
          <p:cNvPr id="13" name="Text 9"/>
          <p:cNvSpPr/>
          <p:nvPr/>
        </p:nvSpPr>
        <p:spPr>
          <a:xfrm>
            <a:off x="6324600" y="1998861"/>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Python</a:t>
            </a:r>
            <a:endParaRPr lang="en-US" sz="1500" dirty="0"/>
          </a:p>
        </p:txBody>
      </p:sp>
      <p:sp>
        <p:nvSpPr>
          <p:cNvPr id="14" name="Text 10"/>
          <p:cNvSpPr/>
          <p:nvPr/>
        </p:nvSpPr>
        <p:spPr>
          <a:xfrm>
            <a:off x="6324600" y="2278261"/>
            <a:ext cx="236855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Un lenguaje de programación.</a:t>
            </a:r>
            <a:endParaRPr lang="en-US" sz="1300" dirty="0"/>
          </a:p>
        </p:txBody>
      </p:sp>
      <p:sp>
        <p:nvSpPr>
          <p:cNvPr id="15" name="Shape 11"/>
          <p:cNvSpPr/>
          <p:nvPr/>
        </p:nvSpPr>
        <p:spPr>
          <a:xfrm>
            <a:off x="8839200" y="1840111"/>
            <a:ext cx="2533650" cy="1042591"/>
          </a:xfrm>
          <a:prstGeom prst="roundRect">
            <a:avLst>
              <a:gd name="adj" fmla="val 10354"/>
            </a:avLst>
          </a:prstGeom>
          <a:solidFill>
            <a:srgbClr val="FCFDFD"/>
          </a:solidFill>
          <a:ln w="12700">
            <a:solidFill>
              <a:srgbClr val="D5E3EA"/>
            </a:solidFill>
            <a:prstDash val="solid"/>
          </a:ln>
        </p:spPr>
      </p:sp>
      <p:sp>
        <p:nvSpPr>
          <p:cNvPr id="16" name="Text 12"/>
          <p:cNvSpPr/>
          <p:nvPr/>
        </p:nvSpPr>
        <p:spPr>
          <a:xfrm>
            <a:off x="8997950" y="1998861"/>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Flask</a:t>
            </a:r>
            <a:endParaRPr lang="en-US" sz="1500" dirty="0"/>
          </a:p>
        </p:txBody>
      </p:sp>
      <p:sp>
        <p:nvSpPr>
          <p:cNvPr id="17" name="Text 13"/>
          <p:cNvSpPr/>
          <p:nvPr/>
        </p:nvSpPr>
        <p:spPr>
          <a:xfrm>
            <a:off x="8997950" y="2278261"/>
            <a:ext cx="22826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Una herramienta para hacer sitios web con Python.</a:t>
            </a:r>
            <a:endParaRPr lang="en-US" sz="1300" dirty="0"/>
          </a:p>
        </p:txBody>
      </p:sp>
      <p:sp>
        <p:nvSpPr>
          <p:cNvPr id="18" name="Shape 14"/>
          <p:cNvSpPr/>
          <p:nvPr/>
        </p:nvSpPr>
        <p:spPr>
          <a:xfrm>
            <a:off x="819150" y="3022402"/>
            <a:ext cx="2533650" cy="1042591"/>
          </a:xfrm>
          <a:prstGeom prst="roundRect">
            <a:avLst>
              <a:gd name="adj" fmla="val 10354"/>
            </a:avLst>
          </a:prstGeom>
          <a:solidFill>
            <a:srgbClr val="FCFDFD"/>
          </a:solidFill>
          <a:ln w="12700">
            <a:solidFill>
              <a:srgbClr val="D5E3EA"/>
            </a:solidFill>
            <a:prstDash val="solid"/>
          </a:ln>
        </p:spPr>
      </p:sp>
      <p:sp>
        <p:nvSpPr>
          <p:cNvPr id="19" name="Text 15"/>
          <p:cNvSpPr/>
          <p:nvPr/>
        </p:nvSpPr>
        <p:spPr>
          <a:xfrm>
            <a:off x="977900" y="3181152"/>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Modelo (.pt)</a:t>
            </a:r>
            <a:endParaRPr lang="en-US" sz="1500" dirty="0"/>
          </a:p>
        </p:txBody>
      </p:sp>
      <p:sp>
        <p:nvSpPr>
          <p:cNvPr id="20" name="Text 16"/>
          <p:cNvSpPr/>
          <p:nvPr/>
        </p:nvSpPr>
        <p:spPr>
          <a:xfrm>
            <a:off x="977900" y="3460552"/>
            <a:ext cx="22826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El archivo que guarda lo que la red aprendió.</a:t>
            </a:r>
            <a:endParaRPr lang="en-US" sz="1300" dirty="0"/>
          </a:p>
        </p:txBody>
      </p:sp>
      <p:sp>
        <p:nvSpPr>
          <p:cNvPr id="21" name="Shape 17"/>
          <p:cNvSpPr/>
          <p:nvPr/>
        </p:nvSpPr>
        <p:spPr>
          <a:xfrm>
            <a:off x="3492500" y="3022402"/>
            <a:ext cx="2533650" cy="1042591"/>
          </a:xfrm>
          <a:prstGeom prst="roundRect">
            <a:avLst>
              <a:gd name="adj" fmla="val 10354"/>
            </a:avLst>
          </a:prstGeom>
          <a:solidFill>
            <a:srgbClr val="FCFDFD"/>
          </a:solidFill>
          <a:ln w="12700">
            <a:solidFill>
              <a:srgbClr val="D5E3EA"/>
            </a:solidFill>
            <a:prstDash val="solid"/>
          </a:ln>
        </p:spPr>
      </p:sp>
      <p:sp>
        <p:nvSpPr>
          <p:cNvPr id="22" name="Text 18"/>
          <p:cNvSpPr/>
          <p:nvPr/>
        </p:nvSpPr>
        <p:spPr>
          <a:xfrm>
            <a:off x="3651250" y="3181152"/>
            <a:ext cx="22826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C2A3E"/>
                </a:solidFill>
                <a:latin typeface="IBM Plex Sans" pitchFamily="34" charset="0"/>
                <a:ea typeface="IBM Plex Sans" pitchFamily="34" charset="-122"/>
                <a:cs typeface="IBM Plex Sans" pitchFamily="34" charset="-120"/>
              </a:rPr>
              <a:t>Servidor</a:t>
            </a:r>
            <a:endParaRPr lang="en-US" sz="1500" dirty="0"/>
          </a:p>
        </p:txBody>
      </p:sp>
      <p:sp>
        <p:nvSpPr>
          <p:cNvPr id="23" name="Text 19"/>
          <p:cNvSpPr/>
          <p:nvPr/>
        </p:nvSpPr>
        <p:spPr>
          <a:xfrm>
            <a:off x="3651250" y="3460552"/>
            <a:ext cx="22826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5566"/>
                </a:solidFill>
                <a:latin typeface="IBM Plex Sans" pitchFamily="34" charset="0"/>
                <a:ea typeface="IBM Plex Sans" pitchFamily="34" charset="-122"/>
                <a:cs typeface="IBM Plex Sans" pitchFamily="34" charset="-120"/>
              </a:rPr>
              <a:t>La computadora donde el sitio está en línea.</a:t>
            </a:r>
            <a:endParaRPr lang="en-US" sz="1300" dirty="0"/>
          </a:p>
        </p:txBody>
      </p:sp>
      <p:sp>
        <p:nvSpPr>
          <p:cNvPr id="24" name="Shape 20"/>
          <p:cNvSpPr/>
          <p:nvPr/>
        </p:nvSpPr>
        <p:spPr>
          <a:xfrm>
            <a:off x="6159500" y="3016052"/>
            <a:ext cx="2546350" cy="1055291"/>
          </a:xfrm>
          <a:prstGeom prst="roundRect">
            <a:avLst>
              <a:gd name="adj" fmla="val 10831"/>
            </a:avLst>
          </a:prstGeom>
          <a:solidFill>
            <a:srgbClr val="0B1F2E"/>
          </a:solidFill>
          <a:ln/>
        </p:spPr>
      </p:sp>
      <p:sp>
        <p:nvSpPr>
          <p:cNvPr id="25" name="Text 21"/>
          <p:cNvSpPr/>
          <p:nvPr/>
        </p:nvSpPr>
        <p:spPr>
          <a:xfrm>
            <a:off x="6311900" y="3168452"/>
            <a:ext cx="23087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Entrenamiento</a:t>
            </a:r>
            <a:endParaRPr lang="en-US" sz="1500" dirty="0"/>
          </a:p>
        </p:txBody>
      </p:sp>
      <p:sp>
        <p:nvSpPr>
          <p:cNvPr id="26" name="Text 22"/>
          <p:cNvSpPr/>
          <p:nvPr/>
        </p:nvSpPr>
        <p:spPr>
          <a:xfrm>
            <a:off x="6311900" y="3447852"/>
            <a:ext cx="23087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Enseñarle a la red con ejemplos ya marcados.</a:t>
            </a:r>
            <a:endParaRPr lang="en-US" sz="1300" dirty="0"/>
          </a:p>
        </p:txBody>
      </p:sp>
      <p:sp>
        <p:nvSpPr>
          <p:cNvPr id="27" name="Shape 23"/>
          <p:cNvSpPr/>
          <p:nvPr/>
        </p:nvSpPr>
        <p:spPr>
          <a:xfrm>
            <a:off x="8832850" y="3016052"/>
            <a:ext cx="2546350" cy="1055291"/>
          </a:xfrm>
          <a:prstGeom prst="roundRect">
            <a:avLst>
              <a:gd name="adj" fmla="val 10831"/>
            </a:avLst>
          </a:prstGeom>
          <a:solidFill>
            <a:srgbClr val="0B1F2E"/>
          </a:solidFill>
          <a:ln/>
        </p:spPr>
      </p:sp>
      <p:sp>
        <p:nvSpPr>
          <p:cNvPr id="28" name="Text 24"/>
          <p:cNvSpPr/>
          <p:nvPr/>
        </p:nvSpPr>
        <p:spPr>
          <a:xfrm>
            <a:off x="8985250" y="3168452"/>
            <a:ext cx="23087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A259"/>
                </a:solidFill>
                <a:latin typeface="IBM Plex Sans" pitchFamily="34" charset="0"/>
                <a:ea typeface="IBM Plex Sans" pitchFamily="34" charset="-122"/>
                <a:cs typeface="IBM Plex Sans" pitchFamily="34" charset="-120"/>
              </a:rPr>
              <a:t>Inferencia</a:t>
            </a:r>
            <a:endParaRPr lang="en-US" sz="1500" dirty="0"/>
          </a:p>
        </p:txBody>
      </p:sp>
      <p:sp>
        <p:nvSpPr>
          <p:cNvPr id="29" name="Text 25"/>
          <p:cNvSpPr/>
          <p:nvPr/>
        </p:nvSpPr>
        <p:spPr>
          <a:xfrm>
            <a:off x="8985250" y="3447852"/>
            <a:ext cx="23087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3D7E2"/>
                </a:solidFill>
                <a:latin typeface="IBM Plex Sans" pitchFamily="34" charset="0"/>
                <a:ea typeface="IBM Plex Sans" pitchFamily="34" charset="-122"/>
                <a:cs typeface="IBM Plex Sans" pitchFamily="34" charset="-120"/>
              </a:rPr>
              <a:t>Usar el modelo ya entrenado con imágenes nuevas.</a:t>
            </a:r>
            <a:endParaRPr lang="en-US" sz="1300" dirty="0"/>
          </a:p>
        </p:txBody>
      </p:sp>
      <p:sp>
        <p:nvSpPr>
          <p:cNvPr id="30" name="Text 26"/>
          <p:cNvSpPr/>
          <p:nvPr/>
        </p:nvSpPr>
        <p:spPr>
          <a:xfrm>
            <a:off x="812800" y="4299942"/>
            <a:ext cx="981075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5566"/>
                </a:solidFill>
                <a:latin typeface="IBM Plex Sans" pitchFamily="34" charset="0"/>
                <a:ea typeface="IBM Plex Sans" pitchFamily="34" charset="-122"/>
                <a:cs typeface="IBM Plex Sans" pitchFamily="34" charset="-120"/>
              </a:rPr>
              <a:t>Entrenamiento e inferencia son las dos palabras que más se confunden y las que más importa distinguir; se explican después, una por una.</a:t>
            </a:r>
            <a:endParaRPr lang="en-US" sz="1300" dirty="0"/>
          </a:p>
        </p:txBody>
      </p:sp>
      <p:sp>
        <p:nvSpPr>
          <p:cNvPr id="31"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32"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PALABRAS CLAVE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Red neuronal</a:t>
            </a:r>
            <a:endParaRPr lang="en-US" sz="3600" dirty="0"/>
          </a:p>
        </p:txBody>
      </p:sp>
      <p:pic>
        <p:nvPicPr>
          <p:cNvPr id="6" name="Image 2" descr="Esquema de una red: cuatro entradas, tres neuronas intermedias y una salida, todas conectadas">    </p:cNvPr>
          <p:cNvPicPr>
            <a:picLocks noChangeAspect="1"/>
          </p:cNvPicPr>
          <p:nvPr/>
        </p:nvPicPr>
        <p:blipFill>
          <a:blip r:embed="rId3"/>
          <a:srcRect l="0" r="0" t="0" b="0"/>
          <a:stretch/>
        </p:blipFill>
        <p:spPr>
          <a:xfrm>
            <a:off x="812800" y="1833761"/>
            <a:ext cx="3937000" cy="2667000"/>
          </a:xfrm>
          <a:prstGeom prst="rect">
            <a:avLst/>
          </a:prstGeom>
        </p:spPr>
      </p:pic>
      <p:sp>
        <p:nvSpPr>
          <p:cNvPr id="7" name="Text 2"/>
          <p:cNvSpPr/>
          <p:nvPr/>
        </p:nvSpPr>
        <p:spPr>
          <a:xfrm>
            <a:off x="5105400" y="2185789"/>
            <a:ext cx="6462014"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F6F8"/>
                </a:solidFill>
                <a:latin typeface="IBM Plex Sans" pitchFamily="34" charset="0"/>
                <a:ea typeface="IBM Plex Sans" pitchFamily="34" charset="-122"/>
                <a:cs typeface="IBM Plex Sans" pitchFamily="34" charset="-120"/>
              </a:rPr>
              <a:t>Un programa formado por muchas operaciones pequeñas conectadas entre sí.</a:t>
            </a:r>
            <a:endParaRPr lang="en-US" sz="1600" dirty="0"/>
          </a:p>
        </p:txBody>
      </p:sp>
      <p:sp>
        <p:nvSpPr>
          <p:cNvPr id="8" name="Text 3"/>
          <p:cNvSpPr/>
          <p:nvPr/>
        </p:nvSpPr>
        <p:spPr>
          <a:xfrm>
            <a:off x="5105400" y="2873970"/>
            <a:ext cx="646201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Cada operación tiene números que se pueden ajustar: los </a:t>
            </a:r>
            <a:r>
              <a:rPr lang="en-US" sz="1400" b="1" dirty="0">
                <a:solidFill>
                  <a:srgbClr val="F4A259"/>
                </a:solidFill>
                <a:latin typeface="IBM Plex Sans" pitchFamily="34" charset="0"/>
                <a:ea typeface="IBM Plex Sans" pitchFamily="34" charset="-122"/>
                <a:cs typeface="IBM Plex Sans" pitchFamily="34" charset="-120"/>
              </a:rPr>
              <a:t>pesos</a:t>
            </a:r>
            <a:r>
              <a:rPr lang="en-US" sz="1400" dirty="0">
                <a:solidFill>
                  <a:srgbClr val="C3D7E2"/>
                </a:solidFill>
                <a:latin typeface="IBM Plex Sans" pitchFamily="34" charset="0"/>
                <a:ea typeface="IBM Plex Sans" pitchFamily="34" charset="-122"/>
                <a:cs typeface="IBM Plex Sans" pitchFamily="34" charset="-120"/>
              </a:rPr>
              <a:t>.</a:t>
            </a:r>
            <a:endParaRPr lang="en-US" sz="1400" dirty="0"/>
          </a:p>
        </p:txBody>
      </p:sp>
      <p:sp>
        <p:nvSpPr>
          <p:cNvPr id="9" name="Text 4"/>
          <p:cNvSpPr/>
          <p:nvPr/>
        </p:nvSpPr>
        <p:spPr>
          <a:xfrm>
            <a:off x="5105400" y="3262511"/>
            <a:ext cx="646201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Al principio los pesos valen cualquier cosa y la red no sirve. Con ejemplos, se ajustan hasta dar buenas respuestas.</a:t>
            </a:r>
            <a:endParaRPr lang="en-US" sz="1400" dirty="0"/>
          </a:p>
        </p:txBody>
      </p:sp>
      <p:sp>
        <p:nvSpPr>
          <p:cNvPr id="10" name="Text 5"/>
          <p:cNvSpPr/>
          <p:nvPr/>
        </p:nvSpPr>
        <p:spPr>
          <a:xfrm>
            <a:off x="5105400" y="3899892"/>
            <a:ext cx="7086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La nuestra tiene decenas de millones de pesos, pero el principio es el mismo.</a:t>
            </a:r>
            <a:endParaRPr lang="en-US" sz="1400" dirty="0"/>
          </a:p>
        </p:txBody>
      </p:sp>
      <p:sp>
        <p:nvSpPr>
          <p:cNvPr id="11"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 · Esquema ilustrativo</a:t>
            </a:r>
            <a:endParaRPr lang="en-US" sz="1200" dirty="0"/>
          </a:p>
        </p:txBody>
      </p:sp>
      <p:sp>
        <p:nvSpPr>
          <p:cNvPr id="12"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PALABRAS CLAVE</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Modelo</a:t>
            </a:r>
            <a:endParaRPr lang="en-US" sz="3600" dirty="0"/>
          </a:p>
        </p:txBody>
      </p:sp>
      <p:sp>
        <p:nvSpPr>
          <p:cNvPr id="6" name="Shape 2"/>
          <p:cNvSpPr/>
          <p:nvPr/>
        </p:nvSpPr>
        <p:spPr>
          <a:xfrm>
            <a:off x="819150" y="1865511"/>
            <a:ext cx="2400300" cy="2654300"/>
          </a:xfrm>
          <a:prstGeom prst="roundRect">
            <a:avLst>
              <a:gd name="adj" fmla="val 6085"/>
            </a:avLst>
          </a:prstGeom>
          <a:solidFill>
            <a:srgbClr val="12304A"/>
          </a:solidFill>
          <a:ln w="12700">
            <a:solidFill>
              <a:srgbClr val="24506E"/>
            </a:solidFill>
            <a:prstDash val="solid"/>
          </a:ln>
        </p:spPr>
      </p:sp>
      <p:pic>
        <p:nvPicPr>
          <p:cNvPr id="7" name="Image 2" descr="Database">    </p:cNvPr>
          <p:cNvPicPr>
            <a:picLocks noChangeAspect="1"/>
          </p:cNvPicPr>
          <p:nvPr/>
        </p:nvPicPr>
        <p:blipFill>
          <a:blip r:embed="rId3"/>
          <a:srcRect l="0" r="0" t="0" b="0"/>
          <a:stretch/>
        </p:blipFill>
        <p:spPr>
          <a:xfrm>
            <a:off x="1765300" y="2357041"/>
            <a:ext cx="508000" cy="508000"/>
          </a:xfrm>
          <a:prstGeom prst="rect">
            <a:avLst/>
          </a:prstGeom>
        </p:spPr>
      </p:pic>
      <p:sp>
        <p:nvSpPr>
          <p:cNvPr id="8" name="Text 3"/>
          <p:cNvSpPr/>
          <p:nvPr/>
        </p:nvSpPr>
        <p:spPr>
          <a:xfrm>
            <a:off x="1501973" y="2941241"/>
            <a:ext cx="1034653"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4A259"/>
                </a:solidFill>
                <a:latin typeface="EB Garamond" pitchFamily="18" charset="0"/>
                <a:ea typeface="EB Garamond" pitchFamily="18" charset="-122"/>
                <a:cs typeface="EB Garamond" pitchFamily="18" charset="-120"/>
              </a:rPr>
              <a:t>.pt</a:t>
            </a:r>
            <a:endParaRPr lang="en-US" sz="6000" dirty="0"/>
          </a:p>
        </p:txBody>
      </p:sp>
      <p:sp>
        <p:nvSpPr>
          <p:cNvPr id="9" name="Text 4"/>
          <p:cNvSpPr/>
          <p:nvPr/>
        </p:nvSpPr>
        <p:spPr>
          <a:xfrm>
            <a:off x="1387683" y="3779441"/>
            <a:ext cx="1263134"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unos 170 MB</a:t>
            </a:r>
            <a:endParaRPr lang="en-US" sz="1400" dirty="0"/>
          </a:p>
        </p:txBody>
      </p:sp>
      <p:sp>
        <p:nvSpPr>
          <p:cNvPr id="10" name="Text 5"/>
          <p:cNvSpPr/>
          <p:nvPr/>
        </p:nvSpPr>
        <p:spPr>
          <a:xfrm>
            <a:off x="3581400" y="2086769"/>
            <a:ext cx="8031734"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F6F8"/>
                </a:solidFill>
                <a:latin typeface="IBM Plex Sans" pitchFamily="34" charset="0"/>
                <a:ea typeface="IBM Plex Sans" pitchFamily="34" charset="-122"/>
                <a:cs typeface="IBM Plex Sans" pitchFamily="34" charset="-120"/>
              </a:rPr>
              <a:t>El archivo que se obtiene al terminar el entrenamiento: la estructura de la red y el valor de todos sus pesos.</a:t>
            </a:r>
            <a:endParaRPr lang="en-US" sz="1600" dirty="0"/>
          </a:p>
        </p:txBody>
      </p:sp>
      <p:sp>
        <p:nvSpPr>
          <p:cNvPr id="11" name="Text 6"/>
          <p:cNvSpPr/>
          <p:nvPr/>
        </p:nvSpPr>
        <p:spPr>
          <a:xfrm>
            <a:off x="3581400" y="2774950"/>
            <a:ext cx="80317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Por sí solo no hace nada: es como un libro cerrado. Hace falta un programa que lo cargue y le dé una imagen.</a:t>
            </a:r>
            <a:endParaRPr lang="en-US" sz="1400" dirty="0"/>
          </a:p>
        </p:txBody>
      </p:sp>
      <p:sp>
        <p:nvSpPr>
          <p:cNvPr id="12" name="Text 7"/>
          <p:cNvSpPr/>
          <p:nvPr/>
        </p:nvSpPr>
        <p:spPr>
          <a:xfrm>
            <a:off x="3581400" y="3412331"/>
            <a:ext cx="803173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Está fijo: no aprende de lo que analiza. Para que cambie hay que entrenarlo otra vez, aparte.</a:t>
            </a:r>
            <a:endParaRPr lang="en-US" sz="1400" dirty="0"/>
          </a:p>
        </p:txBody>
      </p:sp>
      <p:sp>
        <p:nvSpPr>
          <p:cNvPr id="13" name="Text 8"/>
          <p:cNvSpPr/>
          <p:nvPr/>
        </p:nvSpPr>
        <p:spPr>
          <a:xfrm>
            <a:off x="3581400" y="3800872"/>
            <a:ext cx="80317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Mismo modelo y misma imagen dan siempre el mismo resultado, que es lo que se espera de un instrumento.</a:t>
            </a:r>
            <a:endParaRPr lang="en-US" sz="1400" dirty="0"/>
          </a:p>
        </p:txBody>
      </p:sp>
      <p:sp>
        <p:nvSpPr>
          <p:cNvPr id="14"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15"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C2A3E"/>
                </a:solidFill>
                <a:latin typeface="EB Garamond" pitchFamily="18" charset="0"/>
                <a:ea typeface="EB Garamond" pitchFamily="18" charset="-122"/>
                <a:cs typeface="EB Garamond" pitchFamily="18" charset="-120"/>
              </a:rPr>
              <a:t>Entrenamiento aparte, inferencia en el servidor</a:t>
            </a:r>
            <a:endParaRPr lang="en-US" sz="3200" dirty="0"/>
          </a:p>
        </p:txBody>
      </p:sp>
      <p:sp>
        <p:nvSpPr>
          <p:cNvPr id="6" name="Shape 2"/>
          <p:cNvSpPr/>
          <p:nvPr/>
        </p:nvSpPr>
        <p:spPr>
          <a:xfrm>
            <a:off x="819150" y="1809651"/>
            <a:ext cx="4521200" cy="1830983"/>
          </a:xfrm>
          <a:prstGeom prst="roundRect">
            <a:avLst>
              <a:gd name="adj" fmla="val 6589"/>
            </a:avLst>
          </a:prstGeom>
          <a:solidFill>
            <a:srgbClr val="FCFDFD"/>
          </a:solidFill>
          <a:ln w="12700">
            <a:solidFill>
              <a:srgbClr val="D5E3EA"/>
            </a:solidFill>
            <a:prstDash val="solid"/>
          </a:ln>
        </p:spPr>
      </p:sp>
      <p:sp>
        <p:nvSpPr>
          <p:cNvPr id="7" name="Text 3"/>
          <p:cNvSpPr/>
          <p:nvPr/>
        </p:nvSpPr>
        <p:spPr>
          <a:xfrm>
            <a:off x="1041400" y="2031901"/>
            <a:ext cx="419900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E6E9C"/>
                </a:solidFill>
                <a:latin typeface="IBM Plex Sans" pitchFamily="34" charset="0"/>
                <a:ea typeface="IBM Plex Sans" pitchFamily="34" charset="-122"/>
                <a:cs typeface="IBM Plex Sans" pitchFamily="34" charset="-120"/>
              </a:rPr>
              <a:t>ETAPA 1 · ENTRENAMIENTO</a:t>
            </a:r>
            <a:endParaRPr lang="en-US" sz="1200" dirty="0"/>
          </a:p>
        </p:txBody>
      </p:sp>
      <p:sp>
        <p:nvSpPr>
          <p:cNvPr id="8" name="Text 4"/>
          <p:cNvSpPr/>
          <p:nvPr/>
        </p:nvSpPr>
        <p:spPr>
          <a:xfrm>
            <a:off x="1041400" y="2321421"/>
            <a:ext cx="41990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C2A3E"/>
                </a:solidFill>
                <a:latin typeface="IBM Plex Sans" pitchFamily="34" charset="0"/>
                <a:ea typeface="IBM Plex Sans" pitchFamily="34" charset="-122"/>
                <a:cs typeface="IBM Plex Sans" pitchFamily="34" charset="-120"/>
              </a:rPr>
              <a:t>En Google Colab</a:t>
            </a:r>
            <a:endParaRPr lang="en-US" sz="1800" dirty="0"/>
          </a:p>
        </p:txBody>
      </p:sp>
      <p:sp>
        <p:nvSpPr>
          <p:cNvPr id="9" name="Text 5"/>
          <p:cNvSpPr/>
          <p:nvPr/>
        </p:nvSpPr>
        <p:spPr>
          <a:xfrm>
            <a:off x="1041400" y="2671862"/>
            <a:ext cx="419900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Con imágenes marcadas a mano, la red aprende a encontrar espermatozoides. Es lo pesado, y se hace aparte.</a:t>
            </a:r>
            <a:endParaRPr lang="en-US" sz="1400" dirty="0"/>
          </a:p>
        </p:txBody>
      </p:sp>
      <p:sp>
        <p:nvSpPr>
          <p:cNvPr id="10" name="Text 6"/>
          <p:cNvSpPr/>
          <p:nvPr/>
        </p:nvSpPr>
        <p:spPr>
          <a:xfrm>
            <a:off x="5798304" y="2199382"/>
            <a:ext cx="620792" cy="482600"/>
          </a:xfrm>
          <a:prstGeom prst="rect">
            <a:avLst/>
          </a:prstGeom>
          <a:noFill/>
          <a:ln/>
        </p:spPr>
        <p:txBody>
          <a:bodyPr wrap="square" lIns="0" tIns="0" rIns="0" bIns="0" rtlCol="0" anchor="t">
            <a:normAutofit/>
          </a:bodyPr>
          <a:lstStyle/>
          <a:p>
            <a:pPr algn="ctr" indent="0" marL="0">
              <a:lnSpc>
                <a:spcPts val="3600"/>
              </a:lnSpc>
              <a:buNone/>
            </a:pPr>
            <a:r>
              <a:rPr lang="en-US" sz="3600" b="1" dirty="0">
                <a:solidFill>
                  <a:srgbClr val="A3480F"/>
                </a:solidFill>
                <a:latin typeface="EB Garamond" pitchFamily="18" charset="0"/>
                <a:ea typeface="EB Garamond" pitchFamily="18" charset="-122"/>
                <a:cs typeface="EB Garamond" pitchFamily="18" charset="-120"/>
              </a:rPr>
              <a:t>.pt</a:t>
            </a:r>
            <a:endParaRPr lang="en-US" sz="3600" dirty="0"/>
          </a:p>
        </p:txBody>
      </p:sp>
      <p:pic>
        <p:nvPicPr>
          <p:cNvPr id="11" name="Image 2" descr="arrow-right">    </p:cNvPr>
          <p:cNvPicPr>
            <a:picLocks noChangeAspect="1"/>
          </p:cNvPicPr>
          <p:nvPr/>
        </p:nvPicPr>
        <p:blipFill>
          <a:blip r:embed="rId3"/>
          <a:srcRect l="0" r="0" t="0" b="0"/>
          <a:stretch/>
        </p:blipFill>
        <p:spPr>
          <a:xfrm>
            <a:off x="5803900" y="2707382"/>
            <a:ext cx="609600" cy="279400"/>
          </a:xfrm>
          <a:prstGeom prst="rect">
            <a:avLst/>
          </a:prstGeom>
        </p:spPr>
      </p:pic>
      <p:sp>
        <p:nvSpPr>
          <p:cNvPr id="12" name="Text 7"/>
          <p:cNvSpPr/>
          <p:nvPr/>
        </p:nvSpPr>
        <p:spPr>
          <a:xfrm>
            <a:off x="5701635" y="3037582"/>
            <a:ext cx="81403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el modelo</a:t>
            </a:r>
            <a:endParaRPr lang="en-US" sz="1200" dirty="0"/>
          </a:p>
        </p:txBody>
      </p:sp>
      <p:sp>
        <p:nvSpPr>
          <p:cNvPr id="13" name="Shape 8"/>
          <p:cNvSpPr/>
          <p:nvPr/>
        </p:nvSpPr>
        <p:spPr>
          <a:xfrm>
            <a:off x="6870700" y="1803301"/>
            <a:ext cx="4508500" cy="1843683"/>
          </a:xfrm>
          <a:prstGeom prst="roundRect">
            <a:avLst>
              <a:gd name="adj" fmla="val 6888"/>
            </a:avLst>
          </a:prstGeom>
          <a:solidFill>
            <a:srgbClr val="0B1F2E"/>
          </a:solidFill>
          <a:ln/>
        </p:spPr>
      </p:sp>
      <p:sp>
        <p:nvSpPr>
          <p:cNvPr id="14" name="Text 9"/>
          <p:cNvSpPr/>
          <p:nvPr/>
        </p:nvSpPr>
        <p:spPr>
          <a:xfrm>
            <a:off x="7086600" y="2019201"/>
            <a:ext cx="419900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ETAPA 2 · INFERENCIA</a:t>
            </a:r>
            <a:endParaRPr lang="en-US" sz="1200" dirty="0"/>
          </a:p>
        </p:txBody>
      </p:sp>
      <p:sp>
        <p:nvSpPr>
          <p:cNvPr id="15" name="Text 10"/>
          <p:cNvSpPr/>
          <p:nvPr/>
        </p:nvSpPr>
        <p:spPr>
          <a:xfrm>
            <a:off x="7086600" y="2308721"/>
            <a:ext cx="41990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8"/>
                </a:solidFill>
                <a:latin typeface="IBM Plex Sans" pitchFamily="34" charset="0"/>
                <a:ea typeface="IBM Plex Sans" pitchFamily="34" charset="-122"/>
                <a:cs typeface="IBM Plex Sans" pitchFamily="34" charset="-120"/>
              </a:rPr>
              <a:t>En el servidor del sitio</a:t>
            </a:r>
            <a:endParaRPr lang="en-US" sz="1800" dirty="0"/>
          </a:p>
        </p:txBody>
      </p:sp>
      <p:sp>
        <p:nvSpPr>
          <p:cNvPr id="16" name="Text 11"/>
          <p:cNvSpPr/>
          <p:nvPr/>
        </p:nvSpPr>
        <p:spPr>
          <a:xfrm>
            <a:off x="7086600" y="2659162"/>
            <a:ext cx="419900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Con imágenes nuevas, el modelo ya entrenado traza los contornos, con el procesador. Es lo ligero, y se repite todos los días.</a:t>
            </a:r>
            <a:endParaRPr lang="en-US" sz="1400" dirty="0"/>
          </a:p>
        </p:txBody>
      </p:sp>
      <p:sp>
        <p:nvSpPr>
          <p:cNvPr id="17" name="Shape 12"/>
          <p:cNvSpPr/>
          <p:nvPr/>
        </p:nvSpPr>
        <p:spPr>
          <a:xfrm>
            <a:off x="812800" y="3900984"/>
            <a:ext cx="10566400" cy="844550"/>
          </a:xfrm>
          <a:prstGeom prst="roundRect">
            <a:avLst>
              <a:gd name="adj" fmla="val 15038"/>
            </a:avLst>
          </a:prstGeom>
          <a:solidFill>
            <a:srgbClr val="E3EFF5"/>
          </a:solidFill>
          <a:ln/>
        </p:spPr>
      </p:sp>
      <p:pic>
        <p:nvPicPr>
          <p:cNvPr id="18" name="Image 3" descr="Lightbulb">    </p:cNvPr>
          <p:cNvPicPr>
            <a:picLocks noChangeAspect="1"/>
          </p:cNvPicPr>
          <p:nvPr/>
        </p:nvPicPr>
        <p:blipFill>
          <a:blip r:embed="rId4"/>
          <a:srcRect l="-521" r="-521" t="0" b="0"/>
          <a:stretch/>
        </p:blipFill>
        <p:spPr>
          <a:xfrm>
            <a:off x="1041400" y="4170859"/>
            <a:ext cx="211733" cy="304800"/>
          </a:xfrm>
          <a:prstGeom prst="rect">
            <a:avLst/>
          </a:prstGeom>
        </p:spPr>
      </p:pic>
      <p:sp>
        <p:nvSpPr>
          <p:cNvPr id="19" name="Text 13"/>
          <p:cNvSpPr/>
          <p:nvPr/>
        </p:nvSpPr>
        <p:spPr>
          <a:xfrm>
            <a:off x="1380133" y="4066084"/>
            <a:ext cx="1006358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Entrenar es aprender la receta; la inferencia es cocinarla las veces que haga falta. Para mejorar el modelo no se toca el sitio: se entrena aparte y se cambia el archivo.</a:t>
            </a:r>
            <a:endParaRPr lang="en-US" sz="1500" dirty="0"/>
          </a:p>
        </p:txBody>
      </p:sp>
      <p:sp>
        <p:nvSpPr>
          <p:cNvPr id="20"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21"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Entrenamiento</a:t>
            </a:r>
            <a:endParaRPr lang="en-US" sz="3600" dirty="0"/>
          </a:p>
        </p:txBody>
      </p:sp>
      <p:sp>
        <p:nvSpPr>
          <p:cNvPr id="6" name="Text 2"/>
          <p:cNvSpPr/>
          <p:nvPr/>
        </p:nvSpPr>
        <p:spPr>
          <a:xfrm>
            <a:off x="812800" y="1859161"/>
            <a:ext cx="9810750"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F6F8"/>
                </a:solidFill>
                <a:latin typeface="IBM Plex Sans" pitchFamily="34" charset="0"/>
                <a:ea typeface="IBM Plex Sans" pitchFamily="34" charset="-122"/>
                <a:cs typeface="IBM Plex Sans" pitchFamily="34" charset="-120"/>
              </a:rPr>
              <a:t>Ajustar los pesos de la red con ejemplos. Hacen falta tres ingredientes.</a:t>
            </a:r>
            <a:endParaRPr lang="en-US" sz="1600" dirty="0"/>
          </a:p>
        </p:txBody>
      </p:sp>
      <p:sp>
        <p:nvSpPr>
          <p:cNvPr id="7" name="Shape 3"/>
          <p:cNvSpPr/>
          <p:nvPr/>
        </p:nvSpPr>
        <p:spPr>
          <a:xfrm>
            <a:off x="819150" y="2393752"/>
            <a:ext cx="3407767" cy="1854002"/>
          </a:xfrm>
          <a:prstGeom prst="roundRect">
            <a:avLst>
              <a:gd name="adj" fmla="val 6508"/>
            </a:avLst>
          </a:prstGeom>
          <a:solidFill>
            <a:srgbClr val="12304A"/>
          </a:solidFill>
          <a:ln w="12700">
            <a:solidFill>
              <a:srgbClr val="24506E"/>
            </a:solidFill>
            <a:prstDash val="solid"/>
          </a:ln>
        </p:spPr>
      </p:sp>
      <p:sp>
        <p:nvSpPr>
          <p:cNvPr id="8" name="Text 4"/>
          <p:cNvSpPr/>
          <p:nvPr/>
        </p:nvSpPr>
        <p:spPr>
          <a:xfrm>
            <a:off x="1016000" y="2590602"/>
            <a:ext cx="310448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1</a:t>
            </a:r>
            <a:endParaRPr lang="en-US" sz="2800" dirty="0"/>
          </a:p>
        </p:txBody>
      </p:sp>
      <p:sp>
        <p:nvSpPr>
          <p:cNvPr id="9" name="Text 5"/>
          <p:cNvSpPr/>
          <p:nvPr/>
        </p:nvSpPr>
        <p:spPr>
          <a:xfrm>
            <a:off x="1016000" y="3022402"/>
            <a:ext cx="31044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1F6F8"/>
                </a:solidFill>
                <a:latin typeface="IBM Plex Sans" pitchFamily="34" charset="0"/>
                <a:ea typeface="IBM Plex Sans" pitchFamily="34" charset="-122"/>
                <a:cs typeface="IBM Plex Sans" pitchFamily="34" charset="-120"/>
              </a:rPr>
              <a:t>Los ejemplos</a:t>
            </a:r>
            <a:endParaRPr lang="en-US" sz="1700" dirty="0"/>
          </a:p>
        </p:txBody>
      </p:sp>
      <p:sp>
        <p:nvSpPr>
          <p:cNvPr id="10" name="Text 6"/>
          <p:cNvSpPr/>
          <p:nvPr/>
        </p:nvSpPr>
        <p:spPr>
          <a:xfrm>
            <a:off x="1016000" y="3357662"/>
            <a:ext cx="3104489"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Imágenes con su respuesta correcta: el contorno de cada cabeza, dibujado por personas.</a:t>
            </a:r>
            <a:endParaRPr lang="en-US" sz="1300" dirty="0"/>
          </a:p>
        </p:txBody>
      </p:sp>
      <p:sp>
        <p:nvSpPr>
          <p:cNvPr id="11" name="Shape 7"/>
          <p:cNvSpPr/>
          <p:nvPr/>
        </p:nvSpPr>
        <p:spPr>
          <a:xfrm>
            <a:off x="4392017" y="2393752"/>
            <a:ext cx="3407866" cy="1854002"/>
          </a:xfrm>
          <a:prstGeom prst="roundRect">
            <a:avLst>
              <a:gd name="adj" fmla="val 6508"/>
            </a:avLst>
          </a:prstGeom>
          <a:solidFill>
            <a:srgbClr val="12304A"/>
          </a:solidFill>
          <a:ln w="12700">
            <a:solidFill>
              <a:srgbClr val="24506E"/>
            </a:solidFill>
            <a:prstDash val="solid"/>
          </a:ln>
        </p:spPr>
      </p:sp>
      <p:sp>
        <p:nvSpPr>
          <p:cNvPr id="12" name="Text 8"/>
          <p:cNvSpPr/>
          <p:nvPr/>
        </p:nvSpPr>
        <p:spPr>
          <a:xfrm>
            <a:off x="4588867" y="2590602"/>
            <a:ext cx="310459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2</a:t>
            </a:r>
            <a:endParaRPr lang="en-US" sz="2800" dirty="0"/>
          </a:p>
        </p:txBody>
      </p:sp>
      <p:sp>
        <p:nvSpPr>
          <p:cNvPr id="13" name="Text 9"/>
          <p:cNvSpPr/>
          <p:nvPr/>
        </p:nvSpPr>
        <p:spPr>
          <a:xfrm>
            <a:off x="4588867" y="3022402"/>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1F6F8"/>
                </a:solidFill>
                <a:latin typeface="IBM Plex Sans" pitchFamily="34" charset="0"/>
                <a:ea typeface="IBM Plex Sans" pitchFamily="34" charset="-122"/>
                <a:cs typeface="IBM Plex Sans" pitchFamily="34" charset="-120"/>
              </a:rPr>
              <a:t>La red</a:t>
            </a:r>
            <a:endParaRPr lang="en-US" sz="1700" dirty="0"/>
          </a:p>
        </p:txBody>
      </p:sp>
      <p:sp>
        <p:nvSpPr>
          <p:cNvPr id="14" name="Text 10"/>
          <p:cNvSpPr/>
          <p:nvPr/>
        </p:nvSpPr>
        <p:spPr>
          <a:xfrm>
            <a:off x="4588867" y="3357662"/>
            <a:ext cx="31045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Con una estructura elegida y unos pesos iniciales.</a:t>
            </a:r>
            <a:endParaRPr lang="en-US" sz="1300" dirty="0"/>
          </a:p>
        </p:txBody>
      </p:sp>
      <p:sp>
        <p:nvSpPr>
          <p:cNvPr id="15" name="Shape 11"/>
          <p:cNvSpPr/>
          <p:nvPr/>
        </p:nvSpPr>
        <p:spPr>
          <a:xfrm>
            <a:off x="7964984" y="2393752"/>
            <a:ext cx="3407866" cy="1854002"/>
          </a:xfrm>
          <a:prstGeom prst="roundRect">
            <a:avLst>
              <a:gd name="adj" fmla="val 6508"/>
            </a:avLst>
          </a:prstGeom>
          <a:solidFill>
            <a:srgbClr val="12304A"/>
          </a:solidFill>
          <a:ln w="12700">
            <a:solidFill>
              <a:srgbClr val="24506E"/>
            </a:solidFill>
            <a:prstDash val="solid"/>
          </a:ln>
        </p:spPr>
      </p:sp>
      <p:sp>
        <p:nvSpPr>
          <p:cNvPr id="16" name="Text 12"/>
          <p:cNvSpPr/>
          <p:nvPr/>
        </p:nvSpPr>
        <p:spPr>
          <a:xfrm>
            <a:off x="8161834" y="2590602"/>
            <a:ext cx="310459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59"/>
                </a:solidFill>
                <a:latin typeface="EB Garamond" pitchFamily="18" charset="0"/>
                <a:ea typeface="EB Garamond" pitchFamily="18" charset="-122"/>
                <a:cs typeface="EB Garamond" pitchFamily="18" charset="-120"/>
              </a:rPr>
              <a:t>3</a:t>
            </a:r>
            <a:endParaRPr lang="en-US" sz="2800" dirty="0"/>
          </a:p>
        </p:txBody>
      </p:sp>
      <p:sp>
        <p:nvSpPr>
          <p:cNvPr id="17" name="Text 13"/>
          <p:cNvSpPr/>
          <p:nvPr/>
        </p:nvSpPr>
        <p:spPr>
          <a:xfrm>
            <a:off x="8161834" y="3022402"/>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1F6F8"/>
                </a:solidFill>
                <a:latin typeface="IBM Plex Sans" pitchFamily="34" charset="0"/>
                <a:ea typeface="IBM Plex Sans" pitchFamily="34" charset="-122"/>
                <a:cs typeface="IBM Plex Sans" pitchFamily="34" charset="-120"/>
              </a:rPr>
              <a:t>Una forma de ajustar</a:t>
            </a:r>
            <a:endParaRPr lang="en-US" sz="1700" dirty="0"/>
          </a:p>
        </p:txBody>
      </p:sp>
      <p:sp>
        <p:nvSpPr>
          <p:cNvPr id="18" name="Text 14"/>
          <p:cNvSpPr/>
          <p:nvPr/>
        </p:nvSpPr>
        <p:spPr>
          <a:xfrm>
            <a:off x="8161834" y="3357662"/>
            <a:ext cx="31045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3D7E2"/>
                </a:solidFill>
                <a:latin typeface="IBM Plex Sans" pitchFamily="34" charset="0"/>
                <a:ea typeface="IBM Plex Sans" pitchFamily="34" charset="-122"/>
                <a:cs typeface="IBM Plex Sans" pitchFamily="34" charset="-120"/>
              </a:rPr>
              <a:t>Pérdida, gradiente y retropropagación: se ven más adelante.</a:t>
            </a:r>
            <a:endParaRPr lang="en-US" sz="1300" dirty="0"/>
          </a:p>
        </p:txBody>
      </p:sp>
      <p:sp>
        <p:nvSpPr>
          <p:cNvPr id="19" name="Shape 15"/>
          <p:cNvSpPr/>
          <p:nvPr/>
        </p:nvSpPr>
        <p:spPr>
          <a:xfrm>
            <a:off x="819150" y="4514453"/>
            <a:ext cx="5194300" cy="1104702"/>
          </a:xfrm>
          <a:prstGeom prst="roundRect">
            <a:avLst>
              <a:gd name="adj" fmla="val 10921"/>
            </a:avLst>
          </a:prstGeom>
          <a:solidFill>
            <a:srgbClr val="12304A"/>
          </a:solidFill>
          <a:ln w="12700">
            <a:solidFill>
              <a:srgbClr val="24506E"/>
            </a:solidFill>
            <a:prstDash val="solid"/>
          </a:ln>
        </p:spPr>
      </p:sp>
      <p:sp>
        <p:nvSpPr>
          <p:cNvPr id="20" name="Text 16"/>
          <p:cNvSpPr/>
          <p:nvPr/>
        </p:nvSpPr>
        <p:spPr>
          <a:xfrm>
            <a:off x="990600" y="4685903"/>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COSTOSO, LENTO Y POCO FRECUENTE</a:t>
            </a:r>
            <a:endParaRPr lang="en-US" sz="1200" dirty="0"/>
          </a:p>
        </p:txBody>
      </p:sp>
      <p:sp>
        <p:nvSpPr>
          <p:cNvPr id="21" name="Text 17"/>
          <p:cNvSpPr/>
          <p:nvPr/>
        </p:nvSpPr>
        <p:spPr>
          <a:xfrm>
            <a:off x="990600" y="4950023"/>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De minutos a horas, con máquinas con tarjeta gráfica. Se hace una vez, y de nuevo solo si hay una razón.</a:t>
            </a:r>
            <a:endParaRPr lang="en-US" sz="1400" dirty="0"/>
          </a:p>
        </p:txBody>
      </p:sp>
      <p:sp>
        <p:nvSpPr>
          <p:cNvPr id="22" name="Shape 18"/>
          <p:cNvSpPr/>
          <p:nvPr/>
        </p:nvSpPr>
        <p:spPr>
          <a:xfrm>
            <a:off x="6178550" y="4514453"/>
            <a:ext cx="5194300" cy="1104702"/>
          </a:xfrm>
          <a:prstGeom prst="roundRect">
            <a:avLst>
              <a:gd name="adj" fmla="val 10921"/>
            </a:avLst>
          </a:prstGeom>
          <a:solidFill>
            <a:srgbClr val="12304A"/>
          </a:solidFill>
          <a:ln w="12700">
            <a:solidFill>
              <a:srgbClr val="24506E"/>
            </a:solidFill>
            <a:prstDash val="solid"/>
          </a:ln>
        </p:spPr>
      </p:sp>
      <p:sp>
        <p:nvSpPr>
          <p:cNvPr id="23" name="Text 19"/>
          <p:cNvSpPr/>
          <p:nvPr/>
        </p:nvSpPr>
        <p:spPr>
          <a:xfrm>
            <a:off x="6350000" y="4685903"/>
            <a:ext cx="49969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SE RESERVA UNA PARTE PARA EL EXAMEN</a:t>
            </a:r>
            <a:endParaRPr lang="en-US" sz="1200" dirty="0"/>
          </a:p>
        </p:txBody>
      </p:sp>
      <p:sp>
        <p:nvSpPr>
          <p:cNvPr id="24" name="Text 20"/>
          <p:cNvSpPr/>
          <p:nvPr/>
        </p:nvSpPr>
        <p:spPr>
          <a:xfrm>
            <a:off x="6350000" y="4950023"/>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Imágenes que la red no ve al entrenar, para comprobar si funciona con imágenes nuevas.</a:t>
            </a:r>
            <a:endParaRPr lang="en-US" sz="1400" dirty="0"/>
          </a:p>
        </p:txBody>
      </p:sp>
      <p:sp>
        <p:nvSpPr>
          <p:cNvPr id="25"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26"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Inferencia</a:t>
            </a:r>
            <a:endParaRPr lang="en-US" sz="3600" dirty="0"/>
          </a:p>
        </p:txBody>
      </p:sp>
      <p:sp>
        <p:nvSpPr>
          <p:cNvPr id="6" name="Text 2"/>
          <p:cNvSpPr/>
          <p:nvPr/>
        </p:nvSpPr>
        <p:spPr>
          <a:xfrm>
            <a:off x="812800" y="1833761"/>
            <a:ext cx="981075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C2A3E"/>
                </a:solidFill>
                <a:latin typeface="IBM Plex Sans" pitchFamily="34" charset="0"/>
                <a:ea typeface="IBM Plex Sans" pitchFamily="34" charset="-122"/>
                <a:cs typeface="IBM Plex Sans" pitchFamily="34" charset="-120"/>
              </a:rPr>
              <a:t>Usar el modelo ya entrenado para obtener una respuesta con una imagen nueva: entra la imagen, atraviesa las capas hacia adelante y sale la respuesta.</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623542"/>
          <a:ext cx="10553700" cy="2063750"/>
        </p:xfrm>
        <a:graphic>
          <a:graphicData uri="http://schemas.openxmlformats.org/drawingml/2006/table">
            <a:tbl>
              <a:tblPr/>
              <a:tblGrid>
                <a:gridCol w="2321814"/>
                <a:gridCol w="4115943"/>
                <a:gridCol w="4115943"/>
              </a:tblGrid>
              <a:tr h="41275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100"/>
                        </a:lnSpc>
                        <a:buNone/>
                      </a:pPr>
                      <a:r>
                        <a:rPr lang="en-US" sz="1500" b="1" dirty="0">
                          <a:solidFill>
                            <a:srgbClr val="0C2A3E"/>
                          </a:solidFill>
                          <a:latin typeface="IBM Plex Sans" pitchFamily="34" charset="0"/>
                          <a:ea typeface="IBM Plex Sans" pitchFamily="34" charset="-122"/>
                          <a:cs typeface="IBM Plex Sans" pitchFamily="34" charset="-120"/>
                        </a:rPr>
                        <a:t>Entrenamiento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100"/>
                        </a:lnSpc>
                        <a:buNone/>
                      </a:pPr>
                      <a:r>
                        <a:rPr lang="en-US" sz="1500" b="1" dirty="0">
                          <a:solidFill>
                            <a:srgbClr val="0C2A3E"/>
                          </a:solidFill>
                          <a:latin typeface="IBM Plex Sans" pitchFamily="34" charset="0"/>
                          <a:ea typeface="IBM Plex Sans" pitchFamily="34" charset="-122"/>
                          <a:cs typeface="IBM Plex Sans" pitchFamily="34" charset="-120"/>
                        </a:rPr>
                        <a:t>Inferencia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r>
              <a:tr h="412750">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Qué hace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Ajusta los pesos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Los pesos están fijos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412750">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Cuánto cálculo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Mucho, con tarjeta gráfica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Poco: basta el procesador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412750">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Cada cuándo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Una vez, o pocas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Cada vez que alguien usa el sitio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412750">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Dónde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Google Colab</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100"/>
                        </a:lnSpc>
                        <a:buNone/>
                      </a:pPr>
                      <a:r>
                        <a:rPr lang="en-US" sz="1500" dirty="0">
                          <a:solidFill>
                            <a:srgbClr val="0C2A3E"/>
                          </a:solidFill>
                          <a:latin typeface="IBM Plex Sans" pitchFamily="34" charset="0"/>
                          <a:ea typeface="IBM Plex Sans" pitchFamily="34" charset="-122"/>
                          <a:cs typeface="IBM Plex Sans" pitchFamily="34" charset="-120"/>
                        </a:rPr>
                        <a:t>El servidor del sitio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bl>
          </a:graphicData>
        </a:graphic>
      </p:graphicFrame>
      <p:sp>
        <p:nvSpPr>
          <p:cNvPr id="8" name="Shape 3"/>
          <p:cNvSpPr/>
          <p:nvPr/>
        </p:nvSpPr>
        <p:spPr>
          <a:xfrm>
            <a:off x="812800" y="4915892"/>
            <a:ext cx="10566400" cy="844550"/>
          </a:xfrm>
          <a:prstGeom prst="roundRect">
            <a:avLst>
              <a:gd name="adj" fmla="val 15038"/>
            </a:avLst>
          </a:prstGeom>
          <a:solidFill>
            <a:srgbClr val="0B1F2E"/>
          </a:solidFill>
          <a:ln/>
        </p:spPr>
      </p:sp>
      <p:pic>
        <p:nvPicPr>
          <p:cNvPr id="9" name="Image 2" descr="Verified">    </p:cNvPr>
          <p:cNvPicPr>
            <a:picLocks noChangeAspect="1"/>
          </p:cNvPicPr>
          <p:nvPr/>
        </p:nvPicPr>
        <p:blipFill>
          <a:blip r:embed="rId3"/>
          <a:srcRect l="-361" r="-361" t="0" b="0"/>
          <a:stretch/>
        </p:blipFill>
        <p:spPr>
          <a:xfrm>
            <a:off x="1041400" y="5185767"/>
            <a:ext cx="249436" cy="304800"/>
          </a:xfrm>
          <a:prstGeom prst="rect">
            <a:avLst/>
          </a:prstGeom>
        </p:spPr>
      </p:pic>
      <p:sp>
        <p:nvSpPr>
          <p:cNvPr id="10" name="Text 4"/>
          <p:cNvSpPr/>
          <p:nvPr/>
        </p:nvSpPr>
        <p:spPr>
          <a:xfrm>
            <a:off x="1417836" y="5080992"/>
            <a:ext cx="1002474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La inferencia es determinista: con el mismo modelo y la misma imagen, siempre la misma respuesta. Es lo que se quiere de un instrumento.</a:t>
            </a:r>
            <a:endParaRPr lang="en-US" sz="1500" dirty="0"/>
          </a:p>
        </p:txBody>
      </p:sp>
      <p:sp>
        <p:nvSpPr>
          <p:cNvPr id="11"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12"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FUNDAMENTOS DE REDES NEURONALES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primer intento: el umbral</a:t>
            </a:r>
            <a:endParaRPr lang="en-US" sz="3600" dirty="0"/>
          </a:p>
        </p:txBody>
      </p:sp>
      <p:sp>
        <p:nvSpPr>
          <p:cNvPr id="6" name="Text 2"/>
          <p:cNvSpPr/>
          <p:nvPr/>
        </p:nvSpPr>
        <p:spPr>
          <a:xfrm>
            <a:off x="812800" y="179566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C2A3E"/>
                </a:solidFill>
                <a:latin typeface="IBM Plex Sans" pitchFamily="34" charset="0"/>
                <a:ea typeface="IBM Plex Sans" pitchFamily="34" charset="-122"/>
                <a:cs typeface="IBM Plex Sans" pitchFamily="34" charset="-120"/>
              </a:rPr>
              <a:t>Una fila de diez píxeles: sube, llega a un máximo y baja. Todo brillo mayor al umbral se considera célula.</a:t>
            </a:r>
            <a:endParaRPr lang="en-US" sz="1400" dirty="0"/>
          </a:p>
        </p:txBody>
      </p:sp>
      <p:sp>
        <p:nvSpPr>
          <p:cNvPr id="7" name="Text 3"/>
          <p:cNvSpPr/>
          <p:nvPr/>
        </p:nvSpPr>
        <p:spPr>
          <a:xfrm>
            <a:off x="812800" y="2511326"/>
            <a:ext cx="69590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9C"/>
                </a:solidFill>
                <a:latin typeface="IBM Plex Sans" pitchFamily="34" charset="0"/>
                <a:ea typeface="IBM Plex Sans" pitchFamily="34" charset="-122"/>
                <a:cs typeface="IBM Plex Sans" pitchFamily="34" charset="-120"/>
              </a:rPr>
              <a:t>Umbral en 100: la célula mide 4 píxeles</a:t>
            </a:r>
            <a:endParaRPr lang="en-US" sz="1300" dirty="0"/>
          </a:p>
        </p:txBody>
      </p:sp>
      <p:sp>
        <p:nvSpPr>
          <p:cNvPr id="8" name="Text 4"/>
          <p:cNvSpPr/>
          <p:nvPr/>
        </p:nvSpPr>
        <p:spPr>
          <a:xfrm>
            <a:off x="812800" y="2805906"/>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9" name="Text 5"/>
          <p:cNvSpPr/>
          <p:nvPr/>
        </p:nvSpPr>
        <p:spPr>
          <a:xfrm>
            <a:off x="1492250" y="2805906"/>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10" name="Text 6"/>
          <p:cNvSpPr/>
          <p:nvPr/>
        </p:nvSpPr>
        <p:spPr>
          <a:xfrm>
            <a:off x="2171700" y="2805906"/>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60</a:t>
            </a:r>
            <a:endParaRPr lang="en-US" sz="1500" dirty="0"/>
          </a:p>
        </p:txBody>
      </p:sp>
      <p:sp>
        <p:nvSpPr>
          <p:cNvPr id="11" name="Text 7"/>
          <p:cNvSpPr/>
          <p:nvPr/>
        </p:nvSpPr>
        <p:spPr>
          <a:xfrm>
            <a:off x="2851150" y="2805906"/>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140</a:t>
            </a:r>
            <a:endParaRPr lang="en-US" sz="1500" dirty="0"/>
          </a:p>
        </p:txBody>
      </p:sp>
      <p:sp>
        <p:nvSpPr>
          <p:cNvPr id="12" name="Text 8"/>
          <p:cNvSpPr/>
          <p:nvPr/>
        </p:nvSpPr>
        <p:spPr>
          <a:xfrm>
            <a:off x="3530600" y="2805906"/>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230</a:t>
            </a:r>
            <a:endParaRPr lang="en-US" sz="1500" dirty="0"/>
          </a:p>
        </p:txBody>
      </p:sp>
      <p:sp>
        <p:nvSpPr>
          <p:cNvPr id="13" name="Text 9"/>
          <p:cNvSpPr/>
          <p:nvPr/>
        </p:nvSpPr>
        <p:spPr>
          <a:xfrm>
            <a:off x="4210050" y="2805906"/>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230</a:t>
            </a:r>
            <a:endParaRPr lang="en-US" sz="1500" dirty="0"/>
          </a:p>
        </p:txBody>
      </p:sp>
      <p:sp>
        <p:nvSpPr>
          <p:cNvPr id="14" name="Text 10"/>
          <p:cNvSpPr/>
          <p:nvPr/>
        </p:nvSpPr>
        <p:spPr>
          <a:xfrm>
            <a:off x="4889500" y="2805906"/>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140</a:t>
            </a:r>
            <a:endParaRPr lang="en-US" sz="1500" dirty="0"/>
          </a:p>
        </p:txBody>
      </p:sp>
      <p:sp>
        <p:nvSpPr>
          <p:cNvPr id="15" name="Text 11"/>
          <p:cNvSpPr/>
          <p:nvPr/>
        </p:nvSpPr>
        <p:spPr>
          <a:xfrm>
            <a:off x="5568950" y="2805906"/>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60</a:t>
            </a:r>
            <a:endParaRPr lang="en-US" sz="1500" dirty="0"/>
          </a:p>
        </p:txBody>
      </p:sp>
      <p:sp>
        <p:nvSpPr>
          <p:cNvPr id="16" name="Text 12"/>
          <p:cNvSpPr/>
          <p:nvPr/>
        </p:nvSpPr>
        <p:spPr>
          <a:xfrm>
            <a:off x="6248400" y="2805906"/>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17" name="Text 13"/>
          <p:cNvSpPr/>
          <p:nvPr/>
        </p:nvSpPr>
        <p:spPr>
          <a:xfrm>
            <a:off x="6927850" y="2805906"/>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18" name="Text 14"/>
          <p:cNvSpPr/>
          <p:nvPr/>
        </p:nvSpPr>
        <p:spPr>
          <a:xfrm>
            <a:off x="812800" y="3390106"/>
            <a:ext cx="69590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6E9C"/>
                </a:solidFill>
                <a:latin typeface="IBM Plex Sans" pitchFamily="34" charset="0"/>
                <a:ea typeface="IBM Plex Sans" pitchFamily="34" charset="-122"/>
                <a:cs typeface="IBM Plex Sans" pitchFamily="34" charset="-120"/>
              </a:rPr>
              <a:t>Umbral en 50: la misma célula mide 6 píxeles</a:t>
            </a:r>
            <a:endParaRPr lang="en-US" sz="1300" dirty="0"/>
          </a:p>
        </p:txBody>
      </p:sp>
      <p:sp>
        <p:nvSpPr>
          <p:cNvPr id="19" name="Text 15"/>
          <p:cNvSpPr/>
          <p:nvPr/>
        </p:nvSpPr>
        <p:spPr>
          <a:xfrm>
            <a:off x="812800" y="3684687"/>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20" name="Text 16"/>
          <p:cNvSpPr/>
          <p:nvPr/>
        </p:nvSpPr>
        <p:spPr>
          <a:xfrm>
            <a:off x="1492250" y="3684687"/>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21" name="Text 17"/>
          <p:cNvSpPr/>
          <p:nvPr/>
        </p:nvSpPr>
        <p:spPr>
          <a:xfrm>
            <a:off x="2171700" y="3684687"/>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60</a:t>
            </a:r>
            <a:endParaRPr lang="en-US" sz="1500" dirty="0"/>
          </a:p>
        </p:txBody>
      </p:sp>
      <p:sp>
        <p:nvSpPr>
          <p:cNvPr id="22" name="Text 18"/>
          <p:cNvSpPr/>
          <p:nvPr/>
        </p:nvSpPr>
        <p:spPr>
          <a:xfrm>
            <a:off x="2851150" y="3684687"/>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140</a:t>
            </a:r>
            <a:endParaRPr lang="en-US" sz="1500" dirty="0"/>
          </a:p>
        </p:txBody>
      </p:sp>
      <p:sp>
        <p:nvSpPr>
          <p:cNvPr id="23" name="Text 19"/>
          <p:cNvSpPr/>
          <p:nvPr/>
        </p:nvSpPr>
        <p:spPr>
          <a:xfrm>
            <a:off x="3530600" y="3684687"/>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230</a:t>
            </a:r>
            <a:endParaRPr lang="en-US" sz="1500" dirty="0"/>
          </a:p>
        </p:txBody>
      </p:sp>
      <p:sp>
        <p:nvSpPr>
          <p:cNvPr id="24" name="Text 20"/>
          <p:cNvSpPr/>
          <p:nvPr/>
        </p:nvSpPr>
        <p:spPr>
          <a:xfrm>
            <a:off x="4210050" y="3684687"/>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230</a:t>
            </a:r>
            <a:endParaRPr lang="en-US" sz="1500" dirty="0"/>
          </a:p>
        </p:txBody>
      </p:sp>
      <p:sp>
        <p:nvSpPr>
          <p:cNvPr id="25" name="Text 21"/>
          <p:cNvSpPr/>
          <p:nvPr/>
        </p:nvSpPr>
        <p:spPr>
          <a:xfrm>
            <a:off x="4889500" y="3684687"/>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140</a:t>
            </a:r>
            <a:endParaRPr lang="en-US" sz="1500" dirty="0"/>
          </a:p>
        </p:txBody>
      </p:sp>
      <p:sp>
        <p:nvSpPr>
          <p:cNvPr id="26" name="Text 22"/>
          <p:cNvSpPr/>
          <p:nvPr/>
        </p:nvSpPr>
        <p:spPr>
          <a:xfrm>
            <a:off x="5568950" y="3684687"/>
            <a:ext cx="641350" cy="444500"/>
          </a:xfrm>
          <a:prstGeom prst="rect">
            <a:avLst/>
          </a:prstGeom>
          <a:solidFill>
            <a:srgbClr val="F4A259"/>
          </a:solidFill>
          <a:ln/>
        </p:spPr>
        <p:txBody>
          <a:bodyPr wrap="square" lIns="0" tIns="88900" rIns="0" bIns="63500" rtlCol="0" anchor="t">
            <a:normAutofit/>
          </a:bodyPr>
          <a:lstStyle/>
          <a:p>
            <a:pPr algn="ctr" indent="0" marL="0">
              <a:lnSpc>
                <a:spcPts val="2100"/>
              </a:lnSpc>
              <a:buNone/>
            </a:pPr>
            <a:r>
              <a:rPr lang="en-US" sz="1500" b="1" dirty="0">
                <a:solidFill>
                  <a:srgbClr val="2A1406"/>
                </a:solidFill>
                <a:latin typeface="IBM Plex Sans" pitchFamily="34" charset="0"/>
                <a:ea typeface="IBM Plex Sans" pitchFamily="34" charset="-122"/>
                <a:cs typeface="IBM Plex Sans" pitchFamily="34" charset="-120"/>
              </a:rPr>
              <a:t>60</a:t>
            </a:r>
            <a:endParaRPr lang="en-US" sz="1500" dirty="0"/>
          </a:p>
        </p:txBody>
      </p:sp>
      <p:sp>
        <p:nvSpPr>
          <p:cNvPr id="27" name="Text 23"/>
          <p:cNvSpPr/>
          <p:nvPr/>
        </p:nvSpPr>
        <p:spPr>
          <a:xfrm>
            <a:off x="6248400" y="3684687"/>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sp>
        <p:nvSpPr>
          <p:cNvPr id="28" name="Text 24"/>
          <p:cNvSpPr/>
          <p:nvPr/>
        </p:nvSpPr>
        <p:spPr>
          <a:xfrm>
            <a:off x="6927850" y="3684687"/>
            <a:ext cx="641350" cy="444500"/>
          </a:xfrm>
          <a:prstGeom prst="rect">
            <a:avLst/>
          </a:prstGeom>
          <a:solidFill>
            <a:srgbClr val="E3EFF5"/>
          </a:solidFill>
          <a:ln/>
        </p:spPr>
        <p:txBody>
          <a:bodyPr wrap="square" lIns="0" tIns="88900" rIns="0" bIns="63500" rtlCol="0" anchor="t">
            <a:normAutofit/>
          </a:bodyPr>
          <a:lstStyle/>
          <a:p>
            <a:pPr algn="ctr" indent="0" marL="0">
              <a:lnSpc>
                <a:spcPts val="2100"/>
              </a:lnSpc>
              <a:buNone/>
            </a:pPr>
            <a:r>
              <a:rPr lang="en-US" sz="1500" dirty="0">
                <a:solidFill>
                  <a:srgbClr val="3E5566"/>
                </a:solidFill>
                <a:latin typeface="IBM Plex Sans" pitchFamily="34" charset="0"/>
                <a:ea typeface="IBM Plex Sans" pitchFamily="34" charset="-122"/>
                <a:cs typeface="IBM Plex Sans" pitchFamily="34" charset="-120"/>
              </a:rPr>
              <a:t>8</a:t>
            </a:r>
            <a:endParaRPr lang="en-US" sz="1500" dirty="0"/>
          </a:p>
        </p:txBody>
      </p:sp>
      <p:pic>
        <p:nvPicPr>
          <p:cNvPr id="29" name="Image 2" descr="Una foto con dos piezas blancas a la izquierda y, a la derecha, el mismo cuadro en blanco y negro después de aplicar un umbral">    </p:cNvPr>
          <p:cNvPicPr>
            <a:picLocks noChangeAspect="1"/>
          </p:cNvPicPr>
          <p:nvPr/>
        </p:nvPicPr>
        <p:blipFill>
          <a:blip r:embed="rId3"/>
          <a:srcRect l="0" r="0" t="287" b="287"/>
          <a:stretch/>
        </p:blipFill>
        <p:spPr>
          <a:xfrm>
            <a:off x="7835900" y="2238871"/>
            <a:ext cx="3530600" cy="1930400"/>
          </a:xfrm>
          <a:prstGeom prst="roundRect">
            <a:avLst>
              <a:gd name="adj" fmla="val 3289"/>
            </a:avLst>
          </a:prstGeom>
        </p:spPr>
      </p:pic>
      <p:sp>
        <p:nvSpPr>
          <p:cNvPr id="30" name="Shape 25"/>
          <p:cNvSpPr/>
          <p:nvPr/>
        </p:nvSpPr>
        <p:spPr>
          <a:xfrm>
            <a:off x="7829550" y="2232521"/>
            <a:ext cx="3543300" cy="1943100"/>
          </a:xfrm>
          <a:prstGeom prst="roundRect">
            <a:avLst>
              <a:gd name="adj" fmla="val 3595"/>
            </a:avLst>
          </a:prstGeom>
          <a:noFill/>
          <a:ln w="12700">
            <a:solidFill>
              <a:srgbClr val="D5E3EA"/>
            </a:solidFill>
            <a:prstDash val="solid"/>
          </a:ln>
        </p:spPr>
      </p:sp>
      <p:sp>
        <p:nvSpPr>
          <p:cNvPr id="31" name="Text 26"/>
          <p:cNvSpPr/>
          <p:nvPr/>
        </p:nvSpPr>
        <p:spPr>
          <a:xfrm>
            <a:off x="7823200" y="4232771"/>
            <a:ext cx="3662680" cy="206970"/>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5E7280"/>
                </a:solidFill>
                <a:latin typeface="IBM Plex Sans" pitchFamily="34" charset="0"/>
                <a:ea typeface="IBM Plex Sans" pitchFamily="34" charset="-122"/>
                <a:cs typeface="IBM Plex Sans" pitchFamily="34" charset="-120"/>
              </a:rPr>
              <a:t>Un umbral en una foto: lo que lo pasa queda en blanco.</a:t>
            </a:r>
            <a:endParaRPr lang="en-US" sz="1100" dirty="0"/>
          </a:p>
        </p:txBody>
      </p:sp>
      <p:sp>
        <p:nvSpPr>
          <p:cNvPr id="32" name="Text 27"/>
          <p:cNvSpPr/>
          <p:nvPr/>
        </p:nvSpPr>
        <p:spPr>
          <a:xfrm>
            <a:off x="812800" y="4604841"/>
            <a:ext cx="2565400" cy="639961"/>
          </a:xfrm>
          <a:prstGeom prst="roundRect">
            <a:avLst>
              <a:gd name="adj" fmla="val 13891"/>
            </a:avLst>
          </a:prstGeom>
          <a:solidFill>
            <a:srgbClr val="E3EFF5"/>
          </a:solidFill>
          <a:ln/>
        </p:spPr>
        <p:txBody>
          <a:bodyPr wrap="square" lIns="100962" tIns="62862" rIns="31620" bIns="3746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Las colas también brillan</a:t>
            </a:r>
            <a:endParaRPr lang="en-US" sz="1300" dirty="0"/>
          </a:p>
        </p:txBody>
      </p:sp>
      <p:sp>
        <p:nvSpPr>
          <p:cNvPr id="33" name="Text 28"/>
          <p:cNvSpPr/>
          <p:nvPr/>
        </p:nvSpPr>
        <p:spPr>
          <a:xfrm>
            <a:off x="3479800" y="4604841"/>
            <a:ext cx="2565400" cy="639961"/>
          </a:xfrm>
          <a:prstGeom prst="roundRect">
            <a:avLst>
              <a:gd name="adj" fmla="val 13891"/>
            </a:avLst>
          </a:prstGeom>
          <a:solidFill>
            <a:srgbClr val="E3EFF5"/>
          </a:solidFill>
          <a:ln/>
        </p:spPr>
        <p:txBody>
          <a:bodyPr wrap="square" lIns="100962" tIns="62862" rIns="31620" bIns="3746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Manchas difusas pasan el umbral</a:t>
            </a:r>
            <a:endParaRPr lang="en-US" sz="1300" dirty="0"/>
          </a:p>
        </p:txBody>
      </p:sp>
      <p:sp>
        <p:nvSpPr>
          <p:cNvPr id="34" name="Text 29"/>
          <p:cNvSpPr/>
          <p:nvPr/>
        </p:nvSpPr>
        <p:spPr>
          <a:xfrm>
            <a:off x="6146800" y="4604841"/>
            <a:ext cx="2565400" cy="639961"/>
          </a:xfrm>
          <a:prstGeom prst="roundRect">
            <a:avLst>
              <a:gd name="adj" fmla="val 13891"/>
            </a:avLst>
          </a:prstGeom>
          <a:solidFill>
            <a:srgbClr val="E3EFF5"/>
          </a:solidFill>
          <a:ln/>
        </p:spPr>
        <p:txBody>
          <a:bodyPr wrap="square" lIns="100962" tIns="62862" rIns="31620" bIns="3746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Células encimadas se unen</a:t>
            </a:r>
            <a:endParaRPr lang="en-US" sz="1300" dirty="0"/>
          </a:p>
        </p:txBody>
      </p:sp>
      <p:sp>
        <p:nvSpPr>
          <p:cNvPr id="35" name="Text 30"/>
          <p:cNvSpPr/>
          <p:nvPr/>
        </p:nvSpPr>
        <p:spPr>
          <a:xfrm>
            <a:off x="8813800" y="4604841"/>
            <a:ext cx="2565400" cy="639961"/>
          </a:xfrm>
          <a:prstGeom prst="roundRect">
            <a:avLst>
              <a:gd name="adj" fmla="val 13891"/>
            </a:avLst>
          </a:prstGeom>
          <a:solidFill>
            <a:srgbClr val="E3EFF5"/>
          </a:solidFill>
          <a:ln/>
        </p:spPr>
        <p:txBody>
          <a:bodyPr wrap="square" lIns="100962" tIns="62862" rIns="31620" bIns="37462" rtlCol="0" anchor="t">
            <a:normAutofit/>
          </a:bodyPr>
          <a:lstStyle/>
          <a:p>
            <a:pPr algn="l" indent="0" marL="0">
              <a:lnSpc>
                <a:spcPts val="1820"/>
              </a:lnSpc>
              <a:buNone/>
            </a:pPr>
            <a:r>
              <a:rPr lang="en-US" sz="1300" b="1" dirty="0">
                <a:solidFill>
                  <a:srgbClr val="0C2A3E"/>
                </a:solidFill>
                <a:latin typeface="IBM Plex Sans" pitchFamily="34" charset="0"/>
                <a:ea typeface="IBM Plex Sans" pitchFamily="34" charset="-122"/>
                <a:cs typeface="IBM Plex Sans" pitchFamily="34" charset="-120"/>
              </a:rPr>
              <a:t>La iluminación cambia</a:t>
            </a:r>
            <a:endParaRPr lang="en-US" sz="1300" dirty="0"/>
          </a:p>
        </p:txBody>
      </p:sp>
      <p:sp>
        <p:nvSpPr>
          <p:cNvPr id="36" name="Text 3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 · Números de ejemplo · Imagen: Taj Morton (CC BY-SA 3.0), Wikimedia Commons</a:t>
            </a:r>
            <a:endParaRPr lang="en-US" sz="1200" dirty="0"/>
          </a:p>
        </p:txBody>
      </p:sp>
      <p:sp>
        <p:nvSpPr>
          <p:cNvPr id="37"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FUNDAMENTOS DE REDES NEURONALES</a:t>
            </a:r>
            <a:endParaRPr lang="en-US" sz="1200" dirty="0"/>
          </a:p>
        </p:txBody>
      </p:sp>
      <p:sp>
        <p:nvSpPr>
          <p:cNvPr id="5"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1F6F8"/>
                </a:solidFill>
                <a:latin typeface="EB Garamond" pitchFamily="18" charset="0"/>
                <a:ea typeface="EB Garamond" pitchFamily="18" charset="-122"/>
                <a:cs typeface="EB Garamond" pitchFamily="18" charset="-120"/>
              </a:rPr>
              <a:t>Una red neuronal no entiende qué es un espermatozoide</a:t>
            </a:r>
            <a:endParaRPr lang="en-US" sz="3200" dirty="0"/>
          </a:p>
        </p:txBody>
      </p:sp>
      <p:sp>
        <p:nvSpPr>
          <p:cNvPr id="6" name="Shape 2"/>
          <p:cNvSpPr/>
          <p:nvPr/>
        </p:nvSpPr>
        <p:spPr>
          <a:xfrm>
            <a:off x="819150" y="1809651"/>
            <a:ext cx="3407767" cy="1788120"/>
          </a:xfrm>
          <a:prstGeom prst="roundRect">
            <a:avLst>
              <a:gd name="adj" fmla="val 6747"/>
            </a:avLst>
          </a:prstGeom>
          <a:solidFill>
            <a:srgbClr val="12304A"/>
          </a:solidFill>
          <a:ln w="12700">
            <a:solidFill>
              <a:srgbClr val="24506E"/>
            </a:solidFill>
            <a:prstDash val="solid"/>
          </a:ln>
        </p:spPr>
      </p:sp>
      <p:sp>
        <p:nvSpPr>
          <p:cNvPr id="7" name="Text 3"/>
          <p:cNvSpPr/>
          <p:nvPr/>
        </p:nvSpPr>
        <p:spPr>
          <a:xfrm>
            <a:off x="1028700" y="2019201"/>
            <a:ext cx="30783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QUÉ TIENE</a:t>
            </a:r>
            <a:endParaRPr lang="en-US" sz="1200" dirty="0"/>
          </a:p>
        </p:txBody>
      </p:sp>
      <p:sp>
        <p:nvSpPr>
          <p:cNvPr id="8" name="Text 4"/>
          <p:cNvSpPr/>
          <p:nvPr/>
        </p:nvSpPr>
        <p:spPr>
          <a:xfrm>
            <a:off x="1028700" y="2321421"/>
            <a:ext cx="30783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8"/>
                </a:solidFill>
                <a:latin typeface="IBM Plex Sans" pitchFamily="34" charset="0"/>
                <a:ea typeface="IBM Plex Sans" pitchFamily="34" charset="-122"/>
                <a:cs typeface="IBM Plex Sans" pitchFamily="34" charset="-120"/>
              </a:rPr>
              <a:t>Una enorme colección de números ajustados.</a:t>
            </a:r>
            <a:endParaRPr lang="en-US" sz="1500" dirty="0"/>
          </a:p>
        </p:txBody>
      </p:sp>
      <p:sp>
        <p:nvSpPr>
          <p:cNvPr id="9" name="Shape 5"/>
          <p:cNvSpPr/>
          <p:nvPr/>
        </p:nvSpPr>
        <p:spPr>
          <a:xfrm>
            <a:off x="4392017" y="1809651"/>
            <a:ext cx="3407866" cy="1788120"/>
          </a:xfrm>
          <a:prstGeom prst="roundRect">
            <a:avLst>
              <a:gd name="adj" fmla="val 6747"/>
            </a:avLst>
          </a:prstGeom>
          <a:solidFill>
            <a:srgbClr val="12304A"/>
          </a:solidFill>
          <a:ln w="12700">
            <a:solidFill>
              <a:srgbClr val="24506E"/>
            </a:solidFill>
            <a:prstDash val="solid"/>
          </a:ln>
        </p:spPr>
      </p:sp>
      <p:sp>
        <p:nvSpPr>
          <p:cNvPr id="10" name="Text 6"/>
          <p:cNvSpPr/>
          <p:nvPr/>
        </p:nvSpPr>
        <p:spPr>
          <a:xfrm>
            <a:off x="4601567" y="20192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QUÉ HACE</a:t>
            </a:r>
            <a:endParaRPr lang="en-US" sz="1200" dirty="0"/>
          </a:p>
        </p:txBody>
      </p:sp>
      <p:sp>
        <p:nvSpPr>
          <p:cNvPr id="11" name="Text 7"/>
          <p:cNvSpPr/>
          <p:nvPr/>
        </p:nvSpPr>
        <p:spPr>
          <a:xfrm>
            <a:off x="4601567" y="2321421"/>
            <a:ext cx="307842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8"/>
                </a:solidFill>
                <a:latin typeface="IBM Plex Sans" pitchFamily="34" charset="0"/>
                <a:ea typeface="IBM Plex Sans" pitchFamily="34" charset="-122"/>
                <a:cs typeface="IBM Plex Sans" pitchFamily="34" charset="-120"/>
              </a:rPr>
              <a:t>Ante ciertos patrones de píxeles produce la salida que las personas marcaron en los ejemplos.</a:t>
            </a:r>
            <a:endParaRPr lang="en-US" sz="1500" dirty="0"/>
          </a:p>
        </p:txBody>
      </p:sp>
      <p:sp>
        <p:nvSpPr>
          <p:cNvPr id="12" name="Shape 8"/>
          <p:cNvSpPr/>
          <p:nvPr/>
        </p:nvSpPr>
        <p:spPr>
          <a:xfrm>
            <a:off x="7964984" y="1809651"/>
            <a:ext cx="3407866" cy="1788120"/>
          </a:xfrm>
          <a:prstGeom prst="roundRect">
            <a:avLst>
              <a:gd name="adj" fmla="val 6747"/>
            </a:avLst>
          </a:prstGeom>
          <a:solidFill>
            <a:srgbClr val="12304A"/>
          </a:solidFill>
          <a:ln w="12700">
            <a:solidFill>
              <a:srgbClr val="24506E"/>
            </a:solidFill>
            <a:prstDash val="solid"/>
          </a:ln>
        </p:spPr>
      </p:sp>
      <p:sp>
        <p:nvSpPr>
          <p:cNvPr id="13" name="Text 9"/>
          <p:cNvSpPr/>
          <p:nvPr/>
        </p:nvSpPr>
        <p:spPr>
          <a:xfrm>
            <a:off x="8174534" y="20192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FF6"/>
                </a:solidFill>
                <a:latin typeface="IBM Plex Sans" pitchFamily="34" charset="0"/>
                <a:ea typeface="IBM Plex Sans" pitchFamily="34" charset="-122"/>
                <a:cs typeface="IBM Plex Sans" pitchFamily="34" charset="-120"/>
              </a:rPr>
              <a:t>QUÉ IMPLICA</a:t>
            </a:r>
            <a:endParaRPr lang="en-US" sz="1200" dirty="0"/>
          </a:p>
        </p:txBody>
      </p:sp>
      <p:sp>
        <p:nvSpPr>
          <p:cNvPr id="14" name="Text 10"/>
          <p:cNvSpPr/>
          <p:nvPr/>
        </p:nvSpPr>
        <p:spPr>
          <a:xfrm>
            <a:off x="8174534" y="2321421"/>
            <a:ext cx="307842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8"/>
                </a:solidFill>
                <a:latin typeface="IBM Plex Sans" pitchFamily="34" charset="0"/>
                <a:ea typeface="IBM Plex Sans" pitchFamily="34" charset="-122"/>
                <a:cs typeface="IBM Plex Sans" pitchFamily="34" charset="-120"/>
              </a:rPr>
              <a:t>Con una imagen muy distinta a las de su entrenamiento no sabe que se equivoca: responde con la misma seguridad.</a:t>
            </a:r>
            <a:endParaRPr lang="en-US" sz="1500" dirty="0"/>
          </a:p>
        </p:txBody>
      </p:sp>
      <p:sp>
        <p:nvSpPr>
          <p:cNvPr id="15" name="Shape 11"/>
          <p:cNvSpPr/>
          <p:nvPr/>
        </p:nvSpPr>
        <p:spPr>
          <a:xfrm>
            <a:off x="812800" y="3858121"/>
            <a:ext cx="10566400" cy="869950"/>
          </a:xfrm>
          <a:prstGeom prst="roundRect">
            <a:avLst>
              <a:gd name="adj" fmla="val 14599"/>
            </a:avLst>
          </a:prstGeom>
          <a:solidFill>
            <a:srgbClr val="F4A259"/>
          </a:solidFill>
          <a:ln/>
        </p:spPr>
      </p:sp>
      <p:pic>
        <p:nvPicPr>
          <p:cNvPr id="16" name="Image 2" descr="Warning">    </p:cNvPr>
          <p:cNvPicPr>
            <a:picLocks noChangeAspect="1"/>
          </p:cNvPicPr>
          <p:nvPr/>
        </p:nvPicPr>
        <p:blipFill>
          <a:blip r:embed="rId3"/>
          <a:srcRect l="-20" r="-20" t="0" b="0"/>
          <a:stretch/>
        </p:blipFill>
        <p:spPr>
          <a:xfrm>
            <a:off x="1041400" y="4140696"/>
            <a:ext cx="254099" cy="304800"/>
          </a:xfrm>
          <a:prstGeom prst="rect">
            <a:avLst/>
          </a:prstGeom>
        </p:spPr>
      </p:pic>
      <p:sp>
        <p:nvSpPr>
          <p:cNvPr id="17" name="Text 12"/>
          <p:cNvSpPr/>
          <p:nvPr/>
        </p:nvSpPr>
        <p:spPr>
          <a:xfrm>
            <a:off x="1422499" y="4035921"/>
            <a:ext cx="100199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2A1406"/>
                </a:solidFill>
                <a:latin typeface="IBM Plex Sans" pitchFamily="34" charset="0"/>
                <a:ea typeface="IBM Plex Sans" pitchFamily="34" charset="-122"/>
                <a:cs typeface="IBM Plex Sans" pitchFamily="34" charset="-120"/>
              </a:rPr>
              <a:t>Es un reconocedor de patrones muy sofisticado y nada más. Por eso se revisa siempre la imagen marcada antes de confiar en un número.</a:t>
            </a:r>
            <a:endParaRPr lang="en-US" sz="1500" dirty="0"/>
          </a:p>
        </p:txBody>
      </p:sp>
      <p:sp>
        <p:nvSpPr>
          <p:cNvPr id="18"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19"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FUNDAMENTOS DE REDES NEURONALES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Del umbral a la red: qué cambia</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46461"/>
          <a:ext cx="10553700" cy="2564606"/>
        </p:xfrm>
        <a:graphic>
          <a:graphicData uri="http://schemas.openxmlformats.org/drawingml/2006/table">
            <a:tbl>
              <a:tblPr/>
              <a:tblGrid>
                <a:gridCol w="2110740"/>
                <a:gridCol w="4010406"/>
                <a:gridCol w="4432554"/>
              </a:tblGrid>
              <a:tr h="38596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Umbral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1960"/>
                        </a:lnSpc>
                        <a:buNone/>
                      </a:pPr>
                      <a:r>
                        <a:rPr lang="en-US" sz="1400" b="1" dirty="0">
                          <a:solidFill>
                            <a:srgbClr val="0C2A3E"/>
                          </a:solidFill>
                          <a:latin typeface="IBM Plex Sans" pitchFamily="34" charset="0"/>
                          <a:ea typeface="IBM Plex Sans" pitchFamily="34" charset="-122"/>
                          <a:cs typeface="IBM Plex Sans" pitchFamily="34" charset="-120"/>
                        </a:rPr>
                        <a:t>Red neuronal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Reglas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Una sola, escrita por una persona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Millones de pesos, ajustados con ejemplos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Qué mira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Cada píxel por separado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Muchos píxeles a la vez, con sus vecinos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Qué distingue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Solo el brillo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Forma, textura y bordes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385961">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Si falla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Agregar otra regla y arriesgar las demás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Agregar ejemplos y entrenar de nuevo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634802">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Su costo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Casi ninguno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1960"/>
                        </a:lnSpc>
                        <a:buNone/>
                      </a:pPr>
                      <a:r>
                        <a:rPr lang="en-US" sz="1400" dirty="0">
                          <a:solidFill>
                            <a:srgbClr val="0C2A3E"/>
                          </a:solidFill>
                          <a:latin typeface="IBM Plex Sans" pitchFamily="34" charset="0"/>
                          <a:ea typeface="IBM Plex Sans" pitchFamily="34" charset="-122"/>
                          <a:cs typeface="IBM Plex Sans" pitchFamily="34" charset="-120"/>
                        </a:rPr>
                        <a:t>Ejemplos anotados, entrenamiento y decisiones más difíciles de explicar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bl>
          </a:graphicData>
        </a:graphic>
      </p:graphicFrame>
      <p:sp>
        <p:nvSpPr>
          <p:cNvPr id="7" name="Shape 2"/>
          <p:cNvSpPr/>
          <p:nvPr/>
        </p:nvSpPr>
        <p:spPr>
          <a:xfrm>
            <a:off x="812800" y="4639667"/>
            <a:ext cx="10566400" cy="844550"/>
          </a:xfrm>
          <a:prstGeom prst="roundRect">
            <a:avLst>
              <a:gd name="adj" fmla="val 15038"/>
            </a:avLst>
          </a:prstGeom>
          <a:solidFill>
            <a:srgbClr val="0B1F2E"/>
          </a:solidFill>
          <a:ln/>
        </p:spPr>
      </p:sp>
      <p:pic>
        <p:nvPicPr>
          <p:cNvPr id="8" name="Image 2" descr="Lightbulb">    </p:cNvPr>
          <p:cNvPicPr>
            <a:picLocks noChangeAspect="1"/>
          </p:cNvPicPr>
          <p:nvPr/>
        </p:nvPicPr>
        <p:blipFill>
          <a:blip r:embed="rId3"/>
          <a:srcRect l="-513" r="-513" t="0" b="0"/>
          <a:stretch/>
        </p:blipFill>
        <p:spPr>
          <a:xfrm>
            <a:off x="1041400" y="4909542"/>
            <a:ext cx="224532" cy="304800"/>
          </a:xfrm>
          <a:prstGeom prst="rect">
            <a:avLst/>
          </a:prstGeom>
        </p:spPr>
      </p:pic>
      <p:sp>
        <p:nvSpPr>
          <p:cNvPr id="9" name="Text 3"/>
          <p:cNvSpPr/>
          <p:nvPr/>
        </p:nvSpPr>
        <p:spPr>
          <a:xfrm>
            <a:off x="1392932" y="4804767"/>
            <a:ext cx="1005039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Cambia el método: en lugar de decirle a la computadora cómo, le mostramos qué queremos y dejamos que descubra cómo. La red localiza y el código mide.</a:t>
            </a:r>
            <a:endParaRPr lang="en-US" sz="1500" dirty="0"/>
          </a:p>
        </p:txBody>
      </p:sp>
      <p:sp>
        <p:nvSpPr>
          <p:cNvPr id="10"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11"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28798"/>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F4A259"/>
                </a:solidFill>
                <a:latin typeface="IBM Plex Sans" pitchFamily="34" charset="0"/>
                <a:ea typeface="IBM Plex Sans" pitchFamily="34" charset="-122"/>
                <a:cs typeface="IBM Plex Sans" pitchFamily="34" charset="-120"/>
              </a:rPr>
              <a:t>FUNDAMENTOS DE REDES NEURONALES</a:t>
            </a:r>
            <a:endParaRPr lang="en-US" sz="1159" dirty="0"/>
          </a:p>
        </p:txBody>
      </p:sp>
      <p:sp>
        <p:nvSpPr>
          <p:cNvPr id="5" name="Text 1"/>
          <p:cNvSpPr/>
          <p:nvPr>
            <p:ph type="title"/>
          </p:nvPr>
        </p:nvSpPr>
        <p:spPr>
          <a:xfrm>
            <a:off x="812800" y="1092398"/>
            <a:ext cx="10883392" cy="504924"/>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F1F6F8"/>
                </a:solidFill>
                <a:latin typeface="EB Garamond" pitchFamily="18" charset="0"/>
                <a:ea typeface="EB Garamond" pitchFamily="18" charset="-122"/>
                <a:cs typeface="EB Garamond" pitchFamily="18" charset="-120"/>
              </a:rPr>
              <a:t>La neurona artificial: cuatro pasos</a:t>
            </a:r>
            <a:endParaRPr lang="en-US" sz="3476" dirty="0"/>
          </a:p>
        </p:txBody>
      </p:sp>
      <p:sp>
        <p:nvSpPr>
          <p:cNvPr id="6" name="Shape 2"/>
          <p:cNvSpPr/>
          <p:nvPr/>
        </p:nvSpPr>
        <p:spPr>
          <a:xfrm>
            <a:off x="819150" y="1781473"/>
            <a:ext cx="6388100" cy="322560"/>
          </a:xfrm>
          <a:prstGeom prst="roundRect">
            <a:avLst>
              <a:gd name="adj" fmla="val 33467"/>
            </a:avLst>
          </a:prstGeom>
          <a:solidFill>
            <a:srgbClr val="12304A"/>
          </a:solidFill>
          <a:ln w="12700">
            <a:solidFill>
              <a:srgbClr val="24506E"/>
            </a:solidFill>
            <a:prstDash val="solid"/>
          </a:ln>
        </p:spPr>
      </p:sp>
      <p:sp>
        <p:nvSpPr>
          <p:cNvPr id="7" name="Text 3"/>
          <p:cNvSpPr/>
          <p:nvPr/>
        </p:nvSpPr>
        <p:spPr>
          <a:xfrm>
            <a:off x="952500" y="1844973"/>
            <a:ext cx="157480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6CCFF6"/>
                </a:solidFill>
                <a:latin typeface="IBM Plex Sans" pitchFamily="34" charset="0"/>
                <a:ea typeface="IBM Plex Sans" pitchFamily="34" charset="-122"/>
                <a:cs typeface="IBM Plex Sans" pitchFamily="34" charset="-120"/>
              </a:rPr>
              <a:t>1 · ENTRADAS</a:t>
            </a:r>
            <a:endParaRPr lang="en-US" sz="1100" dirty="0"/>
          </a:p>
        </p:txBody>
      </p:sp>
      <p:sp>
        <p:nvSpPr>
          <p:cNvPr id="8" name="Text 4"/>
          <p:cNvSpPr/>
          <p:nvPr/>
        </p:nvSpPr>
        <p:spPr>
          <a:xfrm>
            <a:off x="2590800" y="1847453"/>
            <a:ext cx="23654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1F6F8"/>
                </a:solidFill>
                <a:latin typeface="IBM Plex Sans" pitchFamily="34" charset="0"/>
                <a:ea typeface="IBM Plex Sans" pitchFamily="34" charset="-122"/>
                <a:cs typeface="IBM Plex Sans" pitchFamily="34" charset="-120"/>
              </a:rPr>
              <a:t>Rojo, verde y azul de un píxel</a:t>
            </a:r>
            <a:endParaRPr lang="en-US" sz="1200" dirty="0"/>
          </a:p>
        </p:txBody>
      </p:sp>
      <p:sp>
        <p:nvSpPr>
          <p:cNvPr id="9" name="Shape 5"/>
          <p:cNvSpPr/>
          <p:nvPr/>
        </p:nvSpPr>
        <p:spPr>
          <a:xfrm>
            <a:off x="819150" y="2180233"/>
            <a:ext cx="6388100" cy="322560"/>
          </a:xfrm>
          <a:prstGeom prst="roundRect">
            <a:avLst>
              <a:gd name="adj" fmla="val 33467"/>
            </a:avLst>
          </a:prstGeom>
          <a:solidFill>
            <a:srgbClr val="12304A"/>
          </a:solidFill>
          <a:ln w="12700">
            <a:solidFill>
              <a:srgbClr val="24506E"/>
            </a:solidFill>
            <a:prstDash val="solid"/>
          </a:ln>
        </p:spPr>
      </p:sp>
      <p:sp>
        <p:nvSpPr>
          <p:cNvPr id="10" name="Text 6"/>
          <p:cNvSpPr/>
          <p:nvPr/>
        </p:nvSpPr>
        <p:spPr>
          <a:xfrm>
            <a:off x="952500" y="2243733"/>
            <a:ext cx="157480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6CCFF6"/>
                </a:solidFill>
                <a:latin typeface="IBM Plex Sans" pitchFamily="34" charset="0"/>
                <a:ea typeface="IBM Plex Sans" pitchFamily="34" charset="-122"/>
                <a:cs typeface="IBM Plex Sans" pitchFamily="34" charset="-120"/>
              </a:rPr>
              <a:t>2 · PESOS</a:t>
            </a:r>
            <a:endParaRPr lang="en-US" sz="1100" dirty="0"/>
          </a:p>
        </p:txBody>
      </p:sp>
      <p:sp>
        <p:nvSpPr>
          <p:cNvPr id="11" name="Text 7"/>
          <p:cNvSpPr/>
          <p:nvPr/>
        </p:nvSpPr>
        <p:spPr>
          <a:xfrm>
            <a:off x="2590800" y="2246213"/>
            <a:ext cx="31795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1F6F8"/>
                </a:solidFill>
                <a:latin typeface="IBM Plex Sans" pitchFamily="34" charset="0"/>
                <a:ea typeface="IBM Plex Sans" pitchFamily="34" charset="-122"/>
                <a:cs typeface="IBM Plex Sans" pitchFamily="34" charset="-120"/>
              </a:rPr>
              <a:t>Cada entrada se multiplica por su peso</a:t>
            </a:r>
            <a:endParaRPr lang="en-US" sz="1200" dirty="0"/>
          </a:p>
        </p:txBody>
      </p:sp>
      <p:sp>
        <p:nvSpPr>
          <p:cNvPr id="12" name="Shape 8"/>
          <p:cNvSpPr/>
          <p:nvPr/>
        </p:nvSpPr>
        <p:spPr>
          <a:xfrm>
            <a:off x="819150" y="2578993"/>
            <a:ext cx="6388100" cy="322560"/>
          </a:xfrm>
          <a:prstGeom prst="roundRect">
            <a:avLst>
              <a:gd name="adj" fmla="val 33467"/>
            </a:avLst>
          </a:prstGeom>
          <a:solidFill>
            <a:srgbClr val="12304A"/>
          </a:solidFill>
          <a:ln w="12700">
            <a:solidFill>
              <a:srgbClr val="24506E"/>
            </a:solidFill>
            <a:prstDash val="solid"/>
          </a:ln>
        </p:spPr>
      </p:sp>
      <p:sp>
        <p:nvSpPr>
          <p:cNvPr id="13" name="Text 9"/>
          <p:cNvSpPr/>
          <p:nvPr/>
        </p:nvSpPr>
        <p:spPr>
          <a:xfrm>
            <a:off x="952500" y="2642493"/>
            <a:ext cx="157480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6CCFF6"/>
                </a:solidFill>
                <a:latin typeface="IBM Plex Sans" pitchFamily="34" charset="0"/>
                <a:ea typeface="IBM Plex Sans" pitchFamily="34" charset="-122"/>
                <a:cs typeface="IBM Plex Sans" pitchFamily="34" charset="-120"/>
              </a:rPr>
              <a:t>3 · SUMA</a:t>
            </a:r>
            <a:endParaRPr lang="en-US" sz="1100" dirty="0"/>
          </a:p>
        </p:txBody>
      </p:sp>
      <p:sp>
        <p:nvSpPr>
          <p:cNvPr id="14" name="Text 10"/>
          <p:cNvSpPr/>
          <p:nvPr/>
        </p:nvSpPr>
        <p:spPr>
          <a:xfrm>
            <a:off x="2590800" y="2644973"/>
            <a:ext cx="28447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1F6F8"/>
                </a:solidFill>
                <a:latin typeface="IBM Plex Sans" pitchFamily="34" charset="0"/>
                <a:ea typeface="IBM Plex Sans" pitchFamily="34" charset="-122"/>
                <a:cs typeface="IBM Plex Sans" pitchFamily="34" charset="-120"/>
              </a:rPr>
              <a:t>Se suman los resultados y el sesgo</a:t>
            </a:r>
            <a:endParaRPr lang="en-US" sz="1200" dirty="0"/>
          </a:p>
        </p:txBody>
      </p:sp>
      <p:sp>
        <p:nvSpPr>
          <p:cNvPr id="15" name="Shape 11"/>
          <p:cNvSpPr/>
          <p:nvPr/>
        </p:nvSpPr>
        <p:spPr>
          <a:xfrm>
            <a:off x="819150" y="2977753"/>
            <a:ext cx="6388100" cy="322560"/>
          </a:xfrm>
          <a:prstGeom prst="roundRect">
            <a:avLst>
              <a:gd name="adj" fmla="val 33467"/>
            </a:avLst>
          </a:prstGeom>
          <a:solidFill>
            <a:srgbClr val="12304A"/>
          </a:solidFill>
          <a:ln w="12700">
            <a:solidFill>
              <a:srgbClr val="24506E"/>
            </a:solidFill>
            <a:prstDash val="solid"/>
          </a:ln>
        </p:spPr>
      </p:sp>
      <p:sp>
        <p:nvSpPr>
          <p:cNvPr id="16" name="Text 12"/>
          <p:cNvSpPr/>
          <p:nvPr/>
        </p:nvSpPr>
        <p:spPr>
          <a:xfrm>
            <a:off x="952500" y="3041253"/>
            <a:ext cx="157480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6CCFF6"/>
                </a:solidFill>
                <a:latin typeface="IBM Plex Sans" pitchFamily="34" charset="0"/>
                <a:ea typeface="IBM Plex Sans" pitchFamily="34" charset="-122"/>
                <a:cs typeface="IBM Plex Sans" pitchFamily="34" charset="-120"/>
              </a:rPr>
              <a:t>4 · ACTIVACIÓN</a:t>
            </a:r>
            <a:endParaRPr lang="en-US" sz="1100" dirty="0"/>
          </a:p>
        </p:txBody>
      </p:sp>
      <p:sp>
        <p:nvSpPr>
          <p:cNvPr id="17" name="Text 13"/>
          <p:cNvSpPr/>
          <p:nvPr/>
        </p:nvSpPr>
        <p:spPr>
          <a:xfrm>
            <a:off x="2590800" y="3043734"/>
            <a:ext cx="321873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1F6F8"/>
                </a:solidFill>
                <a:latin typeface="IBM Plex Sans" pitchFamily="34" charset="0"/>
                <a:ea typeface="IBM Plex Sans" pitchFamily="34" charset="-122"/>
                <a:cs typeface="IBM Plex Sans" pitchFamily="34" charset="-120"/>
              </a:rPr>
              <a:t>Decide si se enciende y sale un número</a:t>
            </a:r>
            <a:endParaRPr lang="en-US" sz="1200" dirty="0"/>
          </a:p>
        </p:txBody>
      </p:sp>
      <p:sp>
        <p:nvSpPr>
          <p:cNvPr id="18" name="Shape 14"/>
          <p:cNvSpPr/>
          <p:nvPr/>
        </p:nvSpPr>
        <p:spPr>
          <a:xfrm>
            <a:off x="7442200" y="1775123"/>
            <a:ext cx="3937000" cy="1873250"/>
          </a:xfrm>
          <a:prstGeom prst="roundRect">
            <a:avLst>
              <a:gd name="adj" fmla="val 5424"/>
            </a:avLst>
          </a:prstGeom>
          <a:solidFill>
            <a:srgbClr val="FFFFFF"/>
          </a:solidFill>
          <a:ln/>
        </p:spPr>
      </p:sp>
      <p:pic>
        <p:nvPicPr>
          <p:cNvPr id="19" name="Image 2" descr="Diagrama de una neurona artificial: entradas x, pesos w, suma, función de activación y salida">    </p:cNvPr>
          <p:cNvPicPr>
            <a:picLocks noChangeAspect="1"/>
          </p:cNvPicPr>
          <p:nvPr/>
        </p:nvPicPr>
        <p:blipFill>
          <a:blip r:embed="rId3"/>
          <a:srcRect l="0" r="0" t="-85" b="-85"/>
          <a:stretch/>
        </p:blipFill>
        <p:spPr>
          <a:xfrm>
            <a:off x="7442200" y="1775123"/>
            <a:ext cx="3937000" cy="1873250"/>
          </a:xfrm>
          <a:prstGeom prst="roundRect">
            <a:avLst>
              <a:gd name="adj" fmla="val 5424"/>
            </a:avLst>
          </a:prstGeom>
        </p:spPr>
      </p:pic>
      <p:sp>
        <p:nvSpPr>
          <p:cNvPr id="20" name="Text 15"/>
          <p:cNvSpPr/>
          <p:nvPr/>
        </p:nvSpPr>
        <p:spPr>
          <a:xfrm>
            <a:off x="7442200" y="3699173"/>
            <a:ext cx="4055110" cy="388541"/>
          </a:xfrm>
          <a:prstGeom prst="rect">
            <a:avLst/>
          </a:prstGeom>
          <a:noFill/>
          <a:ln/>
        </p:spPr>
        <p:txBody>
          <a:bodyPr wrap="square" lIns="0" tIns="0" rIns="0" bIns="0" rtlCol="0" anchor="t">
            <a:normAutofit/>
          </a:bodyPr>
          <a:lstStyle/>
          <a:p>
            <a:pPr algn="l" indent="0" marL="0">
              <a:lnSpc>
                <a:spcPts val="1430"/>
              </a:lnSpc>
              <a:buNone/>
            </a:pPr>
            <a:r>
              <a:rPr lang="en-US" sz="1100" dirty="0">
                <a:solidFill>
                  <a:srgbClr val="C3D7E2"/>
                </a:solidFill>
                <a:latin typeface="IBM Plex Sans" pitchFamily="34" charset="0"/>
                <a:ea typeface="IBM Plex Sans" pitchFamily="34" charset="-122"/>
                <a:cs typeface="IBM Plex Sans" pitchFamily="34" charset="-120"/>
              </a:rPr>
              <a:t>Entradas (inputs), pesos (weights), suma (Σ), activación (φ) y umbral (θ, el sesgo).</a:t>
            </a:r>
            <a:endParaRPr lang="en-US" sz="1100" dirty="0"/>
          </a:p>
        </p:txBody>
      </p:sp>
      <p:sp>
        <p:nvSpPr>
          <p:cNvPr id="21" name="Shape 16"/>
          <p:cNvSpPr/>
          <p:nvPr/>
        </p:nvSpPr>
        <p:spPr>
          <a:xfrm>
            <a:off x="819150" y="4176018"/>
            <a:ext cx="3424734" cy="750689"/>
          </a:xfrm>
          <a:prstGeom prst="roundRect">
            <a:avLst>
              <a:gd name="adj" fmla="val 14380"/>
            </a:avLst>
          </a:prstGeom>
          <a:solidFill>
            <a:srgbClr val="12304A"/>
          </a:solidFill>
          <a:ln w="12700">
            <a:solidFill>
              <a:srgbClr val="24506E"/>
            </a:solidFill>
            <a:prstDash val="solid"/>
          </a:ln>
        </p:spPr>
      </p:sp>
      <p:sp>
        <p:nvSpPr>
          <p:cNvPr id="22" name="Text 17"/>
          <p:cNvSpPr/>
          <p:nvPr/>
        </p:nvSpPr>
        <p:spPr>
          <a:xfrm>
            <a:off x="965200" y="4322068"/>
            <a:ext cx="3226613" cy="239415"/>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4A259"/>
                </a:solidFill>
                <a:latin typeface="IBM Plex Sans" pitchFamily="34" charset="0"/>
                <a:ea typeface="IBM Plex Sans" pitchFamily="34" charset="-122"/>
                <a:cs typeface="IBM Plex Sans" pitchFamily="34" charset="-120"/>
              </a:rPr>
              <a:t>Peso grande</a:t>
            </a:r>
            <a:endParaRPr lang="en-US" sz="1231" dirty="0"/>
          </a:p>
        </p:txBody>
      </p:sp>
      <p:sp>
        <p:nvSpPr>
          <p:cNvPr id="23" name="Text 18"/>
          <p:cNvSpPr/>
          <p:nvPr/>
        </p:nvSpPr>
        <p:spPr>
          <a:xfrm>
            <a:off x="965200" y="4574183"/>
            <a:ext cx="3226613" cy="231874"/>
          </a:xfrm>
          <a:prstGeom prst="rect">
            <a:avLst/>
          </a:prstGeom>
          <a:noFill/>
          <a:ln/>
        </p:spPr>
        <p:txBody>
          <a:bodyPr wrap="square" lIns="0" tIns="0" rIns="0" bIns="0" rtlCol="0" anchor="t">
            <a:normAutofit/>
          </a:bodyPr>
          <a:lstStyle/>
          <a:p>
            <a:pPr algn="l" indent="0" marL="0">
              <a:lnSpc>
                <a:spcPts val="1673"/>
              </a:lnSpc>
              <a:buNone/>
            </a:pPr>
            <a:r>
              <a:rPr lang="en-US" sz="1239" dirty="0">
                <a:solidFill>
                  <a:srgbClr val="C3D7E2"/>
                </a:solidFill>
                <a:latin typeface="IBM Plex Sans" pitchFamily="34" charset="0"/>
                <a:ea typeface="IBM Plex Sans" pitchFamily="34" charset="-122"/>
                <a:cs typeface="IBM Plex Sans" pitchFamily="34" charset="-120"/>
              </a:rPr>
              <a:t>«Esto me va a importar mucho».</a:t>
            </a:r>
            <a:endParaRPr lang="en-US" sz="1239" dirty="0"/>
          </a:p>
        </p:txBody>
      </p:sp>
      <p:sp>
        <p:nvSpPr>
          <p:cNvPr id="24" name="Shape 19"/>
          <p:cNvSpPr/>
          <p:nvPr/>
        </p:nvSpPr>
        <p:spPr>
          <a:xfrm>
            <a:off x="4383584" y="4176018"/>
            <a:ext cx="3424734" cy="750689"/>
          </a:xfrm>
          <a:prstGeom prst="roundRect">
            <a:avLst>
              <a:gd name="adj" fmla="val 14380"/>
            </a:avLst>
          </a:prstGeom>
          <a:solidFill>
            <a:srgbClr val="12304A"/>
          </a:solidFill>
          <a:ln w="12700">
            <a:solidFill>
              <a:srgbClr val="24506E"/>
            </a:solidFill>
            <a:prstDash val="solid"/>
          </a:ln>
        </p:spPr>
      </p:sp>
      <p:sp>
        <p:nvSpPr>
          <p:cNvPr id="25" name="Text 20"/>
          <p:cNvSpPr/>
          <p:nvPr/>
        </p:nvSpPr>
        <p:spPr>
          <a:xfrm>
            <a:off x="4529634" y="4322068"/>
            <a:ext cx="3226613" cy="239415"/>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4A259"/>
                </a:solidFill>
                <a:latin typeface="IBM Plex Sans" pitchFamily="34" charset="0"/>
                <a:ea typeface="IBM Plex Sans" pitchFamily="34" charset="-122"/>
                <a:cs typeface="IBM Plex Sans" pitchFamily="34" charset="-120"/>
              </a:rPr>
              <a:t>Peso cercano a cero</a:t>
            </a:r>
            <a:endParaRPr lang="en-US" sz="1231" dirty="0"/>
          </a:p>
        </p:txBody>
      </p:sp>
      <p:sp>
        <p:nvSpPr>
          <p:cNvPr id="26" name="Text 21"/>
          <p:cNvSpPr/>
          <p:nvPr/>
        </p:nvSpPr>
        <p:spPr>
          <a:xfrm>
            <a:off x="4529634" y="4574183"/>
            <a:ext cx="3226613" cy="231874"/>
          </a:xfrm>
          <a:prstGeom prst="rect">
            <a:avLst/>
          </a:prstGeom>
          <a:noFill/>
          <a:ln/>
        </p:spPr>
        <p:txBody>
          <a:bodyPr wrap="square" lIns="0" tIns="0" rIns="0" bIns="0" rtlCol="0" anchor="t">
            <a:normAutofit/>
          </a:bodyPr>
          <a:lstStyle/>
          <a:p>
            <a:pPr algn="l" indent="0" marL="0">
              <a:lnSpc>
                <a:spcPts val="1673"/>
              </a:lnSpc>
              <a:buNone/>
            </a:pPr>
            <a:r>
              <a:rPr lang="en-US" sz="1239" dirty="0">
                <a:solidFill>
                  <a:srgbClr val="C3D7E2"/>
                </a:solidFill>
                <a:latin typeface="IBM Plex Sans" pitchFamily="34" charset="0"/>
                <a:ea typeface="IBM Plex Sans" pitchFamily="34" charset="-122"/>
                <a:cs typeface="IBM Plex Sans" pitchFamily="34" charset="-120"/>
              </a:rPr>
              <a:t>«Me da igual».</a:t>
            </a:r>
            <a:endParaRPr lang="en-US" sz="1239" dirty="0"/>
          </a:p>
        </p:txBody>
      </p:sp>
      <p:sp>
        <p:nvSpPr>
          <p:cNvPr id="27" name="Shape 22"/>
          <p:cNvSpPr/>
          <p:nvPr/>
        </p:nvSpPr>
        <p:spPr>
          <a:xfrm>
            <a:off x="7948017" y="4176018"/>
            <a:ext cx="3424734" cy="750689"/>
          </a:xfrm>
          <a:prstGeom prst="roundRect">
            <a:avLst>
              <a:gd name="adj" fmla="val 14380"/>
            </a:avLst>
          </a:prstGeom>
          <a:solidFill>
            <a:srgbClr val="12304A"/>
          </a:solidFill>
          <a:ln w="12700">
            <a:solidFill>
              <a:srgbClr val="24506E"/>
            </a:solidFill>
            <a:prstDash val="solid"/>
          </a:ln>
        </p:spPr>
      </p:sp>
      <p:sp>
        <p:nvSpPr>
          <p:cNvPr id="28" name="Text 23"/>
          <p:cNvSpPr/>
          <p:nvPr/>
        </p:nvSpPr>
        <p:spPr>
          <a:xfrm>
            <a:off x="8094067" y="4322068"/>
            <a:ext cx="3226613" cy="239415"/>
          </a:xfrm>
          <a:prstGeom prst="rect">
            <a:avLst/>
          </a:prstGeom>
          <a:noFill/>
          <a:ln/>
        </p:spPr>
        <p:txBody>
          <a:bodyPr wrap="square" lIns="0" tIns="0" rIns="0" bIns="0" rtlCol="0" anchor="t">
            <a:normAutofit/>
          </a:bodyPr>
          <a:lstStyle/>
          <a:p>
            <a:pPr algn="l" indent="0" marL="0">
              <a:lnSpc>
                <a:spcPts val="1723"/>
              </a:lnSpc>
              <a:buNone/>
            </a:pPr>
            <a:r>
              <a:rPr lang="en-US" sz="1231" b="1" dirty="0">
                <a:solidFill>
                  <a:srgbClr val="F4A259"/>
                </a:solidFill>
                <a:latin typeface="IBM Plex Sans" pitchFamily="34" charset="0"/>
                <a:ea typeface="IBM Plex Sans" pitchFamily="34" charset="-122"/>
                <a:cs typeface="IBM Plex Sans" pitchFamily="34" charset="-120"/>
              </a:rPr>
              <a:t>Peso negativo</a:t>
            </a:r>
            <a:endParaRPr lang="en-US" sz="1231" dirty="0"/>
          </a:p>
        </p:txBody>
      </p:sp>
      <p:sp>
        <p:nvSpPr>
          <p:cNvPr id="29" name="Text 24"/>
          <p:cNvSpPr/>
          <p:nvPr/>
        </p:nvSpPr>
        <p:spPr>
          <a:xfrm>
            <a:off x="8094067" y="4574183"/>
            <a:ext cx="3226613" cy="231874"/>
          </a:xfrm>
          <a:prstGeom prst="rect">
            <a:avLst/>
          </a:prstGeom>
          <a:noFill/>
          <a:ln/>
        </p:spPr>
        <p:txBody>
          <a:bodyPr wrap="square" lIns="0" tIns="0" rIns="0" bIns="0" rtlCol="0" anchor="t">
            <a:normAutofit/>
          </a:bodyPr>
          <a:lstStyle/>
          <a:p>
            <a:pPr algn="l" indent="0" marL="0">
              <a:lnSpc>
                <a:spcPts val="1673"/>
              </a:lnSpc>
              <a:buNone/>
            </a:pPr>
            <a:r>
              <a:rPr lang="en-US" sz="1239" dirty="0">
                <a:solidFill>
                  <a:srgbClr val="C3D7E2"/>
                </a:solidFill>
                <a:latin typeface="IBM Plex Sans" pitchFamily="34" charset="0"/>
                <a:ea typeface="IBM Plex Sans" pitchFamily="34" charset="-122"/>
                <a:cs typeface="IBM Plex Sans" pitchFamily="34" charset="-120"/>
              </a:rPr>
              <a:t>«Esto me hace dudar».</a:t>
            </a:r>
            <a:endParaRPr lang="en-US" sz="1239" dirty="0"/>
          </a:p>
        </p:txBody>
      </p:sp>
      <p:sp>
        <p:nvSpPr>
          <p:cNvPr id="30" name="Shape 25"/>
          <p:cNvSpPr/>
          <p:nvPr/>
        </p:nvSpPr>
        <p:spPr>
          <a:xfrm>
            <a:off x="819150" y="5142607"/>
            <a:ext cx="5207000" cy="693043"/>
          </a:xfrm>
          <a:prstGeom prst="roundRect">
            <a:avLst>
              <a:gd name="adj" fmla="val 15576"/>
            </a:avLst>
          </a:prstGeom>
          <a:solidFill>
            <a:srgbClr val="12304A"/>
          </a:solidFill>
          <a:ln w="12700">
            <a:solidFill>
              <a:srgbClr val="24506E"/>
            </a:solidFill>
            <a:prstDash val="solid"/>
          </a:ln>
        </p:spPr>
      </p:sp>
      <p:sp>
        <p:nvSpPr>
          <p:cNvPr id="31" name="Shape 26"/>
          <p:cNvSpPr/>
          <p:nvPr/>
        </p:nvSpPr>
        <p:spPr>
          <a:xfrm>
            <a:off x="990600" y="5260578"/>
            <a:ext cx="457200" cy="457200"/>
          </a:xfrm>
          <a:prstGeom prst="roundRect">
            <a:avLst>
              <a:gd name="adj" fmla="val 16667"/>
            </a:avLst>
          </a:prstGeom>
          <a:solidFill>
            <a:srgbClr val="F07A2A"/>
          </a:solidFill>
          <a:ln/>
        </p:spPr>
      </p:sp>
      <p:sp>
        <p:nvSpPr>
          <p:cNvPr id="32" name="Text 27"/>
          <p:cNvSpPr/>
          <p:nvPr/>
        </p:nvSpPr>
        <p:spPr>
          <a:xfrm>
            <a:off x="1574800" y="5266333"/>
            <a:ext cx="440829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Píxel naranja (240, 122, 42): pesos 2, −1, −1 y sesgo −0.3 dan </a:t>
            </a:r>
            <a:r>
              <a:rPr lang="en-US" sz="1300" b="1" dirty="0">
                <a:solidFill>
                  <a:srgbClr val="F4A259"/>
                </a:solidFill>
                <a:latin typeface="IBM Plex Sans" pitchFamily="34" charset="0"/>
                <a:ea typeface="IBM Plex Sans" pitchFamily="34" charset="-122"/>
                <a:cs typeface="IBM Plex Sans" pitchFamily="34" charset="-120"/>
              </a:rPr>
              <a:t>0.94</a:t>
            </a:r>
            <a:r>
              <a:rPr lang="en-US" sz="1300" dirty="0">
                <a:solidFill>
                  <a:srgbClr val="F1F6F8"/>
                </a:solidFill>
                <a:latin typeface="IBM Plex Sans" pitchFamily="34" charset="0"/>
                <a:ea typeface="IBM Plex Sans" pitchFamily="34" charset="-122"/>
                <a:cs typeface="IBM Plex Sans" pitchFamily="34" charset="-120"/>
              </a:rPr>
              <a:t>: respuesta alta.</a:t>
            </a:r>
            <a:endParaRPr lang="en-US" sz="1300" dirty="0"/>
          </a:p>
        </p:txBody>
      </p:sp>
      <p:sp>
        <p:nvSpPr>
          <p:cNvPr id="33" name="Shape 28"/>
          <p:cNvSpPr/>
          <p:nvPr/>
        </p:nvSpPr>
        <p:spPr>
          <a:xfrm>
            <a:off x="6165850" y="5142607"/>
            <a:ext cx="5207000" cy="693043"/>
          </a:xfrm>
          <a:prstGeom prst="roundRect">
            <a:avLst>
              <a:gd name="adj" fmla="val 15576"/>
            </a:avLst>
          </a:prstGeom>
          <a:solidFill>
            <a:srgbClr val="12304A"/>
          </a:solidFill>
          <a:ln w="12700">
            <a:solidFill>
              <a:srgbClr val="24506E"/>
            </a:solidFill>
            <a:prstDash val="solid"/>
          </a:ln>
        </p:spPr>
      </p:sp>
      <p:sp>
        <p:nvSpPr>
          <p:cNvPr id="34" name="Shape 29"/>
          <p:cNvSpPr/>
          <p:nvPr/>
        </p:nvSpPr>
        <p:spPr>
          <a:xfrm>
            <a:off x="6337300" y="5260578"/>
            <a:ext cx="457200" cy="457200"/>
          </a:xfrm>
          <a:prstGeom prst="roundRect">
            <a:avLst>
              <a:gd name="adj" fmla="val 16667"/>
            </a:avLst>
          </a:prstGeom>
          <a:solidFill>
            <a:srgbClr val="1E2FDC"/>
          </a:solidFill>
          <a:ln/>
        </p:spPr>
      </p:sp>
      <p:sp>
        <p:nvSpPr>
          <p:cNvPr id="35" name="Text 30"/>
          <p:cNvSpPr/>
          <p:nvPr/>
        </p:nvSpPr>
        <p:spPr>
          <a:xfrm>
            <a:off x="6921500" y="5266333"/>
            <a:ext cx="440829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F6F8"/>
                </a:solidFill>
                <a:latin typeface="IBM Plex Sans" pitchFamily="34" charset="0"/>
                <a:ea typeface="IBM Plex Sans" pitchFamily="34" charset="-122"/>
                <a:cs typeface="IBM Plex Sans" pitchFamily="34" charset="-120"/>
              </a:rPr>
              <a:t>Píxel azul (20, 30, 220): el total es negativo (−1.12) y la salida es </a:t>
            </a:r>
            <a:r>
              <a:rPr lang="en-US" sz="1300" b="1" dirty="0">
                <a:solidFill>
                  <a:srgbClr val="F4A259"/>
                </a:solidFill>
                <a:latin typeface="IBM Plex Sans" pitchFamily="34" charset="0"/>
                <a:ea typeface="IBM Plex Sans" pitchFamily="34" charset="-122"/>
                <a:cs typeface="IBM Plex Sans" pitchFamily="34" charset="-120"/>
              </a:rPr>
              <a:t>0</a:t>
            </a:r>
            <a:r>
              <a:rPr lang="en-US" sz="1300" dirty="0">
                <a:solidFill>
                  <a:srgbClr val="F1F6F8"/>
                </a:solidFill>
                <a:latin typeface="IBM Plex Sans" pitchFamily="34" charset="0"/>
                <a:ea typeface="IBM Plex Sans" pitchFamily="34" charset="-122"/>
                <a:cs typeface="IBM Plex Sans" pitchFamily="34" charset="-120"/>
              </a:rPr>
              <a:t>: se apaga.</a:t>
            </a:r>
            <a:endParaRPr lang="en-US" sz="1300" dirty="0"/>
          </a:p>
        </p:txBody>
      </p:sp>
      <p:sp>
        <p:nvSpPr>
          <p:cNvPr id="36" name="Text 3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 · Neurona de ejemplo · Diagrama: Chrislb (CC BY-SA 3.0), Wikimedia Commons</a:t>
            </a:r>
            <a:endParaRPr lang="en-US" sz="1200" dirty="0"/>
          </a:p>
        </p:txBody>
      </p:sp>
      <p:sp>
        <p:nvSpPr>
          <p:cNvPr id="37"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80F"/>
                </a:solidFill>
                <a:latin typeface="IBM Plex Sans" pitchFamily="34" charset="0"/>
                <a:ea typeface="IBM Plex Sans" pitchFamily="34" charset="-122"/>
                <a:cs typeface="IBM Plex Sans" pitchFamily="34" charset="-120"/>
              </a:rPr>
              <a:t>FUNDAMENTOS DE REDES NEURONALES</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C2A3E"/>
                </a:solidFill>
                <a:latin typeface="EB Garamond" pitchFamily="18" charset="0"/>
                <a:ea typeface="EB Garamond" pitchFamily="18" charset="-122"/>
                <a:cs typeface="EB Garamond" pitchFamily="18" charset="-120"/>
              </a:rPr>
              <a:t>El sesgo, con un ejemplo</a:t>
            </a:r>
            <a:endParaRPr lang="en-US" sz="3600" dirty="0"/>
          </a:p>
        </p:txBody>
      </p:sp>
      <p:sp>
        <p:nvSpPr>
          <p:cNvPr id="6" name="Text 2"/>
          <p:cNvSpPr/>
          <p:nvPr/>
        </p:nvSpPr>
        <p:spPr>
          <a:xfrm>
            <a:off x="812800" y="1833761"/>
            <a:ext cx="981075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0C2A3E"/>
                </a:solidFill>
                <a:latin typeface="IBM Plex Sans" pitchFamily="34" charset="0"/>
                <a:ea typeface="IBM Plex Sans" pitchFamily="34" charset="-122"/>
                <a:cs typeface="IBM Plex Sans" pitchFamily="34" charset="-120"/>
              </a:rPr>
              <a:t>Una neurona que mira solo el brillo de un píxel, entre cero y uno, con peso 1. El sesgo decide qué tan exigente es antes de encenderse.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589411"/>
          <a:ext cx="10553700" cy="1756966"/>
        </p:xfrm>
        <a:graphic>
          <a:graphicData uri="http://schemas.openxmlformats.org/drawingml/2006/table">
            <a:tbl>
              <a:tblPr/>
              <a:tblGrid>
                <a:gridCol w="2955036"/>
                <a:gridCol w="3799332"/>
                <a:gridCol w="3799332"/>
              </a:tblGrid>
              <a:tr h="439241">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Brillo del píxel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Sin sesgo</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c>
                  <a:txBody>
                    <a:bodyPr/>
                    <a:lstStyle/>
                    <a:p>
                      <a:pPr indent="0" marL="0">
                        <a:lnSpc>
                          <a:spcPts val="2240"/>
                        </a:lnSpc>
                        <a:buNone/>
                      </a:pPr>
                      <a:r>
                        <a:rPr lang="en-US" sz="1600" b="1" dirty="0">
                          <a:solidFill>
                            <a:srgbClr val="0C2A3E"/>
                          </a:solidFill>
                          <a:latin typeface="IBM Plex Sans" pitchFamily="34" charset="0"/>
                          <a:ea typeface="IBM Plex Sans" pitchFamily="34" charset="-122"/>
                          <a:cs typeface="IBM Plex Sans" pitchFamily="34" charset="-120"/>
                        </a:rPr>
                        <a:t>Con sesgo de −0.6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5B8B9"/>
                      </a:solidFill>
                      <a:prstDash val="solid"/>
                      <a:round/>
                      <a:headEnd type="none" w="med" len="med"/>
                      <a:tailEnd type="none" w="med" len="med"/>
                    </a:lnL>
                    <a:lnR w="12700" cap="flat" cmpd="sng" algn="ctr">
                      <a:solidFill>
                        <a:srgbClr val="B5B8B9"/>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B5B8B9"/>
                      </a:solidFill>
                      <a:prstDash val="solid"/>
                      <a:round/>
                      <a:headEnd type="none" w="med" len="med"/>
                      <a:tailEnd type="none" w="med" len="med"/>
                    </a:lnB>
                    <a:solidFill>
                      <a:srgbClr val="E2E6E8"/>
                    </a:solidFill>
                  </a:tcPr>
                </a:tc>
              </a:tr>
              <a:tr h="439241">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 (se apaga)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B5B8B9"/>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439241">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 (se apaga)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r h="439241">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0.9</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c>
                  <a:txBody>
                    <a:bodyPr/>
                    <a:lstStyle/>
                    <a:p>
                      <a:pPr indent="0" marL="0">
                        <a:lnSpc>
                          <a:spcPts val="2240"/>
                        </a:lnSpc>
                        <a:buNone/>
                      </a:pPr>
                      <a:r>
                        <a:rPr lang="en-US" sz="1600" dirty="0">
                          <a:solidFill>
                            <a:srgbClr val="0C2A3E"/>
                          </a:solidFill>
                          <a:latin typeface="IBM Plex Sans" pitchFamily="34" charset="0"/>
                          <a:ea typeface="IBM Plex Sans" pitchFamily="34" charset="-122"/>
                          <a:cs typeface="IBM Plex Sans" pitchFamily="34" charset="-120"/>
                        </a:rPr>
                        <a:t>0.3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3C6C7"/>
                      </a:solidFill>
                      <a:prstDash val="solid"/>
                      <a:round/>
                      <a:headEnd type="none" w="med" len="med"/>
                      <a:tailEnd type="none" w="med" len="med"/>
                    </a:lnL>
                    <a:lnR w="12700" cap="flat" cmpd="sng" algn="ctr">
                      <a:solidFill>
                        <a:srgbClr val="C3C6C7"/>
                      </a:solidFill>
                      <a:prstDash val="solid"/>
                      <a:round/>
                      <a:headEnd type="none" w="med" len="med"/>
                      <a:tailEnd type="none" w="med" len="med"/>
                    </a:lnR>
                    <a:lnT w="12700" cap="flat" cmpd="sng" algn="ctr">
                      <a:solidFill>
                        <a:srgbClr val="C3C6C7"/>
                      </a:solidFill>
                      <a:prstDash val="solid"/>
                      <a:round/>
                      <a:headEnd type="none" w="med" len="med"/>
                      <a:tailEnd type="none" w="med" len="med"/>
                    </a:lnT>
                    <a:lnB w="12700" cap="flat" cmpd="sng" algn="ctr">
                      <a:solidFill>
                        <a:srgbClr val="C3C6C7"/>
                      </a:solidFill>
                      <a:prstDash val="solid"/>
                      <a:round/>
                      <a:headEnd type="none" w="med" len="med"/>
                      <a:tailEnd type="none" w="med" len="med"/>
                    </a:lnB>
                  </a:tcPr>
                </a:tc>
              </a:tr>
            </a:tbl>
          </a:graphicData>
        </a:graphic>
      </p:graphicFrame>
      <p:sp>
        <p:nvSpPr>
          <p:cNvPr id="8" name="Shape 3"/>
          <p:cNvSpPr/>
          <p:nvPr/>
        </p:nvSpPr>
        <p:spPr>
          <a:xfrm>
            <a:off x="819150" y="4581327"/>
            <a:ext cx="5194300" cy="1135162"/>
          </a:xfrm>
          <a:prstGeom prst="roundRect">
            <a:avLst>
              <a:gd name="adj" fmla="val 10628"/>
            </a:avLst>
          </a:prstGeom>
          <a:solidFill>
            <a:srgbClr val="FCFDFD"/>
          </a:solidFill>
          <a:ln w="12700">
            <a:solidFill>
              <a:srgbClr val="D5E3EA"/>
            </a:solidFill>
            <a:prstDash val="solid"/>
          </a:ln>
        </p:spPr>
      </p:sp>
      <p:sp>
        <p:nvSpPr>
          <p:cNvPr id="9" name="Text 4"/>
          <p:cNvSpPr/>
          <p:nvPr/>
        </p:nvSpPr>
        <p:spPr>
          <a:xfrm>
            <a:off x="990600" y="4752777"/>
            <a:ext cx="49969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C2A3E"/>
                </a:solidFill>
                <a:latin typeface="IBM Plex Sans" pitchFamily="34" charset="0"/>
                <a:ea typeface="IBM Plex Sans" pitchFamily="34" charset="-122"/>
                <a:cs typeface="IBM Plex Sans" pitchFamily="34" charset="-120"/>
              </a:rPr>
              <a:t>Una barrera</a:t>
            </a:r>
            <a:endParaRPr lang="en-US" sz="1600" dirty="0"/>
          </a:p>
        </p:txBody>
      </p:sp>
      <p:sp>
        <p:nvSpPr>
          <p:cNvPr id="10" name="Text 5"/>
          <p:cNvSpPr/>
          <p:nvPr/>
        </p:nvSpPr>
        <p:spPr>
          <a:xfrm>
            <a:off x="990600" y="5047357"/>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5566"/>
                </a:solidFill>
                <a:latin typeface="IBM Plex Sans" pitchFamily="34" charset="0"/>
                <a:ea typeface="IBM Plex Sans" pitchFamily="34" charset="-122"/>
                <a:cs typeface="IBM Plex Sans" pitchFamily="34" charset="-120"/>
              </a:rPr>
              <a:t>Un sesgo muy negativo hace a la neurona exigente; uno cercano a cero, permisiva. El peso no cambió.</a:t>
            </a:r>
            <a:endParaRPr lang="en-US" sz="1400" dirty="0"/>
          </a:p>
        </p:txBody>
      </p:sp>
      <p:sp>
        <p:nvSpPr>
          <p:cNvPr id="11" name="Shape 6"/>
          <p:cNvSpPr/>
          <p:nvPr/>
        </p:nvSpPr>
        <p:spPr>
          <a:xfrm>
            <a:off x="6172200" y="4574977"/>
            <a:ext cx="5207000" cy="1147862"/>
          </a:xfrm>
          <a:prstGeom prst="roundRect">
            <a:avLst>
              <a:gd name="adj" fmla="val 11064"/>
            </a:avLst>
          </a:prstGeom>
          <a:solidFill>
            <a:srgbClr val="0B1F2E"/>
          </a:solidFill>
          <a:ln/>
        </p:spPr>
      </p:sp>
      <p:sp>
        <p:nvSpPr>
          <p:cNvPr id="12" name="Text 7"/>
          <p:cNvSpPr/>
          <p:nvPr/>
        </p:nvSpPr>
        <p:spPr>
          <a:xfrm>
            <a:off x="6337300" y="4740077"/>
            <a:ext cx="502310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59"/>
                </a:solidFill>
                <a:latin typeface="IBM Plex Sans" pitchFamily="34" charset="0"/>
                <a:ea typeface="IBM Plex Sans" pitchFamily="34" charset="-122"/>
                <a:cs typeface="IBM Plex Sans" pitchFamily="34" charset="-120"/>
              </a:rPr>
              <a:t>Un umbral que se aprende</a:t>
            </a:r>
            <a:endParaRPr lang="en-US" sz="1600" dirty="0"/>
          </a:p>
        </p:txBody>
      </p:sp>
      <p:sp>
        <p:nvSpPr>
          <p:cNvPr id="13" name="Text 8"/>
          <p:cNvSpPr/>
          <p:nvPr/>
        </p:nvSpPr>
        <p:spPr>
          <a:xfrm>
            <a:off x="6337300" y="5034657"/>
            <a:ext cx="502310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El sesgo también lo ajusta el entrenamiento, distinto para cada neurona. Nadie lo elige a ojo.</a:t>
            </a:r>
            <a:endParaRPr lang="en-US" sz="1400" dirty="0"/>
          </a:p>
        </p:txBody>
      </p:sp>
      <p:sp>
        <p:nvSpPr>
          <p:cNvPr id="14"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BioImage-Repro UAM · Módulo 1 · Video 2 · Números de ejemplo</a:t>
            </a:r>
            <a:endParaRPr lang="en-US" sz="1200" dirty="0"/>
          </a:p>
        </p:txBody>
      </p:sp>
      <p:sp>
        <p:nvSpPr>
          <p:cNvPr id="15"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7280"/>
                </a:solidFill>
                <a:latin typeface="IBM Plex Sans" pitchFamily="34" charset="0"/>
                <a:ea typeface="IBM Plex Sans" pitchFamily="34" charset="-122"/>
                <a:cs typeface="IBM Plex Sans"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2E"/>
        </a:solidFill>
      </p:bgPr>
    </p:bg>
    <p:spTree>
      <p:nvGrpSpPr>
        <p:cNvPr id="1" name=""/>
        <p:cNvGrpSpPr/>
        <p:nvPr/>
      </p:nvGrpSpPr>
      <p:grpSpPr>
        <a:xfrm>
          <a:off x="0" y="0"/>
          <a:ext cx="0" cy="0"/>
          <a:chOff x="0" y="0"/>
          <a:chExt cx="0" cy="0"/>
        </a:xfrm>
      </p:grpSpPr>
      <p:pic>
        <p:nvPicPr>
          <p:cNvPr id="2" name="Image 0" descr="UAM Unidad Iztapalapa">    </p:cNvPr>
          <p:cNvPicPr>
            <a:picLocks noChangeAspect="1"/>
          </p:cNvPicPr>
          <p:nvPr/>
        </p:nvPicPr>
        <p:blipFill>
          <a:blip r:embed="rId1"/>
          <a:srcRect l="-363" r="-363" t="0" b="0"/>
          <a:stretch/>
        </p:blipFill>
        <p:spPr>
          <a:xfrm>
            <a:off x="10261600" y="228600"/>
            <a:ext cx="508000" cy="406400"/>
          </a:xfrm>
          <a:prstGeom prst="rect">
            <a:avLst/>
          </a:prstGeom>
        </p:spPr>
      </p:pic>
      <p:pic>
        <p:nvPicPr>
          <p:cNvPr id="3" name="Image 1" descr="Logotipo de BioImage-Repro UAM">    </p:cNvPr>
          <p:cNvPicPr>
            <a:picLocks noChangeAspect="1"/>
          </p:cNvPicPr>
          <p:nvPr/>
        </p:nvPicPr>
        <p:blipFill>
          <a:blip r:embed="rId2"/>
          <a:srcRect l="-351" r="-351" t="0" b="0"/>
          <a:stretch/>
        </p:blipFill>
        <p:spPr>
          <a:xfrm>
            <a:off x="10972800" y="228600"/>
            <a:ext cx="406400" cy="4064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59"/>
                </a:solidFill>
                <a:latin typeface="IBM Plex Sans" pitchFamily="34" charset="0"/>
                <a:ea typeface="IBM Plex Sans" pitchFamily="34" charset="-122"/>
                <a:cs typeface="IBM Plex Sans" pitchFamily="34" charset="-120"/>
              </a:rPr>
              <a:t>VIDEO 2</a:t>
            </a:r>
            <a:endParaRPr lang="en-US" sz="1200" dirty="0"/>
          </a:p>
        </p:txBody>
      </p:sp>
      <p:sp>
        <p:nvSpPr>
          <p:cNvPr id="5"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1F6F8"/>
                </a:solidFill>
                <a:latin typeface="EB Garamond" pitchFamily="18" charset="0"/>
                <a:ea typeface="EB Garamond" pitchFamily="18" charset="-122"/>
                <a:cs typeface="EB Garamond" pitchFamily="18" charset="-120"/>
              </a:rPr>
              <a:t>La función de activación</a:t>
            </a:r>
            <a:endParaRPr lang="en-US" sz="3600" dirty="0"/>
          </a:p>
        </p:txBody>
      </p:sp>
      <p:pic>
        <p:nvPicPr>
          <p:cNvPr id="6" name="Image 2" descr="Gráfica de la función rectificadora: plana en cero para valores negativos y diagonal ascendente para valores positivos">    </p:cNvPr>
          <p:cNvPicPr>
            <a:picLocks noChangeAspect="1"/>
          </p:cNvPicPr>
          <p:nvPr/>
        </p:nvPicPr>
        <p:blipFill>
          <a:blip r:embed="rId3"/>
          <a:srcRect l="0" r="0" t="0" b="0"/>
          <a:stretch/>
        </p:blipFill>
        <p:spPr>
          <a:xfrm>
            <a:off x="812800" y="1833761"/>
            <a:ext cx="4064000" cy="2413000"/>
          </a:xfrm>
          <a:prstGeom prst="rect">
            <a:avLst/>
          </a:prstGeom>
        </p:spPr>
      </p:pic>
      <p:sp>
        <p:nvSpPr>
          <p:cNvPr id="7" name="Text 2"/>
          <p:cNvSpPr/>
          <p:nvPr/>
        </p:nvSpPr>
        <p:spPr>
          <a:xfrm>
            <a:off x="812800" y="4310261"/>
            <a:ext cx="17736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suma negativa: sale 0</a:t>
            </a:r>
            <a:endParaRPr lang="en-US" sz="1200" dirty="0"/>
          </a:p>
        </p:txBody>
      </p:sp>
      <p:sp>
        <p:nvSpPr>
          <p:cNvPr id="8" name="Text 3"/>
          <p:cNvSpPr/>
          <p:nvPr/>
        </p:nvSpPr>
        <p:spPr>
          <a:xfrm>
            <a:off x="2821186" y="4310261"/>
            <a:ext cx="205561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suma positiva: pasa igual</a:t>
            </a:r>
            <a:endParaRPr lang="en-US" sz="1200" dirty="0"/>
          </a:p>
        </p:txBody>
      </p:sp>
      <p:sp>
        <p:nvSpPr>
          <p:cNvPr id="9" name="Text 4"/>
          <p:cNvSpPr/>
          <p:nvPr/>
        </p:nvSpPr>
        <p:spPr>
          <a:xfrm>
            <a:off x="5181600" y="2033588"/>
            <a:ext cx="638352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F6F8"/>
                </a:solidFill>
                <a:latin typeface="IBM Plex Sans" pitchFamily="34" charset="0"/>
                <a:ea typeface="IBM Plex Sans" pitchFamily="34" charset="-122"/>
                <a:cs typeface="IBM Plex Sans" pitchFamily="34" charset="-120"/>
              </a:rPr>
              <a:t>Multiplicar y sumar es una operación lineal. Apilar diez, cien o mil capas lineales equivale a una sola.</a:t>
            </a:r>
            <a:endParaRPr lang="en-US" sz="1500" dirty="0"/>
          </a:p>
        </p:txBody>
      </p:sp>
      <p:sp>
        <p:nvSpPr>
          <p:cNvPr id="10" name="Text 5"/>
          <p:cNvSpPr/>
          <p:nvPr/>
        </p:nvSpPr>
        <p:spPr>
          <a:xfrm>
            <a:off x="5181600" y="2674938"/>
            <a:ext cx="638352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D7E2"/>
                </a:solidFill>
                <a:latin typeface="IBM Plex Sans" pitchFamily="34" charset="0"/>
                <a:ea typeface="IBM Plex Sans" pitchFamily="34" charset="-122"/>
                <a:cs typeface="IBM Plex Sans" pitchFamily="34" charset="-120"/>
              </a:rPr>
              <a:t>La activación rompe la linealidad con una regla sencilla: si el resultado es negativo, la salida es cero; si es positivo, se deja pasar.</a:t>
            </a:r>
            <a:endParaRPr lang="en-US" sz="1400" dirty="0"/>
          </a:p>
        </p:txBody>
      </p:sp>
      <p:sp>
        <p:nvSpPr>
          <p:cNvPr id="11" name="Shape 6"/>
          <p:cNvSpPr/>
          <p:nvPr/>
        </p:nvSpPr>
        <p:spPr>
          <a:xfrm>
            <a:off x="5187950" y="3305969"/>
            <a:ext cx="6184900" cy="1011436"/>
          </a:xfrm>
          <a:prstGeom prst="roundRect">
            <a:avLst>
              <a:gd name="adj" fmla="val 9417"/>
            </a:avLst>
          </a:prstGeom>
          <a:solidFill>
            <a:srgbClr val="12304A"/>
          </a:solidFill>
          <a:ln w="12700">
            <a:solidFill>
              <a:srgbClr val="24506E"/>
            </a:solidFill>
            <a:prstDash val="solid"/>
          </a:ln>
        </p:spPr>
      </p:sp>
      <p:sp>
        <p:nvSpPr>
          <p:cNvPr id="12" name="Text 7"/>
          <p:cNvSpPr/>
          <p:nvPr/>
        </p:nvSpPr>
        <p:spPr>
          <a:xfrm>
            <a:off x="5359400" y="3439319"/>
            <a:ext cx="601726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4A259"/>
                </a:solidFill>
                <a:latin typeface="IBM Plex Sans" pitchFamily="34" charset="0"/>
                <a:ea typeface="IBM Plex Sans" pitchFamily="34" charset="-122"/>
                <a:cs typeface="IBM Plex Sans" pitchFamily="34" charset="-120"/>
              </a:rPr>
              <a:t>Pesos:</a:t>
            </a:r>
            <a:r>
              <a:rPr lang="en-US" sz="1300" dirty="0">
                <a:solidFill>
                  <a:srgbClr val="F1F6F8"/>
                </a:solidFill>
                <a:latin typeface="IBM Plex Sans" pitchFamily="34" charset="0"/>
                <a:ea typeface="IBM Plex Sans" pitchFamily="34" charset="-122"/>
                <a:cs typeface="IBM Plex Sans" pitchFamily="34" charset="-120"/>
              </a:rPr>
              <a:t> a qué se fija cada neurona.</a:t>
            </a:r>
            <a:endParaRPr lang="en-US" sz="1300" dirty="0"/>
          </a:p>
        </p:txBody>
      </p:sp>
      <p:sp>
        <p:nvSpPr>
          <p:cNvPr id="13" name="Text 8"/>
          <p:cNvSpPr/>
          <p:nvPr/>
        </p:nvSpPr>
        <p:spPr>
          <a:xfrm>
            <a:off x="5359400" y="3700264"/>
            <a:ext cx="601726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4A259"/>
                </a:solidFill>
                <a:latin typeface="IBM Plex Sans" pitchFamily="34" charset="0"/>
                <a:ea typeface="IBM Plex Sans" pitchFamily="34" charset="-122"/>
                <a:cs typeface="IBM Plex Sans" pitchFamily="34" charset="-120"/>
              </a:rPr>
              <a:t>Sesgo:</a:t>
            </a:r>
            <a:r>
              <a:rPr lang="en-US" sz="1300" dirty="0">
                <a:solidFill>
                  <a:srgbClr val="F1F6F8"/>
                </a:solidFill>
                <a:latin typeface="IBM Plex Sans" pitchFamily="34" charset="0"/>
                <a:ea typeface="IBM Plex Sans" pitchFamily="34" charset="-122"/>
                <a:cs typeface="IBM Plex Sans" pitchFamily="34" charset="-120"/>
              </a:rPr>
              <a:t> qué tan exigente es.</a:t>
            </a:r>
            <a:endParaRPr lang="en-US" sz="1300" dirty="0"/>
          </a:p>
        </p:txBody>
      </p:sp>
      <p:sp>
        <p:nvSpPr>
          <p:cNvPr id="14" name="Text 9"/>
          <p:cNvSpPr/>
          <p:nvPr/>
        </p:nvSpPr>
        <p:spPr>
          <a:xfrm>
            <a:off x="5359400" y="3961209"/>
            <a:ext cx="601726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4A259"/>
                </a:solidFill>
                <a:latin typeface="IBM Plex Sans" pitchFamily="34" charset="0"/>
                <a:ea typeface="IBM Plex Sans" pitchFamily="34" charset="-122"/>
                <a:cs typeface="IBM Plex Sans" pitchFamily="34" charset="-120"/>
              </a:rPr>
              <a:t>Activación:</a:t>
            </a:r>
            <a:r>
              <a:rPr lang="en-US" sz="1300" dirty="0">
                <a:solidFill>
                  <a:srgbClr val="F1F6F8"/>
                </a:solidFill>
                <a:latin typeface="IBM Plex Sans" pitchFamily="34" charset="0"/>
                <a:ea typeface="IBM Plex Sans" pitchFamily="34" charset="-122"/>
                <a:cs typeface="IBM Plex Sans" pitchFamily="34" charset="-120"/>
              </a:rPr>
              <a:t> permite representar más que proporciones.</a:t>
            </a:r>
            <a:endParaRPr lang="en-US" sz="1300" dirty="0"/>
          </a:p>
        </p:txBody>
      </p:sp>
      <p:sp>
        <p:nvSpPr>
          <p:cNvPr id="15"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BioImage-Repro UAM · Módulo 1 · Video 2</a:t>
            </a:r>
            <a:endParaRPr lang="en-US" sz="1200" dirty="0"/>
          </a:p>
        </p:txBody>
      </p:sp>
      <p:sp>
        <p:nvSpPr>
          <p:cNvPr id="16"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9B8"/>
                </a:solidFill>
                <a:latin typeface="IBM Plex Sans" pitchFamily="34" charset="0"/>
                <a:ea typeface="IBM Plex Sans" pitchFamily="34" charset="-122"/>
                <a:cs typeface="IBM Plex Sans" pitchFamily="34" charset="-120"/>
              </a:rPr>
              <a:t>15 / 15</a:t>
            </a:r>
            <a:endParaRPr lang="en-US" sz="1200" dirty="0"/>
          </a:p>
        </p:txBody>
      </p:sp>
    </p:spTree>
  </p:cSld>
  <p:clrMapOvr>
    <a:masterClrMapping/>
  </p:clrMapOvr>
</p:sld>
</file>

<file path=ppt/theme/theme1.xml><?xml version="1.0" encoding="utf-8"?>
<a:theme xmlns:a="http://schemas.openxmlformats.org/drawingml/2006/main" name="Image Bio Pro · Módulo 1 · Video 2: Inteligencia artificial, entrenamiento y la ">
  <a:themeElements>
    <a:clrScheme name="Image Bio Pro · Módulo 1 · Video 2: Inteligencia artificial, entrenamiento y la ">
      <a:dk1>
        <a:srgbClr val="0C2A3E"/>
      </a:dk1>
      <a:lt1>
        <a:srgbClr val="F4F8FA"/>
      </a:lt1>
      <a:dk2>
        <a:srgbClr val="465E6D"/>
      </a:dk2>
      <a:lt2>
        <a:srgbClr val="DDE3E7"/>
      </a:lt2>
      <a:accent1>
        <a:srgbClr val="F4A259"/>
      </a:accent1>
      <a:accent2>
        <a:srgbClr val="3E5566"/>
      </a:accent2>
      <a:accent3>
        <a:srgbClr val="8FA9B8"/>
      </a:accent3>
      <a:accent4>
        <a:srgbClr val="A3480F"/>
      </a:accent4>
      <a:accent5>
        <a:srgbClr val="6CCFF6"/>
      </a:accent5>
      <a:accent6>
        <a:srgbClr val="0E6E9C"/>
      </a:accent6>
      <a:hlink>
        <a:srgbClr val="0563C1"/>
      </a:hlink>
      <a:folHlink>
        <a:srgbClr val="954F72"/>
      </a:folHlink>
    </a:clrScheme>
    <a:fontScheme name="Image Bio Pro · Módulo 1 · Video 2: Inteligencia artificial, entrenamiento y la ">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Bio Pro · Módulo 1 · Video 2: Inteligencia artificial, entrenamiento y la neurona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2026-10-26T00:58:27Z</dcterms:created>
  <dcterms:modified xsi:type="dcterms:W3CDTF">2026-10-26T00:58:27Z</dcterms:modified>
</cp:coreProperties>
</file>