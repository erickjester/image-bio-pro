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embeddedFontLst>
    <p:embeddedFont>
      <p:font typeface="EB Garamond" pitchFamily="18" charset="0"/>
      <p:regular r:id="rId20"/>
      <p:bold r:id="rId2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font" Target="fonts/font1.fntdata"/><Relationship Id="rId21"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Todo el curso gira alrededor de un solo proyecto, Image Bio Pro. En la portada habla Saúl y cede la palabra; Ángel toma la palabra en la diapositiva 2. Verificar la ortografía de los nombres antes de presentar.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Image Bio Pro es un proyecto de la UAM que lleva la inteligencia artificial a la docencia, la investigación, la difusión de la cultura y el servicio a la comunidad universitaria. Decirlo con palabras propias, sin leer la diapositiva. Aquí empieza Ángel: agradecer a Saúl, a la doctora Sheila y a los profesores, y presentarse.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Son cuatro sesiones: la primera, el problema y las bases teóricas; la segunda, cómo aprende una computadora; la tercera, el sitio funcionando; y la cuarta, datos, entrenamiento y despliegue. Pedir la oportunidad de cautivarlos para presentar el sitio en la tercera sesión, después de tener todas las bases teóricas.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En esta sesión: el problema, qué es una imagen digital, algunas definiciones de inteligencia artificial y el comienzo de las redes neuronales. El sitio funcionando se presenta en la tercera sesión.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La inteligencia artificial puede analizar imágenes aprendiendo de ejemplos y no de reglas escritas, y lo hace sin cansarse. En este curso se ve aplicada a un problema real de biología de la reproducción. Pregunta retórica: no hace falta que la contesten en voz alta. Mencionar por qué importa en docencia, investigación y difusión de la cultura científica. No hace falta ser experto en nada: quien programa verá cómo se arma el sistema, y quien viene de biología verá cómo se mide lo que ya conoce.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En fluorescencia, la célula se tiñe con un colorante que devuelve la luz en otro color. Por eso brilla sobre un fondo oscuro y es fácil de distinguir. También existen imágenes de fondo claro; para cada tipo hay un modelo distinto. En esta sesión se trabaja con fluorescencia, el caso más claro para entender las ideas. Ilustración esquemática, no es una imagen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Una imagen de fluorescencia muestra manchas brillantes sobre fondo oscuro, y cada una es la cabeza de un espermatozoide. Contarlas a simple vista es posible, pero medir cada una ya no. Hay cabezas de distintos tonos, colas que se cruzan y zonas donde las células se tocan. Si se tiene a mano una imagen real del microscopio, mostrarla en lugar de esta ilustración.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Del problema salen cuatro cosas que medir: cuántas cabezas hay, qué tamaño tiene cada una, cómo se distribuyen los tamaños y de qué color es cada cabeza. El área se obtiene contando píxeles y se convierte a micras con una escala que se ve más adelante. El color se mide con la proporción de rojo y de verde dentro de cada contorno. Todo depende de algo previo: saber dónde está cada cabeza.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La media es el valor típico y la desviación estándar dice qué tanto se alejan los demás. Dos grupos con la misma media pueden ser muy distintos. Cuenta del grupo A: suma 10, entre 5 da media 2. Diferencias: 0, 0.2, -0.2, 0.4, -0.4; al cuadrado suman 0.40; entre 4 da 0.1; raíz cuadrada, cerca de 0.3. Grupo B: media 2 y desviación cerca de 0.07. Por eso el sistema entrega las dos cosas y la gráfica de distribución de tamaños es tan útil. Los números son ilustrativos.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Con las imágenes se comparan condiciones: se mide cada grupo y se compara cómo cambian el número y el tamaño de las células. Interpretar la diferencia es trabajo de quien investiga. La consistencia es lo valioso: si el instrumento no es consistente, las diferencias podrían venir del instrumento y no de la condición.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Contar y medir a mano es lento, repetitivo y cambia según quién lo haga: tres personas cuidadosas pueden dar tres conteos distintos de la misma imagen. Un sistema que lo haga siempre igual hace falta. Ejemplo: una persona ve el estrechamiento entre dos cabezas pegadas y cuenta dos; otra no lo ve y cuenta una. Ninguna se equivocó por descuido; cada una aplicó su criterio. El objetivo no es reemplazar el criterio de las personas, sino hacerlo consistente y repetible. Los tres conteos son números de ejemplo.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Con cuentas sencillas se ve que el trabajo manual no escala: unas pocas decenas de imágenes ya significan miles de células y medio día de trabajo. Cuenta: 30 por 150 son 4,500 células; a 10 segundos cada una son 45,000 segundos, es decir, 12.5 horas. Además hay cansancio y el criterio cambia sin que uno se dé cuenta. Si se quiere repetir con otro criterio, el trabajo empieza de nuevo. Los números son ilustrativos y sirven para ver el orden de magnitud.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central: Un mapa del recorrido: la imagen entra, la red encuentra las cabezas, el código mide cada una y salen los números, la gráfica, el CSV y el PDF. En esta sesión solo se ven las piezas para entender la primera parte: qué es una imagen para una computadora y qué es y cómo aprende una red neuronal. El recorrido completo, con el sitio funcionando, se ve en la tercera sesión. Transición: antes de ver cómo se resuelve, hay que regresar a lo fundamental: qué es una imagen y qué es una imagen digital. Cierre del video 1 (decir): «Pero antes de ver cómo se resuelve, tenemos que regresarnos a lo fundamental: qué es una imagen digital. En el siguiente video lo vemos.»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4F8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0C2A3E"/>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09961"/>
            <a:ext cx="10566400" cy="4135239"/>
          </a:xfrm>
          <a:prstGeom prst="rect">
            <a:avLst/>
          </a:prstGeom>
          <a:noFill/>
          <a:ln/>
        </p:spPr>
        <p:txBody>
          <a:bodyPr wrap="square" lIns="0" tIns="0" rIns="0" bIns="0" rtlCol="0" anchor="t"/>
          <a:lstStyle>
            <a:lvl1pPr algn="l" indent="0" marL="0">
              <a:lnSpc>
                <a:spcPct val="140000"/>
              </a:lnSpc>
              <a:buNone/>
              <a:defRPr lang="en-US" sz="1600" dirty="0">
                <a:solidFill>
                  <a:srgbClr val="0C2A3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8FA"/>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0C2A3E"/>
                </a:solidFill>
                <a:latin typeface="EB Garamond" pitchFamily="34" charset="0"/>
                <a:ea typeface="EB Garamond" pitchFamily="34" charset="-122"/>
                <a:cs typeface="EB Garamond"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09961"/>
            <a:ext cx="10566400" cy="4135239"/>
          </a:xfrm>
          <a:prstGeom prst="rect">
            <a:avLst/>
          </a:prstGeom>
          <a:noFill/>
          <a:ln/>
        </p:spPr>
        <p:txBody>
          <a:bodyPr wrap="square" lIns="0" tIns="0" rIns="0" bIns="0" rtlCol="0" anchor="t"/>
          <a:lstStyle>
            <a:lvl1pPr algn="l" indent="0" marL="0">
              <a:lnSpc>
                <a:spcPct val="140000"/>
              </a:lnSpc>
              <a:buNone/>
              <a:defRPr lang="en-US" sz="1600" dirty="0">
                <a:solidFill>
                  <a:srgbClr val="0C2A3E"/>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8FA"/>
        </a:solidFill>
      </p:bgPr>
    </p:bg>
    <p:spTree>
      <p:nvGrpSpPr>
        <p:cNvPr id="1" name=""/>
        <p:cNvGrpSpPr/>
        <p:nvPr/>
      </p:nvGrpSpPr>
      <p:grpSpPr>
        <a:xfrm>
          <a:off x="0" y="0"/>
          <a:ext cx="0" cy="0"/>
          <a:chOff x="0" y="0"/>
          <a:chExt cx="0" cy="0"/>
        </a:xfrm>
      </p:grpSpPr>
      <p:sp>
        <p:nvSpPr>
          <p:cNvPr id="2" name="Text 0"/>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 / 13</a:t>
            </a:r>
            <a:endParaRPr lang="en-US" sz="1200" dirty="0"/>
          </a:p>
        </p:txBody>
      </p:sp>
      <p:pic>
        <p:nvPicPr>
          <p:cNvPr id="3" name="Image 0" descr="Logotipo de la Universidad Autónoma Metropolitana, Unidad Iztapalapa">    </p:cNvPr>
          <p:cNvPicPr>
            <a:picLocks noChangeAspect="1"/>
          </p:cNvPicPr>
          <p:nvPr/>
        </p:nvPicPr>
        <p:blipFill>
          <a:blip r:embed="rId1"/>
          <a:srcRect l="-91" r="-91" t="0" b="0"/>
          <a:stretch/>
        </p:blipFill>
        <p:spPr>
          <a:xfrm>
            <a:off x="812800" y="304800"/>
            <a:ext cx="1460500" cy="1174750"/>
          </a:xfrm>
          <a:prstGeom prst="rect">
            <a:avLst/>
          </a:prstGeom>
        </p:spPr>
      </p:pic>
      <p:sp>
        <p:nvSpPr>
          <p:cNvPr id="4" name="Text 1"/>
          <p:cNvSpPr/>
          <p:nvPr/>
        </p:nvSpPr>
        <p:spPr>
          <a:xfrm>
            <a:off x="812800" y="1936750"/>
            <a:ext cx="6488176" cy="238720"/>
          </a:xfrm>
          <a:prstGeom prst="rect">
            <a:avLst/>
          </a:prstGeom>
          <a:noFill/>
          <a:ln/>
        </p:spPr>
        <p:txBody>
          <a:bodyPr wrap="square" lIns="0" tIns="0" rIns="0" bIns="0" rtlCol="0" anchor="t">
            <a:normAutofit/>
          </a:bodyPr>
          <a:lstStyle/>
          <a:p>
            <a:pPr algn="l" indent="0" marL="0">
              <a:lnSpc>
                <a:spcPts val="1680"/>
              </a:lnSpc>
              <a:buNone/>
            </a:pPr>
            <a:r>
              <a:rPr lang="en-US" sz="1200" b="1" spc="200" kern="0" dirty="0">
                <a:solidFill>
                  <a:srgbClr val="A3480F"/>
                </a:solidFill>
                <a:latin typeface="IBM Plex Sans" pitchFamily="34" charset="0"/>
                <a:ea typeface="IBM Plex Sans" pitchFamily="34" charset="-122"/>
                <a:cs typeface="IBM Plex Sans" pitchFamily="34" charset="-120"/>
              </a:rPr>
              <a:t>OCTUBRE 2026 · SESIÓN 1 DE 4</a:t>
            </a:r>
            <a:endParaRPr lang="en-US" sz="1200" dirty="0"/>
          </a:p>
        </p:txBody>
      </p:sp>
      <p:sp>
        <p:nvSpPr>
          <p:cNvPr id="5" name="Text 2"/>
          <p:cNvSpPr/>
          <p:nvPr>
            <p:ph type="title"/>
          </p:nvPr>
        </p:nvSpPr>
        <p:spPr>
          <a:xfrm>
            <a:off x="812800" y="2302470"/>
            <a:ext cx="6488176" cy="772120"/>
          </a:xfrm>
          <a:prstGeom prst="rect">
            <a:avLst/>
          </a:prstGeom>
          <a:noFill/>
          <a:ln/>
        </p:spPr>
        <p:txBody>
          <a:bodyPr wrap="square" lIns="0" tIns="0" rIns="0" bIns="0" rtlCol="0" anchor="t">
            <a:normAutofit/>
          </a:bodyPr>
          <a:lstStyle/>
          <a:p>
            <a:pPr algn="l" indent="0" marL="0">
              <a:lnSpc>
                <a:spcPts val="5880"/>
              </a:lnSpc>
              <a:buNone/>
            </a:pPr>
            <a:r>
              <a:rPr lang="en-US" sz="5600" b="1" i="0" dirty="0">
                <a:solidFill>
                  <a:srgbClr val="0C2A3E"/>
                </a:solidFill>
                <a:latin typeface="EB Garamond" pitchFamily="18" charset="0"/>
                <a:ea typeface="EB Garamond" pitchFamily="18" charset="-122"/>
                <a:cs typeface="EB Garamond" pitchFamily="18" charset="-120"/>
              </a:rPr>
              <a:t>Image Bio Pro</a:t>
            </a:r>
            <a:endParaRPr lang="en-US" sz="5600" dirty="0"/>
          </a:p>
        </p:txBody>
      </p:sp>
      <p:sp>
        <p:nvSpPr>
          <p:cNvPr id="6" name="Text 3"/>
          <p:cNvSpPr/>
          <p:nvPr/>
        </p:nvSpPr>
        <p:spPr>
          <a:xfrm>
            <a:off x="812800" y="3201591"/>
            <a:ext cx="6488176" cy="919361"/>
          </a:xfrm>
          <a:prstGeom prst="rect">
            <a:avLst/>
          </a:prstGeom>
          <a:noFill/>
          <a:ln/>
        </p:spPr>
        <p:txBody>
          <a:bodyPr wrap="square" lIns="0" tIns="0" rIns="0" bIns="0" rtlCol="0" anchor="t">
            <a:normAutofit/>
          </a:bodyPr>
          <a:lstStyle/>
          <a:p>
            <a:pPr algn="l" indent="0" marL="0">
              <a:lnSpc>
                <a:spcPts val="3520"/>
              </a:lnSpc>
              <a:buNone/>
            </a:pPr>
            <a:r>
              <a:rPr lang="en-US" sz="3200" dirty="0">
                <a:solidFill>
                  <a:srgbClr val="0C2A3E"/>
                </a:solidFill>
                <a:latin typeface="EB Garamond" pitchFamily="18" charset="0"/>
                <a:ea typeface="EB Garamond" pitchFamily="18" charset="-122"/>
                <a:cs typeface="EB Garamond" pitchFamily="18" charset="-120"/>
              </a:rPr>
              <a:t>Inteligencia artificial aplicada al análisis de microscopía de fluorescencia.</a:t>
            </a:r>
            <a:endParaRPr lang="en-US" sz="3200" dirty="0"/>
          </a:p>
        </p:txBody>
      </p:sp>
      <p:sp>
        <p:nvSpPr>
          <p:cNvPr id="7" name="Text 4"/>
          <p:cNvSpPr/>
          <p:nvPr/>
        </p:nvSpPr>
        <p:spPr>
          <a:xfrm>
            <a:off x="812800" y="4298752"/>
            <a:ext cx="648817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PONENTE</a:t>
            </a:r>
            <a:endParaRPr lang="en-US" sz="1200" dirty="0"/>
          </a:p>
        </p:txBody>
      </p:sp>
      <p:sp>
        <p:nvSpPr>
          <p:cNvPr id="8" name="Text 5"/>
          <p:cNvSpPr/>
          <p:nvPr/>
        </p:nvSpPr>
        <p:spPr>
          <a:xfrm>
            <a:off x="812800" y="4537472"/>
            <a:ext cx="648817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Ing. Ángel Frausto Robles</a:t>
            </a:r>
            <a:endParaRPr lang="en-US" sz="1300" dirty="0"/>
          </a:p>
        </p:txBody>
      </p:sp>
      <p:sp>
        <p:nvSpPr>
          <p:cNvPr id="9" name="Text 6"/>
          <p:cNvSpPr/>
          <p:nvPr/>
        </p:nvSpPr>
        <p:spPr>
          <a:xfrm>
            <a:off x="812800" y="4849217"/>
            <a:ext cx="1410990"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COORDINADOR</a:t>
            </a:r>
            <a:endParaRPr lang="en-US" sz="1200" dirty="0"/>
          </a:p>
        </p:txBody>
      </p:sp>
      <p:sp>
        <p:nvSpPr>
          <p:cNvPr id="10" name="Text 7"/>
          <p:cNvSpPr/>
          <p:nvPr/>
        </p:nvSpPr>
        <p:spPr>
          <a:xfrm>
            <a:off x="812800" y="5087938"/>
            <a:ext cx="1632228"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Luis Enrique Pérez</a:t>
            </a:r>
            <a:endParaRPr lang="en-US" sz="1300" dirty="0"/>
          </a:p>
        </p:txBody>
      </p:sp>
      <p:sp>
        <p:nvSpPr>
          <p:cNvPr id="11" name="Text 8"/>
          <p:cNvSpPr/>
          <p:nvPr/>
        </p:nvSpPr>
        <p:spPr>
          <a:xfrm>
            <a:off x="2528590" y="4849217"/>
            <a:ext cx="236428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APOYO</a:t>
            </a:r>
            <a:endParaRPr lang="en-US" sz="1200" dirty="0"/>
          </a:p>
        </p:txBody>
      </p:sp>
      <p:sp>
        <p:nvSpPr>
          <p:cNvPr id="12" name="Text 9"/>
          <p:cNvSpPr/>
          <p:nvPr/>
        </p:nvSpPr>
        <p:spPr>
          <a:xfrm>
            <a:off x="2528590" y="5087938"/>
            <a:ext cx="2754511"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Isaac Emmanuel Mani Arellano</a:t>
            </a:r>
            <a:endParaRPr lang="en-US" sz="1300" dirty="0"/>
          </a:p>
        </p:txBody>
      </p:sp>
      <p:sp>
        <p:nvSpPr>
          <p:cNvPr id="13" name="Text 10"/>
          <p:cNvSpPr/>
          <p:nvPr/>
        </p:nvSpPr>
        <p:spPr>
          <a:xfrm>
            <a:off x="812800" y="5399683"/>
            <a:ext cx="6488176"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RESPONSABLES DEL PROYECTO</a:t>
            </a:r>
            <a:endParaRPr lang="en-US" sz="1200" dirty="0"/>
          </a:p>
        </p:txBody>
      </p:sp>
      <p:sp>
        <p:nvSpPr>
          <p:cNvPr id="14" name="Text 11"/>
          <p:cNvSpPr/>
          <p:nvPr/>
        </p:nvSpPr>
        <p:spPr>
          <a:xfrm>
            <a:off x="812800" y="5638403"/>
            <a:ext cx="648817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0C2A3E"/>
                </a:solidFill>
                <a:latin typeface="IBM Plex Sans" pitchFamily="34" charset="0"/>
                <a:ea typeface="IBM Plex Sans" pitchFamily="34" charset="-122"/>
                <a:cs typeface="IBM Plex Sans" pitchFamily="34" charset="-120"/>
              </a:rPr>
              <a:t>Dra. Sheila Irais Peña Corona · Dr. Saúl Jiménez Jiménez</a:t>
            </a:r>
            <a:endParaRPr lang="en-US" sz="1300" dirty="0"/>
          </a:p>
        </p:txBody>
      </p:sp>
      <p:pic>
        <p:nvPicPr>
          <p:cNvPr id="15" name="Image 1" descr="Logotipo de Image Bio Pro: un espermatozoide con una cadena de ADN dentro de un círculo azul">    </p:cNvPr>
          <p:cNvPicPr>
            <a:picLocks noChangeAspect="1"/>
          </p:cNvPicPr>
          <p:nvPr/>
        </p:nvPicPr>
        <p:blipFill>
          <a:blip r:embed="rId2"/>
          <a:srcRect l="0" r="0" t="-94" b="-94"/>
          <a:stretch/>
        </p:blipFill>
        <p:spPr>
          <a:xfrm>
            <a:off x="7696200" y="2105124"/>
            <a:ext cx="3556000" cy="35877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BIENVENIDA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¿Qué es Image Bio Pro?</a:t>
            </a:r>
            <a:endParaRPr lang="en-US" sz="3600" dirty="0"/>
          </a:p>
        </p:txBody>
      </p:sp>
      <p:sp>
        <p:nvSpPr>
          <p:cNvPr id="6" name="Text 2"/>
          <p:cNvSpPr/>
          <p:nvPr/>
        </p:nvSpPr>
        <p:spPr>
          <a:xfrm>
            <a:off x="812800" y="1859161"/>
            <a:ext cx="981075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0C2A3E"/>
                </a:solidFill>
                <a:latin typeface="IBM Plex Sans" pitchFamily="34" charset="0"/>
                <a:ea typeface="IBM Plex Sans" pitchFamily="34" charset="-122"/>
                <a:cs typeface="IBM Plex Sans" pitchFamily="34" charset="-120"/>
              </a:rPr>
              <a:t>Un proyecto que promueve la incorporación de la inteligencia artificial en las funciones sustantivas de la universidad.</a:t>
            </a:r>
            <a:endParaRPr lang="en-US" sz="1800" dirty="0"/>
          </a:p>
        </p:txBody>
      </p:sp>
      <p:sp>
        <p:nvSpPr>
          <p:cNvPr id="7" name="Shape 3"/>
          <p:cNvSpPr/>
          <p:nvPr/>
        </p:nvSpPr>
        <p:spPr>
          <a:xfrm>
            <a:off x="819150" y="2736652"/>
            <a:ext cx="2514600" cy="1313061"/>
          </a:xfrm>
          <a:prstGeom prst="roundRect">
            <a:avLst>
              <a:gd name="adj" fmla="val 9188"/>
            </a:avLst>
          </a:prstGeom>
          <a:solidFill>
            <a:srgbClr val="FCFDFD"/>
          </a:solidFill>
          <a:ln w="12700">
            <a:solidFill>
              <a:srgbClr val="D5E3EA"/>
            </a:solidFill>
            <a:prstDash val="solid"/>
          </a:ln>
        </p:spPr>
      </p:sp>
      <p:pic>
        <p:nvPicPr>
          <p:cNvPr id="8" name="Image 2" descr="GraduationCap">    </p:cNvPr>
          <p:cNvPicPr>
            <a:picLocks noChangeAspect="1"/>
          </p:cNvPicPr>
          <p:nvPr/>
        </p:nvPicPr>
        <p:blipFill>
          <a:blip r:embed="rId3"/>
          <a:srcRect l="0" r="0" t="0" b="0"/>
          <a:stretch/>
        </p:blipFill>
        <p:spPr>
          <a:xfrm>
            <a:off x="1028700" y="2946202"/>
            <a:ext cx="330200" cy="330200"/>
          </a:xfrm>
          <a:prstGeom prst="rect">
            <a:avLst/>
          </a:prstGeom>
        </p:spPr>
      </p:pic>
      <p:sp>
        <p:nvSpPr>
          <p:cNvPr id="9" name="Text 4"/>
          <p:cNvSpPr/>
          <p:nvPr/>
        </p:nvSpPr>
        <p:spPr>
          <a:xfrm>
            <a:off x="1028700" y="3352602"/>
            <a:ext cx="215836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Docencia</a:t>
            </a:r>
            <a:endParaRPr lang="en-US" sz="1600" dirty="0"/>
          </a:p>
        </p:txBody>
      </p:sp>
      <p:sp>
        <p:nvSpPr>
          <p:cNvPr id="10" name="Shape 5"/>
          <p:cNvSpPr/>
          <p:nvPr/>
        </p:nvSpPr>
        <p:spPr>
          <a:xfrm>
            <a:off x="3498850" y="2736652"/>
            <a:ext cx="2514600" cy="1313061"/>
          </a:xfrm>
          <a:prstGeom prst="roundRect">
            <a:avLst>
              <a:gd name="adj" fmla="val 9188"/>
            </a:avLst>
          </a:prstGeom>
          <a:solidFill>
            <a:srgbClr val="FCFDFD"/>
          </a:solidFill>
          <a:ln w="12700">
            <a:solidFill>
              <a:srgbClr val="D5E3EA"/>
            </a:solidFill>
            <a:prstDash val="solid"/>
          </a:ln>
        </p:spPr>
      </p:sp>
      <p:pic>
        <p:nvPicPr>
          <p:cNvPr id="11" name="Image 3" descr="Search">    </p:cNvPr>
          <p:cNvPicPr>
            <a:picLocks noChangeAspect="1"/>
          </p:cNvPicPr>
          <p:nvPr/>
        </p:nvPicPr>
        <p:blipFill>
          <a:blip r:embed="rId4"/>
          <a:srcRect l="0" r="0" t="0" b="0"/>
          <a:stretch/>
        </p:blipFill>
        <p:spPr>
          <a:xfrm>
            <a:off x="3708400" y="2946202"/>
            <a:ext cx="330200" cy="330200"/>
          </a:xfrm>
          <a:prstGeom prst="rect">
            <a:avLst/>
          </a:prstGeom>
        </p:spPr>
      </p:pic>
      <p:sp>
        <p:nvSpPr>
          <p:cNvPr id="12" name="Text 6"/>
          <p:cNvSpPr/>
          <p:nvPr/>
        </p:nvSpPr>
        <p:spPr>
          <a:xfrm>
            <a:off x="3708400" y="3352602"/>
            <a:ext cx="215836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Investigación</a:t>
            </a:r>
            <a:endParaRPr lang="en-US" sz="1600" dirty="0"/>
          </a:p>
        </p:txBody>
      </p:sp>
      <p:sp>
        <p:nvSpPr>
          <p:cNvPr id="13" name="Shape 7"/>
          <p:cNvSpPr/>
          <p:nvPr/>
        </p:nvSpPr>
        <p:spPr>
          <a:xfrm>
            <a:off x="6178550" y="2736652"/>
            <a:ext cx="2514600" cy="1313061"/>
          </a:xfrm>
          <a:prstGeom prst="roundRect">
            <a:avLst>
              <a:gd name="adj" fmla="val 9188"/>
            </a:avLst>
          </a:prstGeom>
          <a:solidFill>
            <a:srgbClr val="FCFDFD"/>
          </a:solidFill>
          <a:ln w="12700">
            <a:solidFill>
              <a:srgbClr val="D5E3EA"/>
            </a:solidFill>
            <a:prstDash val="solid"/>
          </a:ln>
        </p:spPr>
      </p:sp>
      <p:pic>
        <p:nvPicPr>
          <p:cNvPr id="14" name="Image 4" descr="Book">    </p:cNvPr>
          <p:cNvPicPr>
            <a:picLocks noChangeAspect="1"/>
          </p:cNvPicPr>
          <p:nvPr/>
        </p:nvPicPr>
        <p:blipFill>
          <a:blip r:embed="rId5"/>
          <a:srcRect l="0" r="0" t="0" b="0"/>
          <a:stretch/>
        </p:blipFill>
        <p:spPr>
          <a:xfrm>
            <a:off x="6388100" y="2946202"/>
            <a:ext cx="330200" cy="330200"/>
          </a:xfrm>
          <a:prstGeom prst="rect">
            <a:avLst/>
          </a:prstGeom>
        </p:spPr>
      </p:pic>
      <p:sp>
        <p:nvSpPr>
          <p:cNvPr id="15" name="Text 8"/>
          <p:cNvSpPr/>
          <p:nvPr/>
        </p:nvSpPr>
        <p:spPr>
          <a:xfrm>
            <a:off x="6388100" y="3352602"/>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Preservación y difusión de la cultura</a:t>
            </a:r>
            <a:endParaRPr lang="en-US" sz="1600" dirty="0"/>
          </a:p>
        </p:txBody>
      </p:sp>
      <p:sp>
        <p:nvSpPr>
          <p:cNvPr id="16" name="Shape 9"/>
          <p:cNvSpPr/>
          <p:nvPr/>
        </p:nvSpPr>
        <p:spPr>
          <a:xfrm>
            <a:off x="8858250" y="2736652"/>
            <a:ext cx="2514600" cy="1313061"/>
          </a:xfrm>
          <a:prstGeom prst="roundRect">
            <a:avLst>
              <a:gd name="adj" fmla="val 9188"/>
            </a:avLst>
          </a:prstGeom>
          <a:solidFill>
            <a:srgbClr val="FCFDFD"/>
          </a:solidFill>
          <a:ln w="12700">
            <a:solidFill>
              <a:srgbClr val="D5E3EA"/>
            </a:solidFill>
            <a:prstDash val="solid"/>
          </a:ln>
        </p:spPr>
      </p:sp>
      <p:pic>
        <p:nvPicPr>
          <p:cNvPr id="17" name="Image 5" descr="Users">    </p:cNvPr>
          <p:cNvPicPr>
            <a:picLocks noChangeAspect="1"/>
          </p:cNvPicPr>
          <p:nvPr/>
        </p:nvPicPr>
        <p:blipFill>
          <a:blip r:embed="rId6"/>
          <a:srcRect l="0" r="0" t="0" b="0"/>
          <a:stretch/>
        </p:blipFill>
        <p:spPr>
          <a:xfrm>
            <a:off x="9067800" y="2946202"/>
            <a:ext cx="330200" cy="330200"/>
          </a:xfrm>
          <a:prstGeom prst="rect">
            <a:avLst/>
          </a:prstGeom>
        </p:spPr>
      </p:pic>
      <p:sp>
        <p:nvSpPr>
          <p:cNvPr id="18" name="Text 10"/>
          <p:cNvSpPr/>
          <p:nvPr/>
        </p:nvSpPr>
        <p:spPr>
          <a:xfrm>
            <a:off x="9067800" y="3352602"/>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Vinculación y servicio a la comunidad</a:t>
            </a:r>
            <a:endParaRPr lang="en-US" sz="1600" dirty="0"/>
          </a:p>
        </p:txBody>
      </p:sp>
      <p:sp>
        <p:nvSpPr>
          <p:cNvPr id="19" name="Text 11"/>
          <p:cNvSpPr/>
          <p:nvPr/>
        </p:nvSpPr>
        <p:spPr>
          <a:xfrm>
            <a:off x="812800" y="4310063"/>
            <a:ext cx="981075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Una plataforma web que incorpora conceptos de inteligencia artificial para apoyar esas actividades en la comunidad universitaria de la UAM Iztapalapa.</a:t>
            </a:r>
            <a:endParaRPr lang="en-US" sz="1400" dirty="0"/>
          </a:p>
        </p:txBody>
      </p:sp>
      <p:sp>
        <p:nvSpPr>
          <p:cNvPr id="20" name="Text 12"/>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1" name="Text 13"/>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2 / 13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BIENVENIDA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Cuatro sesiones, un mismo caso</a:t>
            </a:r>
            <a:endParaRPr lang="en-US" sz="3600" dirty="0"/>
          </a:p>
        </p:txBody>
      </p:sp>
      <p:sp>
        <p:nvSpPr>
          <p:cNvPr id="6" name="Shape 2"/>
          <p:cNvSpPr/>
          <p:nvPr/>
        </p:nvSpPr>
        <p:spPr>
          <a:xfrm>
            <a:off x="812800" y="1859161"/>
            <a:ext cx="2527300" cy="2280642"/>
          </a:xfrm>
          <a:prstGeom prst="roundRect">
            <a:avLst>
              <a:gd name="adj" fmla="val 5569"/>
            </a:avLst>
          </a:prstGeom>
          <a:solidFill>
            <a:srgbClr val="0B1F2E"/>
          </a:solidFill>
          <a:ln/>
        </p:spPr>
      </p:sp>
      <p:sp>
        <p:nvSpPr>
          <p:cNvPr id="7" name="Text 3"/>
          <p:cNvSpPr/>
          <p:nvPr/>
        </p:nvSpPr>
        <p:spPr>
          <a:xfrm>
            <a:off x="1016000" y="2062361"/>
            <a:ext cx="2184527"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F4A259"/>
                </a:solidFill>
                <a:latin typeface="EB Garamond" pitchFamily="18" charset="0"/>
                <a:ea typeface="EB Garamond" pitchFamily="18" charset="-122"/>
                <a:cs typeface="EB Garamond" pitchFamily="18" charset="-120"/>
              </a:rPr>
              <a:t>1</a:t>
            </a:r>
            <a:endParaRPr lang="en-US" sz="3600" dirty="0"/>
          </a:p>
        </p:txBody>
      </p:sp>
      <p:sp>
        <p:nvSpPr>
          <p:cNvPr id="8" name="Text 4"/>
          <p:cNvSpPr/>
          <p:nvPr/>
        </p:nvSpPr>
        <p:spPr>
          <a:xfrm>
            <a:off x="1016000" y="2595761"/>
            <a:ext cx="218452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6CCFF6"/>
                </a:solidFill>
                <a:latin typeface="IBM Plex Sans" pitchFamily="34" charset="0"/>
                <a:ea typeface="IBM Plex Sans" pitchFamily="34" charset="-122"/>
                <a:cs typeface="IBM Plex Sans" pitchFamily="34" charset="-120"/>
              </a:rPr>
              <a:t>Esta sesión</a:t>
            </a:r>
            <a:endParaRPr lang="en-US" sz="1200" dirty="0"/>
          </a:p>
        </p:txBody>
      </p:sp>
      <p:sp>
        <p:nvSpPr>
          <p:cNvPr id="9" name="Text 5"/>
          <p:cNvSpPr/>
          <p:nvPr/>
        </p:nvSpPr>
        <p:spPr>
          <a:xfrm>
            <a:off x="1016000" y="2885281"/>
            <a:ext cx="2184527"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1F6F8"/>
                </a:solidFill>
                <a:latin typeface="IBM Plex Sans" pitchFamily="34" charset="0"/>
                <a:ea typeface="IBM Plex Sans" pitchFamily="34" charset="-122"/>
                <a:cs typeface="IBM Plex Sans" pitchFamily="34" charset="-120"/>
              </a:rPr>
              <a:t>El problema y las bases</a:t>
            </a:r>
            <a:endParaRPr lang="en-US" sz="1600" dirty="0"/>
          </a:p>
        </p:txBody>
      </p:sp>
      <p:sp>
        <p:nvSpPr>
          <p:cNvPr id="10" name="Text 6"/>
          <p:cNvSpPr/>
          <p:nvPr/>
        </p:nvSpPr>
        <p:spPr>
          <a:xfrm>
            <a:off x="1016000" y="3449042"/>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Introducción y comienzo de redes neuronales.</a:t>
            </a:r>
            <a:endParaRPr lang="en-US" sz="1300" dirty="0"/>
          </a:p>
        </p:txBody>
      </p:sp>
      <p:sp>
        <p:nvSpPr>
          <p:cNvPr id="11" name="Shape 7"/>
          <p:cNvSpPr/>
          <p:nvPr/>
        </p:nvSpPr>
        <p:spPr>
          <a:xfrm>
            <a:off x="3498850" y="1865511"/>
            <a:ext cx="2514600" cy="2267942"/>
          </a:xfrm>
          <a:prstGeom prst="roundRect">
            <a:avLst>
              <a:gd name="adj" fmla="val 5320"/>
            </a:avLst>
          </a:prstGeom>
          <a:solidFill>
            <a:srgbClr val="FCFDFD"/>
          </a:solidFill>
          <a:ln w="12700">
            <a:solidFill>
              <a:srgbClr val="D5E3EA"/>
            </a:solidFill>
            <a:prstDash val="solid"/>
          </a:ln>
        </p:spPr>
      </p:sp>
      <p:sp>
        <p:nvSpPr>
          <p:cNvPr id="12" name="Text 8"/>
          <p:cNvSpPr/>
          <p:nvPr/>
        </p:nvSpPr>
        <p:spPr>
          <a:xfrm>
            <a:off x="37084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2</a:t>
            </a:r>
            <a:endParaRPr lang="en-US" sz="3600" dirty="0"/>
          </a:p>
        </p:txBody>
      </p:sp>
      <p:sp>
        <p:nvSpPr>
          <p:cNvPr id="13" name="Text 9"/>
          <p:cNvSpPr/>
          <p:nvPr/>
        </p:nvSpPr>
        <p:spPr>
          <a:xfrm>
            <a:off x="3708400" y="260846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9C"/>
                </a:solidFill>
                <a:latin typeface="IBM Plex Sans" pitchFamily="34" charset="0"/>
                <a:ea typeface="IBM Plex Sans" pitchFamily="34" charset="-122"/>
                <a:cs typeface="IBM Plex Sans" pitchFamily="34" charset="-120"/>
              </a:rPr>
              <a:t>Sesión 2</a:t>
            </a:r>
            <a:endParaRPr lang="en-US" sz="1200" dirty="0"/>
          </a:p>
        </p:txBody>
      </p:sp>
      <p:sp>
        <p:nvSpPr>
          <p:cNvPr id="14" name="Text 10"/>
          <p:cNvSpPr/>
          <p:nvPr/>
        </p:nvSpPr>
        <p:spPr>
          <a:xfrm>
            <a:off x="3708400" y="2897981"/>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Cómo aprende la computadora</a:t>
            </a:r>
            <a:endParaRPr lang="en-US" sz="1600" dirty="0"/>
          </a:p>
        </p:txBody>
      </p:sp>
      <p:sp>
        <p:nvSpPr>
          <p:cNvPr id="15" name="Text 11"/>
          <p:cNvSpPr/>
          <p:nvPr/>
        </p:nvSpPr>
        <p:spPr>
          <a:xfrm>
            <a:off x="3708400" y="3461742"/>
            <a:ext cx="215836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Redes neuronales convolucionales.</a:t>
            </a:r>
            <a:endParaRPr lang="en-US" sz="1300" dirty="0"/>
          </a:p>
        </p:txBody>
      </p:sp>
      <p:sp>
        <p:nvSpPr>
          <p:cNvPr id="16" name="Shape 12"/>
          <p:cNvSpPr/>
          <p:nvPr/>
        </p:nvSpPr>
        <p:spPr>
          <a:xfrm>
            <a:off x="6178550" y="1865511"/>
            <a:ext cx="2514600" cy="2267942"/>
          </a:xfrm>
          <a:prstGeom prst="roundRect">
            <a:avLst>
              <a:gd name="adj" fmla="val 5320"/>
            </a:avLst>
          </a:prstGeom>
          <a:solidFill>
            <a:srgbClr val="FCFDFD"/>
          </a:solidFill>
          <a:ln w="12700">
            <a:solidFill>
              <a:srgbClr val="D5E3EA"/>
            </a:solidFill>
            <a:prstDash val="solid"/>
          </a:ln>
        </p:spPr>
      </p:sp>
      <p:sp>
        <p:nvSpPr>
          <p:cNvPr id="17" name="Text 13"/>
          <p:cNvSpPr/>
          <p:nvPr/>
        </p:nvSpPr>
        <p:spPr>
          <a:xfrm>
            <a:off x="63881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3</a:t>
            </a:r>
            <a:endParaRPr lang="en-US" sz="3600" dirty="0"/>
          </a:p>
        </p:txBody>
      </p:sp>
      <p:sp>
        <p:nvSpPr>
          <p:cNvPr id="18" name="Text 14"/>
          <p:cNvSpPr/>
          <p:nvPr/>
        </p:nvSpPr>
        <p:spPr>
          <a:xfrm>
            <a:off x="6388100" y="260846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9C"/>
                </a:solidFill>
                <a:latin typeface="IBM Plex Sans" pitchFamily="34" charset="0"/>
                <a:ea typeface="IBM Plex Sans" pitchFamily="34" charset="-122"/>
                <a:cs typeface="IBM Plex Sans" pitchFamily="34" charset="-120"/>
              </a:rPr>
              <a:t>Sesión 3</a:t>
            </a:r>
            <a:endParaRPr lang="en-US" sz="1200" dirty="0"/>
          </a:p>
        </p:txBody>
      </p:sp>
      <p:sp>
        <p:nvSpPr>
          <p:cNvPr id="19" name="Text 15"/>
          <p:cNvSpPr/>
          <p:nvPr/>
        </p:nvSpPr>
        <p:spPr>
          <a:xfrm>
            <a:off x="6388100" y="2897981"/>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Cómo funciona el sistema</a:t>
            </a:r>
            <a:endParaRPr lang="en-US" sz="1600" dirty="0"/>
          </a:p>
        </p:txBody>
      </p:sp>
      <p:sp>
        <p:nvSpPr>
          <p:cNvPr id="20" name="Text 16"/>
          <p:cNvSpPr/>
          <p:nvPr/>
        </p:nvSpPr>
        <p:spPr>
          <a:xfrm>
            <a:off x="6388100" y="3461742"/>
            <a:ext cx="2158365"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Con el sitio funcionando: frontend y backend.</a:t>
            </a:r>
            <a:endParaRPr lang="en-US" sz="1300" dirty="0"/>
          </a:p>
        </p:txBody>
      </p:sp>
      <p:sp>
        <p:nvSpPr>
          <p:cNvPr id="21" name="Shape 17"/>
          <p:cNvSpPr/>
          <p:nvPr/>
        </p:nvSpPr>
        <p:spPr>
          <a:xfrm>
            <a:off x="8858250" y="1865511"/>
            <a:ext cx="2514600" cy="2267942"/>
          </a:xfrm>
          <a:prstGeom prst="roundRect">
            <a:avLst>
              <a:gd name="adj" fmla="val 5320"/>
            </a:avLst>
          </a:prstGeom>
          <a:solidFill>
            <a:srgbClr val="FCFDFD"/>
          </a:solidFill>
          <a:ln w="12700">
            <a:solidFill>
              <a:srgbClr val="D5E3EA"/>
            </a:solidFill>
            <a:prstDash val="solid"/>
          </a:ln>
        </p:spPr>
      </p:sp>
      <p:sp>
        <p:nvSpPr>
          <p:cNvPr id="22" name="Text 18"/>
          <p:cNvSpPr/>
          <p:nvPr/>
        </p:nvSpPr>
        <p:spPr>
          <a:xfrm>
            <a:off x="90678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4</a:t>
            </a:r>
            <a:endParaRPr lang="en-US" sz="3600" dirty="0"/>
          </a:p>
        </p:txBody>
      </p:sp>
      <p:sp>
        <p:nvSpPr>
          <p:cNvPr id="23" name="Text 19"/>
          <p:cNvSpPr/>
          <p:nvPr/>
        </p:nvSpPr>
        <p:spPr>
          <a:xfrm>
            <a:off x="9067800" y="2608461"/>
            <a:ext cx="215836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0E6E9C"/>
                </a:solidFill>
                <a:latin typeface="IBM Plex Sans" pitchFamily="34" charset="0"/>
                <a:ea typeface="IBM Plex Sans" pitchFamily="34" charset="-122"/>
                <a:cs typeface="IBM Plex Sans" pitchFamily="34" charset="-120"/>
              </a:rPr>
              <a:t>Sesión 4</a:t>
            </a:r>
            <a:endParaRPr lang="en-US" sz="1200" dirty="0"/>
          </a:p>
        </p:txBody>
      </p:sp>
      <p:sp>
        <p:nvSpPr>
          <p:cNvPr id="24" name="Text 20"/>
          <p:cNvSpPr/>
          <p:nvPr/>
        </p:nvSpPr>
        <p:spPr>
          <a:xfrm>
            <a:off x="9067800" y="2897981"/>
            <a:ext cx="2158365" cy="512961"/>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Datos, entrenamiento y despliegue</a:t>
            </a:r>
            <a:endParaRPr lang="en-US" sz="1600" dirty="0"/>
          </a:p>
        </p:txBody>
      </p:sp>
      <p:sp>
        <p:nvSpPr>
          <p:cNvPr id="25" name="Text 21"/>
          <p:cNvSpPr/>
          <p:nvPr/>
        </p:nvSpPr>
        <p:spPr>
          <a:xfrm>
            <a:off x="9067800" y="3461742"/>
            <a:ext cx="2158365"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Cloud computing.</a:t>
            </a:r>
            <a:endParaRPr lang="en-US" sz="1300" dirty="0"/>
          </a:p>
        </p:txBody>
      </p:sp>
      <p:sp>
        <p:nvSpPr>
          <p:cNvPr id="26" name="Text 22"/>
          <p:cNvSpPr/>
          <p:nvPr/>
        </p:nvSpPr>
        <p:spPr>
          <a:xfrm>
            <a:off x="812800" y="4393803"/>
            <a:ext cx="9810750"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0C2A3E"/>
                </a:solidFill>
                <a:latin typeface="IBM Plex Sans" pitchFamily="34" charset="0"/>
                <a:ea typeface="IBM Plex Sans" pitchFamily="34" charset="-122"/>
                <a:cs typeface="IBM Plex Sans" pitchFamily="34" charset="-120"/>
              </a:rPr>
              <a:t>Primero las bases: qué es una imagen y qué es una red neuronal. Después, cómo aprende, el sitio funcionando y, al final, los datos y el despliegue.</a:t>
            </a:r>
            <a:endParaRPr lang="en-US" sz="1400" dirty="0"/>
          </a:p>
        </p:txBody>
      </p:sp>
      <p:sp>
        <p:nvSpPr>
          <p:cNvPr id="27" name="Text 2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8" name="Text 2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3 / 13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BIENVENIDA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1F6F8"/>
                </a:solidFill>
                <a:latin typeface="EB Garamond" pitchFamily="18" charset="0"/>
                <a:ea typeface="EB Garamond" pitchFamily="18" charset="-122"/>
                <a:cs typeface="EB Garamond" pitchFamily="18" charset="-120"/>
              </a:rPr>
              <a:t>La agenda de esta sesión</a:t>
            </a:r>
            <a:endParaRPr lang="en-US" sz="3600" dirty="0"/>
          </a:p>
        </p:txBody>
      </p:sp>
      <p:sp>
        <p:nvSpPr>
          <p:cNvPr id="6" name="Shape 2"/>
          <p:cNvSpPr/>
          <p:nvPr/>
        </p:nvSpPr>
        <p:spPr>
          <a:xfrm>
            <a:off x="819150" y="1865511"/>
            <a:ext cx="10553700" cy="647700"/>
          </a:xfrm>
          <a:prstGeom prst="roundRect">
            <a:avLst>
              <a:gd name="adj" fmla="val 18627"/>
            </a:avLst>
          </a:prstGeom>
          <a:solidFill>
            <a:srgbClr val="12304A"/>
          </a:solidFill>
          <a:ln w="12700">
            <a:solidFill>
              <a:srgbClr val="24506E"/>
            </a:solidFill>
            <a:prstDash val="solid"/>
          </a:ln>
        </p:spPr>
      </p:sp>
      <p:sp>
        <p:nvSpPr>
          <p:cNvPr id="7" name="Text 3"/>
          <p:cNvSpPr/>
          <p:nvPr/>
        </p:nvSpPr>
        <p:spPr>
          <a:xfrm>
            <a:off x="1054100" y="20115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1</a:t>
            </a:r>
            <a:endParaRPr lang="en-US" sz="2800" dirty="0"/>
          </a:p>
        </p:txBody>
      </p:sp>
      <p:sp>
        <p:nvSpPr>
          <p:cNvPr id="8" name="Text 4"/>
          <p:cNvSpPr/>
          <p:nvPr/>
        </p:nvSpPr>
        <p:spPr>
          <a:xfrm>
            <a:off x="1612900" y="2036961"/>
            <a:ext cx="170080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El problema</a:t>
            </a:r>
            <a:endParaRPr lang="en-US" sz="2000" dirty="0"/>
          </a:p>
        </p:txBody>
      </p:sp>
      <p:sp>
        <p:nvSpPr>
          <p:cNvPr id="9" name="Shape 5"/>
          <p:cNvSpPr/>
          <p:nvPr/>
        </p:nvSpPr>
        <p:spPr>
          <a:xfrm>
            <a:off x="819150" y="2652911"/>
            <a:ext cx="10553700" cy="647700"/>
          </a:xfrm>
          <a:prstGeom prst="roundRect">
            <a:avLst>
              <a:gd name="adj" fmla="val 18627"/>
            </a:avLst>
          </a:prstGeom>
          <a:solidFill>
            <a:srgbClr val="12304A"/>
          </a:solidFill>
          <a:ln w="12700">
            <a:solidFill>
              <a:srgbClr val="24506E"/>
            </a:solidFill>
            <a:prstDash val="solid"/>
          </a:ln>
        </p:spPr>
      </p:sp>
      <p:sp>
        <p:nvSpPr>
          <p:cNvPr id="10" name="Text 6"/>
          <p:cNvSpPr/>
          <p:nvPr/>
        </p:nvSpPr>
        <p:spPr>
          <a:xfrm>
            <a:off x="1054100" y="27989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2</a:t>
            </a:r>
            <a:endParaRPr lang="en-US" sz="2800" dirty="0"/>
          </a:p>
        </p:txBody>
      </p:sp>
      <p:sp>
        <p:nvSpPr>
          <p:cNvPr id="11" name="Text 7"/>
          <p:cNvSpPr/>
          <p:nvPr/>
        </p:nvSpPr>
        <p:spPr>
          <a:xfrm>
            <a:off x="1612900" y="2824361"/>
            <a:ext cx="240291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La imagen digital</a:t>
            </a:r>
            <a:endParaRPr lang="en-US" sz="2000" dirty="0"/>
          </a:p>
        </p:txBody>
      </p:sp>
      <p:sp>
        <p:nvSpPr>
          <p:cNvPr id="12" name="Shape 8"/>
          <p:cNvSpPr/>
          <p:nvPr/>
        </p:nvSpPr>
        <p:spPr>
          <a:xfrm>
            <a:off x="819150" y="3440311"/>
            <a:ext cx="10553700" cy="647700"/>
          </a:xfrm>
          <a:prstGeom prst="roundRect">
            <a:avLst>
              <a:gd name="adj" fmla="val 18627"/>
            </a:avLst>
          </a:prstGeom>
          <a:solidFill>
            <a:srgbClr val="12304A"/>
          </a:solidFill>
          <a:ln w="12700">
            <a:solidFill>
              <a:srgbClr val="24506E"/>
            </a:solidFill>
            <a:prstDash val="solid"/>
          </a:ln>
        </p:spPr>
      </p:sp>
      <p:sp>
        <p:nvSpPr>
          <p:cNvPr id="13" name="Text 9"/>
          <p:cNvSpPr/>
          <p:nvPr/>
        </p:nvSpPr>
        <p:spPr>
          <a:xfrm>
            <a:off x="1054100" y="35863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3</a:t>
            </a:r>
            <a:endParaRPr lang="en-US" sz="2800" dirty="0"/>
          </a:p>
        </p:txBody>
      </p:sp>
      <p:sp>
        <p:nvSpPr>
          <p:cNvPr id="14" name="Text 10"/>
          <p:cNvSpPr/>
          <p:nvPr/>
        </p:nvSpPr>
        <p:spPr>
          <a:xfrm>
            <a:off x="1612900" y="3611761"/>
            <a:ext cx="632281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Algunas definiciones de inteligencia artificial</a:t>
            </a:r>
            <a:endParaRPr lang="en-US" sz="2000" dirty="0"/>
          </a:p>
        </p:txBody>
      </p:sp>
      <p:sp>
        <p:nvSpPr>
          <p:cNvPr id="15" name="Shape 11"/>
          <p:cNvSpPr/>
          <p:nvPr/>
        </p:nvSpPr>
        <p:spPr>
          <a:xfrm>
            <a:off x="819150" y="4227711"/>
            <a:ext cx="10553700" cy="647700"/>
          </a:xfrm>
          <a:prstGeom prst="roundRect">
            <a:avLst>
              <a:gd name="adj" fmla="val 18627"/>
            </a:avLst>
          </a:prstGeom>
          <a:solidFill>
            <a:srgbClr val="12304A"/>
          </a:solidFill>
          <a:ln w="12700">
            <a:solidFill>
              <a:srgbClr val="24506E"/>
            </a:solidFill>
            <a:prstDash val="solid"/>
          </a:ln>
        </p:spPr>
      </p:sp>
      <p:sp>
        <p:nvSpPr>
          <p:cNvPr id="16" name="Text 12"/>
          <p:cNvSpPr/>
          <p:nvPr/>
        </p:nvSpPr>
        <p:spPr>
          <a:xfrm>
            <a:off x="1054100" y="4373761"/>
            <a:ext cx="4064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4</a:t>
            </a:r>
            <a:endParaRPr lang="en-US" sz="2800" dirty="0"/>
          </a:p>
        </p:txBody>
      </p:sp>
      <p:sp>
        <p:nvSpPr>
          <p:cNvPr id="17" name="Text 13"/>
          <p:cNvSpPr/>
          <p:nvPr/>
        </p:nvSpPr>
        <p:spPr>
          <a:xfrm>
            <a:off x="1612900" y="4399161"/>
            <a:ext cx="548282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1F6F8"/>
                </a:solidFill>
                <a:latin typeface="IBM Plex Sans" pitchFamily="34" charset="0"/>
                <a:ea typeface="IBM Plex Sans" pitchFamily="34" charset="-122"/>
                <a:cs typeface="IBM Plex Sans" pitchFamily="34" charset="-120"/>
              </a:rPr>
              <a:t>Redes neuronales: neurona, capa y red</a:t>
            </a:r>
            <a:endParaRPr lang="en-US" sz="2000" dirty="0"/>
          </a:p>
        </p:txBody>
      </p:sp>
      <p:sp>
        <p:nvSpPr>
          <p:cNvPr id="18" name="Text 14"/>
          <p:cNvSpPr/>
          <p:nvPr/>
        </p:nvSpPr>
        <p:spPr>
          <a:xfrm>
            <a:off x="812800" y="5135761"/>
            <a:ext cx="10883392"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En esta sesión son las bases teóricas. El sitio funcionando se presenta en la tercera sesión.</a:t>
            </a:r>
            <a:endParaRPr lang="en-US" sz="1400" dirty="0"/>
          </a:p>
        </p:txBody>
      </p:sp>
      <p:sp>
        <p:nvSpPr>
          <p:cNvPr id="19" name="Text 15"/>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0" name="Text 16"/>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4 / 13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919361"/>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¿Para qué sirve la inteligencia artificial en la educación y la investigación?</a:t>
            </a:r>
            <a:endParaRPr lang="en-US" sz="3200" dirty="0"/>
          </a:p>
        </p:txBody>
      </p:sp>
      <p:sp>
        <p:nvSpPr>
          <p:cNvPr id="6" name="Shape 2"/>
          <p:cNvSpPr/>
          <p:nvPr/>
        </p:nvSpPr>
        <p:spPr>
          <a:xfrm>
            <a:off x="819150" y="2256631"/>
            <a:ext cx="3407767" cy="1775222"/>
          </a:xfrm>
          <a:prstGeom prst="roundRect">
            <a:avLst>
              <a:gd name="adj" fmla="val 6796"/>
            </a:avLst>
          </a:prstGeom>
          <a:solidFill>
            <a:srgbClr val="FCFDFD"/>
          </a:solidFill>
          <a:ln w="12700">
            <a:solidFill>
              <a:srgbClr val="D5E3EA"/>
            </a:solidFill>
            <a:prstDash val="solid"/>
          </a:ln>
        </p:spPr>
      </p:sp>
      <p:pic>
        <p:nvPicPr>
          <p:cNvPr id="7" name="Image 2" descr="Search">    </p:cNvPr>
          <p:cNvPicPr>
            <a:picLocks noChangeAspect="1"/>
          </p:cNvPicPr>
          <p:nvPr/>
        </p:nvPicPr>
        <p:blipFill>
          <a:blip r:embed="rId3"/>
          <a:srcRect l="0" r="0" t="0" b="0"/>
          <a:stretch/>
        </p:blipFill>
        <p:spPr>
          <a:xfrm>
            <a:off x="1054100" y="2491581"/>
            <a:ext cx="355600" cy="355600"/>
          </a:xfrm>
          <a:prstGeom prst="rect">
            <a:avLst/>
          </a:prstGeom>
        </p:spPr>
      </p:pic>
      <p:sp>
        <p:nvSpPr>
          <p:cNvPr id="8" name="Text 3"/>
          <p:cNvSpPr/>
          <p:nvPr/>
        </p:nvSpPr>
        <p:spPr>
          <a:xfrm>
            <a:off x="1054100" y="2936081"/>
            <a:ext cx="3026003"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Analizar imágenes</a:t>
            </a:r>
            <a:endParaRPr lang="en-US" sz="1800" dirty="0"/>
          </a:p>
        </p:txBody>
      </p:sp>
      <p:sp>
        <p:nvSpPr>
          <p:cNvPr id="9" name="Text 4"/>
          <p:cNvSpPr/>
          <p:nvPr/>
        </p:nvSpPr>
        <p:spPr>
          <a:xfrm>
            <a:off x="1054100" y="3299222"/>
            <a:ext cx="3026003"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Encontrar y medir lo que hay en una imagen, sin cansarse.</a:t>
            </a:r>
            <a:endParaRPr lang="en-US" sz="1400" dirty="0"/>
          </a:p>
        </p:txBody>
      </p:sp>
      <p:sp>
        <p:nvSpPr>
          <p:cNvPr id="10" name="Shape 5"/>
          <p:cNvSpPr/>
          <p:nvPr/>
        </p:nvSpPr>
        <p:spPr>
          <a:xfrm>
            <a:off x="4392017" y="2256631"/>
            <a:ext cx="3407866" cy="1775222"/>
          </a:xfrm>
          <a:prstGeom prst="roundRect">
            <a:avLst>
              <a:gd name="adj" fmla="val 6796"/>
            </a:avLst>
          </a:prstGeom>
          <a:solidFill>
            <a:srgbClr val="FCFDFD"/>
          </a:solidFill>
          <a:ln w="12700">
            <a:solidFill>
              <a:srgbClr val="D5E3EA"/>
            </a:solidFill>
            <a:prstDash val="solid"/>
          </a:ln>
        </p:spPr>
      </p:sp>
      <p:pic>
        <p:nvPicPr>
          <p:cNvPr id="11" name="Image 3" descr="Activity">    </p:cNvPr>
          <p:cNvPicPr>
            <a:picLocks noChangeAspect="1"/>
          </p:cNvPicPr>
          <p:nvPr/>
        </p:nvPicPr>
        <p:blipFill>
          <a:blip r:embed="rId4"/>
          <a:srcRect l="0" r="0" t="0" b="0"/>
          <a:stretch/>
        </p:blipFill>
        <p:spPr>
          <a:xfrm>
            <a:off x="4626967" y="2491581"/>
            <a:ext cx="355600" cy="355600"/>
          </a:xfrm>
          <a:prstGeom prst="rect">
            <a:avLst/>
          </a:prstGeom>
        </p:spPr>
      </p:pic>
      <p:sp>
        <p:nvSpPr>
          <p:cNvPr id="12" name="Text 6"/>
          <p:cNvSpPr/>
          <p:nvPr/>
        </p:nvSpPr>
        <p:spPr>
          <a:xfrm>
            <a:off x="4626967" y="2936081"/>
            <a:ext cx="302610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Microscopía</a:t>
            </a:r>
            <a:endParaRPr lang="en-US" sz="1800" dirty="0"/>
          </a:p>
        </p:txBody>
      </p:sp>
      <p:sp>
        <p:nvSpPr>
          <p:cNvPr id="13" name="Text 7"/>
          <p:cNvSpPr/>
          <p:nvPr/>
        </p:nvSpPr>
        <p:spPr>
          <a:xfrm>
            <a:off x="4626967" y="3299222"/>
            <a:ext cx="302610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Permite ver células, por ejemplo los espermatozoides.</a:t>
            </a:r>
            <a:endParaRPr lang="en-US" sz="1400" dirty="0"/>
          </a:p>
        </p:txBody>
      </p:sp>
      <p:sp>
        <p:nvSpPr>
          <p:cNvPr id="14" name="Shape 8"/>
          <p:cNvSpPr/>
          <p:nvPr/>
        </p:nvSpPr>
        <p:spPr>
          <a:xfrm>
            <a:off x="7964984" y="2256631"/>
            <a:ext cx="3407866" cy="1775222"/>
          </a:xfrm>
          <a:prstGeom prst="roundRect">
            <a:avLst>
              <a:gd name="adj" fmla="val 6796"/>
            </a:avLst>
          </a:prstGeom>
          <a:solidFill>
            <a:srgbClr val="FCFDFD"/>
          </a:solidFill>
          <a:ln w="12700">
            <a:solidFill>
              <a:srgbClr val="D5E3EA"/>
            </a:solidFill>
            <a:prstDash val="solid"/>
          </a:ln>
        </p:spPr>
      </p:sp>
      <p:pic>
        <p:nvPicPr>
          <p:cNvPr id="15" name="Image 4" descr="Chart">    </p:cNvPr>
          <p:cNvPicPr>
            <a:picLocks noChangeAspect="1"/>
          </p:cNvPicPr>
          <p:nvPr/>
        </p:nvPicPr>
        <p:blipFill>
          <a:blip r:embed="rId5"/>
          <a:srcRect l="0" r="0" t="0" b="0"/>
          <a:stretch/>
        </p:blipFill>
        <p:spPr>
          <a:xfrm>
            <a:off x="8199934" y="2491581"/>
            <a:ext cx="355600" cy="355600"/>
          </a:xfrm>
          <a:prstGeom prst="rect">
            <a:avLst/>
          </a:prstGeom>
        </p:spPr>
      </p:pic>
      <p:sp>
        <p:nvSpPr>
          <p:cNvPr id="16" name="Text 9"/>
          <p:cNvSpPr/>
          <p:nvPr/>
        </p:nvSpPr>
        <p:spPr>
          <a:xfrm>
            <a:off x="8199934" y="2936081"/>
            <a:ext cx="302610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Medir cambios</a:t>
            </a:r>
            <a:endParaRPr lang="en-US" sz="1800" dirty="0"/>
          </a:p>
        </p:txBody>
      </p:sp>
      <p:sp>
        <p:nvSpPr>
          <p:cNvPr id="17" name="Text 10"/>
          <p:cNvSpPr/>
          <p:nvPr/>
        </p:nvSpPr>
        <p:spPr>
          <a:xfrm>
            <a:off x="8199934" y="3299222"/>
            <a:ext cx="302610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Ver cómo cambian de tamaño y de forma bajo ciertas condiciones.</a:t>
            </a:r>
            <a:endParaRPr lang="en-US" sz="1400" dirty="0"/>
          </a:p>
        </p:txBody>
      </p:sp>
      <p:sp>
        <p:nvSpPr>
          <p:cNvPr id="18" name="Shape 11"/>
          <p:cNvSpPr/>
          <p:nvPr/>
        </p:nvSpPr>
        <p:spPr>
          <a:xfrm>
            <a:off x="812800" y="4292203"/>
            <a:ext cx="10566400" cy="660400"/>
          </a:xfrm>
          <a:prstGeom prst="roundRect">
            <a:avLst>
              <a:gd name="adj" fmla="val 19231"/>
            </a:avLst>
          </a:prstGeom>
          <a:solidFill>
            <a:srgbClr val="0B1F2E"/>
          </a:solidFill>
          <a:ln/>
        </p:spPr>
      </p:sp>
      <p:pic>
        <p:nvPicPr>
          <p:cNvPr id="19" name="Image 5" descr="Lightbulb">    </p:cNvPr>
          <p:cNvPicPr>
            <a:picLocks noChangeAspect="1"/>
          </p:cNvPicPr>
          <p:nvPr/>
        </p:nvPicPr>
        <p:blipFill>
          <a:blip r:embed="rId6"/>
          <a:srcRect l="0" r="0" t="0" b="0"/>
          <a:stretch/>
        </p:blipFill>
        <p:spPr>
          <a:xfrm>
            <a:off x="1041400" y="4470003"/>
            <a:ext cx="304800" cy="304800"/>
          </a:xfrm>
          <a:prstGeom prst="rect">
            <a:avLst/>
          </a:prstGeom>
        </p:spPr>
      </p:pic>
      <p:sp>
        <p:nvSpPr>
          <p:cNvPr id="20" name="Text 12"/>
          <p:cNvSpPr/>
          <p:nvPr/>
        </p:nvSpPr>
        <p:spPr>
          <a:xfrm>
            <a:off x="1473200" y="4493816"/>
            <a:ext cx="965858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En lugar de escribir reglas, se muestran ejemplos: el modelo no recibe reglas, recibe ejemplos.</a:t>
            </a:r>
            <a:endParaRPr lang="en-US" sz="1500" dirty="0"/>
          </a:p>
        </p:txBody>
      </p:sp>
      <p:sp>
        <p:nvSpPr>
          <p:cNvPr id="21" name="Text 13"/>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2" name="Text 14"/>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5 / 13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1F6F8"/>
                </a:solidFill>
                <a:latin typeface="EB Garamond" pitchFamily="18" charset="0"/>
                <a:ea typeface="EB Garamond" pitchFamily="18" charset="-122"/>
                <a:cs typeface="EB Garamond" pitchFamily="18" charset="-120"/>
              </a:rPr>
              <a:t>Microscopía de fluorescencia</a:t>
            </a:r>
            <a:endParaRPr lang="en-US" sz="3600" dirty="0"/>
          </a:p>
        </p:txBody>
      </p:sp>
      <p:pic>
        <p:nvPicPr>
          <p:cNvPr id="6" name="Image 2" descr="Dos espermatozoides brillantes, con cabeza anaranjada y cola verde, sobre un fondo oscuro">    </p:cNvPr>
          <p:cNvPicPr>
            <a:picLocks noChangeAspect="1"/>
          </p:cNvPicPr>
          <p:nvPr/>
        </p:nvPicPr>
        <p:blipFill>
          <a:blip r:embed="rId3"/>
          <a:srcRect l="0" r="0" t="0" b="0"/>
          <a:stretch/>
        </p:blipFill>
        <p:spPr>
          <a:xfrm>
            <a:off x="812800" y="1859161"/>
            <a:ext cx="4826000" cy="2540000"/>
          </a:xfrm>
          <a:prstGeom prst="rect">
            <a:avLst/>
          </a:prstGeom>
        </p:spPr>
      </p:pic>
      <p:sp>
        <p:nvSpPr>
          <p:cNvPr id="7" name="Text 2"/>
          <p:cNvSpPr/>
          <p:nvPr/>
        </p:nvSpPr>
        <p:spPr>
          <a:xfrm>
            <a:off x="812800" y="4475361"/>
            <a:ext cx="49707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Lo teñido brilla; lo demás queda oscuro.</a:t>
            </a:r>
            <a:endParaRPr lang="en-US" sz="1200" dirty="0"/>
          </a:p>
        </p:txBody>
      </p:sp>
      <p:sp>
        <p:nvSpPr>
          <p:cNvPr id="8" name="Text 3"/>
          <p:cNvSpPr/>
          <p:nvPr/>
        </p:nvSpPr>
        <p:spPr>
          <a:xfrm>
            <a:off x="5994400" y="2299891"/>
            <a:ext cx="3302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1</a:t>
            </a:r>
            <a:endParaRPr lang="en-US" sz="2800" dirty="0"/>
          </a:p>
        </p:txBody>
      </p:sp>
      <p:sp>
        <p:nvSpPr>
          <p:cNvPr id="9" name="Text 4"/>
          <p:cNvSpPr/>
          <p:nvPr/>
        </p:nvSpPr>
        <p:spPr>
          <a:xfrm>
            <a:off x="6400800" y="2349103"/>
            <a:ext cx="491513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La célula se tiñe con un colorante: un fluoróforo.</a:t>
            </a:r>
            <a:endParaRPr lang="en-US" sz="1500" dirty="0"/>
          </a:p>
        </p:txBody>
      </p:sp>
      <p:sp>
        <p:nvSpPr>
          <p:cNvPr id="10" name="Text 5"/>
          <p:cNvSpPr/>
          <p:nvPr/>
        </p:nvSpPr>
        <p:spPr>
          <a:xfrm>
            <a:off x="5994400" y="2795191"/>
            <a:ext cx="3302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2</a:t>
            </a:r>
            <a:endParaRPr lang="en-US" sz="2800" dirty="0"/>
          </a:p>
        </p:txBody>
      </p:sp>
      <p:sp>
        <p:nvSpPr>
          <p:cNvPr id="11" name="Text 6"/>
          <p:cNvSpPr/>
          <p:nvPr/>
        </p:nvSpPr>
        <p:spPr>
          <a:xfrm>
            <a:off x="6400800" y="2844403"/>
            <a:ext cx="4744641"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Absorbe luz de un color y devuelve luz de otro.</a:t>
            </a:r>
            <a:endParaRPr lang="en-US" sz="1500" dirty="0"/>
          </a:p>
        </p:txBody>
      </p:sp>
      <p:sp>
        <p:nvSpPr>
          <p:cNvPr id="12" name="Text 7"/>
          <p:cNvSpPr/>
          <p:nvPr/>
        </p:nvSpPr>
        <p:spPr>
          <a:xfrm>
            <a:off x="5994400" y="3290491"/>
            <a:ext cx="330200"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F4A259"/>
                </a:solidFill>
                <a:latin typeface="EB Garamond" pitchFamily="18" charset="0"/>
                <a:ea typeface="EB Garamond" pitchFamily="18" charset="-122"/>
                <a:cs typeface="EB Garamond" pitchFamily="18" charset="-120"/>
              </a:rPr>
              <a:t>3</a:t>
            </a:r>
            <a:endParaRPr lang="en-US" sz="2800" dirty="0"/>
          </a:p>
        </p:txBody>
      </p:sp>
      <p:sp>
        <p:nvSpPr>
          <p:cNvPr id="13" name="Text 8"/>
          <p:cNvSpPr/>
          <p:nvPr/>
        </p:nvSpPr>
        <p:spPr>
          <a:xfrm>
            <a:off x="6400800" y="3339703"/>
            <a:ext cx="3604617"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El microscopio filtra todo lo demás.</a:t>
            </a:r>
            <a:endParaRPr lang="en-US" sz="1500" dirty="0"/>
          </a:p>
        </p:txBody>
      </p:sp>
      <p:sp>
        <p:nvSpPr>
          <p:cNvPr id="14" name="Text 9"/>
          <p:cNvSpPr/>
          <p:nvPr/>
        </p:nvSpPr>
        <p:spPr>
          <a:xfrm>
            <a:off x="5994400" y="3785791"/>
            <a:ext cx="5546344"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En estas imágenes: cabezas rojas o anaranjadas, colas verde amarillento y fondo casi negro. Mucho contraste.</a:t>
            </a:r>
            <a:endParaRPr lang="en-US" sz="1300" dirty="0"/>
          </a:p>
        </p:txBody>
      </p:sp>
      <p:sp>
        <p:nvSpPr>
          <p:cNvPr id="15"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16"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6 / 13</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CASO DE ESTUDIO</a:t>
            </a:r>
            <a:endParaRPr lang="en-US" sz="1200" dirty="0"/>
          </a:p>
        </p:txBody>
      </p:sp>
      <p:sp>
        <p:nvSpPr>
          <p:cNvPr id="5"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Contar y medir espermatozoides en imágenes de microscopio</a:t>
            </a:r>
            <a:endParaRPr lang="en-US" sz="3200" dirty="0"/>
          </a:p>
        </p:txBody>
      </p:sp>
      <p:pic>
        <p:nvPicPr>
          <p:cNvPr id="6" name="Image 2" descr="Ilustración de una imagen de fluorescencia con varias cabezas brillantes y colas, algunas pegadas">    </p:cNvPr>
          <p:cNvPicPr>
            <a:picLocks noChangeAspect="1"/>
          </p:cNvPicPr>
          <p:nvPr/>
        </p:nvPicPr>
        <p:blipFill>
          <a:blip r:embed="rId3"/>
          <a:srcRect l="0" r="0" t="0" b="0"/>
          <a:stretch/>
        </p:blipFill>
        <p:spPr>
          <a:xfrm>
            <a:off x="812800" y="1777901"/>
            <a:ext cx="5715000" cy="2984500"/>
          </a:xfrm>
          <a:prstGeom prst="rect">
            <a:avLst/>
          </a:prstGeom>
        </p:spPr>
      </p:pic>
      <p:sp>
        <p:nvSpPr>
          <p:cNvPr id="7" name="Text 2"/>
          <p:cNvSpPr/>
          <p:nvPr/>
        </p:nvSpPr>
        <p:spPr>
          <a:xfrm>
            <a:off x="6832600" y="2447330"/>
            <a:ext cx="468299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0C2A3E"/>
                </a:solidFill>
                <a:latin typeface="IBM Plex Sans" pitchFamily="34" charset="0"/>
                <a:ea typeface="IBM Plex Sans" pitchFamily="34" charset="-122"/>
                <a:cs typeface="IBM Plex Sans" pitchFamily="34" charset="-120"/>
              </a:rPr>
              <a:t>¿Cuántos hay en esta imagen?</a:t>
            </a:r>
            <a:endParaRPr lang="en-US" sz="2000" dirty="0"/>
          </a:p>
        </p:txBody>
      </p:sp>
      <p:sp>
        <p:nvSpPr>
          <p:cNvPr id="8" name="Text 3"/>
          <p:cNvSpPr/>
          <p:nvPr/>
        </p:nvSpPr>
        <p:spPr>
          <a:xfrm>
            <a:off x="6832600" y="2879130"/>
            <a:ext cx="468299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Lo primero es contarlos con la vista, uno por uno.</a:t>
            </a:r>
            <a:endParaRPr lang="en-US" sz="1400" dirty="0"/>
          </a:p>
        </p:txBody>
      </p:sp>
      <p:sp>
        <p:nvSpPr>
          <p:cNvPr id="9" name="Text 4"/>
          <p:cNvSpPr/>
          <p:nvPr/>
        </p:nvSpPr>
        <p:spPr>
          <a:xfrm>
            <a:off x="6832600" y="3254970"/>
            <a:ext cx="468299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Y si además hay que medir cada uno, ya no basta con mirar.</a:t>
            </a:r>
            <a:endParaRPr lang="en-US" sz="1400" dirty="0"/>
          </a:p>
        </p:txBody>
      </p:sp>
      <p:sp>
        <p:nvSpPr>
          <p:cNvPr id="10" name="Text 5"/>
          <p:cNvSpPr/>
          <p:nvPr/>
        </p:nvSpPr>
        <p:spPr>
          <a:xfrm>
            <a:off x="6832600" y="3879652"/>
            <a:ext cx="46829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Ilustración esquemática.</a:t>
            </a:r>
            <a:endParaRPr lang="en-US" sz="1200" dirty="0"/>
          </a:p>
        </p:txBody>
      </p:sp>
      <p:sp>
        <p:nvSpPr>
          <p:cNvPr id="11" name="Text 6"/>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12" name="Text 7"/>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7 / 13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Qué se quiere medir</a:t>
            </a:r>
            <a:endParaRPr lang="en-US" sz="3600" dirty="0"/>
          </a:p>
        </p:txBody>
      </p:sp>
      <p:sp>
        <p:nvSpPr>
          <p:cNvPr id="6" name="Shape 2"/>
          <p:cNvSpPr/>
          <p:nvPr/>
        </p:nvSpPr>
        <p:spPr>
          <a:xfrm>
            <a:off x="819150" y="1865511"/>
            <a:ext cx="2514600" cy="2074863"/>
          </a:xfrm>
          <a:prstGeom prst="roundRect">
            <a:avLst>
              <a:gd name="adj" fmla="val 5815"/>
            </a:avLst>
          </a:prstGeom>
          <a:solidFill>
            <a:srgbClr val="FCFDFD"/>
          </a:solidFill>
          <a:ln w="12700">
            <a:solidFill>
              <a:srgbClr val="D5E3EA"/>
            </a:solidFill>
            <a:prstDash val="solid"/>
          </a:ln>
        </p:spPr>
      </p:sp>
      <p:sp>
        <p:nvSpPr>
          <p:cNvPr id="7" name="Text 3"/>
          <p:cNvSpPr/>
          <p:nvPr/>
        </p:nvSpPr>
        <p:spPr>
          <a:xfrm>
            <a:off x="10287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1</a:t>
            </a:r>
            <a:endParaRPr lang="en-US" sz="3600" dirty="0"/>
          </a:p>
        </p:txBody>
      </p:sp>
      <p:sp>
        <p:nvSpPr>
          <p:cNvPr id="8" name="Text 4"/>
          <p:cNvSpPr/>
          <p:nvPr/>
        </p:nvSpPr>
        <p:spPr>
          <a:xfrm>
            <a:off x="1028700" y="2621161"/>
            <a:ext cx="215836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Conteo</a:t>
            </a:r>
            <a:endParaRPr lang="en-US" sz="1800" dirty="0"/>
          </a:p>
        </p:txBody>
      </p:sp>
      <p:sp>
        <p:nvSpPr>
          <p:cNvPr id="9" name="Text 5"/>
          <p:cNvSpPr/>
          <p:nvPr/>
        </p:nvSpPr>
        <p:spPr>
          <a:xfrm>
            <a:off x="1028700" y="2984302"/>
            <a:ext cx="2158365"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Cuántas cabezas hay. Es el número que más se usa para comparar muestras.</a:t>
            </a:r>
            <a:endParaRPr lang="en-US" sz="1400" dirty="0"/>
          </a:p>
        </p:txBody>
      </p:sp>
      <p:sp>
        <p:nvSpPr>
          <p:cNvPr id="10" name="Shape 6"/>
          <p:cNvSpPr/>
          <p:nvPr/>
        </p:nvSpPr>
        <p:spPr>
          <a:xfrm>
            <a:off x="3498850" y="1865511"/>
            <a:ext cx="2514600" cy="2074863"/>
          </a:xfrm>
          <a:prstGeom prst="roundRect">
            <a:avLst>
              <a:gd name="adj" fmla="val 5815"/>
            </a:avLst>
          </a:prstGeom>
          <a:solidFill>
            <a:srgbClr val="FCFDFD"/>
          </a:solidFill>
          <a:ln w="12700">
            <a:solidFill>
              <a:srgbClr val="D5E3EA"/>
            </a:solidFill>
            <a:prstDash val="solid"/>
          </a:ln>
        </p:spPr>
      </p:sp>
      <p:sp>
        <p:nvSpPr>
          <p:cNvPr id="11" name="Text 7"/>
          <p:cNvSpPr/>
          <p:nvPr/>
        </p:nvSpPr>
        <p:spPr>
          <a:xfrm>
            <a:off x="37084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2</a:t>
            </a:r>
            <a:endParaRPr lang="en-US" sz="3600" dirty="0"/>
          </a:p>
        </p:txBody>
      </p:sp>
      <p:sp>
        <p:nvSpPr>
          <p:cNvPr id="12" name="Text 8"/>
          <p:cNvSpPr/>
          <p:nvPr/>
        </p:nvSpPr>
        <p:spPr>
          <a:xfrm>
            <a:off x="3708400" y="2621161"/>
            <a:ext cx="215836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Tamaño</a:t>
            </a:r>
            <a:endParaRPr lang="en-US" sz="1800" dirty="0"/>
          </a:p>
        </p:txBody>
      </p:sp>
      <p:sp>
        <p:nvSpPr>
          <p:cNvPr id="13" name="Text 9"/>
          <p:cNvSpPr/>
          <p:nvPr/>
        </p:nvSpPr>
        <p:spPr>
          <a:xfrm>
            <a:off x="3708400" y="2984302"/>
            <a:ext cx="2158365"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De cada cabeza: el área y el largo, en micras.</a:t>
            </a:r>
            <a:endParaRPr lang="en-US" sz="1400" dirty="0"/>
          </a:p>
        </p:txBody>
      </p:sp>
      <p:sp>
        <p:nvSpPr>
          <p:cNvPr id="14" name="Shape 10"/>
          <p:cNvSpPr/>
          <p:nvPr/>
        </p:nvSpPr>
        <p:spPr>
          <a:xfrm>
            <a:off x="6178550" y="1865511"/>
            <a:ext cx="2514600" cy="2074863"/>
          </a:xfrm>
          <a:prstGeom prst="roundRect">
            <a:avLst>
              <a:gd name="adj" fmla="val 5815"/>
            </a:avLst>
          </a:prstGeom>
          <a:solidFill>
            <a:srgbClr val="FCFDFD"/>
          </a:solidFill>
          <a:ln w="12700">
            <a:solidFill>
              <a:srgbClr val="D5E3EA"/>
            </a:solidFill>
            <a:prstDash val="solid"/>
          </a:ln>
        </p:spPr>
      </p:sp>
      <p:sp>
        <p:nvSpPr>
          <p:cNvPr id="15" name="Text 11"/>
          <p:cNvSpPr/>
          <p:nvPr/>
        </p:nvSpPr>
        <p:spPr>
          <a:xfrm>
            <a:off x="63881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3</a:t>
            </a:r>
            <a:endParaRPr lang="en-US" sz="3600" dirty="0"/>
          </a:p>
        </p:txBody>
      </p:sp>
      <p:sp>
        <p:nvSpPr>
          <p:cNvPr id="16" name="Text 12"/>
          <p:cNvSpPr/>
          <p:nvPr/>
        </p:nvSpPr>
        <p:spPr>
          <a:xfrm>
            <a:off x="6388100" y="2621161"/>
            <a:ext cx="215836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Distribución</a:t>
            </a:r>
            <a:endParaRPr lang="en-US" sz="1800" dirty="0"/>
          </a:p>
        </p:txBody>
      </p:sp>
      <p:sp>
        <p:nvSpPr>
          <p:cNvPr id="17" name="Text 13"/>
          <p:cNvSpPr/>
          <p:nvPr/>
        </p:nvSpPr>
        <p:spPr>
          <a:xfrm>
            <a:off x="6388100" y="2984302"/>
            <a:ext cx="2158365"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Cómo se reparten los tamaños: la media y la desviación estándar.</a:t>
            </a:r>
            <a:endParaRPr lang="en-US" sz="1400" dirty="0"/>
          </a:p>
        </p:txBody>
      </p:sp>
      <p:sp>
        <p:nvSpPr>
          <p:cNvPr id="18" name="Shape 14"/>
          <p:cNvSpPr/>
          <p:nvPr/>
        </p:nvSpPr>
        <p:spPr>
          <a:xfrm>
            <a:off x="8858250" y="1865511"/>
            <a:ext cx="2514600" cy="2074863"/>
          </a:xfrm>
          <a:prstGeom prst="roundRect">
            <a:avLst>
              <a:gd name="adj" fmla="val 5815"/>
            </a:avLst>
          </a:prstGeom>
          <a:solidFill>
            <a:srgbClr val="FCFDFD"/>
          </a:solidFill>
          <a:ln w="12700">
            <a:solidFill>
              <a:srgbClr val="D5E3EA"/>
            </a:solidFill>
            <a:prstDash val="solid"/>
          </a:ln>
        </p:spPr>
      </p:sp>
      <p:sp>
        <p:nvSpPr>
          <p:cNvPr id="19" name="Text 15"/>
          <p:cNvSpPr/>
          <p:nvPr/>
        </p:nvSpPr>
        <p:spPr>
          <a:xfrm>
            <a:off x="9067800" y="2075061"/>
            <a:ext cx="2158365" cy="482600"/>
          </a:xfrm>
          <a:prstGeom prst="rect">
            <a:avLst/>
          </a:prstGeom>
          <a:noFill/>
          <a:ln/>
        </p:spPr>
        <p:txBody>
          <a:bodyPr wrap="square" lIns="0" tIns="0" rIns="0" bIns="0" rtlCol="0" anchor="t">
            <a:normAutofit/>
          </a:bodyPr>
          <a:lstStyle/>
          <a:p>
            <a:pPr algn="l" indent="0" marL="0">
              <a:lnSpc>
                <a:spcPts val="3600"/>
              </a:lnSpc>
              <a:buNone/>
            </a:pPr>
            <a:r>
              <a:rPr lang="en-US" sz="3600" b="1" dirty="0">
                <a:solidFill>
                  <a:srgbClr val="A3480F"/>
                </a:solidFill>
                <a:latin typeface="EB Garamond" pitchFamily="18" charset="0"/>
                <a:ea typeface="EB Garamond" pitchFamily="18" charset="-122"/>
                <a:cs typeface="EB Garamond" pitchFamily="18" charset="-120"/>
              </a:rPr>
              <a:t>4</a:t>
            </a:r>
            <a:endParaRPr lang="en-US" sz="3600" dirty="0"/>
          </a:p>
        </p:txBody>
      </p:sp>
      <p:sp>
        <p:nvSpPr>
          <p:cNvPr id="20" name="Text 16"/>
          <p:cNvSpPr/>
          <p:nvPr/>
        </p:nvSpPr>
        <p:spPr>
          <a:xfrm>
            <a:off x="9067800" y="2621161"/>
            <a:ext cx="2158365"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Color</a:t>
            </a:r>
            <a:endParaRPr lang="en-US" sz="1800" dirty="0"/>
          </a:p>
        </p:txBody>
      </p:sp>
      <p:sp>
        <p:nvSpPr>
          <p:cNvPr id="21" name="Text 17"/>
          <p:cNvSpPr/>
          <p:nvPr/>
        </p:nvSpPr>
        <p:spPr>
          <a:xfrm>
            <a:off x="9067800" y="2984302"/>
            <a:ext cx="2158365"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De rojo a amarillo, en una escala continua de diez grados.</a:t>
            </a:r>
            <a:endParaRPr lang="en-US" sz="1400" dirty="0"/>
          </a:p>
        </p:txBody>
      </p:sp>
      <p:sp>
        <p:nvSpPr>
          <p:cNvPr id="22" name="Shape 18"/>
          <p:cNvSpPr/>
          <p:nvPr/>
        </p:nvSpPr>
        <p:spPr>
          <a:xfrm>
            <a:off x="812800" y="4200723"/>
            <a:ext cx="10566400" cy="660400"/>
          </a:xfrm>
          <a:prstGeom prst="roundRect">
            <a:avLst>
              <a:gd name="adj" fmla="val 19231"/>
            </a:avLst>
          </a:prstGeom>
          <a:solidFill>
            <a:srgbClr val="0B1F2E"/>
          </a:solidFill>
          <a:ln/>
        </p:spPr>
      </p:sp>
      <p:pic>
        <p:nvPicPr>
          <p:cNvPr id="23" name="Image 2" descr="Database">    </p:cNvPr>
          <p:cNvPicPr>
            <a:picLocks noChangeAspect="1"/>
          </p:cNvPicPr>
          <p:nvPr/>
        </p:nvPicPr>
        <p:blipFill>
          <a:blip r:embed="rId3"/>
          <a:srcRect l="0" r="0" t="0" b="0"/>
          <a:stretch/>
        </p:blipFill>
        <p:spPr>
          <a:xfrm>
            <a:off x="1041400" y="4378523"/>
            <a:ext cx="304800" cy="304800"/>
          </a:xfrm>
          <a:prstGeom prst="rect">
            <a:avLst/>
          </a:prstGeom>
        </p:spPr>
      </p:pic>
      <p:sp>
        <p:nvSpPr>
          <p:cNvPr id="24" name="Text 19"/>
          <p:cNvSpPr/>
          <p:nvPr/>
        </p:nvSpPr>
        <p:spPr>
          <a:xfrm>
            <a:off x="1473200" y="4402336"/>
            <a:ext cx="9906000"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Todo se exporta: un archivo CSV para trabajar en una hoja de cálculo y un informe en PDF para compartir.</a:t>
            </a:r>
            <a:endParaRPr lang="en-US" sz="1500" dirty="0"/>
          </a:p>
        </p:txBody>
      </p:sp>
      <p:sp>
        <p:nvSpPr>
          <p:cNvPr id="25" name="Text 2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6"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8 / 13</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Media y desviación estándar, con un ejemplo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25500" y="1816001"/>
          <a:ext cx="10553700" cy="1317724"/>
        </p:xfrm>
        <a:graphic>
          <a:graphicData uri="http://schemas.openxmlformats.org/drawingml/2006/table">
            <a:tbl>
              <a:tblPr/>
              <a:tblGrid>
                <a:gridCol w="1477518"/>
                <a:gridCol w="4221480"/>
                <a:gridCol w="1688592"/>
                <a:gridCol w="3166110"/>
              </a:tblGrid>
              <a:tr h="439241">
                <a:tc>
                  <a:txBody>
                    <a:bodyPr/>
                    <a:lstStyle/>
                    <a:p>
                      <a:pPr indent="0" marL="0">
                        <a:lnSpc>
                          <a:spcPts val="2240"/>
                        </a:lnSpc>
                        <a:buNone/>
                      </a:pPr>
                      <a:r>
                        <a:rPr lang="en-US" sz="1600" b="1" dirty="0">
                          <a:solidFill>
                            <a:srgbClr val="0C2A3E"/>
                          </a:solidFill>
                          <a:latin typeface="IBM Plex Sans" pitchFamily="34" charset="0"/>
                          <a:ea typeface="IBM Plex Sans" pitchFamily="34" charset="-122"/>
                          <a:cs typeface="IBM Plex Sans" pitchFamily="34" charset="-120"/>
                        </a:rPr>
                        <a:t>Grupo</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B5B8B9"/>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B5B8B9"/>
                      </a:solidFill>
                      <a:prstDash val="solid"/>
                      <a:round/>
                      <a:headEnd type="none" w="med" len="med"/>
                      <a:tailEnd type="none" w="med" len="med"/>
                    </a:lnB>
                    <a:solidFill>
                      <a:srgbClr val="E2E6E8"/>
                    </a:solidFill>
                  </a:tcPr>
                </a:tc>
                <a:tc>
                  <a:txBody>
                    <a:bodyPr/>
                    <a:lstStyle/>
                    <a:p>
                      <a:pPr indent="0" marL="0">
                        <a:lnSpc>
                          <a:spcPts val="2240"/>
                        </a:lnSpc>
                        <a:buNone/>
                      </a:pPr>
                      <a:r>
                        <a:rPr lang="en-US" sz="1600" b="1" dirty="0">
                          <a:solidFill>
                            <a:srgbClr val="0C2A3E"/>
                          </a:solidFill>
                          <a:latin typeface="IBM Plex Sans" pitchFamily="34" charset="0"/>
                          <a:ea typeface="IBM Plex Sans" pitchFamily="34" charset="-122"/>
                          <a:cs typeface="IBM Plex Sans" pitchFamily="34" charset="-120"/>
                        </a:rPr>
                        <a:t>Áreas de cinco cabezas (µm²)</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8B9"/>
                      </a:solidFill>
                      <a:prstDash val="solid"/>
                      <a:round/>
                      <a:headEnd type="none" w="med" len="med"/>
                      <a:tailEnd type="none" w="med" len="med"/>
                    </a:lnL>
                    <a:lnR w="12700" cap="flat" cmpd="sng" algn="ctr">
                      <a:solidFill>
                        <a:srgbClr val="B5B8B9"/>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B5B8B9"/>
                      </a:solidFill>
                      <a:prstDash val="solid"/>
                      <a:round/>
                      <a:headEnd type="none" w="med" len="med"/>
                      <a:tailEnd type="none" w="med" len="med"/>
                    </a:lnB>
                    <a:solidFill>
                      <a:srgbClr val="E2E6E8"/>
                    </a:solidFill>
                  </a:tcPr>
                </a:tc>
                <a:tc>
                  <a:txBody>
                    <a:bodyPr/>
                    <a:lstStyle/>
                    <a:p>
                      <a:pPr indent="0" marL="0">
                        <a:lnSpc>
                          <a:spcPts val="2240"/>
                        </a:lnSpc>
                        <a:buNone/>
                      </a:pPr>
                      <a:r>
                        <a:rPr lang="en-US" sz="1600" b="1" dirty="0">
                          <a:solidFill>
                            <a:srgbClr val="0C2A3E"/>
                          </a:solidFill>
                          <a:latin typeface="IBM Plex Sans" pitchFamily="34" charset="0"/>
                          <a:ea typeface="IBM Plex Sans" pitchFamily="34" charset="-122"/>
                          <a:cs typeface="IBM Plex Sans" pitchFamily="34" charset="-120"/>
                        </a:rPr>
                        <a:t>Media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8B9"/>
                      </a:solidFill>
                      <a:prstDash val="solid"/>
                      <a:round/>
                      <a:headEnd type="none" w="med" len="med"/>
                      <a:tailEnd type="none" w="med" len="med"/>
                    </a:lnL>
                    <a:lnR w="12700" cap="flat" cmpd="sng" algn="ctr">
                      <a:solidFill>
                        <a:srgbClr val="B5B8B9"/>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B5B8B9"/>
                      </a:solidFill>
                      <a:prstDash val="solid"/>
                      <a:round/>
                      <a:headEnd type="none" w="med" len="med"/>
                      <a:tailEnd type="none" w="med" len="med"/>
                    </a:lnB>
                    <a:solidFill>
                      <a:srgbClr val="E2E6E8"/>
                    </a:solidFill>
                  </a:tcPr>
                </a:tc>
                <a:tc>
                  <a:txBody>
                    <a:bodyPr/>
                    <a:lstStyle/>
                    <a:p>
                      <a:pPr indent="0" marL="0">
                        <a:lnSpc>
                          <a:spcPts val="2240"/>
                        </a:lnSpc>
                        <a:buNone/>
                      </a:pPr>
                      <a:r>
                        <a:rPr lang="en-US" sz="1600" b="1" dirty="0">
                          <a:solidFill>
                            <a:srgbClr val="0C2A3E"/>
                          </a:solidFill>
                          <a:latin typeface="IBM Plex Sans" pitchFamily="34" charset="0"/>
                          <a:ea typeface="IBM Plex Sans" pitchFamily="34" charset="-122"/>
                          <a:cs typeface="IBM Plex Sans" pitchFamily="34" charset="-120"/>
                        </a:rPr>
                        <a:t>Desviación estándar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5B8B9"/>
                      </a:solidFill>
                      <a:prstDash val="solid"/>
                      <a:round/>
                      <a:headEnd type="none" w="med" len="med"/>
                      <a:tailEnd type="none" w="med" len="med"/>
                    </a:lnL>
                    <a:lnR w="12700" cap="flat" cmpd="sng" algn="ctr">
                      <a:solidFill>
                        <a:srgbClr val="B5B8B9"/>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B5B8B9"/>
                      </a:solidFill>
                      <a:prstDash val="solid"/>
                      <a:round/>
                      <a:headEnd type="none" w="med" len="med"/>
                      <a:tailEnd type="none" w="med" len="med"/>
                    </a:lnB>
                    <a:solidFill>
                      <a:srgbClr val="E2E6E8"/>
                    </a:solidFill>
                  </a:tcPr>
                </a:tc>
              </a:tr>
              <a:tr h="439241">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A</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B5B8B9"/>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2 · 2.2 · 1.8 · 2.4 · 1.6</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B5B8B9"/>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B5B8B9"/>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0.3</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B5B8B9"/>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r>
              <a:tr h="439241">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B</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1.9 · 2 · 2 · 2.1 · 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2</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c>
                  <a:txBody>
                    <a:bodyPr/>
                    <a:lstStyle/>
                    <a:p>
                      <a:pPr indent="0" marL="0">
                        <a:lnSpc>
                          <a:spcPts val="2240"/>
                        </a:lnSpc>
                        <a:buNone/>
                      </a:pPr>
                      <a:r>
                        <a:rPr lang="en-US" sz="1600" dirty="0">
                          <a:solidFill>
                            <a:srgbClr val="0C2A3E"/>
                          </a:solidFill>
                          <a:latin typeface="IBM Plex Sans" pitchFamily="34" charset="0"/>
                          <a:ea typeface="IBM Plex Sans" pitchFamily="34" charset="-122"/>
                          <a:cs typeface="IBM Plex Sans" pitchFamily="34" charset="-120"/>
                        </a:rPr>
                        <a:t>0.07</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3C6C7"/>
                      </a:solidFill>
                      <a:prstDash val="solid"/>
                      <a:round/>
                      <a:headEnd type="none" w="med" len="med"/>
                      <a:tailEnd type="none" w="med" len="med"/>
                    </a:lnL>
                    <a:lnR w="12700" cap="flat" cmpd="sng" algn="ctr">
                      <a:solidFill>
                        <a:srgbClr val="C3C6C7"/>
                      </a:solidFill>
                      <a:prstDash val="solid"/>
                      <a:round/>
                      <a:headEnd type="none" w="med" len="med"/>
                      <a:tailEnd type="none" w="med" len="med"/>
                    </a:lnR>
                    <a:lnT w="12700" cap="flat" cmpd="sng" algn="ctr">
                      <a:solidFill>
                        <a:srgbClr val="C3C6C7"/>
                      </a:solidFill>
                      <a:prstDash val="solid"/>
                      <a:round/>
                      <a:headEnd type="none" w="med" len="med"/>
                      <a:tailEnd type="none" w="med" len="med"/>
                    </a:lnT>
                    <a:lnB w="12700" cap="flat" cmpd="sng" algn="ctr">
                      <a:solidFill>
                        <a:srgbClr val="C3C6C7"/>
                      </a:solidFill>
                      <a:prstDash val="solid"/>
                      <a:round/>
                      <a:headEnd type="none" w="med" len="med"/>
                      <a:tailEnd type="none" w="med" len="med"/>
                    </a:lnB>
                  </a:tcPr>
                </a:tc>
              </a:tr>
            </a:tbl>
          </a:graphicData>
        </a:graphic>
      </p:graphicFrame>
      <p:sp>
        <p:nvSpPr>
          <p:cNvPr id="7" name="Shape 2"/>
          <p:cNvSpPr/>
          <p:nvPr/>
        </p:nvSpPr>
        <p:spPr>
          <a:xfrm>
            <a:off x="819150" y="3394075"/>
            <a:ext cx="5194300" cy="1198662"/>
          </a:xfrm>
          <a:prstGeom prst="roundRect">
            <a:avLst>
              <a:gd name="adj" fmla="val 10065"/>
            </a:avLst>
          </a:prstGeom>
          <a:solidFill>
            <a:srgbClr val="FCFDFD"/>
          </a:solidFill>
          <a:ln w="12700">
            <a:solidFill>
              <a:srgbClr val="D5E3EA"/>
            </a:solidFill>
            <a:prstDash val="solid"/>
          </a:ln>
        </p:spPr>
      </p:sp>
      <p:sp>
        <p:nvSpPr>
          <p:cNvPr id="8" name="Text 3"/>
          <p:cNvSpPr/>
          <p:nvPr/>
        </p:nvSpPr>
        <p:spPr>
          <a:xfrm>
            <a:off x="1016000" y="3590925"/>
            <a:ext cx="494461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Media</a:t>
            </a:r>
            <a:endParaRPr lang="en-US" sz="1600" dirty="0"/>
          </a:p>
        </p:txBody>
      </p:sp>
      <p:sp>
        <p:nvSpPr>
          <p:cNvPr id="9" name="Text 4"/>
          <p:cNvSpPr/>
          <p:nvPr/>
        </p:nvSpPr>
        <p:spPr>
          <a:xfrm>
            <a:off x="1016000" y="3898205"/>
            <a:ext cx="4944618" cy="52308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El valor típico: se suman los datos y se divide entre cuántos son.</a:t>
            </a:r>
            <a:endParaRPr lang="en-US" sz="1400" dirty="0"/>
          </a:p>
        </p:txBody>
      </p:sp>
      <p:sp>
        <p:nvSpPr>
          <p:cNvPr id="10" name="Shape 5"/>
          <p:cNvSpPr/>
          <p:nvPr/>
        </p:nvSpPr>
        <p:spPr>
          <a:xfrm>
            <a:off x="6178550" y="3394075"/>
            <a:ext cx="5194300" cy="1198662"/>
          </a:xfrm>
          <a:prstGeom prst="roundRect">
            <a:avLst>
              <a:gd name="adj" fmla="val 10065"/>
            </a:avLst>
          </a:prstGeom>
          <a:solidFill>
            <a:srgbClr val="FCFDFD"/>
          </a:solidFill>
          <a:ln w="12700">
            <a:solidFill>
              <a:srgbClr val="D5E3EA"/>
            </a:solidFill>
            <a:prstDash val="solid"/>
          </a:ln>
        </p:spPr>
      </p:sp>
      <p:sp>
        <p:nvSpPr>
          <p:cNvPr id="11" name="Text 6"/>
          <p:cNvSpPr/>
          <p:nvPr/>
        </p:nvSpPr>
        <p:spPr>
          <a:xfrm>
            <a:off x="6375400" y="3590925"/>
            <a:ext cx="494461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Desviación estándar</a:t>
            </a:r>
            <a:endParaRPr lang="en-US" sz="1600" dirty="0"/>
          </a:p>
        </p:txBody>
      </p:sp>
      <p:sp>
        <p:nvSpPr>
          <p:cNvPr id="12" name="Text 7"/>
          <p:cNvSpPr/>
          <p:nvPr/>
        </p:nvSpPr>
        <p:spPr>
          <a:xfrm>
            <a:off x="6375400" y="3898205"/>
            <a:ext cx="4944618"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Qué tanto se alejan los datos del valor típico.</a:t>
            </a:r>
            <a:endParaRPr lang="en-US" sz="1400" dirty="0"/>
          </a:p>
        </p:txBody>
      </p:sp>
      <p:sp>
        <p:nvSpPr>
          <p:cNvPr id="13" name="Shape 8"/>
          <p:cNvSpPr/>
          <p:nvPr/>
        </p:nvSpPr>
        <p:spPr>
          <a:xfrm>
            <a:off x="812800" y="4853087"/>
            <a:ext cx="10566400" cy="635000"/>
          </a:xfrm>
          <a:prstGeom prst="roundRect">
            <a:avLst>
              <a:gd name="adj" fmla="val 20000"/>
            </a:avLst>
          </a:prstGeom>
          <a:solidFill>
            <a:srgbClr val="0B1F2E"/>
          </a:solidFill>
          <a:ln/>
        </p:spPr>
      </p:sp>
      <p:pic>
        <p:nvPicPr>
          <p:cNvPr id="14" name="Image 2" descr="Warning">    </p:cNvPr>
          <p:cNvPicPr>
            <a:picLocks noChangeAspect="1"/>
          </p:cNvPicPr>
          <p:nvPr/>
        </p:nvPicPr>
        <p:blipFill>
          <a:blip r:embed="rId3"/>
          <a:srcRect l="0" r="0" t="0" b="0"/>
          <a:stretch/>
        </p:blipFill>
        <p:spPr>
          <a:xfrm>
            <a:off x="1041400" y="5018187"/>
            <a:ext cx="304800" cy="304800"/>
          </a:xfrm>
          <a:prstGeom prst="rect">
            <a:avLst/>
          </a:prstGeom>
        </p:spPr>
      </p:pic>
      <p:sp>
        <p:nvSpPr>
          <p:cNvPr id="15" name="Text 9"/>
          <p:cNvSpPr/>
          <p:nvPr/>
        </p:nvSpPr>
        <p:spPr>
          <a:xfrm>
            <a:off x="1473200" y="5041999"/>
            <a:ext cx="8115181"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Misma media, grupos muy distintos. Solo con la media no nos daríamos cuenta.</a:t>
            </a:r>
            <a:endParaRPr lang="en-US" sz="1500" dirty="0"/>
          </a:p>
        </p:txBody>
      </p:sp>
      <p:sp>
        <p:nvSpPr>
          <p:cNvPr id="16" name="Text 1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17" name="Text 1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9 / 13</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4723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0C2A3E"/>
                </a:solidFill>
                <a:latin typeface="EB Garamond" pitchFamily="18" charset="0"/>
                <a:ea typeface="EB Garamond" pitchFamily="18" charset="-122"/>
                <a:cs typeface="EB Garamond" pitchFamily="18" charset="-120"/>
              </a:rPr>
              <a:t>Para qué sirven estas medidas en una investigación</a:t>
            </a:r>
            <a:endParaRPr lang="en-US" sz="3200" dirty="0"/>
          </a:p>
        </p:txBody>
      </p:sp>
      <p:sp>
        <p:nvSpPr>
          <p:cNvPr id="6" name="Shape 2"/>
          <p:cNvSpPr/>
          <p:nvPr/>
        </p:nvSpPr>
        <p:spPr>
          <a:xfrm>
            <a:off x="819150" y="1809651"/>
            <a:ext cx="2514600" cy="1838722"/>
          </a:xfrm>
          <a:prstGeom prst="roundRect">
            <a:avLst>
              <a:gd name="adj" fmla="val 6562"/>
            </a:avLst>
          </a:prstGeom>
          <a:solidFill>
            <a:srgbClr val="FCFDFD"/>
          </a:solidFill>
          <a:ln w="12700">
            <a:solidFill>
              <a:srgbClr val="D5E3EA"/>
            </a:solidFill>
            <a:prstDash val="solid"/>
          </a:ln>
        </p:spPr>
      </p:sp>
      <p:sp>
        <p:nvSpPr>
          <p:cNvPr id="7" name="Text 3"/>
          <p:cNvSpPr/>
          <p:nvPr/>
        </p:nvSpPr>
        <p:spPr>
          <a:xfrm>
            <a:off x="1016000" y="2006501"/>
            <a:ext cx="218452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3480F"/>
                </a:solidFill>
                <a:latin typeface="EB Garamond" pitchFamily="18" charset="0"/>
                <a:ea typeface="EB Garamond" pitchFamily="18" charset="-122"/>
                <a:cs typeface="EB Garamond" pitchFamily="18" charset="-120"/>
              </a:rPr>
              <a:t>1</a:t>
            </a:r>
            <a:endParaRPr lang="en-US" sz="2800" dirty="0"/>
          </a:p>
        </p:txBody>
      </p:sp>
      <p:sp>
        <p:nvSpPr>
          <p:cNvPr id="8" name="Text 4"/>
          <p:cNvSpPr/>
          <p:nvPr/>
        </p:nvSpPr>
        <p:spPr>
          <a:xfrm>
            <a:off x="1016000" y="2438301"/>
            <a:ext cx="2311400"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Comparar condiciones</a:t>
            </a:r>
            <a:endParaRPr lang="en-US" sz="1600" dirty="0"/>
          </a:p>
        </p:txBody>
      </p:sp>
      <p:sp>
        <p:nvSpPr>
          <p:cNvPr id="9" name="Text 5"/>
          <p:cNvSpPr/>
          <p:nvPr/>
        </p:nvSpPr>
        <p:spPr>
          <a:xfrm>
            <a:off x="1016000" y="2758281"/>
            <a:ext cx="2184527"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Una muestra sin tratamiento y otra con una condición distinta.</a:t>
            </a:r>
            <a:endParaRPr lang="en-US" sz="1300" dirty="0"/>
          </a:p>
        </p:txBody>
      </p:sp>
      <p:sp>
        <p:nvSpPr>
          <p:cNvPr id="10" name="Shape 6"/>
          <p:cNvSpPr/>
          <p:nvPr/>
        </p:nvSpPr>
        <p:spPr>
          <a:xfrm>
            <a:off x="3498850" y="1809651"/>
            <a:ext cx="2514600" cy="1838722"/>
          </a:xfrm>
          <a:prstGeom prst="roundRect">
            <a:avLst>
              <a:gd name="adj" fmla="val 6562"/>
            </a:avLst>
          </a:prstGeom>
          <a:solidFill>
            <a:srgbClr val="FCFDFD"/>
          </a:solidFill>
          <a:ln w="12700">
            <a:solidFill>
              <a:srgbClr val="D5E3EA"/>
            </a:solidFill>
            <a:prstDash val="solid"/>
          </a:ln>
        </p:spPr>
      </p:sp>
      <p:sp>
        <p:nvSpPr>
          <p:cNvPr id="11" name="Text 7"/>
          <p:cNvSpPr/>
          <p:nvPr/>
        </p:nvSpPr>
        <p:spPr>
          <a:xfrm>
            <a:off x="3695700" y="2006501"/>
            <a:ext cx="218452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3480F"/>
                </a:solidFill>
                <a:latin typeface="EB Garamond" pitchFamily="18" charset="0"/>
                <a:ea typeface="EB Garamond" pitchFamily="18" charset="-122"/>
                <a:cs typeface="EB Garamond" pitchFamily="18" charset="-120"/>
              </a:rPr>
              <a:t>2</a:t>
            </a:r>
            <a:endParaRPr lang="en-US" sz="2800" dirty="0"/>
          </a:p>
        </p:txBody>
      </p:sp>
      <p:sp>
        <p:nvSpPr>
          <p:cNvPr id="12" name="Text 8"/>
          <p:cNvSpPr/>
          <p:nvPr/>
        </p:nvSpPr>
        <p:spPr>
          <a:xfrm>
            <a:off x="3695700" y="2438301"/>
            <a:ext cx="21845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Repetir</a:t>
            </a:r>
            <a:endParaRPr lang="en-US" sz="1600" dirty="0"/>
          </a:p>
        </p:txBody>
      </p:sp>
      <p:sp>
        <p:nvSpPr>
          <p:cNvPr id="13" name="Text 9"/>
          <p:cNvSpPr/>
          <p:nvPr/>
        </p:nvSpPr>
        <p:spPr>
          <a:xfrm>
            <a:off x="3695700" y="2758281"/>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Varias imágenes y varias muestras por condición.</a:t>
            </a:r>
            <a:endParaRPr lang="en-US" sz="1300" dirty="0"/>
          </a:p>
        </p:txBody>
      </p:sp>
      <p:sp>
        <p:nvSpPr>
          <p:cNvPr id="14" name="Shape 10"/>
          <p:cNvSpPr/>
          <p:nvPr/>
        </p:nvSpPr>
        <p:spPr>
          <a:xfrm>
            <a:off x="6178550" y="1809651"/>
            <a:ext cx="2514600" cy="1838722"/>
          </a:xfrm>
          <a:prstGeom prst="roundRect">
            <a:avLst>
              <a:gd name="adj" fmla="val 6562"/>
            </a:avLst>
          </a:prstGeom>
          <a:solidFill>
            <a:srgbClr val="FCFDFD"/>
          </a:solidFill>
          <a:ln w="12700">
            <a:solidFill>
              <a:srgbClr val="D5E3EA"/>
            </a:solidFill>
            <a:prstDash val="solid"/>
          </a:ln>
        </p:spPr>
      </p:sp>
      <p:sp>
        <p:nvSpPr>
          <p:cNvPr id="15" name="Text 11"/>
          <p:cNvSpPr/>
          <p:nvPr/>
        </p:nvSpPr>
        <p:spPr>
          <a:xfrm>
            <a:off x="6375400" y="2006501"/>
            <a:ext cx="218452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3480F"/>
                </a:solidFill>
                <a:latin typeface="EB Garamond" pitchFamily="18" charset="0"/>
                <a:ea typeface="EB Garamond" pitchFamily="18" charset="-122"/>
                <a:cs typeface="EB Garamond" pitchFamily="18" charset="-120"/>
              </a:rPr>
              <a:t>3</a:t>
            </a:r>
            <a:endParaRPr lang="en-US" sz="2800" dirty="0"/>
          </a:p>
        </p:txBody>
      </p:sp>
      <p:sp>
        <p:nvSpPr>
          <p:cNvPr id="16" name="Text 12"/>
          <p:cNvSpPr/>
          <p:nvPr/>
        </p:nvSpPr>
        <p:spPr>
          <a:xfrm>
            <a:off x="6375400" y="2438301"/>
            <a:ext cx="21845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Obtener números</a:t>
            </a:r>
            <a:endParaRPr lang="en-US" sz="1600" dirty="0"/>
          </a:p>
        </p:txBody>
      </p:sp>
      <p:sp>
        <p:nvSpPr>
          <p:cNvPr id="17" name="Text 13"/>
          <p:cNvSpPr/>
          <p:nvPr/>
        </p:nvSpPr>
        <p:spPr>
          <a:xfrm>
            <a:off x="6375400" y="2758281"/>
            <a:ext cx="2184527"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Por imagen: conteo, tamaños, media y desviación estándar.</a:t>
            </a:r>
            <a:endParaRPr lang="en-US" sz="1300" dirty="0"/>
          </a:p>
        </p:txBody>
      </p:sp>
      <p:sp>
        <p:nvSpPr>
          <p:cNvPr id="18" name="Shape 14"/>
          <p:cNvSpPr/>
          <p:nvPr/>
        </p:nvSpPr>
        <p:spPr>
          <a:xfrm>
            <a:off x="8858250" y="1809651"/>
            <a:ext cx="2514600" cy="1838722"/>
          </a:xfrm>
          <a:prstGeom prst="roundRect">
            <a:avLst>
              <a:gd name="adj" fmla="val 6562"/>
            </a:avLst>
          </a:prstGeom>
          <a:solidFill>
            <a:srgbClr val="FCFDFD"/>
          </a:solidFill>
          <a:ln w="12700">
            <a:solidFill>
              <a:srgbClr val="D5E3EA"/>
            </a:solidFill>
            <a:prstDash val="solid"/>
          </a:ln>
        </p:spPr>
      </p:sp>
      <p:sp>
        <p:nvSpPr>
          <p:cNvPr id="19" name="Text 15"/>
          <p:cNvSpPr/>
          <p:nvPr/>
        </p:nvSpPr>
        <p:spPr>
          <a:xfrm>
            <a:off x="9055100" y="2006501"/>
            <a:ext cx="2184527" cy="381000"/>
          </a:xfrm>
          <a:prstGeom prst="rect">
            <a:avLst/>
          </a:prstGeom>
          <a:noFill/>
          <a:ln/>
        </p:spPr>
        <p:txBody>
          <a:bodyPr wrap="square" lIns="0" tIns="0" rIns="0" bIns="0" rtlCol="0" anchor="t">
            <a:normAutofit/>
          </a:bodyPr>
          <a:lstStyle/>
          <a:p>
            <a:pPr algn="l" indent="0" marL="0">
              <a:lnSpc>
                <a:spcPts val="2800"/>
              </a:lnSpc>
              <a:buNone/>
            </a:pPr>
            <a:r>
              <a:rPr lang="en-US" sz="2800" b="1" dirty="0">
                <a:solidFill>
                  <a:srgbClr val="A3480F"/>
                </a:solidFill>
                <a:latin typeface="EB Garamond" pitchFamily="18" charset="0"/>
                <a:ea typeface="EB Garamond" pitchFamily="18" charset="-122"/>
                <a:cs typeface="EB Garamond" pitchFamily="18" charset="-120"/>
              </a:rPr>
              <a:t>4</a:t>
            </a:r>
            <a:endParaRPr lang="en-US" sz="2800" dirty="0"/>
          </a:p>
        </p:txBody>
      </p:sp>
      <p:sp>
        <p:nvSpPr>
          <p:cNvPr id="20" name="Text 16"/>
          <p:cNvSpPr/>
          <p:nvPr/>
        </p:nvSpPr>
        <p:spPr>
          <a:xfrm>
            <a:off x="9055100" y="2438301"/>
            <a:ext cx="218452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C2A3E"/>
                </a:solidFill>
                <a:latin typeface="IBM Plex Sans" pitchFamily="34" charset="0"/>
                <a:ea typeface="IBM Plex Sans" pitchFamily="34" charset="-122"/>
                <a:cs typeface="IBM Plex Sans" pitchFamily="34" charset="-120"/>
              </a:rPr>
              <a:t>Aplicar estadística</a:t>
            </a:r>
            <a:endParaRPr lang="en-US" sz="1600" dirty="0"/>
          </a:p>
        </p:txBody>
      </p:sp>
      <p:sp>
        <p:nvSpPr>
          <p:cNvPr id="21" name="Text 17"/>
          <p:cNvSpPr/>
          <p:nvPr/>
        </p:nvSpPr>
        <p:spPr>
          <a:xfrm>
            <a:off x="9055100" y="2758281"/>
            <a:ext cx="218452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Pruebas estadísticas con los datos del archivo CSV.</a:t>
            </a:r>
            <a:endParaRPr lang="en-US" sz="1300" dirty="0"/>
          </a:p>
        </p:txBody>
      </p:sp>
      <p:sp>
        <p:nvSpPr>
          <p:cNvPr id="22" name="Shape 18"/>
          <p:cNvSpPr/>
          <p:nvPr/>
        </p:nvSpPr>
        <p:spPr>
          <a:xfrm>
            <a:off x="812800" y="3908723"/>
            <a:ext cx="10566400" cy="869950"/>
          </a:xfrm>
          <a:prstGeom prst="roundRect">
            <a:avLst>
              <a:gd name="adj" fmla="val 14599"/>
            </a:avLst>
          </a:prstGeom>
          <a:solidFill>
            <a:srgbClr val="0B1F2E"/>
          </a:solidFill>
          <a:ln/>
        </p:spPr>
      </p:sp>
      <p:pic>
        <p:nvPicPr>
          <p:cNvPr id="23" name="Image 2" descr="Verified">    </p:cNvPr>
          <p:cNvPicPr>
            <a:picLocks noChangeAspect="1"/>
          </p:cNvPicPr>
          <p:nvPr/>
        </p:nvPicPr>
        <p:blipFill>
          <a:blip r:embed="rId3"/>
          <a:srcRect l="0" r="0" t="-314" b="-314"/>
          <a:stretch/>
        </p:blipFill>
        <p:spPr>
          <a:xfrm>
            <a:off x="1041400" y="4191298"/>
            <a:ext cx="157758" cy="304800"/>
          </a:xfrm>
          <a:prstGeom prst="rect">
            <a:avLst/>
          </a:prstGeom>
        </p:spPr>
      </p:pic>
      <p:sp>
        <p:nvSpPr>
          <p:cNvPr id="24" name="Text 19"/>
          <p:cNvSpPr/>
          <p:nvPr/>
        </p:nvSpPr>
        <p:spPr>
          <a:xfrm>
            <a:off x="1326158" y="4086523"/>
            <a:ext cx="10119175"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F1F6F8"/>
                </a:solidFill>
                <a:latin typeface="IBM Plex Sans" pitchFamily="34" charset="0"/>
                <a:ea typeface="IBM Plex Sans" pitchFamily="34" charset="-122"/>
                <a:cs typeface="IBM Plex Sans" pitchFamily="34" charset="-120"/>
              </a:rPr>
              <a:t>El sistema cuenta, mide y entrega datos de forma consistente. Interpretar la diferencia le corresponde a quien conoce la biología. Es un instrumento, como una balanza: da el peso y no decide si el resultado es bueno o malo.</a:t>
            </a:r>
            <a:endParaRPr lang="en-US" sz="1500" dirty="0"/>
          </a:p>
        </p:txBody>
      </p:sp>
      <p:sp>
        <p:nvSpPr>
          <p:cNvPr id="25" name="Text 2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6"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10 / 13</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Contar y medir a mano</a:t>
            </a:r>
            <a:endParaRPr lang="en-US" sz="3600" dirty="0"/>
          </a:p>
        </p:txBody>
      </p:sp>
      <p:sp>
        <p:nvSpPr>
          <p:cNvPr id="6" name="Text 2"/>
          <p:cNvSpPr/>
          <p:nvPr/>
        </p:nvSpPr>
        <p:spPr>
          <a:xfrm>
            <a:off x="812800" y="1859161"/>
            <a:ext cx="638352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LA MISMA IMAGEN, TRES PERSONAS</a:t>
            </a:r>
            <a:endParaRPr lang="en-US" sz="1200" dirty="0"/>
          </a:p>
        </p:txBody>
      </p:sp>
      <p:sp>
        <p:nvSpPr>
          <p:cNvPr id="7" name="Shape 3"/>
          <p:cNvSpPr/>
          <p:nvPr/>
        </p:nvSpPr>
        <p:spPr>
          <a:xfrm>
            <a:off x="819150" y="2205831"/>
            <a:ext cx="1968500" cy="1264841"/>
          </a:xfrm>
          <a:prstGeom prst="roundRect">
            <a:avLst>
              <a:gd name="adj" fmla="val 9539"/>
            </a:avLst>
          </a:prstGeom>
          <a:solidFill>
            <a:srgbClr val="FCFDFD"/>
          </a:solidFill>
          <a:ln w="12700">
            <a:solidFill>
              <a:srgbClr val="D5E3EA"/>
            </a:solidFill>
            <a:prstDash val="solid"/>
          </a:ln>
        </p:spPr>
      </p:sp>
      <p:sp>
        <p:nvSpPr>
          <p:cNvPr id="8" name="Text 4"/>
          <p:cNvSpPr/>
          <p:nvPr/>
        </p:nvSpPr>
        <p:spPr>
          <a:xfrm>
            <a:off x="1003300" y="2389981"/>
            <a:ext cx="165100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C2A3E"/>
                </a:solidFill>
                <a:latin typeface="EB Garamond" pitchFamily="18" charset="0"/>
                <a:ea typeface="EB Garamond" pitchFamily="18" charset="-122"/>
                <a:cs typeface="EB Garamond" pitchFamily="18" charset="-120"/>
              </a:rPr>
              <a:t>21</a:t>
            </a:r>
            <a:endParaRPr lang="en-US" sz="4800" dirty="0"/>
          </a:p>
        </p:txBody>
      </p:sp>
      <p:sp>
        <p:nvSpPr>
          <p:cNvPr id="9" name="Text 5"/>
          <p:cNvSpPr/>
          <p:nvPr/>
        </p:nvSpPr>
        <p:spPr>
          <a:xfrm>
            <a:off x="1003300" y="3037681"/>
            <a:ext cx="16510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Persona A</a:t>
            </a:r>
            <a:endParaRPr lang="en-US" sz="1400" dirty="0"/>
          </a:p>
        </p:txBody>
      </p:sp>
      <p:sp>
        <p:nvSpPr>
          <p:cNvPr id="10" name="Shape 6"/>
          <p:cNvSpPr/>
          <p:nvPr/>
        </p:nvSpPr>
        <p:spPr>
          <a:xfrm>
            <a:off x="2927350" y="2205831"/>
            <a:ext cx="1968500" cy="1264841"/>
          </a:xfrm>
          <a:prstGeom prst="roundRect">
            <a:avLst>
              <a:gd name="adj" fmla="val 9539"/>
            </a:avLst>
          </a:prstGeom>
          <a:solidFill>
            <a:srgbClr val="FCFDFD"/>
          </a:solidFill>
          <a:ln w="12700">
            <a:solidFill>
              <a:srgbClr val="D5E3EA"/>
            </a:solidFill>
            <a:prstDash val="solid"/>
          </a:ln>
        </p:spPr>
      </p:sp>
      <p:sp>
        <p:nvSpPr>
          <p:cNvPr id="11" name="Text 7"/>
          <p:cNvSpPr/>
          <p:nvPr/>
        </p:nvSpPr>
        <p:spPr>
          <a:xfrm>
            <a:off x="3111500" y="2389981"/>
            <a:ext cx="165100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C2A3E"/>
                </a:solidFill>
                <a:latin typeface="EB Garamond" pitchFamily="18" charset="0"/>
                <a:ea typeface="EB Garamond" pitchFamily="18" charset="-122"/>
                <a:cs typeface="EB Garamond" pitchFamily="18" charset="-120"/>
              </a:rPr>
              <a:t>24</a:t>
            </a:r>
            <a:endParaRPr lang="en-US" sz="4800" dirty="0"/>
          </a:p>
        </p:txBody>
      </p:sp>
      <p:sp>
        <p:nvSpPr>
          <p:cNvPr id="12" name="Text 8"/>
          <p:cNvSpPr/>
          <p:nvPr/>
        </p:nvSpPr>
        <p:spPr>
          <a:xfrm>
            <a:off x="3111500" y="3037681"/>
            <a:ext cx="16510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Persona B</a:t>
            </a:r>
            <a:endParaRPr lang="en-US" sz="1400" dirty="0"/>
          </a:p>
        </p:txBody>
      </p:sp>
      <p:sp>
        <p:nvSpPr>
          <p:cNvPr id="13" name="Shape 9"/>
          <p:cNvSpPr/>
          <p:nvPr/>
        </p:nvSpPr>
        <p:spPr>
          <a:xfrm>
            <a:off x="5035550" y="2205831"/>
            <a:ext cx="1968500" cy="1264841"/>
          </a:xfrm>
          <a:prstGeom prst="roundRect">
            <a:avLst>
              <a:gd name="adj" fmla="val 9539"/>
            </a:avLst>
          </a:prstGeom>
          <a:solidFill>
            <a:srgbClr val="FCFDFD"/>
          </a:solidFill>
          <a:ln w="12700">
            <a:solidFill>
              <a:srgbClr val="D5E3EA"/>
            </a:solidFill>
            <a:prstDash val="solid"/>
          </a:ln>
        </p:spPr>
      </p:sp>
      <p:sp>
        <p:nvSpPr>
          <p:cNvPr id="14" name="Text 10"/>
          <p:cNvSpPr/>
          <p:nvPr/>
        </p:nvSpPr>
        <p:spPr>
          <a:xfrm>
            <a:off x="5219700" y="2389981"/>
            <a:ext cx="1651000"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0C2A3E"/>
                </a:solidFill>
                <a:latin typeface="EB Garamond" pitchFamily="18" charset="0"/>
                <a:ea typeface="EB Garamond" pitchFamily="18" charset="-122"/>
                <a:cs typeface="EB Garamond" pitchFamily="18" charset="-120"/>
              </a:rPr>
              <a:t>22</a:t>
            </a:r>
            <a:endParaRPr lang="en-US" sz="4800" dirty="0"/>
          </a:p>
        </p:txBody>
      </p:sp>
      <p:sp>
        <p:nvSpPr>
          <p:cNvPr id="15" name="Text 11"/>
          <p:cNvSpPr/>
          <p:nvPr/>
        </p:nvSpPr>
        <p:spPr>
          <a:xfrm>
            <a:off x="5219700" y="3037681"/>
            <a:ext cx="1651000"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Persona C</a:t>
            </a:r>
            <a:endParaRPr lang="en-US" sz="1400" dirty="0"/>
          </a:p>
        </p:txBody>
      </p:sp>
      <p:sp>
        <p:nvSpPr>
          <p:cNvPr id="16" name="Text 12"/>
          <p:cNvSpPr/>
          <p:nvPr/>
        </p:nvSpPr>
        <p:spPr>
          <a:xfrm>
            <a:off x="812800" y="3604022"/>
            <a:ext cx="63835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Números de ejemplo, no de una medición real.</a:t>
            </a:r>
            <a:endParaRPr lang="en-US" sz="1200" dirty="0"/>
          </a:p>
        </p:txBody>
      </p:sp>
      <p:sp>
        <p:nvSpPr>
          <p:cNvPr id="17" name="Text 13"/>
          <p:cNvSpPr/>
          <p:nvPr/>
        </p:nvSpPr>
        <p:spPr>
          <a:xfrm>
            <a:off x="7315200" y="1977231"/>
            <a:ext cx="4064000" cy="497780"/>
          </a:xfrm>
          <a:prstGeom prst="roundRect">
            <a:avLst>
              <a:gd name="adj" fmla="val 50000"/>
            </a:avLst>
          </a:prstGeom>
          <a:solidFill>
            <a:srgbClr val="E3EFF5"/>
          </a:solidFill>
          <a:ln/>
        </p:spPr>
        <p:txBody>
          <a:bodyPr wrap="square" lIns="104903" tIns="16003" rIns="0" bIns="0" rtlCol="0" anchor="t">
            <a:normAutofit/>
          </a:bodyPr>
          <a:lstStyle/>
          <a:p>
            <a:pPr algn="l" indent="0" marL="0">
              <a:lnSpc>
                <a:spcPts val="2520"/>
              </a:lnSpc>
              <a:buNone/>
            </a:pPr>
            <a:r>
              <a:rPr lang="en-US" sz="1800" b="1" dirty="0">
                <a:solidFill>
                  <a:srgbClr val="0C2A3E"/>
                </a:solidFill>
                <a:latin typeface="IBM Plex Sans" pitchFamily="34" charset="0"/>
                <a:ea typeface="IBM Plex Sans" pitchFamily="34" charset="-122"/>
                <a:cs typeface="IBM Plex Sans" pitchFamily="34" charset="-120"/>
              </a:rPr>
              <a:t>Lento</a:t>
            </a:r>
            <a:endParaRPr lang="en-US" sz="1800" dirty="0"/>
          </a:p>
        </p:txBody>
      </p:sp>
      <p:sp>
        <p:nvSpPr>
          <p:cNvPr id="18" name="Text 14"/>
          <p:cNvSpPr/>
          <p:nvPr/>
        </p:nvSpPr>
        <p:spPr>
          <a:xfrm>
            <a:off x="7315200" y="2589312"/>
            <a:ext cx="4064000" cy="497780"/>
          </a:xfrm>
          <a:prstGeom prst="roundRect">
            <a:avLst>
              <a:gd name="adj" fmla="val 50000"/>
            </a:avLst>
          </a:prstGeom>
          <a:solidFill>
            <a:srgbClr val="E3EFF5"/>
          </a:solidFill>
          <a:ln/>
        </p:spPr>
        <p:txBody>
          <a:bodyPr wrap="square" lIns="104903" tIns="16003" rIns="0" bIns="0" rtlCol="0" anchor="t">
            <a:normAutofit/>
          </a:bodyPr>
          <a:lstStyle/>
          <a:p>
            <a:pPr algn="l" indent="0" marL="0">
              <a:lnSpc>
                <a:spcPts val="2520"/>
              </a:lnSpc>
              <a:buNone/>
            </a:pPr>
            <a:r>
              <a:rPr lang="en-US" sz="1800" b="1" dirty="0">
                <a:solidFill>
                  <a:srgbClr val="0C2A3E"/>
                </a:solidFill>
                <a:latin typeface="IBM Plex Sans" pitchFamily="34" charset="0"/>
                <a:ea typeface="IBM Plex Sans" pitchFamily="34" charset="-122"/>
                <a:cs typeface="IBM Plex Sans" pitchFamily="34" charset="-120"/>
              </a:rPr>
              <a:t>Repetitivo</a:t>
            </a:r>
            <a:endParaRPr lang="en-US" sz="1800" dirty="0"/>
          </a:p>
        </p:txBody>
      </p:sp>
      <p:sp>
        <p:nvSpPr>
          <p:cNvPr id="19" name="Text 15"/>
          <p:cNvSpPr/>
          <p:nvPr/>
        </p:nvSpPr>
        <p:spPr>
          <a:xfrm>
            <a:off x="7315200" y="3201392"/>
            <a:ext cx="4064000" cy="497780"/>
          </a:xfrm>
          <a:prstGeom prst="roundRect">
            <a:avLst>
              <a:gd name="adj" fmla="val 50000"/>
            </a:avLst>
          </a:prstGeom>
          <a:solidFill>
            <a:srgbClr val="E3EFF5"/>
          </a:solidFill>
          <a:ln/>
        </p:spPr>
        <p:txBody>
          <a:bodyPr wrap="square" lIns="104903" tIns="16003" rIns="0" bIns="0" rtlCol="0" anchor="t">
            <a:normAutofit/>
          </a:bodyPr>
          <a:lstStyle/>
          <a:p>
            <a:pPr algn="l" indent="0" marL="0">
              <a:lnSpc>
                <a:spcPts val="2520"/>
              </a:lnSpc>
              <a:buNone/>
            </a:pPr>
            <a:r>
              <a:rPr lang="en-US" sz="1800" b="1" dirty="0">
                <a:solidFill>
                  <a:srgbClr val="0C2A3E"/>
                </a:solidFill>
                <a:latin typeface="IBM Plex Sans" pitchFamily="34" charset="0"/>
                <a:ea typeface="IBM Plex Sans" pitchFamily="34" charset="-122"/>
                <a:cs typeface="IBM Plex Sans" pitchFamily="34" charset="-120"/>
              </a:rPr>
              <a:t>Cambia según quién lo haga</a:t>
            </a:r>
            <a:endParaRPr lang="en-US" sz="1800" dirty="0"/>
          </a:p>
        </p:txBody>
      </p:sp>
      <p:sp>
        <p:nvSpPr>
          <p:cNvPr id="20" name="Text 16"/>
          <p:cNvSpPr/>
          <p:nvPr/>
        </p:nvSpPr>
        <p:spPr>
          <a:xfrm>
            <a:off x="812800" y="4071342"/>
            <a:ext cx="9810750" cy="771922"/>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5566"/>
                </a:solidFill>
                <a:latin typeface="IBM Plex Sans" pitchFamily="34" charset="0"/>
                <a:ea typeface="IBM Plex Sans" pitchFamily="34" charset="-122"/>
                <a:cs typeface="IBM Plex Sans" pitchFamily="34" charset="-120"/>
              </a:rPr>
              <a:t>Una imagen tiene decenas o cientos de células, muchas encimadas o pegadas. Con muchas imágenes, el trabajo manual es difícil de sostener. El ojo no tiene una regla fija, y por eso cada persona decide distinto dónde termina una célula y empieza otra.</a:t>
            </a:r>
            <a:endParaRPr lang="en-US" sz="1400" dirty="0"/>
          </a:p>
        </p:txBody>
      </p:sp>
      <p:sp>
        <p:nvSpPr>
          <p:cNvPr id="21" name="Text 17"/>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2" name="Text 18"/>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11 / 13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2E"/>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1F6F8"/>
                </a:solidFill>
                <a:latin typeface="EB Garamond" pitchFamily="18" charset="0"/>
                <a:ea typeface="EB Garamond" pitchFamily="18" charset="-122"/>
                <a:cs typeface="EB Garamond" pitchFamily="18" charset="-120"/>
              </a:rPr>
              <a:t>Un día de trabajo sin el sistema</a:t>
            </a:r>
            <a:endParaRPr lang="en-US" sz="3600" dirty="0"/>
          </a:p>
        </p:txBody>
      </p:sp>
      <p:sp>
        <p:nvSpPr>
          <p:cNvPr id="6" name="Shape 2"/>
          <p:cNvSpPr/>
          <p:nvPr/>
        </p:nvSpPr>
        <p:spPr>
          <a:xfrm>
            <a:off x="819150" y="1865511"/>
            <a:ext cx="3163888" cy="1328341"/>
          </a:xfrm>
          <a:prstGeom prst="roundRect">
            <a:avLst>
              <a:gd name="adj" fmla="val 9083"/>
            </a:avLst>
          </a:prstGeom>
          <a:solidFill>
            <a:srgbClr val="12304A"/>
          </a:solidFill>
          <a:ln w="12700">
            <a:solidFill>
              <a:srgbClr val="24506E"/>
            </a:solidFill>
            <a:prstDash val="solid"/>
          </a:ln>
        </p:spPr>
      </p:sp>
      <p:sp>
        <p:nvSpPr>
          <p:cNvPr id="7" name="Text 3"/>
          <p:cNvSpPr/>
          <p:nvPr/>
        </p:nvSpPr>
        <p:spPr>
          <a:xfrm>
            <a:off x="1028700" y="2075061"/>
            <a:ext cx="2827131"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4A259"/>
                </a:solidFill>
                <a:latin typeface="EB Garamond" pitchFamily="18" charset="0"/>
                <a:ea typeface="EB Garamond" pitchFamily="18" charset="-122"/>
                <a:cs typeface="EB Garamond" pitchFamily="18" charset="-120"/>
              </a:rPr>
              <a:t>30</a:t>
            </a:r>
            <a:endParaRPr lang="en-US" sz="4800" dirty="0"/>
          </a:p>
        </p:txBody>
      </p:sp>
      <p:sp>
        <p:nvSpPr>
          <p:cNvPr id="8" name="Text 4"/>
          <p:cNvSpPr/>
          <p:nvPr/>
        </p:nvSpPr>
        <p:spPr>
          <a:xfrm>
            <a:off x="1028700" y="2735461"/>
            <a:ext cx="2827131"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imágenes</a:t>
            </a:r>
            <a:endParaRPr lang="en-US" sz="1400" dirty="0"/>
          </a:p>
        </p:txBody>
      </p:sp>
      <p:sp>
        <p:nvSpPr>
          <p:cNvPr id="9" name="Text 5"/>
          <p:cNvSpPr/>
          <p:nvPr/>
        </p:nvSpPr>
        <p:spPr>
          <a:xfrm>
            <a:off x="4141788" y="2280741"/>
            <a:ext cx="2642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FF6"/>
                </a:solidFill>
                <a:latin typeface="IBM Plex Sans" pitchFamily="34" charset="0"/>
                <a:ea typeface="IBM Plex Sans" pitchFamily="34" charset="-122"/>
                <a:cs typeface="IBM Plex Sans" pitchFamily="34" charset="-120"/>
              </a:rPr>
              <a:t>×</a:t>
            </a:r>
            <a:endParaRPr lang="en-US" sz="2800" dirty="0"/>
          </a:p>
        </p:txBody>
      </p:sp>
      <p:sp>
        <p:nvSpPr>
          <p:cNvPr id="10" name="Shape 6"/>
          <p:cNvSpPr/>
          <p:nvPr/>
        </p:nvSpPr>
        <p:spPr>
          <a:xfrm>
            <a:off x="4513957" y="1865511"/>
            <a:ext cx="3163987" cy="1328341"/>
          </a:xfrm>
          <a:prstGeom prst="roundRect">
            <a:avLst>
              <a:gd name="adj" fmla="val 9083"/>
            </a:avLst>
          </a:prstGeom>
          <a:solidFill>
            <a:srgbClr val="12304A"/>
          </a:solidFill>
          <a:ln w="12700">
            <a:solidFill>
              <a:srgbClr val="24506E"/>
            </a:solidFill>
            <a:prstDash val="solid"/>
          </a:ln>
        </p:spPr>
      </p:sp>
      <p:sp>
        <p:nvSpPr>
          <p:cNvPr id="11" name="Text 7"/>
          <p:cNvSpPr/>
          <p:nvPr/>
        </p:nvSpPr>
        <p:spPr>
          <a:xfrm>
            <a:off x="4723507" y="2075061"/>
            <a:ext cx="282723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4A259"/>
                </a:solidFill>
                <a:latin typeface="EB Garamond" pitchFamily="18" charset="0"/>
                <a:ea typeface="EB Garamond" pitchFamily="18" charset="-122"/>
                <a:cs typeface="EB Garamond" pitchFamily="18" charset="-120"/>
              </a:rPr>
              <a:t>150</a:t>
            </a:r>
            <a:endParaRPr lang="en-US" sz="4800" dirty="0"/>
          </a:p>
        </p:txBody>
      </p:sp>
      <p:sp>
        <p:nvSpPr>
          <p:cNvPr id="12" name="Text 8"/>
          <p:cNvSpPr/>
          <p:nvPr/>
        </p:nvSpPr>
        <p:spPr>
          <a:xfrm>
            <a:off x="4723507" y="2735461"/>
            <a:ext cx="282723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cabezas por imagen</a:t>
            </a:r>
            <a:endParaRPr lang="en-US" sz="1400" dirty="0"/>
          </a:p>
        </p:txBody>
      </p:sp>
      <p:sp>
        <p:nvSpPr>
          <p:cNvPr id="13" name="Text 9"/>
          <p:cNvSpPr/>
          <p:nvPr/>
        </p:nvSpPr>
        <p:spPr>
          <a:xfrm>
            <a:off x="7836694" y="2280741"/>
            <a:ext cx="264220" cy="523180"/>
          </a:xfrm>
          <a:prstGeom prst="rect">
            <a:avLst/>
          </a:prstGeom>
          <a:noFill/>
          <a:ln/>
        </p:spPr>
        <p:txBody>
          <a:bodyPr wrap="square" lIns="0" tIns="0" rIns="0" bIns="0" rtlCol="0" anchor="t">
            <a:normAutofit/>
          </a:bodyPr>
          <a:lstStyle/>
          <a:p>
            <a:pPr algn="l" indent="0" marL="0">
              <a:lnSpc>
                <a:spcPts val="3920"/>
              </a:lnSpc>
              <a:buNone/>
            </a:pPr>
            <a:r>
              <a:rPr lang="en-US" sz="2800" dirty="0">
                <a:solidFill>
                  <a:srgbClr val="6CCFF6"/>
                </a:solidFill>
                <a:latin typeface="IBM Plex Sans" pitchFamily="34" charset="0"/>
                <a:ea typeface="IBM Plex Sans" pitchFamily="34" charset="-122"/>
                <a:cs typeface="IBM Plex Sans" pitchFamily="34" charset="-120"/>
              </a:rPr>
              <a:t>=</a:t>
            </a:r>
            <a:endParaRPr lang="en-US" sz="2800" dirty="0"/>
          </a:p>
        </p:txBody>
      </p:sp>
      <p:sp>
        <p:nvSpPr>
          <p:cNvPr id="14" name="Shape 10"/>
          <p:cNvSpPr/>
          <p:nvPr/>
        </p:nvSpPr>
        <p:spPr>
          <a:xfrm>
            <a:off x="8208863" y="1865511"/>
            <a:ext cx="3163987" cy="1328341"/>
          </a:xfrm>
          <a:prstGeom prst="roundRect">
            <a:avLst>
              <a:gd name="adj" fmla="val 9083"/>
            </a:avLst>
          </a:prstGeom>
          <a:solidFill>
            <a:srgbClr val="12304A"/>
          </a:solidFill>
          <a:ln w="12700">
            <a:solidFill>
              <a:srgbClr val="24506E"/>
            </a:solidFill>
            <a:prstDash val="solid"/>
          </a:ln>
        </p:spPr>
      </p:sp>
      <p:sp>
        <p:nvSpPr>
          <p:cNvPr id="15" name="Text 11"/>
          <p:cNvSpPr/>
          <p:nvPr/>
        </p:nvSpPr>
        <p:spPr>
          <a:xfrm>
            <a:off x="8418413" y="2075061"/>
            <a:ext cx="2827233"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F4A259"/>
                </a:solidFill>
                <a:latin typeface="EB Garamond" pitchFamily="18" charset="0"/>
                <a:ea typeface="EB Garamond" pitchFamily="18" charset="-122"/>
                <a:cs typeface="EB Garamond" pitchFamily="18" charset="-120"/>
              </a:rPr>
              <a:t>4,500</a:t>
            </a:r>
            <a:endParaRPr lang="en-US" sz="4800" dirty="0"/>
          </a:p>
        </p:txBody>
      </p:sp>
      <p:sp>
        <p:nvSpPr>
          <p:cNvPr id="16" name="Text 12"/>
          <p:cNvSpPr/>
          <p:nvPr/>
        </p:nvSpPr>
        <p:spPr>
          <a:xfrm>
            <a:off x="8418413" y="2735461"/>
            <a:ext cx="2827233"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3D7E2"/>
                </a:solidFill>
                <a:latin typeface="IBM Plex Sans" pitchFamily="34" charset="0"/>
                <a:ea typeface="IBM Plex Sans" pitchFamily="34" charset="-122"/>
                <a:cs typeface="IBM Plex Sans" pitchFamily="34" charset="-120"/>
              </a:rPr>
              <a:t>células por medir</a:t>
            </a:r>
            <a:endParaRPr lang="en-US" sz="1400" dirty="0"/>
          </a:p>
        </p:txBody>
      </p:sp>
      <p:sp>
        <p:nvSpPr>
          <p:cNvPr id="17" name="Shape 13"/>
          <p:cNvSpPr/>
          <p:nvPr/>
        </p:nvSpPr>
        <p:spPr>
          <a:xfrm>
            <a:off x="819150" y="3460552"/>
            <a:ext cx="5194300" cy="1231702"/>
          </a:xfrm>
          <a:prstGeom prst="roundRect">
            <a:avLst>
              <a:gd name="adj" fmla="val 9795"/>
            </a:avLst>
          </a:prstGeom>
          <a:solidFill>
            <a:srgbClr val="12304A"/>
          </a:solidFill>
          <a:ln w="12700">
            <a:solidFill>
              <a:srgbClr val="24506E"/>
            </a:solidFill>
            <a:prstDash val="solid"/>
          </a:ln>
        </p:spPr>
      </p:sp>
      <p:sp>
        <p:nvSpPr>
          <p:cNvPr id="18" name="Text 14"/>
          <p:cNvSpPr/>
          <p:nvPr/>
        </p:nvSpPr>
        <p:spPr>
          <a:xfrm>
            <a:off x="1016000" y="3657402"/>
            <a:ext cx="494461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A MANO</a:t>
            </a:r>
            <a:endParaRPr lang="en-US" sz="1200" dirty="0"/>
          </a:p>
        </p:txBody>
      </p:sp>
      <p:sp>
        <p:nvSpPr>
          <p:cNvPr id="19" name="Text 15"/>
          <p:cNvSpPr/>
          <p:nvPr/>
        </p:nvSpPr>
        <p:spPr>
          <a:xfrm>
            <a:off x="1016000" y="3934222"/>
            <a:ext cx="4944618"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F1F6F8"/>
                </a:solidFill>
                <a:latin typeface="IBM Plex Sans" pitchFamily="34" charset="0"/>
                <a:ea typeface="IBM Plex Sans" pitchFamily="34" charset="-122"/>
                <a:cs typeface="IBM Plex Sans" pitchFamily="34" charset="-120"/>
              </a:rPr>
              <a:t>10 segundos por célula son 12.5 horas sin descanso.</a:t>
            </a:r>
            <a:endParaRPr lang="en-US" sz="1700" dirty="0"/>
          </a:p>
        </p:txBody>
      </p:sp>
      <p:sp>
        <p:nvSpPr>
          <p:cNvPr id="20" name="Shape 16"/>
          <p:cNvSpPr/>
          <p:nvPr/>
        </p:nvSpPr>
        <p:spPr>
          <a:xfrm>
            <a:off x="6178550" y="3460552"/>
            <a:ext cx="5194300" cy="1231702"/>
          </a:xfrm>
          <a:prstGeom prst="roundRect">
            <a:avLst>
              <a:gd name="adj" fmla="val 9795"/>
            </a:avLst>
          </a:prstGeom>
          <a:solidFill>
            <a:srgbClr val="12304A"/>
          </a:solidFill>
          <a:ln w="12700">
            <a:solidFill>
              <a:srgbClr val="24506E"/>
            </a:solidFill>
            <a:prstDash val="solid"/>
          </a:ln>
        </p:spPr>
      </p:sp>
      <p:sp>
        <p:nvSpPr>
          <p:cNvPr id="21" name="Text 17"/>
          <p:cNvSpPr/>
          <p:nvPr/>
        </p:nvSpPr>
        <p:spPr>
          <a:xfrm>
            <a:off x="6375400" y="3657402"/>
            <a:ext cx="4944618"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CCFF6"/>
                </a:solidFill>
                <a:latin typeface="IBM Plex Sans" pitchFamily="34" charset="0"/>
                <a:ea typeface="IBM Plex Sans" pitchFamily="34" charset="-122"/>
                <a:cs typeface="IBM Plex Sans" pitchFamily="34" charset="-120"/>
              </a:rPr>
              <a:t>CON EL SISTEMA</a:t>
            </a:r>
            <a:endParaRPr lang="en-US" sz="1200" dirty="0"/>
          </a:p>
        </p:txBody>
      </p:sp>
      <p:sp>
        <p:nvSpPr>
          <p:cNvPr id="22" name="Text 18"/>
          <p:cNvSpPr/>
          <p:nvPr/>
        </p:nvSpPr>
        <p:spPr>
          <a:xfrm>
            <a:off x="6375400" y="3934222"/>
            <a:ext cx="4944618" cy="586581"/>
          </a:xfrm>
          <a:prstGeom prst="rect">
            <a:avLst/>
          </a:prstGeom>
          <a:noFill/>
          <a:ln/>
        </p:spPr>
        <p:txBody>
          <a:bodyPr wrap="square" lIns="0" tIns="0" rIns="0" bIns="0" rtlCol="0" anchor="t">
            <a:normAutofit/>
          </a:bodyPr>
          <a:lstStyle/>
          <a:p>
            <a:pPr algn="l" indent="0" marL="0">
              <a:lnSpc>
                <a:spcPts val="2210"/>
              </a:lnSpc>
              <a:buNone/>
            </a:pPr>
            <a:r>
              <a:rPr lang="en-US" sz="1700" dirty="0">
                <a:solidFill>
                  <a:srgbClr val="F1F6F8"/>
                </a:solidFill>
                <a:latin typeface="IBM Plex Sans" pitchFamily="34" charset="0"/>
                <a:ea typeface="IBM Plex Sans" pitchFamily="34" charset="-122"/>
                <a:cs typeface="IBM Plex Sans" pitchFamily="34" charset="-120"/>
              </a:rPr>
              <a:t>Unas decenas de segundos por imagen, siempre con el mismo criterio.</a:t>
            </a:r>
            <a:endParaRPr lang="en-US" sz="1700" dirty="0"/>
          </a:p>
        </p:txBody>
      </p:sp>
      <p:sp>
        <p:nvSpPr>
          <p:cNvPr id="23" name="Text 19"/>
          <p:cNvSpPr/>
          <p:nvPr/>
        </p:nvSpPr>
        <p:spPr>
          <a:xfrm>
            <a:off x="812800" y="4952603"/>
            <a:ext cx="9810750"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El valor no está solo en la velocidad: el resultado es comparable, porque se mide con la misma regla. Números ilustrativos.</a:t>
            </a:r>
            <a:endParaRPr lang="en-US" sz="1300" dirty="0"/>
          </a:p>
        </p:txBody>
      </p:sp>
      <p:sp>
        <p:nvSpPr>
          <p:cNvPr id="24" name="Text 2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5"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8FA9B8"/>
                </a:solidFill>
                <a:latin typeface="IBM Plex Sans" pitchFamily="34" charset="0"/>
                <a:ea typeface="IBM Plex Sans" pitchFamily="34" charset="-122"/>
                <a:cs typeface="IBM Plex Sans" pitchFamily="34" charset="-120"/>
              </a:rPr>
              <a:t>12 / 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8FA"/>
        </a:solidFill>
      </p:bgPr>
    </p:bg>
    <p:spTree>
      <p:nvGrpSpPr>
        <p:cNvPr id="1" name=""/>
        <p:cNvGrpSpPr/>
        <p:nvPr/>
      </p:nvGrpSpPr>
      <p:grpSpPr>
        <a:xfrm>
          <a:off x="0" y="0"/>
          <a:ext cx="0" cy="0"/>
          <a:chOff x="0" y="0"/>
          <a:chExt cx="0" cy="0"/>
        </a:xfrm>
      </p:grpSpPr>
      <p:pic>
        <p:nvPicPr>
          <p:cNvPr id="2" name="Image 0" descr="UAM Unidad Iztapalapa">    </p:cNvPr>
          <p:cNvPicPr>
            <a:picLocks noChangeAspect="1"/>
          </p:cNvPicPr>
          <p:nvPr/>
        </p:nvPicPr>
        <p:blipFill>
          <a:blip r:embed="rId1"/>
          <a:srcRect l="-363" r="-363" t="0" b="0"/>
          <a:stretch/>
        </p:blipFill>
        <p:spPr>
          <a:xfrm>
            <a:off x="10261600" y="228600"/>
            <a:ext cx="508000" cy="406400"/>
          </a:xfrm>
          <a:prstGeom prst="rect">
            <a:avLst/>
          </a:prstGeom>
        </p:spPr>
      </p:pic>
      <p:pic>
        <p:nvPicPr>
          <p:cNvPr id="3" name="Image 1" descr="Logotipo de Image Bio Pro">    </p:cNvPr>
          <p:cNvPicPr>
            <a:picLocks noChangeAspect="1"/>
          </p:cNvPicPr>
          <p:nvPr/>
        </p:nvPicPr>
        <p:blipFill>
          <a:blip r:embed="rId2"/>
          <a:srcRect l="-351" r="-351" t="0" b="0"/>
          <a:stretch/>
        </p:blipFill>
        <p:spPr>
          <a:xfrm>
            <a:off x="10972800" y="228600"/>
            <a:ext cx="406400" cy="406400"/>
          </a:xfrm>
          <a:prstGeom prst="rect">
            <a:avLst/>
          </a:prstGeom>
        </p:spPr>
      </p:pic>
      <p:sp>
        <p:nvSpPr>
          <p:cNvPr id="4"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A3480F"/>
                </a:solidFill>
                <a:latin typeface="IBM Plex Sans" pitchFamily="34" charset="0"/>
                <a:ea typeface="IBM Plex Sans" pitchFamily="34" charset="-122"/>
                <a:cs typeface="IBM Plex Sans" pitchFamily="34" charset="-120"/>
              </a:rPr>
              <a:t>EL PROBLEMA</a:t>
            </a:r>
            <a:endParaRPr lang="en-US" sz="1200" dirty="0"/>
          </a:p>
        </p:txBody>
      </p:sp>
      <p:sp>
        <p:nvSpPr>
          <p:cNvPr id="5" name="Text 1"/>
          <p:cNvSpPr/>
          <p:nvPr>
            <p:ph type="title"/>
          </p:nvPr>
        </p:nvSpPr>
        <p:spPr>
          <a:xfrm>
            <a:off x="812800" y="11023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0C2A3E"/>
                </a:solidFill>
                <a:latin typeface="EB Garamond" pitchFamily="18" charset="0"/>
                <a:ea typeface="EB Garamond" pitchFamily="18" charset="-122"/>
                <a:cs typeface="EB Garamond" pitchFamily="18" charset="-120"/>
              </a:rPr>
              <a:t>El camino de una imagen a un número</a:t>
            </a:r>
            <a:endParaRPr lang="en-US" sz="3600" dirty="0"/>
          </a:p>
        </p:txBody>
      </p:sp>
      <p:sp>
        <p:nvSpPr>
          <p:cNvPr id="6" name="Shape 2"/>
          <p:cNvSpPr/>
          <p:nvPr/>
        </p:nvSpPr>
        <p:spPr>
          <a:xfrm>
            <a:off x="819150" y="1865511"/>
            <a:ext cx="2254250" cy="1957983"/>
          </a:xfrm>
          <a:prstGeom prst="roundRect">
            <a:avLst>
              <a:gd name="adj" fmla="val 6162"/>
            </a:avLst>
          </a:prstGeom>
          <a:solidFill>
            <a:srgbClr val="FCFDFD"/>
          </a:solidFill>
          <a:ln w="12700">
            <a:solidFill>
              <a:srgbClr val="D5E3EA"/>
            </a:solidFill>
            <a:prstDash val="solid"/>
          </a:ln>
        </p:spPr>
      </p:sp>
      <p:sp>
        <p:nvSpPr>
          <p:cNvPr id="7" name="Text 3"/>
          <p:cNvSpPr/>
          <p:nvPr/>
        </p:nvSpPr>
        <p:spPr>
          <a:xfrm>
            <a:off x="1016000" y="20623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1 · ENTRA</a:t>
            </a:r>
            <a:endParaRPr lang="en-US" sz="1200" dirty="0"/>
          </a:p>
        </p:txBody>
      </p:sp>
      <p:sp>
        <p:nvSpPr>
          <p:cNvPr id="8" name="Text 4"/>
          <p:cNvSpPr/>
          <p:nvPr/>
        </p:nvSpPr>
        <p:spPr>
          <a:xfrm>
            <a:off x="1016000" y="23518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La imagen</a:t>
            </a:r>
            <a:endParaRPr lang="en-US" sz="1800" dirty="0"/>
          </a:p>
        </p:txBody>
      </p:sp>
      <p:sp>
        <p:nvSpPr>
          <p:cNvPr id="9" name="Text 5"/>
          <p:cNvSpPr/>
          <p:nvPr/>
        </p:nvSpPr>
        <p:spPr>
          <a:xfrm>
            <a:off x="1016000" y="2702322"/>
            <a:ext cx="1916367" cy="949722"/>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Se sube al sitio y se prepara al tamaño y formato que la red espera.</a:t>
            </a:r>
            <a:endParaRPr lang="en-US" sz="1300" dirty="0"/>
          </a:p>
        </p:txBody>
      </p:sp>
      <p:pic>
        <p:nvPicPr>
          <p:cNvPr id="10" name="Image 2" descr="arrow-right">    </p:cNvPr>
          <p:cNvPicPr>
            <a:picLocks noChangeAspect="1"/>
          </p:cNvPicPr>
          <p:nvPr/>
        </p:nvPicPr>
        <p:blipFill>
          <a:blip r:embed="rId3"/>
          <a:srcRect l="0" r="0" t="0" b="0"/>
          <a:stretch/>
        </p:blipFill>
        <p:spPr>
          <a:xfrm>
            <a:off x="3181350" y="2717502"/>
            <a:ext cx="304800" cy="254000"/>
          </a:xfrm>
          <a:prstGeom prst="rect">
            <a:avLst/>
          </a:prstGeom>
        </p:spPr>
      </p:pic>
      <p:sp>
        <p:nvSpPr>
          <p:cNvPr id="11" name="Shape 6"/>
          <p:cNvSpPr/>
          <p:nvPr/>
        </p:nvSpPr>
        <p:spPr>
          <a:xfrm>
            <a:off x="3587750" y="1859161"/>
            <a:ext cx="2241550" cy="1970683"/>
          </a:xfrm>
          <a:prstGeom prst="roundRect">
            <a:avLst>
              <a:gd name="adj" fmla="val 6444"/>
            </a:avLst>
          </a:prstGeom>
          <a:solidFill>
            <a:srgbClr val="0B1F2E"/>
          </a:solidFill>
          <a:ln/>
        </p:spPr>
      </p:sp>
      <p:sp>
        <p:nvSpPr>
          <p:cNvPr id="12" name="Text 7"/>
          <p:cNvSpPr/>
          <p:nvPr/>
        </p:nvSpPr>
        <p:spPr>
          <a:xfrm>
            <a:off x="3778250" y="20496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F4A259"/>
                </a:solidFill>
                <a:latin typeface="IBM Plex Sans" pitchFamily="34" charset="0"/>
                <a:ea typeface="IBM Plex Sans" pitchFamily="34" charset="-122"/>
                <a:cs typeface="IBM Plex Sans" pitchFamily="34" charset="-120"/>
              </a:rPr>
              <a:t>2 · APRENDE</a:t>
            </a:r>
            <a:endParaRPr lang="en-US" sz="1200" dirty="0"/>
          </a:p>
        </p:txBody>
      </p:sp>
      <p:sp>
        <p:nvSpPr>
          <p:cNvPr id="13" name="Text 8"/>
          <p:cNvSpPr/>
          <p:nvPr/>
        </p:nvSpPr>
        <p:spPr>
          <a:xfrm>
            <a:off x="3778250" y="23391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1F6F8"/>
                </a:solidFill>
                <a:latin typeface="IBM Plex Sans" pitchFamily="34" charset="0"/>
                <a:ea typeface="IBM Plex Sans" pitchFamily="34" charset="-122"/>
                <a:cs typeface="IBM Plex Sans" pitchFamily="34" charset="-120"/>
              </a:rPr>
              <a:t>La red neuronal</a:t>
            </a:r>
            <a:endParaRPr lang="en-US" sz="1800" dirty="0"/>
          </a:p>
        </p:txBody>
      </p:sp>
      <p:sp>
        <p:nvSpPr>
          <p:cNvPr id="14" name="Text 9"/>
          <p:cNvSpPr/>
          <p:nvPr/>
        </p:nvSpPr>
        <p:spPr>
          <a:xfrm>
            <a:off x="3778250" y="2689622"/>
            <a:ext cx="1916367"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3D7E2"/>
                </a:solidFill>
                <a:latin typeface="IBM Plex Sans" pitchFamily="34" charset="0"/>
                <a:ea typeface="IBM Plex Sans" pitchFamily="34" charset="-122"/>
                <a:cs typeface="IBM Plex Sans" pitchFamily="34" charset="-120"/>
              </a:rPr>
              <a:t>Encuentra las cabezas y traza el contorno de cada una.</a:t>
            </a:r>
            <a:endParaRPr lang="en-US" sz="1300" dirty="0"/>
          </a:p>
        </p:txBody>
      </p:sp>
      <p:pic>
        <p:nvPicPr>
          <p:cNvPr id="15" name="Image 3" descr="arrow-right">    </p:cNvPr>
          <p:cNvPicPr>
            <a:picLocks noChangeAspect="1"/>
          </p:cNvPicPr>
          <p:nvPr/>
        </p:nvPicPr>
        <p:blipFill>
          <a:blip r:embed="rId4"/>
          <a:srcRect l="0" r="0" t="0" b="0"/>
          <a:stretch/>
        </p:blipFill>
        <p:spPr>
          <a:xfrm>
            <a:off x="5930900" y="2717502"/>
            <a:ext cx="304800" cy="254000"/>
          </a:xfrm>
          <a:prstGeom prst="rect">
            <a:avLst/>
          </a:prstGeom>
        </p:spPr>
      </p:pic>
      <p:sp>
        <p:nvSpPr>
          <p:cNvPr id="16" name="Shape 10"/>
          <p:cNvSpPr/>
          <p:nvPr/>
        </p:nvSpPr>
        <p:spPr>
          <a:xfrm>
            <a:off x="6343650" y="1865511"/>
            <a:ext cx="2254250" cy="1957983"/>
          </a:xfrm>
          <a:prstGeom prst="roundRect">
            <a:avLst>
              <a:gd name="adj" fmla="val 6162"/>
            </a:avLst>
          </a:prstGeom>
          <a:solidFill>
            <a:srgbClr val="FCFDFD"/>
          </a:solidFill>
          <a:ln w="12700">
            <a:solidFill>
              <a:srgbClr val="D5E3EA"/>
            </a:solidFill>
            <a:prstDash val="solid"/>
          </a:ln>
        </p:spPr>
      </p:sp>
      <p:sp>
        <p:nvSpPr>
          <p:cNvPr id="17" name="Text 11"/>
          <p:cNvSpPr/>
          <p:nvPr/>
        </p:nvSpPr>
        <p:spPr>
          <a:xfrm>
            <a:off x="6540500" y="20623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3 · CALCULA</a:t>
            </a:r>
            <a:endParaRPr lang="en-US" sz="1200" dirty="0"/>
          </a:p>
        </p:txBody>
      </p:sp>
      <p:sp>
        <p:nvSpPr>
          <p:cNvPr id="18" name="Text 12"/>
          <p:cNvSpPr/>
          <p:nvPr/>
        </p:nvSpPr>
        <p:spPr>
          <a:xfrm>
            <a:off x="6540500" y="23518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El código</a:t>
            </a:r>
            <a:endParaRPr lang="en-US" sz="1800" dirty="0"/>
          </a:p>
        </p:txBody>
      </p:sp>
      <p:sp>
        <p:nvSpPr>
          <p:cNvPr id="19" name="Text 13"/>
          <p:cNvSpPr/>
          <p:nvPr/>
        </p:nvSpPr>
        <p:spPr>
          <a:xfrm>
            <a:off x="6540500" y="2702322"/>
            <a:ext cx="1916367" cy="71864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Área, largo y color de cada contorno; conteo, media y desviación.</a:t>
            </a:r>
            <a:endParaRPr lang="en-US" sz="1300" dirty="0"/>
          </a:p>
        </p:txBody>
      </p:sp>
      <p:pic>
        <p:nvPicPr>
          <p:cNvPr id="20" name="Image 4" descr="arrow-right">    </p:cNvPr>
          <p:cNvPicPr>
            <a:picLocks noChangeAspect="1"/>
          </p:cNvPicPr>
          <p:nvPr/>
        </p:nvPicPr>
        <p:blipFill>
          <a:blip r:embed="rId5"/>
          <a:srcRect l="0" r="0" t="0" b="0"/>
          <a:stretch/>
        </p:blipFill>
        <p:spPr>
          <a:xfrm>
            <a:off x="8705850" y="2717502"/>
            <a:ext cx="304800" cy="254000"/>
          </a:xfrm>
          <a:prstGeom prst="rect">
            <a:avLst/>
          </a:prstGeom>
        </p:spPr>
      </p:pic>
      <p:sp>
        <p:nvSpPr>
          <p:cNvPr id="21" name="Shape 14"/>
          <p:cNvSpPr/>
          <p:nvPr/>
        </p:nvSpPr>
        <p:spPr>
          <a:xfrm>
            <a:off x="9118600" y="1865511"/>
            <a:ext cx="2254250" cy="1957983"/>
          </a:xfrm>
          <a:prstGeom prst="roundRect">
            <a:avLst>
              <a:gd name="adj" fmla="val 6162"/>
            </a:avLst>
          </a:prstGeom>
          <a:solidFill>
            <a:srgbClr val="FCFDFD"/>
          </a:solidFill>
          <a:ln w="12700">
            <a:solidFill>
              <a:srgbClr val="D5E3EA"/>
            </a:solidFill>
            <a:prstDash val="solid"/>
          </a:ln>
        </p:spPr>
      </p:sp>
      <p:sp>
        <p:nvSpPr>
          <p:cNvPr id="22" name="Text 15"/>
          <p:cNvSpPr/>
          <p:nvPr/>
        </p:nvSpPr>
        <p:spPr>
          <a:xfrm>
            <a:off x="9315450" y="2062361"/>
            <a:ext cx="1916367"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0E6E9C"/>
                </a:solidFill>
                <a:latin typeface="IBM Plex Sans" pitchFamily="34" charset="0"/>
                <a:ea typeface="IBM Plex Sans" pitchFamily="34" charset="-122"/>
                <a:cs typeface="IBM Plex Sans" pitchFamily="34" charset="-120"/>
              </a:rPr>
              <a:t>4 · SALE</a:t>
            </a:r>
            <a:endParaRPr lang="en-US" sz="1200" dirty="0"/>
          </a:p>
        </p:txBody>
      </p:sp>
      <p:sp>
        <p:nvSpPr>
          <p:cNvPr id="23" name="Text 16"/>
          <p:cNvSpPr/>
          <p:nvPr/>
        </p:nvSpPr>
        <p:spPr>
          <a:xfrm>
            <a:off x="9315450" y="2351881"/>
            <a:ext cx="1916367" cy="299641"/>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0C2A3E"/>
                </a:solidFill>
                <a:latin typeface="IBM Plex Sans" pitchFamily="34" charset="0"/>
                <a:ea typeface="IBM Plex Sans" pitchFamily="34" charset="-122"/>
                <a:cs typeface="IBM Plex Sans" pitchFamily="34" charset="-120"/>
              </a:rPr>
              <a:t>Los resultados</a:t>
            </a:r>
            <a:endParaRPr lang="en-US" sz="1800" dirty="0"/>
          </a:p>
        </p:txBody>
      </p:sp>
      <p:sp>
        <p:nvSpPr>
          <p:cNvPr id="24" name="Text 17"/>
          <p:cNvSpPr/>
          <p:nvPr/>
        </p:nvSpPr>
        <p:spPr>
          <a:xfrm>
            <a:off x="9315450" y="2702322"/>
            <a:ext cx="1916367" cy="487561"/>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5566"/>
                </a:solidFill>
                <a:latin typeface="IBM Plex Sans" pitchFamily="34" charset="0"/>
                <a:ea typeface="IBM Plex Sans" pitchFamily="34" charset="-122"/>
                <a:cs typeface="IBM Plex Sans" pitchFamily="34" charset="-120"/>
              </a:rPr>
              <a:t>Imagen marcada, tabla, gráfica, CSV y PDF.</a:t>
            </a:r>
            <a:endParaRPr lang="en-US" sz="1300" dirty="0"/>
          </a:p>
        </p:txBody>
      </p:sp>
      <p:sp>
        <p:nvSpPr>
          <p:cNvPr id="25" name="Shape 18"/>
          <p:cNvSpPr/>
          <p:nvPr/>
        </p:nvSpPr>
        <p:spPr>
          <a:xfrm>
            <a:off x="812800" y="4083844"/>
            <a:ext cx="10566400" cy="869950"/>
          </a:xfrm>
          <a:prstGeom prst="roundRect">
            <a:avLst>
              <a:gd name="adj" fmla="val 14599"/>
            </a:avLst>
          </a:prstGeom>
          <a:solidFill>
            <a:srgbClr val="E3EFF5"/>
          </a:solidFill>
          <a:ln/>
        </p:spPr>
      </p:sp>
      <p:pic>
        <p:nvPicPr>
          <p:cNvPr id="26" name="Image 5" descr="Lightbulb">    </p:cNvPr>
          <p:cNvPicPr>
            <a:picLocks noChangeAspect="1"/>
          </p:cNvPicPr>
          <p:nvPr/>
        </p:nvPicPr>
        <p:blipFill>
          <a:blip r:embed="rId6"/>
          <a:srcRect l="-260" r="-260" t="0" b="0"/>
          <a:stretch/>
        </p:blipFill>
        <p:spPr>
          <a:xfrm>
            <a:off x="1041400" y="4366419"/>
            <a:ext cx="248940" cy="304800"/>
          </a:xfrm>
          <a:prstGeom prst="rect">
            <a:avLst/>
          </a:prstGeom>
        </p:spPr>
      </p:pic>
      <p:sp>
        <p:nvSpPr>
          <p:cNvPr id="27" name="Text 19"/>
          <p:cNvSpPr/>
          <p:nvPr/>
        </p:nvSpPr>
        <p:spPr>
          <a:xfrm>
            <a:off x="1417340" y="4261644"/>
            <a:ext cx="1002525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0C2A3E"/>
                </a:solidFill>
                <a:latin typeface="IBM Plex Sans" pitchFamily="34" charset="0"/>
                <a:ea typeface="IBM Plex Sans" pitchFamily="34" charset="-122"/>
                <a:cs typeface="IBM Plex Sans" pitchFamily="34" charset="-120"/>
              </a:rPr>
              <a:t>Una parte aprende y otra calcula. Lo que aprende necesita ejemplos y entrenamiento; lo que calcula es preciso, repetible y se puede revisar.</a:t>
            </a:r>
            <a:endParaRPr lang="en-US" sz="1500" dirty="0"/>
          </a:p>
        </p:txBody>
      </p:sp>
      <p:sp>
        <p:nvSpPr>
          <p:cNvPr id="28" name="Text 20"/>
          <p:cNvSpPr/>
          <p:nvPr/>
        </p:nvSpPr>
        <p:spPr>
          <a:xfrm>
            <a:off x="812800" y="6238280"/>
            <a:ext cx="5886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Image Bio Pro · Sesión 1 · Parte 1</a:t>
            </a:r>
            <a:endParaRPr lang="en-US" sz="1200" dirty="0"/>
          </a:p>
        </p:txBody>
      </p:sp>
      <p:sp>
        <p:nvSpPr>
          <p:cNvPr id="29" name="Text 21"/>
          <p:cNvSpPr/>
          <p:nvPr/>
        </p:nvSpPr>
        <p:spPr>
          <a:xfrm>
            <a:off x="10058400" y="6238280"/>
            <a:ext cx="1320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E7280"/>
                </a:solidFill>
                <a:latin typeface="IBM Plex Sans" pitchFamily="34" charset="0"/>
                <a:ea typeface="IBM Plex Sans" pitchFamily="34" charset="-122"/>
                <a:cs typeface="IBM Plex Sans" pitchFamily="34" charset="-120"/>
              </a:rPr>
              <a:t>13 / 13</a:t>
            </a:r>
            <a:endParaRPr lang="en-US" sz="1200" dirty="0"/>
          </a:p>
        </p:txBody>
      </p:sp>
    </p:spTree>
  </p:cSld>
  <p:clrMapOvr>
    <a:masterClrMapping/>
  </p:clrMapOvr>
</p:sld>
</file>

<file path=ppt/theme/theme1.xml><?xml version="1.0" encoding="utf-8"?>
<a:theme xmlns:a="http://schemas.openxmlformats.org/drawingml/2006/main" name="Image Bio Pro · Sesión 1 · Video 1: El problema">
  <a:themeElements>
    <a:clrScheme name="Image Bio Pro · Sesión 1 · Video 1: El problema">
      <a:dk1>
        <a:srgbClr val="0C2A3E"/>
      </a:dk1>
      <a:lt1>
        <a:srgbClr val="F4F8FA"/>
      </a:lt1>
      <a:dk2>
        <a:srgbClr val="465E6D"/>
      </a:dk2>
      <a:lt2>
        <a:srgbClr val="DDE3E7"/>
      </a:lt2>
      <a:accent1>
        <a:srgbClr val="3E5566"/>
      </a:accent1>
      <a:accent2>
        <a:srgbClr val="A3480F"/>
      </a:accent2>
      <a:accent3>
        <a:srgbClr val="F4A259"/>
      </a:accent3>
      <a:accent4>
        <a:srgbClr val="0E6E9C"/>
      </a:accent4>
      <a:accent5>
        <a:srgbClr val="8FA9B8"/>
      </a:accent5>
      <a:accent6>
        <a:srgbClr val="6CCFF6"/>
      </a:accent6>
      <a:hlink>
        <a:srgbClr val="0563C1"/>
      </a:hlink>
      <a:folHlink>
        <a:srgbClr val="954F72"/>
      </a:folHlink>
    </a:clrScheme>
    <a:fontScheme name="Image Bio Pro · Sesión 1 · Video 1: El problema">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Image Bio Pro · Sesión 1 · Video 1: El problema</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EB Garamond
Copyright 2017 The EB Garamond Project Authors (https://github.com/octaviopardo/EBGaramond12)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2026-10-24T13:46:44Z</dcterms:created>
  <dcterms:modified xsi:type="dcterms:W3CDTF">2026-10-24T13:46:44Z</dcterms:modified>
</cp:coreProperties>
</file>