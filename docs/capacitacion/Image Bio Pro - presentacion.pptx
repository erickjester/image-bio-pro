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1.1. Bienvenida y propósito de la presentación.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1.2, párrafo 1. Un sitio web bilingüe que analiza imágenes de fluorescencia: detecta, cuenta, mide y dibuja la distribución. Resultado de una fotografía real.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1.2, párrafo 2. Contar y medir células a mano es lento, repetitivo y cambia según quién lo haga.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1.2, párrafo 3. La red tiene un solo trabajo: decidir dónde hay un espermatozoide y trazar su contorno. Todo lo demás sale de código convencional.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1.2, párrafo 6. Cada parte necesita cuidados distintos, y las dos están documentadas en el repositorio.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1.3, párrafo 2. Menú de hamburguesa con las secciones Inicio, Nosotros, Aliados, Infografías y videos, Inteligencia Artificial y Contacto; selector ES y 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1.3, párrafo 3. El usuario crea una cuenta, sube hasta diez imágenes, el sistema las analiza con barra de progreso y entrega resultados en pantalla, CSV y PDF.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1.3, párrafo 6. Trabaja con las fotografías de fluorescencia del grupo; el servidor solo hace inferencia y el entrenamiento ocurre en Colab. No interpreta los resultados.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1.4, párrafo 2. Cuatro fotografías en fluorescencia con 258 espermatozoides etiquetados y cuatro en fondo claro con 45; en las zonas aglomeradas el conteo es una estimación.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1.4, párrafo 3. Las fotografías no traen barra de escala; el sitio usa 60 píxeles por micra a partir de una raya de 300 píxeles que equivale a cinco micras. Tiempos de análisis en escritorio.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1.5, párrafo 1. Los tres principios con los que se trabajó: no suponer, separar lo que decide la red de lo que se mide y reproducibilidad.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2.1. Cambiar al navegador. Zoom al 125 % para que se lea bien en la videollamada. Empezar sin sesión iniciada, para mostrar lo que ve cualquier visitante.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2.1, párrafo 2. Nombre del proyecto y lema, botón Menú, selector de idioma y acceso para iniciar sesión; un espacio para imagen principal, título, párrafo y botón «Analizar una imagen».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2.1, párrafo 4. Nosotros explica qué es Image Bio Pro; Aliados muestra a las personas con nombre y foto; Infografías y videos funciona como un blog; Contacto tiene el formulario y guarda cada mensaje.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2.1, párrafo 6. Con EN el sitio se traduce al inglés con el servicio de Google. En el pie de página: nombre, institución, correo, enlaces, aviso de privacidad y licencia Creative Commons Atribución-No Comercial.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2.1, párrafo 8. Estilo sobrio, con pocos colores. El sitio usa Bootstrap, así que se adapta a distintos tamaños de pantalla.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2.2, párrafo 1. La página Mi cuenta tiene dos columnas: a la izquierda quien ya tiene cuenta, a la derecha el registro con nombre, correo y contraseña de al menos ocho caracteres.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2.2, párrafo 3. Revisa que los tres campos estén llenos, que el correo sea válido, que la contraseña mida ocho caracteres o más y que no exista la cuenta. Si todo está bien, la sesión se inicia en el acto.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2.2, párrafo 5. Tres decisiones de diseño: registro sin aprobación, contraseñas guardadas como resumen cifrado y un código oculto en cada formulario.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2.2, párrafo 8. Salir avisa «Cerraste sesión»; la casilla Recordarme mantiene la sesión; el error de inicio es deliberadamente vago.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2.3, párrafo 2. El recuadro tiene un campo para elegir archivos, el botón Analizar y el botón de la imagen de ejemplo; sin parámetros ajustables. Se aceptan de una a diez imágenes.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2.3, párrafo 5. Aparece una cubierta con «Analizando las imágenes…», una barra de progreso animada y «No cierres esta página».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2.3, párrafo 7. Una fotografía grande de fluorescencia tarda unos cuarenta segundos y una de fondo claro entre diez y veinte; con varias imágenes el tiempo es la suma.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2.4, párrafo 1. Se lee de arriba hacia abajo: encabezado, recuadros de contexto, bloque de cada imagen con su imagen marcada, datos principales, gráfica y tabla.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2.4, párrafo 3. El encabezado lleva el nombre de quien hizo el análisis con fecha y hora exactas. Los dos recuadros de contexto, el amarillo del modelo y el azul de la escala, también van en el PDF.</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2.4, párrafo 6. A la izquierda la fotografía con cada espermatozoide marcado y numerado; a la derecha el conteo, el área media y la desviación estándar, y el largo y las medidas en micras.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2.4, párrafo 9. Es un histograma: el eje horizontal es el área en píxeles dividida en intervalos y el vertical cuántas células cayeron en cada uno. No se supone ninguna forma.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2.5, párrafo 1. El visor en pantalla completa tiene zoom, ajuste y tamaño real; sirve para comprobar si cada contorno corresponde a un espermatozoide.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2.5, párrafo 3. El recuadro muestra número, área y largo en píxeles y en micras. Por debajo hay un polígono por espermatozoide con los puntos exactos del contorno.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2.6, párrafo 2. Dos fotografías con 120 y 80 espermatozoides, áreas medias de 900 y 1100 píxeles y desviaciones de 150 y 250. Los valores son inventados.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2.6, párrafo 6. La diferencia entre novecientos y mil cien puede ser real o ruido; para afirmarlo hace falta una prueba estadística, y el CSV entrega los datos por espermatozoide.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2.6, párrafo 8. Los píxeles y las micras; la calidad del análisis y el hábito de leer los resultados como cualquier medición.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2.7, párrafo 2. Si no se elige ninguna imagen, si se eligen más de diez o si un archivo tiene una extensión no admitida, el sitio rechaza el envío completo y dice por qué.</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2.7, párrafo 4. Un archivo que no se abre, una imagen sin nada encontrado y menos de tres espermatozoides tienen su propio aviso. El sistema siempre dice qué pasó.</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2.7, párrafo 7. Si faltaran los archivos de los modelos, el sitio usa una detección basada en un umbral de color y lo anuncia con un recuadro amarillo.</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2.8, párrafo 1. Un lote de tres fotografías: dos de fluorescencia y una de fondo claro, para ver cómo decide el sitio qué modelo aplicar.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2.8, párrafo 3. Se toma el máximo de los tres canales en cada píxel, se calcula la mediana y, si pasa de 127, es de fondo claro. No hay aprendizaje en esa decisión.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2.8, párrafo 5. Tres bloques, uno por imagen, y al final la gráfica «Promedio entre las tres imágenes». Cada imagen se analiza de forma independiente.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2.9, párrafo 2. En la esquina inferior izquierda de la imagen marcada hay una línea de 300 píxeles con el texto «300 px = 5 micras».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2.9, párrafo 5. El sitio usa sesenta píxeles por micra, y la escala se guarda en una tabla con un valor para cada resolución, editable sin tocar el código.</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2.10, párrafo 2. Seis columnas: imagen, espermatozoide, área y largo en píxeles, área y largo en micras. Una fila por espermatozoide; varias imágenes en el mismo archivo.</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2.10, párrafo 4. La primera página reúne el encabezado, el usuario, la fecha y los recuadros de contexto; luego hay una página por imagen y todo va en un solo PDF.</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2.10, párrafo 6. En pantalla Chart.js, en el PDF matplotlib; el PDF se arma con fpdf2.</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2.10, párrafo 8. Imprimir abre el cuadro del navegador y oculta menú y botones. El PDF se genera una sola vez y se guarda; se entrega siempre el mismo archivo.</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2.11, párrafo 2. Una tabla con una fila por análisis: fecha y hora, imágenes y enlaces al PDF y al CSV; la fecha abre la página de resultados guardada.</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2.11, párrafo 5. Cada análisis es visible solo para quien lo hizo; la dirección de uno ajeno responde como si no existiera. Los archivos de los modelos viven en el servidor.</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2.12, párrafo 2. Las preguntas más probables: contraseña olvidada, más de diez imágenes, resultado repetible, imagen original, privacidad y peso por envío.</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2.12, párrafo 8. Otra tinción u otro tipo de célula no es confiable sin reentrenar; si el sitio no puede analizar una imagen se revisa formato y enfoque; el análisis se hace en el servidor.</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2.13, párrafo 2. Trabajar con archivos originales, agrupar por tipo y condición, revisar la imagen marcada, guardar el CSV y llevar un registro de las imágenes difíciles.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2.14, párrafo 3. Pregunta retórica que lleva al tercer bloque.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3.1. Aclarar que se irá de lo concreto a lo general, sin ecuaciones: cuando una idea tenga fórmula, se dice con palabras qué hace. Las tres preguntas son la meta del bloque: que quede claro cómo responderlas.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3.1, párrafo 3. El sitio incluye esta técnica como respaldo: es la detección de emergencia.</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3.1, párrafo 6. En lugar de escribir las reglas, se muestran ejemplos y se deja que el sistema las encuentre. De esa inversión depende todo lo que sigue.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3.1, párrafo 9. No tiene el concepto ni sabe de biología. Tiene una enorme colección de números ajustados de modo que, ante ciertos patrones de píxeles, produce una salida que coincide con lo que las personas marcaron. Es un reconocedor de patrones muy sofisticado, y nada más.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3.2. Es más una inspiración histórica que una descripción fiel de la biología. Cuatro pasos: entradas, pesos, suma y activación. El sesgo desplaza el punto desde el cual la neurona empieza a activarse.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3.2, párrafo 3. Ejemplo deliberadamente simple: una neurona que decide si un punto es rojo e intenso. Recibe la cantidad de rojo, de verde y de azul de un píxel; peso grande a la entrada del rojo, pesos pequeños o negativos a las otras dos.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3.2, párrafo 5. La más usada hoy es simple. Esquema, no datos reales.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3.2. La salida de una capa es la entrada de la siguiente; cada una trabaja con un resumen más abstracto. Cuando tiene muchas capas se habla de aprendizaje profundo. Esquema simplificado.</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3.2, párrafo 10. Que un modelo esté «entrenado» significa que cada uno de esos millones de números ya tiene un valor adecuado. Un modelo sin entrenar tiene los mismos pesos con valores arbitrarios y produce respuestas sin sentido.</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3.2, párrafo 12. El concepto nació de la idea de que las neuronas biológicas reciben señales, las ponderan y se activan según el total.</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3.3. Ensayo y corrección, parecido a cómo aprenden las personas: predecir, comparar, ajustar y repetir. Se desarrolla paso a paso en las diapositivas siguientes.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3.3, párrafo 3. Para mejorar, la red necesita saber cuánto se equivocó.</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3.3, párrafo 5. Tiene consecuencias prácticas para el grupo.</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3.3, párrafo 7. Es el algoritmo con que se entrena una red.</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3.3, párrafos 9 a 12. Tres términos que se oirán seguido.</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3.3, párrafo 13. Es un detalle de implementación.</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3.3, párrafo 15. Por eso, al hablar de medidas de calidad, siempre se aclara que se calcularon sobre imágenes que el modelo no vio al entrenar.</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3.4, párrafos 1 y 2. No tiene nada que ver con espermatozoides; sirve para ver la mecánica.</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3.4, párrafos 3 y 4. Elevar al cuadrado hace que errores grandes pesen mucho más que errores chicos y que no importe si nos pasamos o nos quedamos cortos. El signo negativo indica que subir el peso baja la pérdida.</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3.4, párrafo 5. Restar un número negativo equivale a sumar.</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3.4, párrafo 8. Es lo que se llamó saltar por encima del valle. En este caso el cuaderno se detiene y sugiere bajar la tasa de aprendizaje.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3.5. Es un esquema, no datos reales. Con menos de diez espermatozoides en la validación, el cuaderno no elige el mejor punto con ella y se queda con la última época.</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3.5, párrafo 4. Suele subir al principio y, si todo va bien, se estabiliza.</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3.5, párrafo 6. El tamaño de la validación importa tanto como el del entrenamiento.</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3.5, párrafo 8. Así siempre se puede saber con qué se entrenó.</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3.6. Para la computadora, la imagen es una tabla enorme de valores. En una imagen a color hay tres números por píxel, normalmente de 0 a 255. Una foto de 1792 por 1374 contiene más de siete millones de números. No hay células, ni colas, ni fondo.</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3.6, párrafo 4. Un mismo patrón, por ejemplo el borde de una célula.</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3.6, párrafo 6. El resultado es una tabla nueva, el mapa de características, donde cada valor dice cuánto se parecía a lo que busca el filtro la zona de la imagen sobre la que estuvo.</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3.6, párrafo 9. Si para contar espermatozoides conviene detectar cierto borde curvo, la red lo descubre por sí sola a partir de los ejemplos.</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3.6, párrafo 11. Casi todas las redes convolucionales las incluyen.</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3.7, párrafos 1 a 3. Es la única cuenta de toda la sesión y es sencilla. En cada fila, los dos primeros píxeles valen 10 y el tercero 200.</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3.7. Primera fila: −10 + 0 + 200 = 190. Las tres filas aportan 190 cada una: 570. Un número grande y positivo: «aquí encontré lo que busco». El filtro detecta el cambio, no el nivel.</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3.7, párrafo 6. Probemos con una zona uniforme.</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3.7, párrafo 8. Esa es la economía de la convolución.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3.7, párrafo 10. Y la imagen a color.</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3.8. Una cadena de montaje del reconocimiento, en tres etapas. Las capas iniciales sirven para cualquier imagen del mundo; las profundas, para la tarea.</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3.8, párrafo 5. Se repite la cautela de antes.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3.8, párrafo 7. La diferencia es clave para entender la nuestra.</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3.8, párrafo 9. Esquema de dos células encimadas.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3.8, párrafo 11. Esquema de dos células encimadas.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3.9, párrafo 1. Entrenarla desde cero con tan pocos ejemplos es la receta casi segura del sobreajuste: la red memorizaría las imágenes y no generalizaría a ninguna otra.</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3.9, párrafo 3. En unas semanas toca bien, en vez de los años que le tomó la guitarra. Su conocimiento previo se transfirió.</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3.9, párrafo 5. Personas, animales, vehículos, muebles, alimentos. Entre esas categorías no hay ninguna que se parezca, ni de lejos, a un espermatozoide. Las cifras son de conocimiento general: verificarlas si se quiere citarlas con exactitud.</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3.9, párrafos 7 y 8. Son las únicas que de verdad hay que aprender desde cero.</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3.9, párrafo 9. Dos extremos: congelar toda la red salvo las nuevas (rápido, con muy pocos datos, menos flexible) o dejar todos los pesos libres (más flexibilidad, más datos y más cuidado). En el cuaderno se eligió un punto intermedio. En la analogía musical: conservar el oído y el ritmo y ajustar solo lo que depende del instrumento.</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3.9, párrafo 12. Sin la transferencia, esas ocho no alcanzarían ni de lejos.</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3.9, párrafo 15. Se tomaría como base la red que ya se tiene, o incluso la preentrenada original, se afinaría con ejemplos anotados del nuevo tipo y se tendría un modelo nuevo.</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3.10, párrafo 2. Un par de detalles del cuaderno conectan con lo visto.</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3.10. El aumento de datos: con pocas imágenes el modelo corre el riesgo de memorizarlas. En cada época se le muestran versiones ligeramente distintas de los mismos recortes, todo al azar. Los recortes son de 512 px en fluorescencia y de 640 px en fondo claro, con las fotos de fondo claro reducidas a la mitad.</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3.10, párrafo 7. Tiene un límite.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3.11, párrafo 1. El diagrama que resume cómo se reparten las tareas en el sistema.</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3.11, párrafo 3. Y al final se generan los archivos.</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3.11, párrafo 5. Si se hubiera pedido a la red que predijera el tamaño directamente, el resultado no se podría auditar.</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3.11, párrafo 7. Las tres razones explican por qué se separaron las tareas.</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3.11, párrafo 9. Esto conecta con algo visto en la demostración.</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3.12, párrafo 3. Es una comprobación de integración, no de calidad científica. Cifras de docs/integracion-modelos.md.</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3.12, párrafo 4. Cuando dos objetos se superponen, el límite entre ellos es ambiguo incluso para una persona, y con pocos ejemplos de ese caso la red no tuvo oportunidades suficientes de aprender cómo resolverlo.</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3.12, párrafo 6. Así no puede decir «esto no es una muestra».</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3.12, párrafo 8. El trabajo de calidad está sobre todo en la anotación, no en el código.</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3.12, párrafo 10. Una pregunta frecuente.</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3.13, párrafo 2. Cada tipo apunta a una causa distinta.</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3.13, párrafo 4. Tercera pregunta.</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3.13, párrafo 6. Una fotografía con mal resultado es candidata para el siguiente lote de entrenamiento. En el siguiente reentrenamiento el modelo verá por primera vez un ejemplo de lo que antes no sabía resolver.</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3.14, párrafo 1. No se traen porque se crea que el grupo las comparta, sino porque son las que más aparecen cuando el tema llega a personas ajenas al proyecto, y es probable que haya que explicarlas.</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3.14, párrafo 3. Una de las seis ideas.</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3.14, párrafo 5. Una de las seis ideas.</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3.14, párrafo 7. Una de las seis ideas.</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3.14, párrafo 9. Es una herramienta de medición, y como toda herramienta de medición hay que conocer su error.</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3.15, párrafos 2 a 4. Para cerrar el bloque conceptual, las preguntas que suelen aparecer en este punto.</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3.15, párrafos 5 a 7. Se documenta en la guía de despliegue.</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3.16. Tres casos breves que reúnen lo visto: se plantea cada uno y se resuelve en las diapositivas siguientes.</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3.16, párrafo 3. Segundo caso.</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3.16, párrafo 5. Cierre de los casos.</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3.17, párrafos 2 y 3. No hay que memorizar la lista: quedará en el material de apoyo y el repositorio tiene un glosario.</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3.17, párrafos 5 y 6. Aprendizaje.</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3.17, párrafos 7 y 8. Datos y evaluación.</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3.17, párrafos 9 a 11. Al oír alguno de estos términos, sirve recordar la imagen que lo acompañaba: el filtro que se desliza, el paso en la montaña con niebla, el estudiante que memoriza el examen de práctica, el músico que cambia de instrumento.</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3.19, párrafos 1 y 2. Resumen breve.</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3.18. Resumen breve y apertura de preguntas. Completar el correo de contacto antes de la presentación.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8503920" y="1097280"/>
            <a:ext cx="4437888" cy="4754880"/>
          </a:xfrm>
          <a:prstGeom prst="rect">
            <a:avLst/>
          </a:prstGeom>
        </p:spPr>
      </p:pic>
      <p:sp>
        <p:nvSpPr>
          <p:cNvPr id="3" name="TextBox 2"/>
          <p:cNvSpPr txBox="1"/>
          <p:nvPr/>
        </p:nvSpPr>
        <p:spPr>
          <a:xfrm>
            <a:off x="640080" y="1828800"/>
            <a:ext cx="7315200" cy="365760"/>
          </a:xfrm>
          <a:prstGeom prst="rect">
            <a:avLst/>
          </a:prstGeom>
          <a:noFill/>
        </p:spPr>
        <p:txBody>
          <a:bodyPr wrap="square" anchor="t" lIns="0" rIns="0" tIns="0" bIns="0">
            <a:spAutoFit/>
          </a:bodyPr>
          <a:lstStyle/>
          <a:p>
            <a:pPr algn="l"/>
            <a:r>
              <a:rPr sz="2400" b="0">
                <a:solidFill>
                  <a:srgbClr val="FF983D"/>
                </a:solidFill>
                <a:latin typeface="ITC Avant Garde Gothic"/>
              </a:rPr>
              <a:t>Presentación del sistema</a:t>
            </a:r>
          </a:p>
        </p:txBody>
      </p:sp>
      <p:sp>
        <p:nvSpPr>
          <p:cNvPr id="4" name="TextBox 3"/>
          <p:cNvSpPr txBox="1"/>
          <p:nvPr/>
        </p:nvSpPr>
        <p:spPr>
          <a:xfrm>
            <a:off x="640080" y="2468880"/>
            <a:ext cx="7315200" cy="1097280"/>
          </a:xfrm>
          <a:prstGeom prst="rect">
            <a:avLst/>
          </a:prstGeom>
          <a:noFill/>
        </p:spPr>
        <p:txBody>
          <a:bodyPr wrap="square" anchor="t" lIns="0" rIns="0" tIns="0" bIns="0">
            <a:spAutoFit/>
          </a:bodyPr>
          <a:lstStyle/>
          <a:p>
            <a:pPr algn="l"/>
            <a:r>
              <a:rPr sz="6600" b="1">
                <a:solidFill>
                  <a:srgbClr val="FFFFFF"/>
                </a:solidFill>
                <a:latin typeface="ITC Avant Garde Gothic"/>
              </a:rPr>
              <a:t>Image Bio Pro</a:t>
            </a:r>
          </a:p>
        </p:txBody>
      </p:sp>
      <p:sp>
        <p:nvSpPr>
          <p:cNvPr id="5" name="TextBox 4"/>
          <p:cNvSpPr txBox="1"/>
          <p:nvPr/>
        </p:nvSpPr>
        <p:spPr>
          <a:xfrm>
            <a:off x="640080" y="3840480"/>
            <a:ext cx="7315200" cy="805688"/>
          </a:xfrm>
          <a:prstGeom prst="rect">
            <a:avLst/>
          </a:prstGeom>
          <a:noFill/>
        </p:spPr>
        <p:txBody>
          <a:bodyPr wrap="square" anchor="t" lIns="0" rIns="0" tIns="0" bIns="0">
            <a:spAutoFit/>
          </a:bodyPr>
          <a:lstStyle/>
          <a:p>
            <a:pPr algn="l"/>
            <a:r>
              <a:rPr sz="2600" b="0">
                <a:solidFill>
                  <a:srgbClr val="C7C2EF"/>
                </a:solidFill>
                <a:latin typeface="ITC Avant Garde Gothic"/>
              </a:rPr>
              <a:t>Qué hace el sitio y qué es una red neuronal</a:t>
            </a:r>
          </a:p>
        </p:txBody>
      </p:sp>
      <p:sp>
        <p:nvSpPr>
          <p:cNvPr id="6" name="TextBox 5"/>
          <p:cNvSpPr txBox="1"/>
          <p:nvPr/>
        </p:nvSpPr>
        <p:spPr>
          <a:xfrm>
            <a:off x="640080" y="4829048"/>
            <a:ext cx="7315200" cy="402844"/>
          </a:xfrm>
          <a:prstGeom prst="rect">
            <a:avLst/>
          </a:prstGeom>
          <a:noFill/>
        </p:spPr>
        <p:txBody>
          <a:bodyPr wrap="square" anchor="t" lIns="0" rIns="0" tIns="0" bIns="0">
            <a:spAutoFit/>
          </a:bodyPr>
          <a:lstStyle/>
          <a:p>
            <a:pPr algn="l"/>
            <a:r>
              <a:rPr sz="2600" b="0">
                <a:solidFill>
                  <a:srgbClr val="C7C2EF"/>
                </a:solidFill>
                <a:latin typeface="ITC Avant Garde Gothic"/>
              </a:rPr>
              <a:t>Ing. Angel Frausto Robles</a:t>
            </a:r>
          </a:p>
        </p:txBody>
      </p:sp>
      <p:sp>
        <p:nvSpPr>
          <p:cNvPr id="7" name="TextBox 6"/>
          <p:cNvSpPr txBox="1"/>
          <p:nvPr/>
        </p:nvSpPr>
        <p:spPr>
          <a:xfrm>
            <a:off x="640080" y="5414772"/>
            <a:ext cx="7315200" cy="805688"/>
          </a:xfrm>
          <a:prstGeom prst="rect">
            <a:avLst/>
          </a:prstGeom>
          <a:noFill/>
        </p:spPr>
        <p:txBody>
          <a:bodyPr wrap="square" anchor="t" lIns="0" rIns="0" tIns="0" bIns="0">
            <a:spAutoFit/>
          </a:bodyPr>
          <a:lstStyle/>
          <a:p>
            <a:pPr algn="l"/>
            <a:r>
              <a:rPr sz="2600" b="0">
                <a:solidFill>
                  <a:srgbClr val="C7C2EF"/>
                </a:solidFill>
                <a:latin typeface="ITC Avant Garde Gothic"/>
              </a:rPr>
              <a:t>Proyecto para un grupo de investigación de la UAM Unidad Xochimilco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5669280" cy="320040"/>
          </a:xfrm>
          <a:prstGeom prst="rect">
            <a:avLst/>
          </a:prstGeom>
          <a:noFill/>
        </p:spPr>
        <p:txBody>
          <a:bodyPr wrap="square" anchor="t" lIns="0" rIns="0" tIns="0" bIns="0">
            <a:spAutoFit/>
          </a:bodyPr>
          <a:lstStyle/>
          <a:p>
            <a:pPr algn="l"/>
            <a:r>
              <a:rPr sz="1600" b="0">
                <a:solidFill>
                  <a:srgbClr val="FF983D"/>
                </a:solidFill>
                <a:latin typeface="Retropix"/>
              </a:rPr>
              <a:t>Qué es Image Bio Pro</a:t>
            </a:r>
          </a:p>
        </p:txBody>
      </p:sp>
      <p:sp>
        <p:nvSpPr>
          <p:cNvPr id="3" name="TextBox 2"/>
          <p:cNvSpPr txBox="1"/>
          <p:nvPr/>
        </p:nvSpPr>
        <p:spPr>
          <a:xfrm>
            <a:off x="640080" y="960120"/>
            <a:ext cx="5669280" cy="1927859"/>
          </a:xfrm>
          <a:prstGeom prst="rect">
            <a:avLst/>
          </a:prstGeom>
          <a:noFill/>
        </p:spPr>
        <p:txBody>
          <a:bodyPr wrap="square" anchor="t" lIns="0" rIns="0" tIns="0" bIns="0">
            <a:spAutoFit/>
          </a:bodyPr>
          <a:lstStyle/>
          <a:p>
            <a:pPr algn="l"/>
            <a:r>
              <a:rPr sz="4400" b="1">
                <a:solidFill>
                  <a:srgbClr val="C7C2EF"/>
                </a:solidFill>
                <a:latin typeface="ITC Avant Garde Gothic"/>
              </a:rPr>
              <a:t>Una fotografía entra; contornos y datos salen</a:t>
            </a:r>
          </a:p>
        </p:txBody>
      </p:sp>
      <p:sp>
        <p:nvSpPr>
          <p:cNvPr id="4" name="Rounded Rectangle 3"/>
          <p:cNvSpPr/>
          <p:nvPr/>
        </p:nvSpPr>
        <p:spPr>
          <a:xfrm>
            <a:off x="640080" y="3253739"/>
            <a:ext cx="1706880" cy="6400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3418331"/>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3564635"/>
            <a:ext cx="1249680" cy="274319"/>
          </a:xfrm>
          <a:prstGeom prst="rect">
            <a:avLst/>
          </a:prstGeom>
          <a:noFill/>
        </p:spPr>
        <p:txBody>
          <a:bodyPr wrap="square" anchor="t" lIns="0" rIns="0" tIns="0" bIns="0">
            <a:spAutoFit/>
          </a:bodyPr>
          <a:lstStyle/>
          <a:p>
            <a:pPr algn="l"/>
            <a:r>
              <a:rPr sz="1100" b="0">
                <a:solidFill>
                  <a:srgbClr val="C7C2EF"/>
                </a:solidFill>
                <a:latin typeface="ITC Avant Garde Gothic"/>
              </a:rPr>
              <a:t>11</a:t>
            </a:r>
          </a:p>
        </p:txBody>
      </p:sp>
      <p:sp>
        <p:nvSpPr>
          <p:cNvPr id="7" name="Rounded Rectangle 6"/>
          <p:cNvSpPr/>
          <p:nvPr/>
        </p:nvSpPr>
        <p:spPr>
          <a:xfrm>
            <a:off x="2621280" y="3253739"/>
            <a:ext cx="1706880" cy="6400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49880" y="3418331"/>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49880" y="3564635"/>
            <a:ext cx="1249680" cy="274319"/>
          </a:xfrm>
          <a:prstGeom prst="rect">
            <a:avLst/>
          </a:prstGeom>
          <a:noFill/>
        </p:spPr>
        <p:txBody>
          <a:bodyPr wrap="square" anchor="t" lIns="0" rIns="0" tIns="0" bIns="0">
            <a:spAutoFit/>
          </a:bodyPr>
          <a:lstStyle/>
          <a:p>
            <a:pPr algn="l"/>
            <a:r>
              <a:rPr sz="1100" b="0">
                <a:solidFill>
                  <a:srgbClr val="C7C2EF"/>
                </a:solidFill>
                <a:latin typeface="ITC Avant Garde Gothic"/>
              </a:rPr>
              <a:t>espermatozoides</a:t>
            </a:r>
          </a:p>
        </p:txBody>
      </p:sp>
      <p:sp>
        <p:nvSpPr>
          <p:cNvPr id="10" name="Rounded Rectangle 9"/>
          <p:cNvSpPr/>
          <p:nvPr/>
        </p:nvSpPr>
        <p:spPr>
          <a:xfrm>
            <a:off x="4602480" y="3253739"/>
            <a:ext cx="1706880" cy="6400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31080" y="3418331"/>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31080" y="3564635"/>
            <a:ext cx="1249680" cy="274319"/>
          </a:xfrm>
          <a:prstGeom prst="rect">
            <a:avLst/>
          </a:prstGeom>
          <a:noFill/>
        </p:spPr>
        <p:txBody>
          <a:bodyPr wrap="square" anchor="t" lIns="0" rIns="0" tIns="0" bIns="0">
            <a:spAutoFit/>
          </a:bodyPr>
          <a:lstStyle/>
          <a:p>
            <a:pPr algn="l"/>
            <a:r>
              <a:rPr sz="1100" b="0">
                <a:solidFill>
                  <a:srgbClr val="C7C2EF"/>
                </a:solidFill>
                <a:latin typeface="ITC Avant Garde Gothic"/>
              </a:rPr>
              <a:t>1124.73</a:t>
            </a:r>
          </a:p>
        </p:txBody>
      </p:sp>
      <p:sp>
        <p:nvSpPr>
          <p:cNvPr id="13" name="Rounded Rectangle 12"/>
          <p:cNvSpPr/>
          <p:nvPr/>
        </p:nvSpPr>
        <p:spPr>
          <a:xfrm>
            <a:off x="640080" y="4168139"/>
            <a:ext cx="1706880" cy="806572"/>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68680" y="4332731"/>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479035"/>
            <a:ext cx="1249680" cy="440812"/>
          </a:xfrm>
          <a:prstGeom prst="rect">
            <a:avLst/>
          </a:prstGeom>
          <a:noFill/>
        </p:spPr>
        <p:txBody>
          <a:bodyPr wrap="square" anchor="t" lIns="0" rIns="0" tIns="0" bIns="0">
            <a:spAutoFit/>
          </a:bodyPr>
          <a:lstStyle/>
          <a:p>
            <a:pPr algn="l"/>
            <a:r>
              <a:rPr sz="1100" b="0">
                <a:solidFill>
                  <a:srgbClr val="C7C2EF"/>
                </a:solidFill>
                <a:latin typeface="ITC Avant Garde Gothic"/>
              </a:rPr>
              <a:t>área media (px)</a:t>
            </a:r>
          </a:p>
        </p:txBody>
      </p:sp>
      <p:sp>
        <p:nvSpPr>
          <p:cNvPr id="16" name="Rounded Rectangle 15"/>
          <p:cNvSpPr/>
          <p:nvPr/>
        </p:nvSpPr>
        <p:spPr>
          <a:xfrm>
            <a:off x="2621280" y="4168139"/>
            <a:ext cx="1706880" cy="806572"/>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49880" y="4332731"/>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49880" y="4479035"/>
            <a:ext cx="1249680" cy="440812"/>
          </a:xfrm>
          <a:prstGeom prst="rect">
            <a:avLst/>
          </a:prstGeom>
          <a:noFill/>
        </p:spPr>
        <p:txBody>
          <a:bodyPr wrap="square" anchor="t" lIns="0" rIns="0" tIns="0" bIns="0">
            <a:spAutoFit/>
          </a:bodyPr>
          <a:lstStyle/>
          <a:p>
            <a:pPr algn="l"/>
            <a:r>
              <a:rPr sz="1100" b="0">
                <a:solidFill>
                  <a:srgbClr val="C7C2EF"/>
                </a:solidFill>
                <a:latin typeface="ITC Avant Garde Gothic"/>
              </a:rPr>
              <a:t>624.44</a:t>
            </a:r>
          </a:p>
        </p:txBody>
      </p:sp>
      <p:sp>
        <p:nvSpPr>
          <p:cNvPr id="19" name="Rounded Rectangle 18"/>
          <p:cNvSpPr/>
          <p:nvPr/>
        </p:nvSpPr>
        <p:spPr>
          <a:xfrm>
            <a:off x="4602480" y="4168139"/>
            <a:ext cx="1706880" cy="806572"/>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831080" y="4332731"/>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31080" y="4479035"/>
            <a:ext cx="1249680" cy="440812"/>
          </a:xfrm>
          <a:prstGeom prst="rect">
            <a:avLst/>
          </a:prstGeom>
          <a:noFill/>
        </p:spPr>
        <p:txBody>
          <a:bodyPr wrap="square" anchor="t" lIns="0" rIns="0" tIns="0" bIns="0">
            <a:spAutoFit/>
          </a:bodyPr>
          <a:lstStyle/>
          <a:p>
            <a:pPr algn="l"/>
            <a:r>
              <a:rPr sz="1100" b="0">
                <a:solidFill>
                  <a:srgbClr val="C7C2EF"/>
                </a:solidFill>
                <a:latin typeface="ITC Avant Garde Gothic"/>
              </a:rPr>
              <a:t>desviación estándar</a:t>
            </a:r>
          </a:p>
        </p:txBody>
      </p:sp>
      <p:sp>
        <p:nvSpPr>
          <p:cNvPr id="22" name="TextBox 21"/>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Introducción</a:t>
            </a:r>
          </a:p>
        </p:txBody>
      </p:sp>
      <p:pic>
        <p:nvPicPr>
          <p:cNvPr id="23" name="Picture 22" descr="foto-original.png"/>
          <p:cNvPicPr>
            <a:picLocks noChangeAspect="1"/>
          </p:cNvPicPr>
          <p:nvPr/>
        </p:nvPicPr>
        <p:blipFill>
          <a:blip r:embed="rId2"/>
          <a:stretch>
            <a:fillRect/>
          </a:stretch>
        </p:blipFill>
        <p:spPr>
          <a:xfrm>
            <a:off x="6583680" y="502920"/>
            <a:ext cx="3640274" cy="2788920"/>
          </a:xfrm>
          <a:prstGeom prst="rect">
            <a:avLst/>
          </a:prstGeom>
        </p:spPr>
      </p:pic>
      <p:pic>
        <p:nvPicPr>
          <p:cNvPr id="24" name="Picture 23" descr="foto-marcada.png"/>
          <p:cNvPicPr>
            <a:picLocks noChangeAspect="1"/>
          </p:cNvPicPr>
          <p:nvPr/>
        </p:nvPicPr>
        <p:blipFill>
          <a:blip r:embed="rId3"/>
          <a:stretch>
            <a:fillRect/>
          </a:stretch>
        </p:blipFill>
        <p:spPr>
          <a:xfrm>
            <a:off x="6583680" y="3566160"/>
            <a:ext cx="3640274" cy="27889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De dónde nace</a:t>
            </a:r>
          </a:p>
        </p:txBody>
      </p:sp>
      <p:sp>
        <p:nvSpPr>
          <p:cNvPr id="3" name="TextBox 2"/>
          <p:cNvSpPr txBox="1"/>
          <p:nvPr/>
        </p:nvSpPr>
        <p:spPr>
          <a:xfrm>
            <a:off x="640080" y="960120"/>
            <a:ext cx="10911535" cy="642620"/>
          </a:xfrm>
          <a:prstGeom prst="rect">
            <a:avLst/>
          </a:prstGeom>
          <a:noFill/>
        </p:spPr>
        <p:txBody>
          <a:bodyPr wrap="square" anchor="t" lIns="0" rIns="0" tIns="0" bIns="0">
            <a:spAutoFit/>
          </a:bodyPr>
          <a:lstStyle/>
          <a:p>
            <a:pPr algn="l"/>
            <a:r>
              <a:rPr sz="4400" b="1">
                <a:solidFill>
                  <a:srgbClr val="C7C2EF"/>
                </a:solidFill>
                <a:latin typeface="ITC Avant Garde Gothic"/>
              </a:rPr>
              <a:t>Contar y medir a mano</a:t>
            </a:r>
          </a:p>
        </p:txBody>
      </p:sp>
      <p:sp>
        <p:nvSpPr>
          <p:cNvPr id="4" name="Rounded Rectangle 3"/>
          <p:cNvSpPr/>
          <p:nvPr/>
        </p:nvSpPr>
        <p:spPr>
          <a:xfrm>
            <a:off x="640080" y="1968500"/>
            <a:ext cx="3454298" cy="118364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13309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279396"/>
            <a:ext cx="2997098" cy="817880"/>
          </a:xfrm>
          <a:prstGeom prst="rect">
            <a:avLst/>
          </a:prstGeom>
          <a:noFill/>
        </p:spPr>
        <p:txBody>
          <a:bodyPr wrap="square" anchor="t" lIns="0" rIns="0" tIns="0" bIns="0">
            <a:spAutoFit/>
          </a:bodyPr>
          <a:lstStyle/>
          <a:p>
            <a:pPr algn="l"/>
            <a:r>
              <a:rPr sz="2200" b="0">
                <a:solidFill>
                  <a:srgbClr val="C7C2EF"/>
                </a:solidFill>
                <a:latin typeface="ITC Avant Garde Gothic"/>
              </a:rPr>
              <a:t>Es lento</a:t>
            </a:r>
          </a:p>
        </p:txBody>
      </p:sp>
      <p:sp>
        <p:nvSpPr>
          <p:cNvPr id="7" name="Rounded Rectangle 6"/>
          <p:cNvSpPr/>
          <p:nvPr/>
        </p:nvSpPr>
        <p:spPr>
          <a:xfrm>
            <a:off x="4368698" y="1968500"/>
            <a:ext cx="3454298" cy="118364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97298" y="213309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7298" y="2279396"/>
            <a:ext cx="2997098" cy="817880"/>
          </a:xfrm>
          <a:prstGeom prst="rect">
            <a:avLst/>
          </a:prstGeom>
          <a:noFill/>
        </p:spPr>
        <p:txBody>
          <a:bodyPr wrap="square" anchor="t" lIns="0" rIns="0" tIns="0" bIns="0">
            <a:spAutoFit/>
          </a:bodyPr>
          <a:lstStyle/>
          <a:p>
            <a:pPr algn="l"/>
            <a:r>
              <a:rPr sz="2200" b="0">
                <a:solidFill>
                  <a:srgbClr val="C7C2EF"/>
                </a:solidFill>
                <a:latin typeface="ITC Avant Garde Gothic"/>
              </a:rPr>
              <a:t>Es repetitivo</a:t>
            </a:r>
          </a:p>
        </p:txBody>
      </p:sp>
      <p:sp>
        <p:nvSpPr>
          <p:cNvPr id="10" name="Rounded Rectangle 9"/>
          <p:cNvSpPr/>
          <p:nvPr/>
        </p:nvSpPr>
        <p:spPr>
          <a:xfrm>
            <a:off x="8097316" y="1968500"/>
            <a:ext cx="3454298" cy="118364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25916" y="213309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5916" y="2279396"/>
            <a:ext cx="2997098" cy="817880"/>
          </a:xfrm>
          <a:prstGeom prst="rect">
            <a:avLst/>
          </a:prstGeom>
          <a:noFill/>
        </p:spPr>
        <p:txBody>
          <a:bodyPr wrap="square" anchor="t" lIns="0" rIns="0" tIns="0" bIns="0">
            <a:spAutoFit/>
          </a:bodyPr>
          <a:lstStyle/>
          <a:p>
            <a:pPr algn="l"/>
            <a:r>
              <a:rPr sz="2200" b="0">
                <a:solidFill>
                  <a:srgbClr val="C7C2EF"/>
                </a:solidFill>
                <a:latin typeface="ITC Avant Garde Gothic"/>
              </a:rPr>
              <a:t>Cambia según quién lo haga</a:t>
            </a:r>
          </a:p>
        </p:txBody>
      </p:sp>
      <p:sp>
        <p:nvSpPr>
          <p:cNvPr id="13" name="TextBox 12"/>
          <p:cNvSpPr txBox="1"/>
          <p:nvPr/>
        </p:nvSpPr>
        <p:spPr>
          <a:xfrm>
            <a:off x="640080" y="3335020"/>
            <a:ext cx="10911535" cy="743712"/>
          </a:xfrm>
          <a:prstGeom prst="rect">
            <a:avLst/>
          </a:prstGeom>
          <a:noFill/>
        </p:spPr>
        <p:txBody>
          <a:bodyPr wrap="square" anchor="t" lIns="0" rIns="0" tIns="0" bIns="0">
            <a:spAutoFit/>
          </a:bodyPr>
          <a:lstStyle/>
          <a:p>
            <a:pPr algn="l"/>
            <a:r>
              <a:rPr sz="2400" b="0">
                <a:solidFill>
                  <a:srgbClr val="C7C2EF"/>
                </a:solidFill>
                <a:latin typeface="ITC Avant Garde Gothic"/>
              </a:rPr>
              <a:t>Decenas o cientos de células por fotografía, muchas encimadas o pegadas.</a:t>
            </a:r>
          </a:p>
        </p:txBody>
      </p:sp>
      <p:sp>
        <p:nvSpPr>
          <p:cNvPr id="14" name="TextBox 13"/>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Introducción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División de tareas</a:t>
            </a:r>
          </a:p>
        </p:txBody>
      </p:sp>
      <p:sp>
        <p:nvSpPr>
          <p:cNvPr id="3" name="TextBox 2"/>
          <p:cNvSpPr txBox="1"/>
          <p:nvPr/>
        </p:nvSpPr>
        <p:spPr>
          <a:xfrm>
            <a:off x="640080" y="960120"/>
            <a:ext cx="10911535" cy="642620"/>
          </a:xfrm>
          <a:prstGeom prst="rect">
            <a:avLst/>
          </a:prstGeom>
          <a:noFill/>
        </p:spPr>
        <p:txBody>
          <a:bodyPr wrap="square" anchor="t" lIns="0" rIns="0" tIns="0" bIns="0">
            <a:spAutoFit/>
          </a:bodyPr>
          <a:lstStyle/>
          <a:p>
            <a:pPr algn="l"/>
            <a:r>
              <a:rPr sz="4400" b="1">
                <a:solidFill>
                  <a:srgbClr val="C7C2EF"/>
                </a:solidFill>
                <a:latin typeface="ITC Avant Garde Gothic"/>
              </a:rPr>
              <a:t>La red localiza y el código mide</a:t>
            </a:r>
          </a:p>
        </p:txBody>
      </p:sp>
      <p:sp>
        <p:nvSpPr>
          <p:cNvPr id="4" name="Rounded Rectangle 3"/>
          <p:cNvSpPr/>
          <p:nvPr/>
        </p:nvSpPr>
        <p:spPr>
          <a:xfrm>
            <a:off x="640080" y="1968500"/>
            <a:ext cx="2522143" cy="200352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13309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279396"/>
            <a:ext cx="2064943" cy="1637768"/>
          </a:xfrm>
          <a:prstGeom prst="rect">
            <a:avLst/>
          </a:prstGeom>
          <a:noFill/>
        </p:spPr>
        <p:txBody>
          <a:bodyPr wrap="square" anchor="t" lIns="0" rIns="0" tIns="0" bIns="0">
            <a:spAutoFit/>
          </a:bodyPr>
          <a:lstStyle/>
          <a:p>
            <a:pPr algn="l"/>
            <a:r>
              <a:rPr sz="1900" b="0">
                <a:solidFill>
                  <a:srgbClr val="C7C2EF"/>
                </a:solidFill>
                <a:latin typeface="ITC Avant Garde Gothic"/>
              </a:rPr>
              <a:t>Red neuronal</a:t>
            </a:r>
          </a:p>
        </p:txBody>
      </p:sp>
      <p:sp>
        <p:nvSpPr>
          <p:cNvPr id="7" name="Rounded Rectangle 6"/>
          <p:cNvSpPr/>
          <p:nvPr/>
        </p:nvSpPr>
        <p:spPr>
          <a:xfrm>
            <a:off x="3436543" y="1968500"/>
            <a:ext cx="2522143" cy="200352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65143" y="213309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65143" y="2279396"/>
            <a:ext cx="2064943" cy="1637768"/>
          </a:xfrm>
          <a:prstGeom prst="rect">
            <a:avLst/>
          </a:prstGeom>
          <a:noFill/>
        </p:spPr>
        <p:txBody>
          <a:bodyPr wrap="square" anchor="t" lIns="0" rIns="0" tIns="0" bIns="0">
            <a:spAutoFit/>
          </a:bodyPr>
          <a:lstStyle/>
          <a:p>
            <a:pPr algn="l"/>
            <a:r>
              <a:rPr sz="1900" b="0">
                <a:solidFill>
                  <a:srgbClr val="C7C2EF"/>
                </a:solidFill>
                <a:latin typeface="ITC Avant Garde Gothic"/>
              </a:rPr>
              <a:t>Dónde hay un espermatozoide y cuál es su contorno.</a:t>
            </a:r>
          </a:p>
        </p:txBody>
      </p:sp>
      <p:sp>
        <p:nvSpPr>
          <p:cNvPr id="10" name="Rounded Rectangle 9"/>
          <p:cNvSpPr/>
          <p:nvPr/>
        </p:nvSpPr>
        <p:spPr>
          <a:xfrm>
            <a:off x="6233007" y="1968500"/>
            <a:ext cx="2522143" cy="200352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61607" y="213309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1607" y="2279396"/>
            <a:ext cx="2064943" cy="1637768"/>
          </a:xfrm>
          <a:prstGeom prst="rect">
            <a:avLst/>
          </a:prstGeom>
          <a:noFill/>
        </p:spPr>
        <p:txBody>
          <a:bodyPr wrap="square" anchor="t" lIns="0" rIns="0" tIns="0" bIns="0">
            <a:spAutoFit/>
          </a:bodyPr>
          <a:lstStyle/>
          <a:p>
            <a:pPr algn="l"/>
            <a:r>
              <a:rPr sz="1900" b="0">
                <a:solidFill>
                  <a:srgbClr val="C7C2EF"/>
                </a:solidFill>
                <a:latin typeface="ITC Avant Garde Gothic"/>
              </a:rPr>
              <a:t>Código convencional</a:t>
            </a:r>
          </a:p>
        </p:txBody>
      </p:sp>
      <p:sp>
        <p:nvSpPr>
          <p:cNvPr id="13" name="Rounded Rectangle 12"/>
          <p:cNvSpPr/>
          <p:nvPr/>
        </p:nvSpPr>
        <p:spPr>
          <a:xfrm>
            <a:off x="9029471" y="1968500"/>
            <a:ext cx="2522143" cy="200352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258071" y="213309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58071" y="2279396"/>
            <a:ext cx="2064943" cy="1637768"/>
          </a:xfrm>
          <a:prstGeom prst="rect">
            <a:avLst/>
          </a:prstGeom>
          <a:noFill/>
        </p:spPr>
        <p:txBody>
          <a:bodyPr wrap="square" anchor="t" lIns="0" rIns="0" tIns="0" bIns="0">
            <a:spAutoFit/>
          </a:bodyPr>
          <a:lstStyle/>
          <a:p>
            <a:pPr algn="l"/>
            <a:r>
              <a:rPr sz="1900" b="0">
                <a:solidFill>
                  <a:srgbClr val="C7C2EF"/>
                </a:solidFill>
                <a:latin typeface="ITC Avant Garde Gothic"/>
              </a:rPr>
              <a:t>OpenCV y numpy: cuántos son, área, largo, media y desviación estándar.</a:t>
            </a:r>
          </a:p>
        </p:txBody>
      </p:sp>
      <p:sp>
        <p:nvSpPr>
          <p:cNvPr id="16" name="TextBox 15"/>
          <p:cNvSpPr txBox="1"/>
          <p:nvPr/>
        </p:nvSpPr>
        <p:spPr>
          <a:xfrm>
            <a:off x="640080" y="4154908"/>
            <a:ext cx="10911535" cy="743712"/>
          </a:xfrm>
          <a:prstGeom prst="rect">
            <a:avLst/>
          </a:prstGeom>
          <a:noFill/>
        </p:spPr>
        <p:txBody>
          <a:bodyPr wrap="square" anchor="t" lIns="0" rIns="0" tIns="0" bIns="0">
            <a:spAutoFit/>
          </a:bodyPr>
          <a:lstStyle/>
          <a:p>
            <a:pPr algn="l"/>
            <a:r>
              <a:rPr sz="2400" b="0">
                <a:solidFill>
                  <a:srgbClr val="C7C2EF"/>
                </a:solidFill>
                <a:latin typeface="ITC Avant Garde Gothic"/>
              </a:rPr>
              <a:t>La red propone y la medición se puede auditar: se abre la imagen marcada y se recalcula la medida.</a:t>
            </a:r>
          </a:p>
        </p:txBody>
      </p:sp>
      <p:sp>
        <p:nvSpPr>
          <p:cNvPr id="17" name="TextBox 16"/>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Introducción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Qué tipo de trabajo es</a:t>
            </a:r>
          </a:p>
        </p:txBody>
      </p:sp>
      <p:sp>
        <p:nvSpPr>
          <p:cNvPr id="3" name="TextBox 2"/>
          <p:cNvSpPr txBox="1"/>
          <p:nvPr/>
        </p:nvSpPr>
        <p:spPr>
          <a:xfrm>
            <a:off x="640080" y="960120"/>
            <a:ext cx="10911535" cy="462686"/>
          </a:xfrm>
          <a:prstGeom prst="rect">
            <a:avLst/>
          </a:prstGeom>
          <a:noFill/>
        </p:spPr>
        <p:txBody>
          <a:bodyPr wrap="square" anchor="t" lIns="0" rIns="0" tIns="0" bIns="0">
            <a:spAutoFit/>
          </a:bodyPr>
          <a:lstStyle/>
          <a:p>
            <a:pPr algn="l"/>
            <a:r>
              <a:rPr sz="3200" b="1">
                <a:solidFill>
                  <a:srgbClr val="C7C2EF"/>
                </a:solidFill>
                <a:latin typeface="ITC Avant Garde Gothic"/>
              </a:rPr>
              <a:t>Una parte web y una de aprendizaje automático</a:t>
            </a:r>
          </a:p>
        </p:txBody>
      </p:sp>
      <p:sp>
        <p:nvSpPr>
          <p:cNvPr id="4" name="Rounded Rectangle 3"/>
          <p:cNvSpPr/>
          <p:nvPr/>
        </p:nvSpPr>
        <p:spPr>
          <a:xfrm>
            <a:off x="640080" y="1788566"/>
            <a:ext cx="3454298" cy="116860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95315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99462"/>
            <a:ext cx="2997098" cy="802843"/>
          </a:xfrm>
          <a:prstGeom prst="rect">
            <a:avLst/>
          </a:prstGeom>
          <a:noFill/>
        </p:spPr>
        <p:txBody>
          <a:bodyPr wrap="square" anchor="t" lIns="0" rIns="0" tIns="0" bIns="0">
            <a:spAutoFit/>
          </a:bodyPr>
          <a:lstStyle/>
          <a:p>
            <a:pPr algn="l"/>
            <a:r>
              <a:rPr sz="1600" b="0">
                <a:solidFill>
                  <a:srgbClr val="C7C2EF"/>
                </a:solidFill>
                <a:latin typeface="ITC Avant Garde Gothic"/>
              </a:rPr>
              <a:t>Parte web</a:t>
            </a:r>
          </a:p>
        </p:txBody>
      </p:sp>
      <p:sp>
        <p:nvSpPr>
          <p:cNvPr id="7" name="Rounded Rectangle 6"/>
          <p:cNvSpPr/>
          <p:nvPr/>
        </p:nvSpPr>
        <p:spPr>
          <a:xfrm>
            <a:off x="4368698" y="1788566"/>
            <a:ext cx="3454298" cy="116860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97298" y="195315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7298" y="2099462"/>
            <a:ext cx="2997098" cy="802843"/>
          </a:xfrm>
          <a:prstGeom prst="rect">
            <a:avLst/>
          </a:prstGeom>
          <a:noFill/>
        </p:spPr>
        <p:txBody>
          <a:bodyPr wrap="square" anchor="t" lIns="0" rIns="0" tIns="0" bIns="0">
            <a:spAutoFit/>
          </a:bodyPr>
          <a:lstStyle/>
          <a:p>
            <a:pPr algn="l"/>
            <a:r>
              <a:rPr sz="1600" b="0">
                <a:solidFill>
                  <a:srgbClr val="C7C2EF"/>
                </a:solidFill>
                <a:latin typeface="ITC Avant Garde Gothic"/>
              </a:rPr>
              <a:t>Flask, plantillas Jinja2 y Bootstrap, cuentas y base de datos SQLite.</a:t>
            </a:r>
          </a:p>
        </p:txBody>
      </p:sp>
      <p:sp>
        <p:nvSpPr>
          <p:cNvPr id="10" name="Rounded Rectangle 9"/>
          <p:cNvSpPr/>
          <p:nvPr/>
        </p:nvSpPr>
        <p:spPr>
          <a:xfrm>
            <a:off x="8097316" y="1788566"/>
            <a:ext cx="3454298" cy="116860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25916" y="195315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5916" y="2099462"/>
            <a:ext cx="2997098" cy="802843"/>
          </a:xfrm>
          <a:prstGeom prst="rect">
            <a:avLst/>
          </a:prstGeom>
          <a:noFill/>
        </p:spPr>
        <p:txBody>
          <a:bodyPr wrap="square" anchor="t" lIns="0" rIns="0" tIns="0" bIns="0">
            <a:spAutoFit/>
          </a:bodyPr>
          <a:lstStyle/>
          <a:p>
            <a:pPr algn="l"/>
            <a:r>
              <a:rPr sz="1600" b="0">
                <a:solidFill>
                  <a:srgbClr val="C7C2EF"/>
                </a:solidFill>
                <a:latin typeface="ITC Avant Garde Gothic"/>
              </a:rPr>
              <a:t>Se mantiene como cualquier sitio.</a:t>
            </a:r>
          </a:p>
        </p:txBody>
      </p:sp>
      <p:sp>
        <p:nvSpPr>
          <p:cNvPr id="13" name="Rounded Rectangle 12"/>
          <p:cNvSpPr/>
          <p:nvPr/>
        </p:nvSpPr>
        <p:spPr>
          <a:xfrm>
            <a:off x="640080" y="3231489"/>
            <a:ext cx="3454298" cy="116860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68680" y="3396081"/>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542385"/>
            <a:ext cx="2997098" cy="802843"/>
          </a:xfrm>
          <a:prstGeom prst="rect">
            <a:avLst/>
          </a:prstGeom>
          <a:noFill/>
        </p:spPr>
        <p:txBody>
          <a:bodyPr wrap="square" anchor="t" lIns="0" rIns="0" tIns="0" bIns="0">
            <a:spAutoFit/>
          </a:bodyPr>
          <a:lstStyle/>
          <a:p>
            <a:pPr algn="l"/>
            <a:r>
              <a:rPr sz="1600" b="0">
                <a:solidFill>
                  <a:srgbClr val="C7C2EF"/>
                </a:solidFill>
                <a:latin typeface="ITC Avant Garde Gothic"/>
              </a:rPr>
              <a:t>Aprendizaje automático</a:t>
            </a:r>
          </a:p>
        </p:txBody>
      </p:sp>
      <p:sp>
        <p:nvSpPr>
          <p:cNvPr id="16" name="Rounded Rectangle 15"/>
          <p:cNvSpPr/>
          <p:nvPr/>
        </p:nvSpPr>
        <p:spPr>
          <a:xfrm>
            <a:off x="4368698" y="3231489"/>
            <a:ext cx="3454298" cy="116860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97298" y="3396081"/>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97298" y="3542385"/>
            <a:ext cx="2997098" cy="802843"/>
          </a:xfrm>
          <a:prstGeom prst="rect">
            <a:avLst/>
          </a:prstGeom>
          <a:noFill/>
        </p:spPr>
        <p:txBody>
          <a:bodyPr wrap="square" anchor="t" lIns="0" rIns="0" tIns="0" bIns="0">
            <a:spAutoFit/>
          </a:bodyPr>
          <a:lstStyle/>
          <a:p>
            <a:pPr algn="l"/>
            <a:r>
              <a:rPr sz="1600" b="0">
                <a:solidFill>
                  <a:srgbClr val="C7C2EF"/>
                </a:solidFill>
                <a:latin typeface="ITC Avant Garde Gothic"/>
              </a:rPr>
              <a:t>PyTorch, red Mask R-CNN y entrenamiento en Google Colab.</a:t>
            </a:r>
          </a:p>
        </p:txBody>
      </p:sp>
      <p:sp>
        <p:nvSpPr>
          <p:cNvPr id="19" name="Rounded Rectangle 18"/>
          <p:cNvSpPr/>
          <p:nvPr/>
        </p:nvSpPr>
        <p:spPr>
          <a:xfrm>
            <a:off x="8097316" y="3231489"/>
            <a:ext cx="3454298" cy="116860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25916" y="3396081"/>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5916" y="3542385"/>
            <a:ext cx="2997098" cy="802843"/>
          </a:xfrm>
          <a:prstGeom prst="rect">
            <a:avLst/>
          </a:prstGeom>
          <a:noFill/>
        </p:spPr>
        <p:txBody>
          <a:bodyPr wrap="square" anchor="t" lIns="0" rIns="0" tIns="0" bIns="0">
            <a:spAutoFit/>
          </a:bodyPr>
          <a:lstStyle/>
          <a:p>
            <a:pPr algn="l"/>
            <a:r>
              <a:rPr sz="1600" b="0">
                <a:solidFill>
                  <a:srgbClr val="C7C2EF"/>
                </a:solidFill>
                <a:latin typeface="ITC Avant Garde Gothic"/>
              </a:rPr>
              <a:t>Se mejora con datos.</a:t>
            </a:r>
          </a:p>
        </p:txBody>
      </p:sp>
      <p:sp>
        <p:nvSpPr>
          <p:cNvPr id="22" name="TextBox 21"/>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Introducción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El sitio</a:t>
            </a:r>
          </a:p>
        </p:txBody>
      </p:sp>
      <p:sp>
        <p:nvSpPr>
          <p:cNvPr id="3" name="TextBox 2"/>
          <p:cNvSpPr txBox="1"/>
          <p:nvPr/>
        </p:nvSpPr>
        <p:spPr>
          <a:xfrm>
            <a:off x="640080" y="960120"/>
            <a:ext cx="10911535" cy="546227"/>
          </a:xfrm>
          <a:prstGeom prst="rect">
            <a:avLst/>
          </a:prstGeom>
          <a:noFill/>
        </p:spPr>
        <p:txBody>
          <a:bodyPr wrap="square" anchor="t" lIns="0" rIns="0" tIns="0" bIns="0">
            <a:spAutoFit/>
          </a:bodyPr>
          <a:lstStyle/>
          <a:p>
            <a:pPr algn="l"/>
            <a:r>
              <a:rPr sz="3700" b="1">
                <a:solidFill>
                  <a:srgbClr val="C7C2EF"/>
                </a:solidFill>
                <a:latin typeface="ITC Avant Garde Gothic"/>
              </a:rPr>
              <a:t>Un menú desplegable con seis secciones</a:t>
            </a:r>
          </a:p>
        </p:txBody>
      </p:sp>
      <p:sp>
        <p:nvSpPr>
          <p:cNvPr id="4" name="Rounded Rectangle 3"/>
          <p:cNvSpPr/>
          <p:nvPr/>
        </p:nvSpPr>
        <p:spPr>
          <a:xfrm>
            <a:off x="640080" y="1872106"/>
            <a:ext cx="2522143" cy="765936"/>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03669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183002"/>
            <a:ext cx="2064943" cy="400176"/>
          </a:xfrm>
          <a:prstGeom prst="rect">
            <a:avLst/>
          </a:prstGeom>
          <a:noFill/>
        </p:spPr>
        <p:txBody>
          <a:bodyPr wrap="square" anchor="t" lIns="0" rIns="0" tIns="0" bIns="0">
            <a:spAutoFit/>
          </a:bodyPr>
          <a:lstStyle/>
          <a:p>
            <a:pPr algn="l"/>
            <a:r>
              <a:rPr sz="1900" b="0">
                <a:solidFill>
                  <a:srgbClr val="C7C2EF"/>
                </a:solidFill>
                <a:latin typeface="ITC Avant Garde Gothic"/>
              </a:rPr>
              <a:t>MENÚ</a:t>
            </a:r>
          </a:p>
        </p:txBody>
      </p:sp>
      <p:sp>
        <p:nvSpPr>
          <p:cNvPr id="7" name="Rounded Rectangle 6"/>
          <p:cNvSpPr/>
          <p:nvPr/>
        </p:nvSpPr>
        <p:spPr>
          <a:xfrm>
            <a:off x="3436543" y="1872106"/>
            <a:ext cx="2522143" cy="765936"/>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65143" y="203669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65143" y="2183002"/>
            <a:ext cx="2064943" cy="400176"/>
          </a:xfrm>
          <a:prstGeom prst="rect">
            <a:avLst/>
          </a:prstGeom>
          <a:noFill/>
        </p:spPr>
        <p:txBody>
          <a:bodyPr wrap="square" anchor="t" lIns="0" rIns="0" tIns="0" bIns="0">
            <a:spAutoFit/>
          </a:bodyPr>
          <a:lstStyle/>
          <a:p>
            <a:pPr algn="l"/>
            <a:r>
              <a:rPr sz="1900" b="0">
                <a:solidFill>
                  <a:srgbClr val="C7C2EF"/>
                </a:solidFill>
                <a:latin typeface="ITC Avant Garde Gothic"/>
              </a:rPr>
              <a:t>ES | EN</a:t>
            </a:r>
          </a:p>
        </p:txBody>
      </p:sp>
      <p:sp>
        <p:nvSpPr>
          <p:cNvPr id="10" name="Rounded Rectangle 9"/>
          <p:cNvSpPr/>
          <p:nvPr/>
        </p:nvSpPr>
        <p:spPr>
          <a:xfrm>
            <a:off x="6233007" y="1872106"/>
            <a:ext cx="2522143" cy="765936"/>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61607" y="203669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1607" y="2183002"/>
            <a:ext cx="2064943" cy="400176"/>
          </a:xfrm>
          <a:prstGeom prst="rect">
            <a:avLst/>
          </a:prstGeom>
          <a:noFill/>
        </p:spPr>
        <p:txBody>
          <a:bodyPr wrap="square" anchor="t" lIns="0" rIns="0" tIns="0" bIns="0">
            <a:spAutoFit/>
          </a:bodyPr>
          <a:lstStyle/>
          <a:p>
            <a:pPr algn="l"/>
            <a:r>
              <a:rPr sz="1900" b="0">
                <a:solidFill>
                  <a:srgbClr val="C7C2EF"/>
                </a:solidFill>
                <a:latin typeface="ITC Avant Garde Gothic"/>
              </a:rPr>
              <a:t>Iniciar sesión</a:t>
            </a:r>
          </a:p>
        </p:txBody>
      </p:sp>
      <p:sp>
        <p:nvSpPr>
          <p:cNvPr id="13" name="Rounded Rectangle 12"/>
          <p:cNvSpPr/>
          <p:nvPr/>
        </p:nvSpPr>
        <p:spPr>
          <a:xfrm>
            <a:off x="9029471" y="1872106"/>
            <a:ext cx="2522143" cy="765936"/>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258071" y="203669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58071" y="2183002"/>
            <a:ext cx="2064943" cy="400176"/>
          </a:xfrm>
          <a:prstGeom prst="rect">
            <a:avLst/>
          </a:prstGeom>
          <a:noFill/>
        </p:spPr>
        <p:txBody>
          <a:bodyPr wrap="square" anchor="t" lIns="0" rIns="0" tIns="0" bIns="0">
            <a:spAutoFit/>
          </a:bodyPr>
          <a:lstStyle/>
          <a:p>
            <a:pPr algn="l"/>
            <a:r>
              <a:rPr sz="1900" b="0">
                <a:solidFill>
                  <a:srgbClr val="C7C2EF"/>
                </a:solidFill>
                <a:latin typeface="ITC Avant Garde Gothic"/>
              </a:rPr>
              <a:t>Inicio</a:t>
            </a:r>
          </a:p>
        </p:txBody>
      </p:sp>
      <p:sp>
        <p:nvSpPr>
          <p:cNvPr id="16" name="Rounded Rectangle 15"/>
          <p:cNvSpPr/>
          <p:nvPr/>
        </p:nvSpPr>
        <p:spPr>
          <a:xfrm>
            <a:off x="640080" y="2912363"/>
            <a:ext cx="2522143" cy="107467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68680" y="307695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223259"/>
            <a:ext cx="2064943" cy="708913"/>
          </a:xfrm>
          <a:prstGeom prst="rect">
            <a:avLst/>
          </a:prstGeom>
          <a:noFill/>
        </p:spPr>
        <p:txBody>
          <a:bodyPr wrap="square" anchor="t" lIns="0" rIns="0" tIns="0" bIns="0">
            <a:spAutoFit/>
          </a:bodyPr>
          <a:lstStyle/>
          <a:p>
            <a:pPr algn="l"/>
            <a:r>
              <a:rPr sz="1900" b="0">
                <a:solidFill>
                  <a:srgbClr val="C7C2EF"/>
                </a:solidFill>
                <a:latin typeface="ITC Avant Garde Gothic"/>
              </a:rPr>
              <a:t>Nosotros</a:t>
            </a:r>
          </a:p>
        </p:txBody>
      </p:sp>
      <p:sp>
        <p:nvSpPr>
          <p:cNvPr id="19" name="Rounded Rectangle 18"/>
          <p:cNvSpPr/>
          <p:nvPr/>
        </p:nvSpPr>
        <p:spPr>
          <a:xfrm>
            <a:off x="3436543" y="2912363"/>
            <a:ext cx="2522143" cy="107467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5143" y="307695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65143" y="3223259"/>
            <a:ext cx="2064943" cy="708913"/>
          </a:xfrm>
          <a:prstGeom prst="rect">
            <a:avLst/>
          </a:prstGeom>
          <a:noFill/>
        </p:spPr>
        <p:txBody>
          <a:bodyPr wrap="square" anchor="t" lIns="0" rIns="0" tIns="0" bIns="0">
            <a:spAutoFit/>
          </a:bodyPr>
          <a:lstStyle/>
          <a:p>
            <a:pPr algn="l"/>
            <a:r>
              <a:rPr sz="1900" b="0">
                <a:solidFill>
                  <a:srgbClr val="C7C2EF"/>
                </a:solidFill>
                <a:latin typeface="ITC Avant Garde Gothic"/>
              </a:rPr>
              <a:t>Aliados</a:t>
            </a:r>
          </a:p>
        </p:txBody>
      </p:sp>
      <p:sp>
        <p:nvSpPr>
          <p:cNvPr id="22" name="Rounded Rectangle 21"/>
          <p:cNvSpPr/>
          <p:nvPr/>
        </p:nvSpPr>
        <p:spPr>
          <a:xfrm>
            <a:off x="6233007" y="2912363"/>
            <a:ext cx="2522143" cy="107467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61607" y="307695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61607" y="3223259"/>
            <a:ext cx="2064943" cy="708913"/>
          </a:xfrm>
          <a:prstGeom prst="rect">
            <a:avLst/>
          </a:prstGeom>
          <a:noFill/>
        </p:spPr>
        <p:txBody>
          <a:bodyPr wrap="square" anchor="t" lIns="0" rIns="0" tIns="0" bIns="0">
            <a:spAutoFit/>
          </a:bodyPr>
          <a:lstStyle/>
          <a:p>
            <a:pPr algn="l"/>
            <a:r>
              <a:rPr sz="1900" b="0">
                <a:solidFill>
                  <a:srgbClr val="C7C2EF"/>
                </a:solidFill>
                <a:latin typeface="ITC Avant Garde Gothic"/>
              </a:rPr>
              <a:t>Infografías y videos</a:t>
            </a:r>
          </a:p>
        </p:txBody>
      </p:sp>
      <p:sp>
        <p:nvSpPr>
          <p:cNvPr id="25" name="Rounded Rectangle 24"/>
          <p:cNvSpPr/>
          <p:nvPr/>
        </p:nvSpPr>
        <p:spPr>
          <a:xfrm>
            <a:off x="9029471" y="2912363"/>
            <a:ext cx="2522143" cy="107467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58071" y="307695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58071" y="3223259"/>
            <a:ext cx="2064943" cy="708913"/>
          </a:xfrm>
          <a:prstGeom prst="rect">
            <a:avLst/>
          </a:prstGeom>
          <a:noFill/>
        </p:spPr>
        <p:txBody>
          <a:bodyPr wrap="square" anchor="t" lIns="0" rIns="0" tIns="0" bIns="0">
            <a:spAutoFit/>
          </a:bodyPr>
          <a:lstStyle/>
          <a:p>
            <a:pPr algn="l"/>
            <a:r>
              <a:rPr sz="1900" b="0">
                <a:solidFill>
                  <a:srgbClr val="C7C2EF"/>
                </a:solidFill>
                <a:latin typeface="ITC Avant Garde Gothic"/>
              </a:rPr>
              <a:t>Inteligencia Artificial</a:t>
            </a:r>
          </a:p>
        </p:txBody>
      </p:sp>
      <p:sp>
        <p:nvSpPr>
          <p:cNvPr id="28" name="Rounded Rectangle 27"/>
          <p:cNvSpPr/>
          <p:nvPr/>
        </p:nvSpPr>
        <p:spPr>
          <a:xfrm>
            <a:off x="640080" y="4261357"/>
            <a:ext cx="2522143" cy="765936"/>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8680" y="442594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4572253"/>
            <a:ext cx="2064943" cy="400176"/>
          </a:xfrm>
          <a:prstGeom prst="rect">
            <a:avLst/>
          </a:prstGeom>
          <a:noFill/>
        </p:spPr>
        <p:txBody>
          <a:bodyPr wrap="square" anchor="t" lIns="0" rIns="0" tIns="0" bIns="0">
            <a:spAutoFit/>
          </a:bodyPr>
          <a:lstStyle/>
          <a:p>
            <a:pPr algn="l"/>
            <a:r>
              <a:rPr sz="1900" b="0">
                <a:solidFill>
                  <a:srgbClr val="C7C2EF"/>
                </a:solidFill>
                <a:latin typeface="ITC Avant Garde Gothic"/>
              </a:rPr>
              <a:t>Contacto</a:t>
            </a:r>
          </a:p>
        </p:txBody>
      </p:sp>
      <p:sp>
        <p:nvSpPr>
          <p:cNvPr id="31" name="TextBox 30"/>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Introducción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Análisis de imágenes</a:t>
            </a:r>
          </a:p>
        </p:txBody>
      </p:sp>
      <p:sp>
        <p:nvSpPr>
          <p:cNvPr id="3" name="TextBox 2"/>
          <p:cNvSpPr txBox="1"/>
          <p:nvPr/>
        </p:nvSpPr>
        <p:spPr>
          <a:xfrm>
            <a:off x="640080" y="960120"/>
            <a:ext cx="10911535" cy="449833"/>
          </a:xfrm>
          <a:prstGeom prst="rect">
            <a:avLst/>
          </a:prstGeom>
          <a:noFill/>
        </p:spPr>
        <p:txBody>
          <a:bodyPr wrap="square" anchor="t" lIns="0" rIns="0" tIns="0" bIns="0">
            <a:spAutoFit/>
          </a:bodyPr>
          <a:lstStyle/>
          <a:p>
            <a:pPr algn="l"/>
            <a:r>
              <a:rPr sz="3100" b="1">
                <a:solidFill>
                  <a:srgbClr val="C7C2EF"/>
                </a:solidFill>
                <a:latin typeface="ITC Avant Garde Gothic"/>
              </a:rPr>
              <a:t>Del inicio de sesión a la descarga</a:t>
            </a:r>
          </a:p>
        </p:txBody>
      </p:sp>
      <p:sp>
        <p:nvSpPr>
          <p:cNvPr id="4" name="Rounded Rectangle 3"/>
          <p:cNvSpPr/>
          <p:nvPr/>
        </p:nvSpPr>
        <p:spPr>
          <a:xfrm>
            <a:off x="640080" y="1775714"/>
            <a:ext cx="2522143" cy="86349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86610"/>
            <a:ext cx="2064943" cy="497738"/>
          </a:xfrm>
          <a:prstGeom prst="rect">
            <a:avLst/>
          </a:prstGeom>
          <a:noFill/>
        </p:spPr>
        <p:txBody>
          <a:bodyPr wrap="square" anchor="t" lIns="0" rIns="0" tIns="0" bIns="0">
            <a:spAutoFit/>
          </a:bodyPr>
          <a:lstStyle/>
          <a:p>
            <a:pPr algn="l"/>
            <a:r>
              <a:rPr sz="1500" b="0">
                <a:solidFill>
                  <a:srgbClr val="C7C2EF"/>
                </a:solidFill>
                <a:latin typeface="ITC Avant Garde Gothic"/>
              </a:rPr>
              <a:t>Cuenta</a:t>
            </a:r>
          </a:p>
        </p:txBody>
      </p:sp>
      <p:sp>
        <p:nvSpPr>
          <p:cNvPr id="7" name="Rounded Rectangle 6"/>
          <p:cNvSpPr/>
          <p:nvPr/>
        </p:nvSpPr>
        <p:spPr>
          <a:xfrm>
            <a:off x="3436543" y="1775714"/>
            <a:ext cx="2522143" cy="86349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65143"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65143" y="2086610"/>
            <a:ext cx="2064943" cy="497738"/>
          </a:xfrm>
          <a:prstGeom prst="rect">
            <a:avLst/>
          </a:prstGeom>
          <a:noFill/>
        </p:spPr>
        <p:txBody>
          <a:bodyPr wrap="square" anchor="t" lIns="0" rIns="0" tIns="0" bIns="0">
            <a:spAutoFit/>
          </a:bodyPr>
          <a:lstStyle/>
          <a:p>
            <a:pPr algn="l"/>
            <a:r>
              <a:rPr sz="1500" b="0">
                <a:solidFill>
                  <a:srgbClr val="C7C2EF"/>
                </a:solidFill>
                <a:latin typeface="ITC Avant Garde Gothic"/>
              </a:rPr>
              <a:t>Con correo y contraseña.</a:t>
            </a:r>
          </a:p>
        </p:txBody>
      </p:sp>
      <p:sp>
        <p:nvSpPr>
          <p:cNvPr id="10" name="Rounded Rectangle 9"/>
          <p:cNvSpPr/>
          <p:nvPr/>
        </p:nvSpPr>
        <p:spPr>
          <a:xfrm>
            <a:off x="6233007" y="1775714"/>
            <a:ext cx="2522143" cy="86349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61607"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1607" y="2086610"/>
            <a:ext cx="2064943" cy="497738"/>
          </a:xfrm>
          <a:prstGeom prst="rect">
            <a:avLst/>
          </a:prstGeom>
          <a:noFill/>
        </p:spPr>
        <p:txBody>
          <a:bodyPr wrap="square" anchor="t" lIns="0" rIns="0" tIns="0" bIns="0">
            <a:spAutoFit/>
          </a:bodyPr>
          <a:lstStyle/>
          <a:p>
            <a:pPr algn="l"/>
            <a:r>
              <a:rPr sz="1500" b="0">
                <a:solidFill>
                  <a:srgbClr val="C7C2EF"/>
                </a:solidFill>
                <a:latin typeface="ITC Avant Garde Gothic"/>
              </a:rPr>
              <a:t>Subir</a:t>
            </a:r>
          </a:p>
        </p:txBody>
      </p:sp>
      <p:sp>
        <p:nvSpPr>
          <p:cNvPr id="13" name="Rounded Rectangle 12"/>
          <p:cNvSpPr/>
          <p:nvPr/>
        </p:nvSpPr>
        <p:spPr>
          <a:xfrm>
            <a:off x="9029471" y="1775714"/>
            <a:ext cx="2522143" cy="86349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258071"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58071" y="2086610"/>
            <a:ext cx="2064943" cy="497738"/>
          </a:xfrm>
          <a:prstGeom prst="rect">
            <a:avLst/>
          </a:prstGeom>
          <a:noFill/>
        </p:spPr>
        <p:txBody>
          <a:bodyPr wrap="square" anchor="t" lIns="0" rIns="0" tIns="0" bIns="0">
            <a:spAutoFit/>
          </a:bodyPr>
          <a:lstStyle/>
          <a:p>
            <a:pPr algn="l"/>
            <a:r>
              <a:rPr sz="1500" b="0">
                <a:solidFill>
                  <a:srgbClr val="C7C2EF"/>
                </a:solidFill>
                <a:latin typeface="ITC Avant Garde Gothic"/>
              </a:rPr>
              <a:t>Hasta 10 imágenes a la vez.</a:t>
            </a:r>
          </a:p>
        </p:txBody>
      </p:sp>
      <p:sp>
        <p:nvSpPr>
          <p:cNvPr id="16" name="Rounded Rectangle 15"/>
          <p:cNvSpPr/>
          <p:nvPr/>
        </p:nvSpPr>
        <p:spPr>
          <a:xfrm>
            <a:off x="640080" y="2913532"/>
            <a:ext cx="2522143" cy="110322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68680" y="307812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224428"/>
            <a:ext cx="2064943" cy="737463"/>
          </a:xfrm>
          <a:prstGeom prst="rect">
            <a:avLst/>
          </a:prstGeom>
          <a:noFill/>
        </p:spPr>
        <p:txBody>
          <a:bodyPr wrap="square" anchor="t" lIns="0" rIns="0" tIns="0" bIns="0">
            <a:spAutoFit/>
          </a:bodyPr>
          <a:lstStyle/>
          <a:p>
            <a:pPr algn="l"/>
            <a:r>
              <a:rPr sz="1500" b="0">
                <a:solidFill>
                  <a:srgbClr val="C7C2EF"/>
                </a:solidFill>
                <a:latin typeface="ITC Avant Garde Gothic"/>
              </a:rPr>
              <a:t>Análisis</a:t>
            </a:r>
          </a:p>
        </p:txBody>
      </p:sp>
      <p:sp>
        <p:nvSpPr>
          <p:cNvPr id="19" name="Rounded Rectangle 18"/>
          <p:cNvSpPr/>
          <p:nvPr/>
        </p:nvSpPr>
        <p:spPr>
          <a:xfrm>
            <a:off x="3436543" y="2913532"/>
            <a:ext cx="2522143" cy="110322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5143" y="307812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65143" y="3224428"/>
            <a:ext cx="2064943" cy="737463"/>
          </a:xfrm>
          <a:prstGeom prst="rect">
            <a:avLst/>
          </a:prstGeom>
          <a:noFill/>
        </p:spPr>
        <p:txBody>
          <a:bodyPr wrap="square" anchor="t" lIns="0" rIns="0" tIns="0" bIns="0">
            <a:spAutoFit/>
          </a:bodyPr>
          <a:lstStyle/>
          <a:p>
            <a:pPr algn="l"/>
            <a:r>
              <a:rPr sz="1500" b="0">
                <a:solidFill>
                  <a:srgbClr val="C7C2EF"/>
                </a:solidFill>
                <a:latin typeface="ITC Avant Garde Gothic"/>
              </a:rPr>
              <a:t>Con barra de progreso.</a:t>
            </a:r>
          </a:p>
        </p:txBody>
      </p:sp>
      <p:sp>
        <p:nvSpPr>
          <p:cNvPr id="22" name="Rounded Rectangle 21"/>
          <p:cNvSpPr/>
          <p:nvPr/>
        </p:nvSpPr>
        <p:spPr>
          <a:xfrm>
            <a:off x="6233007" y="2913532"/>
            <a:ext cx="2522143" cy="110322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61607" y="307812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61607" y="3224428"/>
            <a:ext cx="2064943" cy="737463"/>
          </a:xfrm>
          <a:prstGeom prst="rect">
            <a:avLst/>
          </a:prstGeom>
          <a:noFill/>
        </p:spPr>
        <p:txBody>
          <a:bodyPr wrap="square" anchor="t" lIns="0" rIns="0" tIns="0" bIns="0">
            <a:spAutoFit/>
          </a:bodyPr>
          <a:lstStyle/>
          <a:p>
            <a:pPr algn="l"/>
            <a:r>
              <a:rPr sz="1500" b="0">
                <a:solidFill>
                  <a:srgbClr val="C7C2EF"/>
                </a:solidFill>
                <a:latin typeface="ITC Avant Garde Gothic"/>
              </a:rPr>
              <a:t>Resultados</a:t>
            </a:r>
          </a:p>
        </p:txBody>
      </p:sp>
      <p:sp>
        <p:nvSpPr>
          <p:cNvPr id="25" name="Rounded Rectangle 24"/>
          <p:cNvSpPr/>
          <p:nvPr/>
        </p:nvSpPr>
        <p:spPr>
          <a:xfrm>
            <a:off x="9029471" y="2913532"/>
            <a:ext cx="2522143" cy="110322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58071" y="307812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58071" y="3224428"/>
            <a:ext cx="2064943" cy="737463"/>
          </a:xfrm>
          <a:prstGeom prst="rect">
            <a:avLst/>
          </a:prstGeom>
          <a:noFill/>
        </p:spPr>
        <p:txBody>
          <a:bodyPr wrap="square" anchor="t" lIns="0" rIns="0" tIns="0" bIns="0">
            <a:spAutoFit/>
          </a:bodyPr>
          <a:lstStyle/>
          <a:p>
            <a:pPr algn="l"/>
            <a:r>
              <a:rPr sz="1500" b="0">
                <a:solidFill>
                  <a:srgbClr val="C7C2EF"/>
                </a:solidFill>
                <a:latin typeface="ITC Avant Garde Gothic"/>
              </a:rPr>
              <a:t>Conteo, área, largo, media y desviación.</a:t>
            </a:r>
          </a:p>
        </p:txBody>
      </p:sp>
      <p:sp>
        <p:nvSpPr>
          <p:cNvPr id="28" name="Rounded Rectangle 27"/>
          <p:cNvSpPr/>
          <p:nvPr/>
        </p:nvSpPr>
        <p:spPr>
          <a:xfrm>
            <a:off x="640080" y="4291076"/>
            <a:ext cx="2522143" cy="62377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8680" y="445566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4601972"/>
            <a:ext cx="2064943" cy="258013"/>
          </a:xfrm>
          <a:prstGeom prst="rect">
            <a:avLst/>
          </a:prstGeom>
          <a:noFill/>
        </p:spPr>
        <p:txBody>
          <a:bodyPr wrap="square" anchor="t" lIns="0" rIns="0" tIns="0" bIns="0">
            <a:spAutoFit/>
          </a:bodyPr>
          <a:lstStyle/>
          <a:p>
            <a:pPr algn="l"/>
            <a:r>
              <a:rPr sz="1500" b="0">
                <a:solidFill>
                  <a:srgbClr val="C7C2EF"/>
                </a:solidFill>
                <a:latin typeface="ITC Avant Garde Gothic"/>
              </a:rPr>
              <a:t>Descarga</a:t>
            </a:r>
          </a:p>
        </p:txBody>
      </p:sp>
      <p:sp>
        <p:nvSpPr>
          <p:cNvPr id="31" name="Rounded Rectangle 30"/>
          <p:cNvSpPr/>
          <p:nvPr/>
        </p:nvSpPr>
        <p:spPr>
          <a:xfrm>
            <a:off x="3436543" y="4291076"/>
            <a:ext cx="2522143" cy="62377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65143" y="445566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65143" y="4601972"/>
            <a:ext cx="2064943" cy="258013"/>
          </a:xfrm>
          <a:prstGeom prst="rect">
            <a:avLst/>
          </a:prstGeom>
          <a:noFill/>
        </p:spPr>
        <p:txBody>
          <a:bodyPr wrap="square" anchor="t" lIns="0" rIns="0" tIns="0" bIns="0">
            <a:spAutoFit/>
          </a:bodyPr>
          <a:lstStyle/>
          <a:p>
            <a:pPr algn="l"/>
            <a:r>
              <a:rPr sz="1500" b="0">
                <a:solidFill>
                  <a:srgbClr val="C7C2EF"/>
                </a:solidFill>
                <a:latin typeface="ITC Avant Garde Gothic"/>
              </a:rPr>
              <a:t>CSV y un solo PDF.</a:t>
            </a:r>
          </a:p>
        </p:txBody>
      </p:sp>
      <p:sp>
        <p:nvSpPr>
          <p:cNvPr id="34" name="TextBox 33"/>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Introducción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Dónde se entrena y dónde corre</a:t>
            </a:r>
          </a:p>
        </p:txBody>
      </p:sp>
      <p:sp>
        <p:nvSpPr>
          <p:cNvPr id="3" name="TextBox 2"/>
          <p:cNvSpPr txBox="1"/>
          <p:nvPr/>
        </p:nvSpPr>
        <p:spPr>
          <a:xfrm>
            <a:off x="640080" y="960120"/>
            <a:ext cx="10911535" cy="1002487"/>
          </a:xfrm>
          <a:prstGeom prst="rect">
            <a:avLst/>
          </a:prstGeom>
          <a:noFill/>
        </p:spPr>
        <p:txBody>
          <a:bodyPr wrap="square" anchor="t" lIns="0" rIns="0" tIns="0" bIns="0">
            <a:spAutoFit/>
          </a:bodyPr>
          <a:lstStyle/>
          <a:p>
            <a:pPr algn="l"/>
            <a:r>
              <a:rPr sz="3400" b="1">
                <a:solidFill>
                  <a:srgbClr val="C7C2EF"/>
                </a:solidFill>
                <a:latin typeface="ITC Avant Garde Gothic"/>
              </a:rPr>
              <a:t>Entrenamiento aparte, inferencia en el servidor</a:t>
            </a:r>
          </a:p>
        </p:txBody>
      </p:sp>
      <p:sp>
        <p:nvSpPr>
          <p:cNvPr id="4" name="Rounded Rectangle 3"/>
          <p:cNvSpPr/>
          <p:nvPr/>
        </p:nvSpPr>
        <p:spPr>
          <a:xfrm>
            <a:off x="640080" y="2328367"/>
            <a:ext cx="3454298" cy="66735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49295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39263"/>
            <a:ext cx="2997098" cy="301599"/>
          </a:xfrm>
          <a:prstGeom prst="rect">
            <a:avLst/>
          </a:prstGeom>
          <a:noFill/>
        </p:spPr>
        <p:txBody>
          <a:bodyPr wrap="square" anchor="t" lIns="0" rIns="0" tIns="0" bIns="0">
            <a:spAutoFit/>
          </a:bodyPr>
          <a:lstStyle/>
          <a:p>
            <a:pPr algn="l"/>
            <a:r>
              <a:rPr sz="1700" b="0">
                <a:solidFill>
                  <a:srgbClr val="C7C2EF"/>
                </a:solidFill>
                <a:latin typeface="ITC Avant Garde Gothic"/>
              </a:rPr>
              <a:t>Google Colab</a:t>
            </a:r>
          </a:p>
        </p:txBody>
      </p:sp>
      <p:sp>
        <p:nvSpPr>
          <p:cNvPr id="7" name="Rounded Rectangle 6"/>
          <p:cNvSpPr/>
          <p:nvPr/>
        </p:nvSpPr>
        <p:spPr>
          <a:xfrm>
            <a:off x="4368698" y="2328367"/>
            <a:ext cx="3454298" cy="66735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97298" y="249295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7298" y="2639263"/>
            <a:ext cx="2997098" cy="301599"/>
          </a:xfrm>
          <a:prstGeom prst="rect">
            <a:avLst/>
          </a:prstGeom>
          <a:noFill/>
        </p:spPr>
        <p:txBody>
          <a:bodyPr wrap="square" anchor="t" lIns="0" rIns="0" tIns="0" bIns="0">
            <a:spAutoFit/>
          </a:bodyPr>
          <a:lstStyle/>
          <a:p>
            <a:pPr algn="l"/>
            <a:r>
              <a:rPr sz="1700" b="0">
                <a:solidFill>
                  <a:srgbClr val="C7C2EF"/>
                </a:solidFill>
                <a:latin typeface="ITC Avant Garde Gothic"/>
              </a:rPr>
              <a:t>Se entrena el modelo.</a:t>
            </a:r>
          </a:p>
        </p:txBody>
      </p:sp>
      <p:sp>
        <p:nvSpPr>
          <p:cNvPr id="10" name="Rounded Rectangle 9"/>
          <p:cNvSpPr/>
          <p:nvPr/>
        </p:nvSpPr>
        <p:spPr>
          <a:xfrm>
            <a:off x="8097316" y="2328367"/>
            <a:ext cx="3454298" cy="66735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25916" y="249295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5916" y="2639263"/>
            <a:ext cx="2997098" cy="301599"/>
          </a:xfrm>
          <a:prstGeom prst="rect">
            <a:avLst/>
          </a:prstGeom>
          <a:noFill/>
        </p:spPr>
        <p:txBody>
          <a:bodyPr wrap="square" anchor="t" lIns="0" rIns="0" tIns="0" bIns="0">
            <a:spAutoFit/>
          </a:bodyPr>
          <a:lstStyle/>
          <a:p>
            <a:pPr algn="l"/>
            <a:r>
              <a:rPr sz="1700" b="0">
                <a:solidFill>
                  <a:srgbClr val="C7C2EF"/>
                </a:solidFill>
                <a:latin typeface="ITC Avant Garde Gothic"/>
              </a:rPr>
              <a:t>Archivo del modelo</a:t>
            </a:r>
          </a:p>
        </p:txBody>
      </p:sp>
      <p:sp>
        <p:nvSpPr>
          <p:cNvPr id="13" name="Rounded Rectangle 12"/>
          <p:cNvSpPr/>
          <p:nvPr/>
        </p:nvSpPr>
        <p:spPr>
          <a:xfrm>
            <a:off x="640080" y="3270046"/>
            <a:ext cx="3454298" cy="95067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68680" y="343463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580942"/>
            <a:ext cx="2997098" cy="584911"/>
          </a:xfrm>
          <a:prstGeom prst="rect">
            <a:avLst/>
          </a:prstGeom>
          <a:noFill/>
        </p:spPr>
        <p:txBody>
          <a:bodyPr wrap="square" anchor="t" lIns="0" rIns="0" tIns="0" bIns="0">
            <a:spAutoFit/>
          </a:bodyPr>
          <a:lstStyle/>
          <a:p>
            <a:pPr algn="l"/>
            <a:r>
              <a:rPr sz="1700" b="0">
                <a:solidFill>
                  <a:srgbClr val="C7C2EF"/>
                </a:solidFill>
                <a:latin typeface="ITC Avant Garde Gothic"/>
              </a:rPr>
              <a:t>Dos modelos: fondo oscuro y fondo claro.</a:t>
            </a:r>
          </a:p>
        </p:txBody>
      </p:sp>
      <p:sp>
        <p:nvSpPr>
          <p:cNvPr id="16" name="Rounded Rectangle 15"/>
          <p:cNvSpPr/>
          <p:nvPr/>
        </p:nvSpPr>
        <p:spPr>
          <a:xfrm>
            <a:off x="4368698" y="3270046"/>
            <a:ext cx="3454298" cy="95067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97298" y="343463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97298" y="3580942"/>
            <a:ext cx="2997098" cy="584911"/>
          </a:xfrm>
          <a:prstGeom prst="rect">
            <a:avLst/>
          </a:prstGeom>
          <a:noFill/>
        </p:spPr>
        <p:txBody>
          <a:bodyPr wrap="square" anchor="t" lIns="0" rIns="0" tIns="0" bIns="0">
            <a:spAutoFit/>
          </a:bodyPr>
          <a:lstStyle/>
          <a:p>
            <a:pPr algn="l"/>
            <a:r>
              <a:rPr sz="1700" b="0">
                <a:solidFill>
                  <a:srgbClr val="C7C2EF"/>
                </a:solidFill>
                <a:latin typeface="ITC Avant Garde Gothic"/>
              </a:rPr>
              <a:t>Servidor</a:t>
            </a:r>
          </a:p>
        </p:txBody>
      </p:sp>
      <p:sp>
        <p:nvSpPr>
          <p:cNvPr id="19" name="Rounded Rectangle 18"/>
          <p:cNvSpPr/>
          <p:nvPr/>
        </p:nvSpPr>
        <p:spPr>
          <a:xfrm>
            <a:off x="8097316" y="3270046"/>
            <a:ext cx="3454298" cy="95067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25916" y="343463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5916" y="3580942"/>
            <a:ext cx="2997098" cy="584911"/>
          </a:xfrm>
          <a:prstGeom prst="rect">
            <a:avLst/>
          </a:prstGeom>
          <a:noFill/>
        </p:spPr>
        <p:txBody>
          <a:bodyPr wrap="square" anchor="t" lIns="0" rIns="0" tIns="0" bIns="0">
            <a:spAutoFit/>
          </a:bodyPr>
          <a:lstStyle/>
          <a:p>
            <a:pPr algn="l"/>
            <a:r>
              <a:rPr sz="1700" b="0">
                <a:solidFill>
                  <a:srgbClr val="C7C2EF"/>
                </a:solidFill>
                <a:latin typeface="ITC Avant Garde Gothic"/>
              </a:rPr>
              <a:t>Solo inferencia, en procesador.</a:t>
            </a:r>
          </a:p>
        </p:txBody>
      </p:sp>
      <p:sp>
        <p:nvSpPr>
          <p:cNvPr id="22" name="TextBox 21"/>
          <p:cNvSpPr txBox="1"/>
          <p:nvPr/>
        </p:nvSpPr>
        <p:spPr>
          <a:xfrm>
            <a:off x="640080" y="4403598"/>
            <a:ext cx="10911535" cy="580095"/>
          </a:xfrm>
          <a:prstGeom prst="rect">
            <a:avLst/>
          </a:prstGeom>
          <a:noFill/>
        </p:spPr>
        <p:txBody>
          <a:bodyPr wrap="square" anchor="t" lIns="0" rIns="0" tIns="0" bIns="0">
            <a:spAutoFit/>
          </a:bodyPr>
          <a:lstStyle/>
          <a:p>
            <a:pPr algn="l"/>
            <a:r>
              <a:rPr sz="1900" b="0">
                <a:solidFill>
                  <a:srgbClr val="C7C2EF"/>
                </a:solidFill>
                <a:latin typeface="ITC Avant Garde Gothic"/>
              </a:rPr>
              <a:t>El sitio no interpreta los resultados: entrega conteos, medidas y gráficas. La lectura científica corresponde al grupo.</a:t>
            </a:r>
          </a:p>
        </p:txBody>
      </p:sp>
      <p:sp>
        <p:nvSpPr>
          <p:cNvPr id="23" name="TextBox 22"/>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Introducción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Los retos del modelo</a:t>
            </a:r>
          </a:p>
        </p:txBody>
      </p:sp>
      <p:sp>
        <p:nvSpPr>
          <p:cNvPr id="3" name="TextBox 2"/>
          <p:cNvSpPr txBox="1"/>
          <p:nvPr/>
        </p:nvSpPr>
        <p:spPr>
          <a:xfrm>
            <a:off x="640080" y="960120"/>
            <a:ext cx="10911535" cy="1285240"/>
          </a:xfrm>
          <a:prstGeom prst="rect">
            <a:avLst/>
          </a:prstGeom>
          <a:noFill/>
        </p:spPr>
        <p:txBody>
          <a:bodyPr wrap="square" anchor="t" lIns="0" rIns="0" tIns="0" bIns="0">
            <a:spAutoFit/>
          </a:bodyPr>
          <a:lstStyle/>
          <a:p>
            <a:pPr algn="l"/>
            <a:r>
              <a:rPr sz="4400" b="1">
                <a:solidFill>
                  <a:srgbClr val="C7C2EF"/>
                </a:solidFill>
                <a:latin typeface="ITC Avant Garde Gothic"/>
              </a:rPr>
              <a:t>Con poco material y muchas células juntas</a:t>
            </a:r>
          </a:p>
        </p:txBody>
      </p:sp>
      <p:sp>
        <p:nvSpPr>
          <p:cNvPr id="4" name="Rounded Rectangle 3"/>
          <p:cNvSpPr/>
          <p:nvPr/>
        </p:nvSpPr>
        <p:spPr>
          <a:xfrm>
            <a:off x="640080" y="2611119"/>
            <a:ext cx="2522143" cy="132314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77571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922015"/>
            <a:ext cx="2064943" cy="957384"/>
          </a:xfrm>
          <a:prstGeom prst="rect">
            <a:avLst/>
          </a:prstGeom>
          <a:noFill/>
        </p:spPr>
        <p:txBody>
          <a:bodyPr wrap="square" anchor="t" lIns="0" rIns="0" tIns="0" bIns="0">
            <a:spAutoFit/>
          </a:bodyPr>
          <a:lstStyle/>
          <a:p>
            <a:pPr algn="l"/>
            <a:r>
              <a:rPr sz="1700" b="0">
                <a:solidFill>
                  <a:srgbClr val="C7C2EF"/>
                </a:solidFill>
                <a:latin typeface="ITC Avant Garde Gothic"/>
              </a:rPr>
              <a:t>4 fotos · 258</a:t>
            </a:r>
          </a:p>
        </p:txBody>
      </p:sp>
      <p:sp>
        <p:nvSpPr>
          <p:cNvPr id="7" name="Rounded Rectangle 6"/>
          <p:cNvSpPr/>
          <p:nvPr/>
        </p:nvSpPr>
        <p:spPr>
          <a:xfrm>
            <a:off x="3436543" y="2611119"/>
            <a:ext cx="2522143" cy="132314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65143" y="277571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65143" y="2922015"/>
            <a:ext cx="2064943" cy="957384"/>
          </a:xfrm>
          <a:prstGeom prst="rect">
            <a:avLst/>
          </a:prstGeom>
          <a:noFill/>
        </p:spPr>
        <p:txBody>
          <a:bodyPr wrap="square" anchor="t" lIns="0" rIns="0" tIns="0" bIns="0">
            <a:spAutoFit/>
          </a:bodyPr>
          <a:lstStyle/>
          <a:p>
            <a:pPr algn="l"/>
            <a:r>
              <a:rPr sz="1700" b="0">
                <a:solidFill>
                  <a:srgbClr val="C7C2EF"/>
                </a:solidFill>
                <a:latin typeface="ITC Avant Garde Gothic"/>
              </a:rPr>
              <a:t>espermatozoides etiquetados en fluorescencia</a:t>
            </a:r>
          </a:p>
        </p:txBody>
      </p:sp>
      <p:sp>
        <p:nvSpPr>
          <p:cNvPr id="10" name="Rounded Rectangle 9"/>
          <p:cNvSpPr/>
          <p:nvPr/>
        </p:nvSpPr>
        <p:spPr>
          <a:xfrm>
            <a:off x="6233007" y="2611119"/>
            <a:ext cx="2522143" cy="132314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61607" y="277571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1607" y="2922015"/>
            <a:ext cx="2064943" cy="957384"/>
          </a:xfrm>
          <a:prstGeom prst="rect">
            <a:avLst/>
          </a:prstGeom>
          <a:noFill/>
        </p:spPr>
        <p:txBody>
          <a:bodyPr wrap="square" anchor="t" lIns="0" rIns="0" tIns="0" bIns="0">
            <a:spAutoFit/>
          </a:bodyPr>
          <a:lstStyle/>
          <a:p>
            <a:pPr algn="l"/>
            <a:r>
              <a:rPr sz="1700" b="0">
                <a:solidFill>
                  <a:srgbClr val="C7C2EF"/>
                </a:solidFill>
                <a:latin typeface="ITC Avant Garde Gothic"/>
              </a:rPr>
              <a:t>4 fotos · 45</a:t>
            </a:r>
          </a:p>
        </p:txBody>
      </p:sp>
      <p:sp>
        <p:nvSpPr>
          <p:cNvPr id="13" name="Rounded Rectangle 12"/>
          <p:cNvSpPr/>
          <p:nvPr/>
        </p:nvSpPr>
        <p:spPr>
          <a:xfrm>
            <a:off x="9029471" y="2611119"/>
            <a:ext cx="2522143" cy="132314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258071" y="277571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58071" y="2922015"/>
            <a:ext cx="2064943" cy="957384"/>
          </a:xfrm>
          <a:prstGeom prst="rect">
            <a:avLst/>
          </a:prstGeom>
          <a:noFill/>
        </p:spPr>
        <p:txBody>
          <a:bodyPr wrap="square" anchor="t" lIns="0" rIns="0" tIns="0" bIns="0">
            <a:spAutoFit/>
          </a:bodyPr>
          <a:lstStyle/>
          <a:p>
            <a:pPr algn="l"/>
            <a:r>
              <a:rPr sz="1700" b="0">
                <a:solidFill>
                  <a:srgbClr val="C7C2EF"/>
                </a:solidFill>
                <a:latin typeface="ITC Avant Garde Gothic"/>
              </a:rPr>
              <a:t>espermatozoides etiquetados en fondo claro</a:t>
            </a:r>
          </a:p>
        </p:txBody>
      </p:sp>
      <p:sp>
        <p:nvSpPr>
          <p:cNvPr id="16" name="TextBox 15"/>
          <p:cNvSpPr txBox="1"/>
          <p:nvPr/>
        </p:nvSpPr>
        <p:spPr>
          <a:xfrm>
            <a:off x="640080" y="4117144"/>
            <a:ext cx="10911535" cy="743712"/>
          </a:xfrm>
          <a:prstGeom prst="rect">
            <a:avLst/>
          </a:prstGeom>
          <a:noFill/>
        </p:spPr>
        <p:txBody>
          <a:bodyPr wrap="square" anchor="t" lIns="0" rIns="0" tIns="0" bIns="0">
            <a:spAutoFit/>
          </a:bodyPr>
          <a:lstStyle/>
          <a:p>
            <a:pPr algn="l"/>
            <a:r>
              <a:rPr sz="2400" b="0">
                <a:solidFill>
                  <a:srgbClr val="C7C2EF"/>
                </a:solidFill>
                <a:latin typeface="ITC Avant Garde Gothic"/>
              </a:rPr>
              <a:t>Donde hay muchas células juntas, el modelo puede repetir o partir contornos: el conteo se lee como estimación.</a:t>
            </a:r>
          </a:p>
        </p:txBody>
      </p:sp>
      <p:sp>
        <p:nvSpPr>
          <p:cNvPr id="17" name="TextBox 16"/>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Introducción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Dos aspectos técnicos</a:t>
            </a:r>
          </a:p>
        </p:txBody>
      </p:sp>
      <p:sp>
        <p:nvSpPr>
          <p:cNvPr id="3" name="TextBox 2"/>
          <p:cNvSpPr txBox="1"/>
          <p:nvPr/>
        </p:nvSpPr>
        <p:spPr>
          <a:xfrm>
            <a:off x="640080" y="960120"/>
            <a:ext cx="10911535" cy="462686"/>
          </a:xfrm>
          <a:prstGeom prst="rect">
            <a:avLst/>
          </a:prstGeom>
          <a:noFill/>
        </p:spPr>
        <p:txBody>
          <a:bodyPr wrap="square" anchor="t" lIns="0" rIns="0" tIns="0" bIns="0">
            <a:spAutoFit/>
          </a:bodyPr>
          <a:lstStyle/>
          <a:p>
            <a:pPr algn="l"/>
            <a:r>
              <a:rPr sz="3200" b="1">
                <a:solidFill>
                  <a:srgbClr val="C7C2EF"/>
                </a:solidFill>
                <a:latin typeface="ITC Avant Garde Gothic"/>
              </a:rPr>
              <a:t>La escala en micras y el tiempo de análisis</a:t>
            </a:r>
          </a:p>
        </p:txBody>
      </p:sp>
      <p:sp>
        <p:nvSpPr>
          <p:cNvPr id="4" name="Rounded Rectangle 3"/>
          <p:cNvSpPr/>
          <p:nvPr/>
        </p:nvSpPr>
        <p:spPr>
          <a:xfrm>
            <a:off x="640080" y="1788566"/>
            <a:ext cx="2522143" cy="116860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95315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99462"/>
            <a:ext cx="2064943" cy="802843"/>
          </a:xfrm>
          <a:prstGeom prst="rect">
            <a:avLst/>
          </a:prstGeom>
          <a:noFill/>
        </p:spPr>
        <p:txBody>
          <a:bodyPr wrap="square" anchor="t" lIns="0" rIns="0" tIns="0" bIns="0">
            <a:spAutoFit/>
          </a:bodyPr>
          <a:lstStyle/>
          <a:p>
            <a:pPr algn="l"/>
            <a:r>
              <a:rPr sz="1600" b="0">
                <a:solidFill>
                  <a:srgbClr val="C7C2EF"/>
                </a:solidFill>
                <a:latin typeface="ITC Avant Garde Gothic"/>
              </a:rPr>
              <a:t>La escala</a:t>
            </a:r>
          </a:p>
        </p:txBody>
      </p:sp>
      <p:sp>
        <p:nvSpPr>
          <p:cNvPr id="7" name="Rounded Rectangle 6"/>
          <p:cNvSpPr/>
          <p:nvPr/>
        </p:nvSpPr>
        <p:spPr>
          <a:xfrm>
            <a:off x="3436543" y="1788566"/>
            <a:ext cx="2522143" cy="116860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65143" y="195315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65143" y="2099462"/>
            <a:ext cx="2064943" cy="802843"/>
          </a:xfrm>
          <a:prstGeom prst="rect">
            <a:avLst/>
          </a:prstGeom>
          <a:noFill/>
        </p:spPr>
        <p:txBody>
          <a:bodyPr wrap="square" anchor="t" lIns="0" rIns="0" tIns="0" bIns="0">
            <a:spAutoFit/>
          </a:bodyPr>
          <a:lstStyle/>
          <a:p>
            <a:pPr algn="l"/>
            <a:r>
              <a:rPr sz="1600" b="0">
                <a:solidFill>
                  <a:srgbClr val="C7C2EF"/>
                </a:solidFill>
                <a:latin typeface="ITC Avant Garde Gothic"/>
              </a:rPr>
              <a:t>300 px = 5 micras, es decir, 60 px = 1 micra</a:t>
            </a:r>
          </a:p>
        </p:txBody>
      </p:sp>
      <p:sp>
        <p:nvSpPr>
          <p:cNvPr id="10" name="Rounded Rectangle 9"/>
          <p:cNvSpPr/>
          <p:nvPr/>
        </p:nvSpPr>
        <p:spPr>
          <a:xfrm>
            <a:off x="6233007" y="1788566"/>
            <a:ext cx="2522143" cy="116860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61607" y="195315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1607" y="2099462"/>
            <a:ext cx="2064943" cy="802843"/>
          </a:xfrm>
          <a:prstGeom prst="rect">
            <a:avLst/>
          </a:prstGeom>
          <a:noFill/>
        </p:spPr>
        <p:txBody>
          <a:bodyPr wrap="square" anchor="t" lIns="0" rIns="0" tIns="0" bIns="0">
            <a:spAutoFit/>
          </a:bodyPr>
          <a:lstStyle/>
          <a:p>
            <a:pPr algn="l"/>
            <a:r>
              <a:rPr sz="1600" b="0">
                <a:solidFill>
                  <a:srgbClr val="C7C2EF"/>
                </a:solidFill>
                <a:latin typeface="ITC Avant Garde Gothic"/>
              </a:rPr>
              <a:t>Cada resultado indica la escala que se usó.</a:t>
            </a:r>
          </a:p>
        </p:txBody>
      </p:sp>
      <p:sp>
        <p:nvSpPr>
          <p:cNvPr id="13" name="Rounded Rectangle 12"/>
          <p:cNvSpPr/>
          <p:nvPr/>
        </p:nvSpPr>
        <p:spPr>
          <a:xfrm>
            <a:off x="9029471" y="1788566"/>
            <a:ext cx="2522143" cy="116860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258071" y="195315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58071" y="2099462"/>
            <a:ext cx="2064943" cy="802843"/>
          </a:xfrm>
          <a:prstGeom prst="rect">
            <a:avLst/>
          </a:prstGeom>
          <a:noFill/>
        </p:spPr>
        <p:txBody>
          <a:bodyPr wrap="square" anchor="t" lIns="0" rIns="0" tIns="0" bIns="0">
            <a:spAutoFit/>
          </a:bodyPr>
          <a:lstStyle/>
          <a:p>
            <a:pPr algn="l"/>
            <a:r>
              <a:rPr sz="1600" b="0">
                <a:solidFill>
                  <a:srgbClr val="C7C2EF"/>
                </a:solidFill>
                <a:latin typeface="ITC Avant Garde Gothic"/>
              </a:rPr>
              <a:t>El tiempo</a:t>
            </a:r>
          </a:p>
        </p:txBody>
      </p:sp>
      <p:sp>
        <p:nvSpPr>
          <p:cNvPr id="16" name="Rounded Rectangle 15"/>
          <p:cNvSpPr/>
          <p:nvPr/>
        </p:nvSpPr>
        <p:spPr>
          <a:xfrm>
            <a:off x="640080" y="3231489"/>
            <a:ext cx="2522143" cy="645566"/>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68680" y="3396081"/>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542385"/>
            <a:ext cx="2064943" cy="279806"/>
          </a:xfrm>
          <a:prstGeom prst="rect">
            <a:avLst/>
          </a:prstGeom>
          <a:noFill/>
        </p:spPr>
        <p:txBody>
          <a:bodyPr wrap="square" anchor="t" lIns="0" rIns="0" tIns="0" bIns="0">
            <a:spAutoFit/>
          </a:bodyPr>
          <a:lstStyle/>
          <a:p>
            <a:pPr algn="l"/>
            <a:r>
              <a:rPr sz="1600" b="0">
                <a:solidFill>
                  <a:srgbClr val="C7C2EF"/>
                </a:solidFill>
                <a:latin typeface="ITC Avant Garde Gothic"/>
              </a:rPr>
              <a:t>Fluorescencia</a:t>
            </a:r>
          </a:p>
        </p:txBody>
      </p:sp>
      <p:sp>
        <p:nvSpPr>
          <p:cNvPr id="19" name="Rounded Rectangle 18"/>
          <p:cNvSpPr/>
          <p:nvPr/>
        </p:nvSpPr>
        <p:spPr>
          <a:xfrm>
            <a:off x="3436543" y="3231489"/>
            <a:ext cx="2522143" cy="645566"/>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5143" y="3396081"/>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65143" y="3542385"/>
            <a:ext cx="2064943" cy="279806"/>
          </a:xfrm>
          <a:prstGeom prst="rect">
            <a:avLst/>
          </a:prstGeom>
          <a:noFill/>
        </p:spPr>
        <p:txBody>
          <a:bodyPr wrap="square" anchor="t" lIns="0" rIns="0" tIns="0" bIns="0">
            <a:spAutoFit/>
          </a:bodyPr>
          <a:lstStyle/>
          <a:p>
            <a:pPr algn="l"/>
            <a:r>
              <a:rPr sz="1600" b="0">
                <a:solidFill>
                  <a:srgbClr val="C7C2EF"/>
                </a:solidFill>
                <a:latin typeface="ITC Avant Garde Gothic"/>
              </a:rPr>
              <a:t>~40 s</a:t>
            </a:r>
          </a:p>
        </p:txBody>
      </p:sp>
      <p:sp>
        <p:nvSpPr>
          <p:cNvPr id="22" name="Rounded Rectangle 21"/>
          <p:cNvSpPr/>
          <p:nvPr/>
        </p:nvSpPr>
        <p:spPr>
          <a:xfrm>
            <a:off x="6233007" y="3231489"/>
            <a:ext cx="2522143" cy="645566"/>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61607" y="3396081"/>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61607" y="3542385"/>
            <a:ext cx="2064943" cy="279806"/>
          </a:xfrm>
          <a:prstGeom prst="rect">
            <a:avLst/>
          </a:prstGeom>
          <a:noFill/>
        </p:spPr>
        <p:txBody>
          <a:bodyPr wrap="square" anchor="t" lIns="0" rIns="0" tIns="0" bIns="0">
            <a:spAutoFit/>
          </a:bodyPr>
          <a:lstStyle/>
          <a:p>
            <a:pPr algn="l"/>
            <a:r>
              <a:rPr sz="1600" b="0">
                <a:solidFill>
                  <a:srgbClr val="C7C2EF"/>
                </a:solidFill>
                <a:latin typeface="ITC Avant Garde Gothic"/>
              </a:rPr>
              <a:t>Fondo claro</a:t>
            </a:r>
          </a:p>
        </p:txBody>
      </p:sp>
      <p:sp>
        <p:nvSpPr>
          <p:cNvPr id="25" name="Rounded Rectangle 24"/>
          <p:cNvSpPr/>
          <p:nvPr/>
        </p:nvSpPr>
        <p:spPr>
          <a:xfrm>
            <a:off x="9029471" y="3231489"/>
            <a:ext cx="2522143" cy="645566"/>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58071" y="3396081"/>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58071" y="3542385"/>
            <a:ext cx="2064943" cy="279806"/>
          </a:xfrm>
          <a:prstGeom prst="rect">
            <a:avLst/>
          </a:prstGeom>
          <a:noFill/>
        </p:spPr>
        <p:txBody>
          <a:bodyPr wrap="square" anchor="t" lIns="0" rIns="0" tIns="0" bIns="0">
            <a:spAutoFit/>
          </a:bodyPr>
          <a:lstStyle/>
          <a:p>
            <a:pPr algn="l"/>
            <a:r>
              <a:rPr sz="1600" b="0">
                <a:solidFill>
                  <a:srgbClr val="C7C2EF"/>
                </a:solidFill>
                <a:latin typeface="ITC Avant Garde Gothic"/>
              </a:rPr>
              <a:t>10 a 20 s</a:t>
            </a:r>
          </a:p>
        </p:txBody>
      </p:sp>
      <p:sp>
        <p:nvSpPr>
          <p:cNvPr id="28" name="TextBox 27"/>
          <p:cNvSpPr txBox="1"/>
          <p:nvPr/>
        </p:nvSpPr>
        <p:spPr>
          <a:xfrm>
            <a:off x="640080" y="4059936"/>
            <a:ext cx="10911535" cy="535472"/>
          </a:xfrm>
          <a:prstGeom prst="rect">
            <a:avLst/>
          </a:prstGeom>
          <a:noFill/>
        </p:spPr>
        <p:txBody>
          <a:bodyPr wrap="square" anchor="t" lIns="0" rIns="0" tIns="0" bIns="0">
            <a:spAutoFit/>
          </a:bodyPr>
          <a:lstStyle/>
          <a:p>
            <a:pPr algn="l"/>
            <a:r>
              <a:rPr sz="1700" b="0">
                <a:solidFill>
                  <a:srgbClr val="C7C2EF"/>
                </a:solidFill>
                <a:latin typeface="ITC Avant Garde Gothic"/>
              </a:rPr>
              <a:t>Computadora de escritorio, una fotografía grande. Varias imágenes se analizan una tras otra; dos o tres minutos de espera son aceptables.</a:t>
            </a:r>
          </a:p>
        </p:txBody>
      </p:sp>
      <p:sp>
        <p:nvSpPr>
          <p:cNvPr id="29" name="TextBox 28"/>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Introducción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Principios de diseño</a:t>
            </a:r>
          </a:p>
        </p:txBody>
      </p:sp>
      <p:sp>
        <p:nvSpPr>
          <p:cNvPr id="3" name="TextBox 2"/>
          <p:cNvSpPr txBox="1"/>
          <p:nvPr/>
        </p:nvSpPr>
        <p:spPr>
          <a:xfrm>
            <a:off x="640080" y="960120"/>
            <a:ext cx="10911535" cy="449833"/>
          </a:xfrm>
          <a:prstGeom prst="rect">
            <a:avLst/>
          </a:prstGeom>
          <a:noFill/>
        </p:spPr>
        <p:txBody>
          <a:bodyPr wrap="square" anchor="t" lIns="0" rIns="0" tIns="0" bIns="0">
            <a:spAutoFit/>
          </a:bodyPr>
          <a:lstStyle/>
          <a:p>
            <a:pPr algn="l"/>
            <a:r>
              <a:rPr sz="3100" b="1">
                <a:solidFill>
                  <a:srgbClr val="C7C2EF"/>
                </a:solidFill>
                <a:latin typeface="ITC Avant Garde Gothic"/>
              </a:rPr>
              <a:t>Tres principios que explican lo que se ve</a:t>
            </a:r>
          </a:p>
        </p:txBody>
      </p:sp>
      <p:sp>
        <p:nvSpPr>
          <p:cNvPr id="4" name="Rounded Rectangle 3"/>
          <p:cNvSpPr/>
          <p:nvPr/>
        </p:nvSpPr>
        <p:spPr>
          <a:xfrm>
            <a:off x="640080" y="1775714"/>
            <a:ext cx="10911535" cy="58381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86610"/>
            <a:ext cx="10454335" cy="218058"/>
          </a:xfrm>
          <a:prstGeom prst="rect">
            <a:avLst/>
          </a:prstGeom>
          <a:noFill/>
        </p:spPr>
        <p:txBody>
          <a:bodyPr wrap="square" anchor="t" lIns="0" rIns="0" tIns="0" bIns="0">
            <a:spAutoFit/>
          </a:bodyPr>
          <a:lstStyle/>
          <a:p>
            <a:pPr algn="l"/>
            <a:r>
              <a:rPr sz="1200" b="0">
                <a:solidFill>
                  <a:srgbClr val="C7C2EF"/>
                </a:solidFill>
                <a:latin typeface="ITC Avant Garde Gothic"/>
              </a:rPr>
              <a:t>No suponer</a:t>
            </a:r>
          </a:p>
        </p:txBody>
      </p:sp>
      <p:sp>
        <p:nvSpPr>
          <p:cNvPr id="7" name="TextBox 6"/>
          <p:cNvSpPr txBox="1"/>
          <p:nvPr/>
        </p:nvSpPr>
        <p:spPr>
          <a:xfrm>
            <a:off x="640080" y="2542413"/>
            <a:ext cx="10911535" cy="204520"/>
          </a:xfrm>
          <a:prstGeom prst="rect">
            <a:avLst/>
          </a:prstGeom>
          <a:noFill/>
        </p:spPr>
        <p:txBody>
          <a:bodyPr wrap="square" anchor="t" lIns="0" rIns="0" tIns="0" bIns="0">
            <a:spAutoFit/>
          </a:bodyPr>
          <a:lstStyle/>
          <a:p>
            <a:pPr algn="l"/>
            <a:r>
              <a:rPr sz="1300" b="0">
                <a:solidFill>
                  <a:srgbClr val="C7C2EF"/>
                </a:solidFill>
                <a:latin typeface="ITC Avant Garde Gothic"/>
              </a:rPr>
              <a:t>Cuando falta un dato, el sitio no lo inventa: lo indica en pantalla, como la escala y el estado del modelo.</a:t>
            </a:r>
          </a:p>
        </p:txBody>
      </p:sp>
      <p:sp>
        <p:nvSpPr>
          <p:cNvPr id="8" name="Rounded Rectangle 7"/>
          <p:cNvSpPr/>
          <p:nvPr/>
        </p:nvSpPr>
        <p:spPr>
          <a:xfrm>
            <a:off x="640080" y="2975533"/>
            <a:ext cx="10911535" cy="58381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8680" y="314012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286429"/>
            <a:ext cx="10454335" cy="218058"/>
          </a:xfrm>
          <a:prstGeom prst="rect">
            <a:avLst/>
          </a:prstGeom>
          <a:noFill/>
        </p:spPr>
        <p:txBody>
          <a:bodyPr wrap="square" anchor="t" lIns="0" rIns="0" tIns="0" bIns="0">
            <a:spAutoFit/>
          </a:bodyPr>
          <a:lstStyle/>
          <a:p>
            <a:pPr algn="l"/>
            <a:r>
              <a:rPr sz="1200" b="0">
                <a:solidFill>
                  <a:srgbClr val="C7C2EF"/>
                </a:solidFill>
                <a:latin typeface="ITC Avant Garde Gothic"/>
              </a:rPr>
              <a:t>Separar</a:t>
            </a:r>
          </a:p>
        </p:txBody>
      </p:sp>
      <p:sp>
        <p:nvSpPr>
          <p:cNvPr id="11" name="TextBox 10"/>
          <p:cNvSpPr txBox="1"/>
          <p:nvPr/>
        </p:nvSpPr>
        <p:spPr>
          <a:xfrm>
            <a:off x="640080" y="3742232"/>
            <a:ext cx="10911535" cy="204520"/>
          </a:xfrm>
          <a:prstGeom prst="rect">
            <a:avLst/>
          </a:prstGeom>
          <a:noFill/>
        </p:spPr>
        <p:txBody>
          <a:bodyPr wrap="square" anchor="t" lIns="0" rIns="0" tIns="0" bIns="0">
            <a:spAutoFit/>
          </a:bodyPr>
          <a:lstStyle/>
          <a:p>
            <a:pPr algn="l"/>
            <a:r>
              <a:rPr sz="1300" b="0">
                <a:solidFill>
                  <a:srgbClr val="C7C2EF"/>
                </a:solidFill>
                <a:latin typeface="ITC Avant Garde Gothic"/>
              </a:rPr>
              <a:t>La red localiza y el código mide: cualquier medida se verifica sin abrir la red.</a:t>
            </a:r>
          </a:p>
        </p:txBody>
      </p:sp>
      <p:sp>
        <p:nvSpPr>
          <p:cNvPr id="12" name="Rounded Rectangle 11"/>
          <p:cNvSpPr/>
          <p:nvPr/>
        </p:nvSpPr>
        <p:spPr>
          <a:xfrm>
            <a:off x="640080" y="4175353"/>
            <a:ext cx="10911535" cy="58381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68680" y="433994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486249"/>
            <a:ext cx="10454335" cy="218058"/>
          </a:xfrm>
          <a:prstGeom prst="rect">
            <a:avLst/>
          </a:prstGeom>
          <a:noFill/>
        </p:spPr>
        <p:txBody>
          <a:bodyPr wrap="square" anchor="t" lIns="0" rIns="0" tIns="0" bIns="0">
            <a:spAutoFit/>
          </a:bodyPr>
          <a:lstStyle/>
          <a:p>
            <a:pPr algn="l"/>
            <a:r>
              <a:rPr sz="1200" b="0">
                <a:solidFill>
                  <a:srgbClr val="C7C2EF"/>
                </a:solidFill>
                <a:latin typeface="ITC Avant Garde Gothic"/>
              </a:rPr>
              <a:t>Reproducir</a:t>
            </a:r>
          </a:p>
        </p:txBody>
      </p:sp>
      <p:sp>
        <p:nvSpPr>
          <p:cNvPr id="15" name="TextBox 14"/>
          <p:cNvSpPr txBox="1"/>
          <p:nvPr/>
        </p:nvSpPr>
        <p:spPr>
          <a:xfrm>
            <a:off x="640080" y="4942052"/>
            <a:ext cx="10911535" cy="204520"/>
          </a:xfrm>
          <a:prstGeom prst="rect">
            <a:avLst/>
          </a:prstGeom>
          <a:noFill/>
        </p:spPr>
        <p:txBody>
          <a:bodyPr wrap="square" anchor="t" lIns="0" rIns="0" tIns="0" bIns="0">
            <a:spAutoFit/>
          </a:bodyPr>
          <a:lstStyle/>
          <a:p>
            <a:pPr algn="l"/>
            <a:r>
              <a:rPr sz="1300" b="0">
                <a:solidFill>
                  <a:srgbClr val="C7C2EF"/>
                </a:solidFill>
                <a:latin typeface="ITC Avant Garde Gothic"/>
              </a:rPr>
              <a:t>Cuaderno de Colab, configuración dentro del modelo y servidor con archivos versionados.</a:t>
            </a:r>
          </a:p>
        </p:txBody>
      </p:sp>
      <p:sp>
        <p:nvSpPr>
          <p:cNvPr id="16" name="TextBox 15"/>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Introducción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Segundo bloque · 30 minutos</a:t>
            </a:r>
          </a:p>
        </p:txBody>
      </p:sp>
      <p:sp>
        <p:nvSpPr>
          <p:cNvPr id="3" name="TextBox 2"/>
          <p:cNvSpPr txBox="1"/>
          <p:nvPr/>
        </p:nvSpPr>
        <p:spPr>
          <a:xfrm>
            <a:off x="640080" y="960120"/>
            <a:ext cx="10911535" cy="642620"/>
          </a:xfrm>
          <a:prstGeom prst="rect">
            <a:avLst/>
          </a:prstGeom>
          <a:noFill/>
        </p:spPr>
        <p:txBody>
          <a:bodyPr wrap="square" anchor="t" lIns="0" rIns="0" tIns="0" bIns="0">
            <a:spAutoFit/>
          </a:bodyPr>
          <a:lstStyle/>
          <a:p>
            <a:pPr algn="l"/>
            <a:r>
              <a:rPr sz="4400" b="1">
                <a:solidFill>
                  <a:srgbClr val="C7C2EF"/>
                </a:solidFill>
                <a:latin typeface="ITC Avant Garde Gothic"/>
              </a:rPr>
              <a:t>El sitio en funcionamiento</a:t>
            </a:r>
          </a:p>
        </p:txBody>
      </p:sp>
      <p:sp>
        <p:nvSpPr>
          <p:cNvPr id="4" name="TextBox 3"/>
          <p:cNvSpPr txBox="1"/>
          <p:nvPr/>
        </p:nvSpPr>
        <p:spPr>
          <a:xfrm>
            <a:off x="640080" y="1968500"/>
            <a:ext cx="10911535" cy="743712"/>
          </a:xfrm>
          <a:prstGeom prst="rect">
            <a:avLst/>
          </a:prstGeom>
          <a:noFill/>
        </p:spPr>
        <p:txBody>
          <a:bodyPr wrap="square" anchor="t" lIns="0" rIns="0" tIns="0" bIns="0">
            <a:spAutoFit/>
          </a:bodyPr>
          <a:lstStyle/>
          <a:p>
            <a:pPr algn="l"/>
            <a:r>
              <a:rPr sz="2400" b="0">
                <a:solidFill>
                  <a:srgbClr val="C7C2EF"/>
                </a:solidFill>
                <a:latin typeface="ITC Avant Garde Gothic"/>
              </a:rPr>
              <a:t>Crear una cuenta, subir una imagen, leer los resultados y descargar los archivos.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Recorrido por el sitio</a:t>
            </a:r>
          </a:p>
        </p:txBody>
      </p:sp>
      <p:sp>
        <p:nvSpPr>
          <p:cNvPr id="3" name="TextBox 2"/>
          <p:cNvSpPr txBox="1"/>
          <p:nvPr/>
        </p:nvSpPr>
        <p:spPr>
          <a:xfrm>
            <a:off x="640080" y="960120"/>
            <a:ext cx="10911535" cy="1182420"/>
          </a:xfrm>
          <a:prstGeom prst="rect">
            <a:avLst/>
          </a:prstGeom>
          <a:noFill/>
        </p:spPr>
        <p:txBody>
          <a:bodyPr wrap="square" anchor="t" lIns="0" rIns="0" tIns="0" bIns="0">
            <a:spAutoFit/>
          </a:bodyPr>
          <a:lstStyle/>
          <a:p>
            <a:pPr algn="l"/>
            <a:r>
              <a:rPr sz="4000" b="1">
                <a:solidFill>
                  <a:srgbClr val="C7C2EF"/>
                </a:solidFill>
                <a:latin typeface="ITC Avant Garde Gothic"/>
              </a:rPr>
              <a:t>La página de inicio, como la ve cualquier visitante</a:t>
            </a:r>
          </a:p>
        </p:txBody>
      </p:sp>
      <p:sp>
        <p:nvSpPr>
          <p:cNvPr id="4" name="Rounded Rectangle 3"/>
          <p:cNvSpPr/>
          <p:nvPr/>
        </p:nvSpPr>
        <p:spPr>
          <a:xfrm>
            <a:off x="640080" y="2508300"/>
            <a:ext cx="3454298" cy="112552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67289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819196"/>
            <a:ext cx="2997098" cy="759764"/>
          </a:xfrm>
          <a:prstGeom prst="rect">
            <a:avLst/>
          </a:prstGeom>
          <a:noFill/>
        </p:spPr>
        <p:txBody>
          <a:bodyPr wrap="square" anchor="t" lIns="0" rIns="0" tIns="0" bIns="0">
            <a:spAutoFit/>
          </a:bodyPr>
          <a:lstStyle/>
          <a:p>
            <a:pPr algn="l"/>
            <a:r>
              <a:rPr sz="2000" b="0">
                <a:solidFill>
                  <a:srgbClr val="C7C2EF"/>
                </a:solidFill>
                <a:latin typeface="ITC Avant Garde Gothic"/>
              </a:rPr>
              <a:t>IMAGE BIO PRO</a:t>
            </a:r>
          </a:p>
        </p:txBody>
      </p:sp>
      <p:sp>
        <p:nvSpPr>
          <p:cNvPr id="7" name="Rounded Rectangle 6"/>
          <p:cNvSpPr/>
          <p:nvPr/>
        </p:nvSpPr>
        <p:spPr>
          <a:xfrm>
            <a:off x="4368698" y="2508300"/>
            <a:ext cx="3454298" cy="112552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97298" y="267289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7298" y="2819196"/>
            <a:ext cx="2997098" cy="759764"/>
          </a:xfrm>
          <a:prstGeom prst="rect">
            <a:avLst/>
          </a:prstGeom>
          <a:noFill/>
        </p:spPr>
        <p:txBody>
          <a:bodyPr wrap="square" anchor="t" lIns="0" rIns="0" tIns="0" bIns="0">
            <a:spAutoFit/>
          </a:bodyPr>
          <a:lstStyle/>
          <a:p>
            <a:pPr algn="l"/>
            <a:r>
              <a:rPr sz="2000" b="0">
                <a:solidFill>
                  <a:srgbClr val="C7C2EF"/>
                </a:solidFill>
                <a:latin typeface="ITC Avant Garde Gothic"/>
              </a:rPr>
              <a:t>Análisis de imágenes de microscopio</a:t>
            </a:r>
          </a:p>
        </p:txBody>
      </p:sp>
      <p:sp>
        <p:nvSpPr>
          <p:cNvPr id="10" name="Rounded Rectangle 9"/>
          <p:cNvSpPr/>
          <p:nvPr/>
        </p:nvSpPr>
        <p:spPr>
          <a:xfrm>
            <a:off x="8097316" y="2508300"/>
            <a:ext cx="3454298" cy="112552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25916" y="267289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5916" y="2819196"/>
            <a:ext cx="2997098" cy="759764"/>
          </a:xfrm>
          <a:prstGeom prst="rect">
            <a:avLst/>
          </a:prstGeom>
          <a:noFill/>
        </p:spPr>
        <p:txBody>
          <a:bodyPr wrap="square" anchor="t" lIns="0" rIns="0" tIns="0" bIns="0">
            <a:spAutoFit/>
          </a:bodyPr>
          <a:lstStyle/>
          <a:p>
            <a:pPr algn="l"/>
            <a:r>
              <a:rPr sz="2000" b="0">
                <a:solidFill>
                  <a:srgbClr val="C7C2EF"/>
                </a:solidFill>
                <a:latin typeface="ITC Avant Garde Gothic"/>
              </a:rPr>
              <a:t>MENÚ</a:t>
            </a:r>
          </a:p>
        </p:txBody>
      </p:sp>
      <p:sp>
        <p:nvSpPr>
          <p:cNvPr id="13" name="Rounded Rectangle 12"/>
          <p:cNvSpPr/>
          <p:nvPr/>
        </p:nvSpPr>
        <p:spPr>
          <a:xfrm>
            <a:off x="640080" y="3908145"/>
            <a:ext cx="3454298" cy="791362"/>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68680" y="4072737"/>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219041"/>
            <a:ext cx="2997098" cy="425602"/>
          </a:xfrm>
          <a:prstGeom prst="rect">
            <a:avLst/>
          </a:prstGeom>
          <a:noFill/>
        </p:spPr>
        <p:txBody>
          <a:bodyPr wrap="square" anchor="t" lIns="0" rIns="0" tIns="0" bIns="0">
            <a:spAutoFit/>
          </a:bodyPr>
          <a:lstStyle/>
          <a:p>
            <a:pPr algn="l"/>
            <a:r>
              <a:rPr sz="2000" b="0">
                <a:solidFill>
                  <a:srgbClr val="C7C2EF"/>
                </a:solidFill>
                <a:latin typeface="ITC Avant Garde Gothic"/>
              </a:rPr>
              <a:t>ES | EN</a:t>
            </a:r>
          </a:p>
        </p:txBody>
      </p:sp>
      <p:sp>
        <p:nvSpPr>
          <p:cNvPr id="16" name="Rounded Rectangle 15"/>
          <p:cNvSpPr/>
          <p:nvPr/>
        </p:nvSpPr>
        <p:spPr>
          <a:xfrm>
            <a:off x="4368698" y="3908145"/>
            <a:ext cx="3454298" cy="791362"/>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97298" y="4072737"/>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97298" y="4219041"/>
            <a:ext cx="2997098" cy="425602"/>
          </a:xfrm>
          <a:prstGeom prst="rect">
            <a:avLst/>
          </a:prstGeom>
          <a:noFill/>
        </p:spPr>
        <p:txBody>
          <a:bodyPr wrap="square" anchor="t" lIns="0" rIns="0" tIns="0" bIns="0">
            <a:spAutoFit/>
          </a:bodyPr>
          <a:lstStyle/>
          <a:p>
            <a:pPr algn="l"/>
            <a:r>
              <a:rPr sz="2000" b="0">
                <a:solidFill>
                  <a:srgbClr val="C7C2EF"/>
                </a:solidFill>
                <a:latin typeface="ITC Avant Garde Gothic"/>
              </a:rPr>
              <a:t>Iniciar sesión</a:t>
            </a:r>
          </a:p>
        </p:txBody>
      </p:sp>
      <p:sp>
        <p:nvSpPr>
          <p:cNvPr id="19" name="Rounded Rectangle 18"/>
          <p:cNvSpPr/>
          <p:nvPr/>
        </p:nvSpPr>
        <p:spPr>
          <a:xfrm>
            <a:off x="8097316" y="3908145"/>
            <a:ext cx="3454298" cy="791362"/>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25916" y="4072737"/>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5916" y="4219041"/>
            <a:ext cx="2997098" cy="425602"/>
          </a:xfrm>
          <a:prstGeom prst="rect">
            <a:avLst/>
          </a:prstGeom>
          <a:noFill/>
        </p:spPr>
        <p:txBody>
          <a:bodyPr wrap="square" anchor="t" lIns="0" rIns="0" tIns="0" bIns="0">
            <a:spAutoFit/>
          </a:bodyPr>
          <a:lstStyle/>
          <a:p>
            <a:pPr algn="l"/>
            <a:r>
              <a:rPr sz="2000" b="0">
                <a:solidFill>
                  <a:srgbClr val="C7C2EF"/>
                </a:solidFill>
                <a:latin typeface="ITC Avant Garde Gothic"/>
              </a:rPr>
              <a:t>ANALIZAR UNA IMAGEN</a:t>
            </a:r>
          </a:p>
        </p:txBody>
      </p:sp>
      <p:sp>
        <p:nvSpPr>
          <p:cNvPr id="22" name="TextBox 21"/>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Recorrido por el sitio</a:t>
            </a:r>
          </a:p>
        </p:txBody>
      </p:sp>
      <p:sp>
        <p:nvSpPr>
          <p:cNvPr id="3" name="TextBox 2"/>
          <p:cNvSpPr txBox="1"/>
          <p:nvPr/>
        </p:nvSpPr>
        <p:spPr>
          <a:xfrm>
            <a:off x="640080" y="960120"/>
            <a:ext cx="10911535" cy="501243"/>
          </a:xfrm>
          <a:prstGeom prst="rect">
            <a:avLst/>
          </a:prstGeom>
          <a:noFill/>
        </p:spPr>
        <p:txBody>
          <a:bodyPr wrap="square" anchor="t" lIns="0" rIns="0" tIns="0" bIns="0">
            <a:spAutoFit/>
          </a:bodyPr>
          <a:lstStyle/>
          <a:p>
            <a:pPr algn="l"/>
            <a:r>
              <a:rPr sz="3400" b="1">
                <a:solidFill>
                  <a:srgbClr val="C7C2EF"/>
                </a:solidFill>
                <a:latin typeface="ITC Avant Garde Gothic"/>
              </a:rPr>
              <a:t>Nosotros, Aliados, Infografías y Contacto</a:t>
            </a:r>
          </a:p>
        </p:txBody>
      </p:sp>
      <p:sp>
        <p:nvSpPr>
          <p:cNvPr id="4" name="Rounded Rectangle 3"/>
          <p:cNvSpPr/>
          <p:nvPr/>
        </p:nvSpPr>
        <p:spPr>
          <a:xfrm>
            <a:off x="640080" y="1827123"/>
            <a:ext cx="2522143" cy="95067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99171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138019"/>
            <a:ext cx="2064943" cy="584911"/>
          </a:xfrm>
          <a:prstGeom prst="rect">
            <a:avLst/>
          </a:prstGeom>
          <a:noFill/>
        </p:spPr>
        <p:txBody>
          <a:bodyPr wrap="square" anchor="t" lIns="0" rIns="0" tIns="0" bIns="0">
            <a:spAutoFit/>
          </a:bodyPr>
          <a:lstStyle/>
          <a:p>
            <a:pPr algn="l"/>
            <a:r>
              <a:rPr sz="1700" b="0">
                <a:solidFill>
                  <a:srgbClr val="C7C2EF"/>
                </a:solidFill>
                <a:latin typeface="ITC Avant Garde Gothic"/>
              </a:rPr>
              <a:t>Nosotros</a:t>
            </a:r>
          </a:p>
        </p:txBody>
      </p:sp>
      <p:sp>
        <p:nvSpPr>
          <p:cNvPr id="7" name="Rounded Rectangle 6"/>
          <p:cNvSpPr/>
          <p:nvPr/>
        </p:nvSpPr>
        <p:spPr>
          <a:xfrm>
            <a:off x="3436543" y="1827123"/>
            <a:ext cx="2522143" cy="95067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65143" y="199171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65143" y="2138019"/>
            <a:ext cx="2064943" cy="584911"/>
          </a:xfrm>
          <a:prstGeom prst="rect">
            <a:avLst/>
          </a:prstGeom>
          <a:noFill/>
        </p:spPr>
        <p:txBody>
          <a:bodyPr wrap="square" anchor="t" lIns="0" rIns="0" tIns="0" bIns="0">
            <a:spAutoFit/>
          </a:bodyPr>
          <a:lstStyle/>
          <a:p>
            <a:pPr algn="l"/>
            <a:r>
              <a:rPr sz="1700" b="0">
                <a:solidFill>
                  <a:srgbClr val="C7C2EF"/>
                </a:solidFill>
                <a:latin typeface="ITC Avant Garde Gothic"/>
              </a:rPr>
              <a:t>Qué es Image Bio Pro</a:t>
            </a:r>
          </a:p>
        </p:txBody>
      </p:sp>
      <p:sp>
        <p:nvSpPr>
          <p:cNvPr id="10" name="Rounded Rectangle 9"/>
          <p:cNvSpPr/>
          <p:nvPr/>
        </p:nvSpPr>
        <p:spPr>
          <a:xfrm>
            <a:off x="6233007" y="1827123"/>
            <a:ext cx="2522143" cy="95067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61607" y="199171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1607" y="2138019"/>
            <a:ext cx="2064943" cy="584911"/>
          </a:xfrm>
          <a:prstGeom prst="rect">
            <a:avLst/>
          </a:prstGeom>
          <a:noFill/>
        </p:spPr>
        <p:txBody>
          <a:bodyPr wrap="square" anchor="t" lIns="0" rIns="0" tIns="0" bIns="0">
            <a:spAutoFit/>
          </a:bodyPr>
          <a:lstStyle/>
          <a:p>
            <a:pPr algn="l"/>
            <a:r>
              <a:rPr sz="1700" b="0">
                <a:solidFill>
                  <a:srgbClr val="C7C2EF"/>
                </a:solidFill>
                <a:latin typeface="ITC Avant Garde Gothic"/>
              </a:rPr>
              <a:t>Aliados</a:t>
            </a:r>
          </a:p>
        </p:txBody>
      </p:sp>
      <p:sp>
        <p:nvSpPr>
          <p:cNvPr id="13" name="Rounded Rectangle 12"/>
          <p:cNvSpPr/>
          <p:nvPr/>
        </p:nvSpPr>
        <p:spPr>
          <a:xfrm>
            <a:off x="9029471" y="1827123"/>
            <a:ext cx="2522143" cy="95067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258071" y="199171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58071" y="2138019"/>
            <a:ext cx="2064943" cy="584911"/>
          </a:xfrm>
          <a:prstGeom prst="rect">
            <a:avLst/>
          </a:prstGeom>
          <a:noFill/>
        </p:spPr>
        <p:txBody>
          <a:bodyPr wrap="square" anchor="t" lIns="0" rIns="0" tIns="0" bIns="0">
            <a:spAutoFit/>
          </a:bodyPr>
          <a:lstStyle/>
          <a:p>
            <a:pPr algn="l"/>
            <a:r>
              <a:rPr sz="1700" b="0">
                <a:solidFill>
                  <a:srgbClr val="C7C2EF"/>
                </a:solidFill>
                <a:latin typeface="ITC Avant Garde Gothic"/>
              </a:rPr>
              <a:t>Infografías y videos</a:t>
            </a:r>
          </a:p>
        </p:txBody>
      </p:sp>
      <p:sp>
        <p:nvSpPr>
          <p:cNvPr id="16" name="Rounded Rectangle 15"/>
          <p:cNvSpPr/>
          <p:nvPr/>
        </p:nvSpPr>
        <p:spPr>
          <a:xfrm>
            <a:off x="640080" y="3052114"/>
            <a:ext cx="2522143" cy="1233982"/>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68680" y="32167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363010"/>
            <a:ext cx="2064943" cy="868222"/>
          </a:xfrm>
          <a:prstGeom prst="rect">
            <a:avLst/>
          </a:prstGeom>
          <a:noFill/>
        </p:spPr>
        <p:txBody>
          <a:bodyPr wrap="square" anchor="t" lIns="0" rIns="0" tIns="0" bIns="0">
            <a:spAutoFit/>
          </a:bodyPr>
          <a:lstStyle/>
          <a:p>
            <a:pPr algn="l"/>
            <a:r>
              <a:rPr sz="1700" b="0">
                <a:solidFill>
                  <a:srgbClr val="C7C2EF"/>
                </a:solidFill>
                <a:latin typeface="ITC Avant Garde Gothic"/>
              </a:rPr>
              <a:t>Clic: ventana con imagen y texto</a:t>
            </a:r>
          </a:p>
        </p:txBody>
      </p:sp>
      <p:sp>
        <p:nvSpPr>
          <p:cNvPr id="19" name="Rounded Rectangle 18"/>
          <p:cNvSpPr/>
          <p:nvPr/>
        </p:nvSpPr>
        <p:spPr>
          <a:xfrm>
            <a:off x="3436543" y="3052114"/>
            <a:ext cx="2522143" cy="1233982"/>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5143" y="32167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65143" y="3363010"/>
            <a:ext cx="2064943" cy="868222"/>
          </a:xfrm>
          <a:prstGeom prst="rect">
            <a:avLst/>
          </a:prstGeom>
          <a:noFill/>
        </p:spPr>
        <p:txBody>
          <a:bodyPr wrap="square" anchor="t" lIns="0" rIns="0" tIns="0" bIns="0">
            <a:spAutoFit/>
          </a:bodyPr>
          <a:lstStyle/>
          <a:p>
            <a:pPr algn="l"/>
            <a:r>
              <a:rPr sz="1700" b="0">
                <a:solidFill>
                  <a:srgbClr val="C7C2EF"/>
                </a:solidFill>
                <a:latin typeface="ITC Avant Garde Gothic"/>
              </a:rPr>
              <a:t>Contacto</a:t>
            </a:r>
          </a:p>
        </p:txBody>
      </p:sp>
      <p:sp>
        <p:nvSpPr>
          <p:cNvPr id="22" name="Rounded Rectangle 21"/>
          <p:cNvSpPr/>
          <p:nvPr/>
        </p:nvSpPr>
        <p:spPr>
          <a:xfrm>
            <a:off x="6233007" y="3052114"/>
            <a:ext cx="2522143" cy="1233982"/>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61607" y="32167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61607" y="3363010"/>
            <a:ext cx="2064943" cy="868222"/>
          </a:xfrm>
          <a:prstGeom prst="rect">
            <a:avLst/>
          </a:prstGeom>
          <a:noFill/>
        </p:spPr>
        <p:txBody>
          <a:bodyPr wrap="square" anchor="t" lIns="0" rIns="0" tIns="0" bIns="0">
            <a:spAutoFit/>
          </a:bodyPr>
          <a:lstStyle/>
          <a:p>
            <a:pPr algn="l"/>
            <a:r>
              <a:rPr sz="1700" b="0">
                <a:solidFill>
                  <a:srgbClr val="C7C2EF"/>
                </a:solidFill>
                <a:latin typeface="ITC Avant Garde Gothic"/>
              </a:rPr>
              <a:t>Nombre</a:t>
            </a:r>
          </a:p>
        </p:txBody>
      </p:sp>
      <p:sp>
        <p:nvSpPr>
          <p:cNvPr id="25" name="Rounded Rectangle 24"/>
          <p:cNvSpPr/>
          <p:nvPr/>
        </p:nvSpPr>
        <p:spPr>
          <a:xfrm>
            <a:off x="9029471" y="3052114"/>
            <a:ext cx="2522143" cy="1233982"/>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58071" y="32167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58071" y="3363010"/>
            <a:ext cx="2064943" cy="868222"/>
          </a:xfrm>
          <a:prstGeom prst="rect">
            <a:avLst/>
          </a:prstGeom>
          <a:noFill/>
        </p:spPr>
        <p:txBody>
          <a:bodyPr wrap="square" anchor="t" lIns="0" rIns="0" tIns="0" bIns="0">
            <a:spAutoFit/>
          </a:bodyPr>
          <a:lstStyle/>
          <a:p>
            <a:pPr algn="l"/>
            <a:r>
              <a:rPr sz="1700" b="0">
                <a:solidFill>
                  <a:srgbClr val="C7C2EF"/>
                </a:solidFill>
                <a:latin typeface="ITC Avant Garde Gothic"/>
              </a:rPr>
              <a:t>Correo</a:t>
            </a:r>
          </a:p>
        </p:txBody>
      </p:sp>
      <p:sp>
        <p:nvSpPr>
          <p:cNvPr id="28" name="Rounded Rectangle 27"/>
          <p:cNvSpPr/>
          <p:nvPr/>
        </p:nvSpPr>
        <p:spPr>
          <a:xfrm>
            <a:off x="640080" y="4560417"/>
            <a:ext cx="2522143" cy="66735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8680" y="472500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4871313"/>
            <a:ext cx="2064943" cy="301599"/>
          </a:xfrm>
          <a:prstGeom prst="rect">
            <a:avLst/>
          </a:prstGeom>
          <a:noFill/>
        </p:spPr>
        <p:txBody>
          <a:bodyPr wrap="square" anchor="t" lIns="0" rIns="0" tIns="0" bIns="0">
            <a:spAutoFit/>
          </a:bodyPr>
          <a:lstStyle/>
          <a:p>
            <a:pPr algn="l"/>
            <a:r>
              <a:rPr sz="1700" b="0">
                <a:solidFill>
                  <a:srgbClr val="C7C2EF"/>
                </a:solidFill>
                <a:latin typeface="ITC Avant Garde Gothic"/>
              </a:rPr>
              <a:t>ENVIAR</a:t>
            </a:r>
          </a:p>
        </p:txBody>
      </p:sp>
      <p:sp>
        <p:nvSpPr>
          <p:cNvPr id="31" name="TextBox 30"/>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Recorrido por el sitio</a:t>
            </a:r>
          </a:p>
        </p:txBody>
      </p:sp>
      <p:sp>
        <p:nvSpPr>
          <p:cNvPr id="3" name="TextBox 2"/>
          <p:cNvSpPr txBox="1"/>
          <p:nvPr/>
        </p:nvSpPr>
        <p:spPr>
          <a:xfrm>
            <a:off x="640080" y="960120"/>
            <a:ext cx="10911535" cy="591210"/>
          </a:xfrm>
          <a:prstGeom prst="rect">
            <a:avLst/>
          </a:prstGeom>
          <a:noFill/>
        </p:spPr>
        <p:txBody>
          <a:bodyPr wrap="square" anchor="t" lIns="0" rIns="0" tIns="0" bIns="0">
            <a:spAutoFit/>
          </a:bodyPr>
          <a:lstStyle/>
          <a:p>
            <a:pPr algn="l"/>
            <a:r>
              <a:rPr sz="4000" b="1">
                <a:solidFill>
                  <a:srgbClr val="C7C2EF"/>
                </a:solidFill>
                <a:latin typeface="ITC Avant Garde Gothic"/>
              </a:rPr>
              <a:t>Idioma y pie de página</a:t>
            </a:r>
          </a:p>
        </p:txBody>
      </p:sp>
      <p:sp>
        <p:nvSpPr>
          <p:cNvPr id="4" name="Rounded Rectangle 3"/>
          <p:cNvSpPr/>
          <p:nvPr/>
        </p:nvSpPr>
        <p:spPr>
          <a:xfrm>
            <a:off x="640080" y="1917090"/>
            <a:ext cx="3454298" cy="791362"/>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08168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227986"/>
            <a:ext cx="2997098" cy="425602"/>
          </a:xfrm>
          <a:prstGeom prst="rect">
            <a:avLst/>
          </a:prstGeom>
          <a:noFill/>
        </p:spPr>
        <p:txBody>
          <a:bodyPr wrap="square" anchor="t" lIns="0" rIns="0" tIns="0" bIns="0">
            <a:spAutoFit/>
          </a:bodyPr>
          <a:lstStyle/>
          <a:p>
            <a:pPr algn="l"/>
            <a:r>
              <a:rPr sz="2000" b="0">
                <a:solidFill>
                  <a:srgbClr val="C7C2EF"/>
                </a:solidFill>
                <a:latin typeface="ITC Avant Garde Gothic"/>
              </a:rPr>
              <a:t>Selector de idioma</a:t>
            </a:r>
          </a:p>
        </p:txBody>
      </p:sp>
      <p:sp>
        <p:nvSpPr>
          <p:cNvPr id="7" name="Rounded Rectangle 6"/>
          <p:cNvSpPr/>
          <p:nvPr/>
        </p:nvSpPr>
        <p:spPr>
          <a:xfrm>
            <a:off x="4368698" y="1917090"/>
            <a:ext cx="3454298" cy="791362"/>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97298" y="208168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7298" y="2227986"/>
            <a:ext cx="2997098" cy="425602"/>
          </a:xfrm>
          <a:prstGeom prst="rect">
            <a:avLst/>
          </a:prstGeom>
          <a:noFill/>
        </p:spPr>
        <p:txBody>
          <a:bodyPr wrap="square" anchor="t" lIns="0" rIns="0" tIns="0" bIns="0">
            <a:spAutoFit/>
          </a:bodyPr>
          <a:lstStyle/>
          <a:p>
            <a:pPr algn="l"/>
            <a:r>
              <a:rPr sz="2000" b="0">
                <a:solidFill>
                  <a:srgbClr val="C7C2EF"/>
                </a:solidFill>
                <a:latin typeface="ITC Avant Garde Gothic"/>
              </a:rPr>
              <a:t>ES</a:t>
            </a:r>
          </a:p>
        </p:txBody>
      </p:sp>
      <p:sp>
        <p:nvSpPr>
          <p:cNvPr id="10" name="Rounded Rectangle 9"/>
          <p:cNvSpPr/>
          <p:nvPr/>
        </p:nvSpPr>
        <p:spPr>
          <a:xfrm>
            <a:off x="8097316" y="1917090"/>
            <a:ext cx="3454298" cy="791362"/>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25916" y="208168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5916" y="2227986"/>
            <a:ext cx="2997098" cy="425602"/>
          </a:xfrm>
          <a:prstGeom prst="rect">
            <a:avLst/>
          </a:prstGeom>
          <a:noFill/>
        </p:spPr>
        <p:txBody>
          <a:bodyPr wrap="square" anchor="t" lIns="0" rIns="0" tIns="0" bIns="0">
            <a:spAutoFit/>
          </a:bodyPr>
          <a:lstStyle/>
          <a:p>
            <a:pPr algn="l"/>
            <a:r>
              <a:rPr sz="2000" b="0">
                <a:solidFill>
                  <a:srgbClr val="C7C2EF"/>
                </a:solidFill>
                <a:latin typeface="ITC Avant Garde Gothic"/>
              </a:rPr>
              <a:t>EN</a:t>
            </a:r>
          </a:p>
        </p:txBody>
      </p:sp>
      <p:sp>
        <p:nvSpPr>
          <p:cNvPr id="13" name="TextBox 12"/>
          <p:cNvSpPr txBox="1"/>
          <p:nvPr/>
        </p:nvSpPr>
        <p:spPr>
          <a:xfrm>
            <a:off x="640080" y="2891332"/>
            <a:ext cx="10911535" cy="684215"/>
          </a:xfrm>
          <a:prstGeom prst="rect">
            <a:avLst/>
          </a:prstGeom>
          <a:noFill/>
        </p:spPr>
        <p:txBody>
          <a:bodyPr wrap="square" anchor="t" lIns="0" rIns="0" tIns="0" bIns="0">
            <a:spAutoFit/>
          </a:bodyPr>
          <a:lstStyle/>
          <a:p>
            <a:pPr algn="l"/>
            <a:r>
              <a:rPr sz="2200" b="0">
                <a:solidFill>
                  <a:srgbClr val="C7C2EF"/>
                </a:solidFill>
                <a:latin typeface="ITC Avant Garde Gothic"/>
              </a:rPr>
              <a:t>El sitio completo se traduce con el servicio de Google, integrado en la página. No hay dos versiones del sitio.</a:t>
            </a:r>
          </a:p>
        </p:txBody>
      </p:sp>
      <p:sp>
        <p:nvSpPr>
          <p:cNvPr id="14" name="Rounded Rectangle 13"/>
          <p:cNvSpPr/>
          <p:nvPr/>
        </p:nvSpPr>
        <p:spPr>
          <a:xfrm>
            <a:off x="640080" y="3804147"/>
            <a:ext cx="2522143" cy="112552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396873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115043"/>
            <a:ext cx="2064943" cy="759764"/>
          </a:xfrm>
          <a:prstGeom prst="rect">
            <a:avLst/>
          </a:prstGeom>
          <a:noFill/>
        </p:spPr>
        <p:txBody>
          <a:bodyPr wrap="square" anchor="t" lIns="0" rIns="0" tIns="0" bIns="0">
            <a:spAutoFit/>
          </a:bodyPr>
          <a:lstStyle/>
          <a:p>
            <a:pPr algn="l"/>
            <a:r>
              <a:rPr sz="2000" b="0">
                <a:solidFill>
                  <a:srgbClr val="C7C2EF"/>
                </a:solidFill>
                <a:latin typeface="ITC Avant Garde Gothic"/>
              </a:rPr>
              <a:t>IMAGE BIO PRO</a:t>
            </a:r>
          </a:p>
        </p:txBody>
      </p:sp>
      <p:sp>
        <p:nvSpPr>
          <p:cNvPr id="17" name="Rounded Rectangle 16"/>
          <p:cNvSpPr/>
          <p:nvPr/>
        </p:nvSpPr>
        <p:spPr>
          <a:xfrm>
            <a:off x="3436543" y="3804147"/>
            <a:ext cx="2522143" cy="112552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65143" y="396873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65143" y="4115043"/>
            <a:ext cx="2064943" cy="759764"/>
          </a:xfrm>
          <a:prstGeom prst="rect">
            <a:avLst/>
          </a:prstGeom>
          <a:noFill/>
        </p:spPr>
        <p:txBody>
          <a:bodyPr wrap="square" anchor="t" lIns="0" rIns="0" tIns="0" bIns="0">
            <a:spAutoFit/>
          </a:bodyPr>
          <a:lstStyle/>
          <a:p>
            <a:pPr algn="l"/>
            <a:r>
              <a:rPr sz="2000" b="0">
                <a:solidFill>
                  <a:srgbClr val="C7C2EF"/>
                </a:solidFill>
                <a:latin typeface="ITC Avant Garde Gothic"/>
              </a:rPr>
              <a:t>UAM Unidad Xochimilco</a:t>
            </a:r>
          </a:p>
        </p:txBody>
      </p:sp>
      <p:sp>
        <p:nvSpPr>
          <p:cNvPr id="20" name="Rounded Rectangle 19"/>
          <p:cNvSpPr/>
          <p:nvPr/>
        </p:nvSpPr>
        <p:spPr>
          <a:xfrm>
            <a:off x="6233007" y="3804147"/>
            <a:ext cx="2522143" cy="112552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61607" y="396873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61607" y="4115043"/>
            <a:ext cx="2064943" cy="759764"/>
          </a:xfrm>
          <a:prstGeom prst="rect">
            <a:avLst/>
          </a:prstGeom>
          <a:noFill/>
        </p:spPr>
        <p:txBody>
          <a:bodyPr wrap="square" anchor="t" lIns="0" rIns="0" tIns="0" bIns="0">
            <a:spAutoFit/>
          </a:bodyPr>
          <a:lstStyle/>
          <a:p>
            <a:pPr algn="l"/>
            <a:r>
              <a:rPr sz="2000" b="0">
                <a:solidFill>
                  <a:srgbClr val="C7C2EF"/>
                </a:solidFill>
                <a:latin typeface="ITC Avant Garde Gothic"/>
              </a:rPr>
              <a:t>Aviso de privacidad 2026</a:t>
            </a:r>
          </a:p>
        </p:txBody>
      </p:sp>
      <p:sp>
        <p:nvSpPr>
          <p:cNvPr id="23" name="Rounded Rectangle 22"/>
          <p:cNvSpPr/>
          <p:nvPr/>
        </p:nvSpPr>
        <p:spPr>
          <a:xfrm>
            <a:off x="9029471" y="3804147"/>
            <a:ext cx="2522143" cy="112552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58071" y="396873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58071" y="4115043"/>
            <a:ext cx="2064943" cy="759764"/>
          </a:xfrm>
          <a:prstGeom prst="rect">
            <a:avLst/>
          </a:prstGeom>
          <a:noFill/>
        </p:spPr>
        <p:txBody>
          <a:bodyPr wrap="square" anchor="t" lIns="0" rIns="0" tIns="0" bIns="0">
            <a:spAutoFit/>
          </a:bodyPr>
          <a:lstStyle/>
          <a:p>
            <a:pPr algn="l"/>
            <a:r>
              <a:rPr sz="2000" b="0">
                <a:solidFill>
                  <a:srgbClr val="C7C2EF"/>
                </a:solidFill>
                <a:latin typeface="ITC Avant Garde Gothic"/>
              </a:rPr>
              <a:t>Creative Commons BY-NC</a:t>
            </a:r>
          </a:p>
        </p:txBody>
      </p:sp>
      <p:sp>
        <p:nvSpPr>
          <p:cNvPr id="26" name="TextBox 25"/>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Recorrido por el sitio</a:t>
            </a:r>
          </a:p>
        </p:txBody>
      </p:sp>
      <p:sp>
        <p:nvSpPr>
          <p:cNvPr id="3" name="TextBox 2"/>
          <p:cNvSpPr txBox="1"/>
          <p:nvPr/>
        </p:nvSpPr>
        <p:spPr>
          <a:xfrm>
            <a:off x="640080" y="960120"/>
            <a:ext cx="10911535" cy="1285240"/>
          </a:xfrm>
          <a:prstGeom prst="rect">
            <a:avLst/>
          </a:prstGeom>
          <a:noFill/>
        </p:spPr>
        <p:txBody>
          <a:bodyPr wrap="square" anchor="t" lIns="0" rIns="0" tIns="0" bIns="0">
            <a:spAutoFit/>
          </a:bodyPr>
          <a:lstStyle/>
          <a:p>
            <a:pPr algn="l"/>
            <a:r>
              <a:rPr sz="4400" b="1">
                <a:solidFill>
                  <a:srgbClr val="C7C2EF"/>
                </a:solidFill>
                <a:latin typeface="ITC Avant Garde Gothic"/>
              </a:rPr>
              <a:t>Un estilo sobrio que se adapta a la pantalla</a:t>
            </a:r>
          </a:p>
        </p:txBody>
      </p:sp>
      <p:sp>
        <p:nvSpPr>
          <p:cNvPr id="4" name="TextBox 3"/>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Cuenta</a:t>
            </a:r>
          </a:p>
        </p:txBody>
      </p:sp>
      <p:sp>
        <p:nvSpPr>
          <p:cNvPr id="3" name="TextBox 2"/>
          <p:cNvSpPr txBox="1"/>
          <p:nvPr/>
        </p:nvSpPr>
        <p:spPr>
          <a:xfrm>
            <a:off x="640080" y="960120"/>
            <a:ext cx="10911535" cy="501243"/>
          </a:xfrm>
          <a:prstGeom prst="rect">
            <a:avLst/>
          </a:prstGeom>
          <a:noFill/>
        </p:spPr>
        <p:txBody>
          <a:bodyPr wrap="square" anchor="t" lIns="0" rIns="0" tIns="0" bIns="0">
            <a:spAutoFit/>
          </a:bodyPr>
          <a:lstStyle/>
          <a:p>
            <a:pPr algn="l"/>
            <a:r>
              <a:rPr sz="3400" b="1">
                <a:solidFill>
                  <a:srgbClr val="C7C2EF"/>
                </a:solidFill>
                <a:latin typeface="ITC Avant Garde Gothic"/>
              </a:rPr>
              <a:t>«Mi cuenta»: entrar o crear una cuenta</a:t>
            </a:r>
          </a:p>
        </p:txBody>
      </p:sp>
      <p:sp>
        <p:nvSpPr>
          <p:cNvPr id="4" name="Rounded Rectangle 3"/>
          <p:cNvSpPr/>
          <p:nvPr/>
        </p:nvSpPr>
        <p:spPr>
          <a:xfrm>
            <a:off x="640080" y="1827123"/>
            <a:ext cx="2522143" cy="95067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99171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138019"/>
            <a:ext cx="2064943" cy="584911"/>
          </a:xfrm>
          <a:prstGeom prst="rect">
            <a:avLst/>
          </a:prstGeom>
          <a:noFill/>
        </p:spPr>
        <p:txBody>
          <a:bodyPr wrap="square" anchor="t" lIns="0" rIns="0" tIns="0" bIns="0">
            <a:spAutoFit/>
          </a:bodyPr>
          <a:lstStyle/>
          <a:p>
            <a:pPr algn="l"/>
            <a:r>
              <a:rPr sz="1700" b="0">
                <a:solidFill>
                  <a:srgbClr val="C7C2EF"/>
                </a:solidFill>
                <a:latin typeface="ITC Avant Garde Gothic"/>
              </a:rPr>
              <a:t>Ya tengo cuenta</a:t>
            </a:r>
          </a:p>
        </p:txBody>
      </p:sp>
      <p:sp>
        <p:nvSpPr>
          <p:cNvPr id="7" name="Rounded Rectangle 6"/>
          <p:cNvSpPr/>
          <p:nvPr/>
        </p:nvSpPr>
        <p:spPr>
          <a:xfrm>
            <a:off x="3436543" y="1827123"/>
            <a:ext cx="2522143" cy="95067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65143" y="199171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65143" y="2138019"/>
            <a:ext cx="2064943" cy="584911"/>
          </a:xfrm>
          <a:prstGeom prst="rect">
            <a:avLst/>
          </a:prstGeom>
          <a:noFill/>
        </p:spPr>
        <p:txBody>
          <a:bodyPr wrap="square" anchor="t" lIns="0" rIns="0" tIns="0" bIns="0">
            <a:spAutoFit/>
          </a:bodyPr>
          <a:lstStyle/>
          <a:p>
            <a:pPr algn="l"/>
            <a:r>
              <a:rPr sz="1700" b="0">
                <a:solidFill>
                  <a:srgbClr val="C7C2EF"/>
                </a:solidFill>
                <a:latin typeface="ITC Avant Garde Gothic"/>
              </a:rPr>
              <a:t>Correo</a:t>
            </a:r>
          </a:p>
        </p:txBody>
      </p:sp>
      <p:sp>
        <p:nvSpPr>
          <p:cNvPr id="10" name="Rounded Rectangle 9"/>
          <p:cNvSpPr/>
          <p:nvPr/>
        </p:nvSpPr>
        <p:spPr>
          <a:xfrm>
            <a:off x="6233007" y="1827123"/>
            <a:ext cx="2522143" cy="95067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61607" y="199171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1607" y="2138019"/>
            <a:ext cx="2064943" cy="584911"/>
          </a:xfrm>
          <a:prstGeom prst="rect">
            <a:avLst/>
          </a:prstGeom>
          <a:noFill/>
        </p:spPr>
        <p:txBody>
          <a:bodyPr wrap="square" anchor="t" lIns="0" rIns="0" tIns="0" bIns="0">
            <a:spAutoFit/>
          </a:bodyPr>
          <a:lstStyle/>
          <a:p>
            <a:pPr algn="l"/>
            <a:r>
              <a:rPr sz="1700" b="0">
                <a:solidFill>
                  <a:srgbClr val="C7C2EF"/>
                </a:solidFill>
                <a:latin typeface="ITC Avant Garde Gothic"/>
              </a:rPr>
              <a:t>Contraseña</a:t>
            </a:r>
          </a:p>
        </p:txBody>
      </p:sp>
      <p:sp>
        <p:nvSpPr>
          <p:cNvPr id="13" name="Rounded Rectangle 12"/>
          <p:cNvSpPr/>
          <p:nvPr/>
        </p:nvSpPr>
        <p:spPr>
          <a:xfrm>
            <a:off x="9029471" y="1827123"/>
            <a:ext cx="2522143" cy="95067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258071" y="199171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58071" y="2138019"/>
            <a:ext cx="2064943" cy="584911"/>
          </a:xfrm>
          <a:prstGeom prst="rect">
            <a:avLst/>
          </a:prstGeom>
          <a:noFill/>
        </p:spPr>
        <p:txBody>
          <a:bodyPr wrap="square" anchor="t" lIns="0" rIns="0" tIns="0" bIns="0">
            <a:spAutoFit/>
          </a:bodyPr>
          <a:lstStyle/>
          <a:p>
            <a:pPr algn="l"/>
            <a:r>
              <a:rPr sz="1700" b="0">
                <a:solidFill>
                  <a:srgbClr val="C7C2EF"/>
                </a:solidFill>
                <a:latin typeface="ITC Avant Garde Gothic"/>
              </a:rPr>
              <a:t>Recordarme en este equipo</a:t>
            </a:r>
          </a:p>
        </p:txBody>
      </p:sp>
      <p:sp>
        <p:nvSpPr>
          <p:cNvPr id="16" name="Rounded Rectangle 15"/>
          <p:cNvSpPr/>
          <p:nvPr/>
        </p:nvSpPr>
        <p:spPr>
          <a:xfrm>
            <a:off x="640080" y="3052114"/>
            <a:ext cx="2522143" cy="66735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68680" y="32167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363010"/>
            <a:ext cx="2064943" cy="301599"/>
          </a:xfrm>
          <a:prstGeom prst="rect">
            <a:avLst/>
          </a:prstGeom>
          <a:noFill/>
        </p:spPr>
        <p:txBody>
          <a:bodyPr wrap="square" anchor="t" lIns="0" rIns="0" tIns="0" bIns="0">
            <a:spAutoFit/>
          </a:bodyPr>
          <a:lstStyle/>
          <a:p>
            <a:pPr algn="l"/>
            <a:r>
              <a:rPr sz="1700" b="0">
                <a:solidFill>
                  <a:srgbClr val="C7C2EF"/>
                </a:solidFill>
                <a:latin typeface="ITC Avant Garde Gothic"/>
              </a:rPr>
              <a:t>ENTRAR</a:t>
            </a:r>
          </a:p>
        </p:txBody>
      </p:sp>
      <p:sp>
        <p:nvSpPr>
          <p:cNvPr id="19" name="Rounded Rectangle 18"/>
          <p:cNvSpPr/>
          <p:nvPr/>
        </p:nvSpPr>
        <p:spPr>
          <a:xfrm>
            <a:off x="3436543" y="3052114"/>
            <a:ext cx="2522143" cy="66735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5143" y="32167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65143" y="3363010"/>
            <a:ext cx="2064943" cy="301599"/>
          </a:xfrm>
          <a:prstGeom prst="rect">
            <a:avLst/>
          </a:prstGeom>
          <a:noFill/>
        </p:spPr>
        <p:txBody>
          <a:bodyPr wrap="square" anchor="t" lIns="0" rIns="0" tIns="0" bIns="0">
            <a:spAutoFit/>
          </a:bodyPr>
          <a:lstStyle/>
          <a:p>
            <a:pPr algn="l"/>
            <a:r>
              <a:rPr sz="1700" b="0">
                <a:solidFill>
                  <a:srgbClr val="C7C2EF"/>
                </a:solidFill>
                <a:latin typeface="ITC Avant Garde Gothic"/>
              </a:rPr>
              <a:t>Crear cuenta</a:t>
            </a:r>
          </a:p>
        </p:txBody>
      </p:sp>
      <p:sp>
        <p:nvSpPr>
          <p:cNvPr id="22" name="Rounded Rectangle 21"/>
          <p:cNvSpPr/>
          <p:nvPr/>
        </p:nvSpPr>
        <p:spPr>
          <a:xfrm>
            <a:off x="6233007" y="3052114"/>
            <a:ext cx="2522143" cy="66735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61607" y="32167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61607" y="3363010"/>
            <a:ext cx="2064943" cy="301599"/>
          </a:xfrm>
          <a:prstGeom prst="rect">
            <a:avLst/>
          </a:prstGeom>
          <a:noFill/>
        </p:spPr>
        <p:txBody>
          <a:bodyPr wrap="square" anchor="t" lIns="0" rIns="0" tIns="0" bIns="0">
            <a:spAutoFit/>
          </a:bodyPr>
          <a:lstStyle/>
          <a:p>
            <a:pPr algn="l"/>
            <a:r>
              <a:rPr sz="1700" b="0">
                <a:solidFill>
                  <a:srgbClr val="C7C2EF"/>
                </a:solidFill>
                <a:latin typeface="ITC Avant Garde Gothic"/>
              </a:rPr>
              <a:t>Nombre</a:t>
            </a:r>
          </a:p>
        </p:txBody>
      </p:sp>
      <p:sp>
        <p:nvSpPr>
          <p:cNvPr id="25" name="Rounded Rectangle 24"/>
          <p:cNvSpPr/>
          <p:nvPr/>
        </p:nvSpPr>
        <p:spPr>
          <a:xfrm>
            <a:off x="9029471" y="3052114"/>
            <a:ext cx="2522143" cy="66735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58071" y="32167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58071" y="3363010"/>
            <a:ext cx="2064943" cy="301599"/>
          </a:xfrm>
          <a:prstGeom prst="rect">
            <a:avLst/>
          </a:prstGeom>
          <a:noFill/>
        </p:spPr>
        <p:txBody>
          <a:bodyPr wrap="square" anchor="t" lIns="0" rIns="0" tIns="0" bIns="0">
            <a:spAutoFit/>
          </a:bodyPr>
          <a:lstStyle/>
          <a:p>
            <a:pPr algn="l"/>
            <a:r>
              <a:rPr sz="1700" b="0">
                <a:solidFill>
                  <a:srgbClr val="C7C2EF"/>
                </a:solidFill>
                <a:latin typeface="ITC Avant Garde Gothic"/>
              </a:rPr>
              <a:t>Correo</a:t>
            </a:r>
          </a:p>
        </p:txBody>
      </p:sp>
      <p:sp>
        <p:nvSpPr>
          <p:cNvPr id="28" name="Rounded Rectangle 27"/>
          <p:cNvSpPr/>
          <p:nvPr/>
        </p:nvSpPr>
        <p:spPr>
          <a:xfrm>
            <a:off x="640080" y="3993794"/>
            <a:ext cx="2522143" cy="1233982"/>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8680" y="415838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4304690"/>
            <a:ext cx="2064943" cy="868222"/>
          </a:xfrm>
          <a:prstGeom prst="rect">
            <a:avLst/>
          </a:prstGeom>
          <a:noFill/>
        </p:spPr>
        <p:txBody>
          <a:bodyPr wrap="square" anchor="t" lIns="0" rIns="0" tIns="0" bIns="0">
            <a:spAutoFit/>
          </a:bodyPr>
          <a:lstStyle/>
          <a:p>
            <a:pPr algn="l"/>
            <a:r>
              <a:rPr sz="1700" b="0">
                <a:solidFill>
                  <a:srgbClr val="C7C2EF"/>
                </a:solidFill>
                <a:latin typeface="ITC Avant Garde Gothic"/>
              </a:rPr>
              <a:t>Contraseña · al menos 8 caracteres</a:t>
            </a:r>
          </a:p>
        </p:txBody>
      </p:sp>
      <p:sp>
        <p:nvSpPr>
          <p:cNvPr id="31" name="Rounded Rectangle 30"/>
          <p:cNvSpPr/>
          <p:nvPr/>
        </p:nvSpPr>
        <p:spPr>
          <a:xfrm>
            <a:off x="3436543" y="3993794"/>
            <a:ext cx="2522143" cy="1233982"/>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65143" y="415838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65143" y="4304690"/>
            <a:ext cx="2064943" cy="868222"/>
          </a:xfrm>
          <a:prstGeom prst="rect">
            <a:avLst/>
          </a:prstGeom>
          <a:noFill/>
        </p:spPr>
        <p:txBody>
          <a:bodyPr wrap="square" anchor="t" lIns="0" rIns="0" tIns="0" bIns="0">
            <a:spAutoFit/>
          </a:bodyPr>
          <a:lstStyle/>
          <a:p>
            <a:pPr algn="l"/>
            <a:r>
              <a:rPr sz="1700" b="0">
                <a:solidFill>
                  <a:srgbClr val="C7C2EF"/>
                </a:solidFill>
                <a:latin typeface="ITC Avant Garde Gothic"/>
              </a:rPr>
              <a:t>REGISTRARME</a:t>
            </a:r>
          </a:p>
        </p:txBody>
      </p:sp>
      <p:sp>
        <p:nvSpPr>
          <p:cNvPr id="34" name="TextBox 33"/>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Cuenta</a:t>
            </a:r>
          </a:p>
        </p:txBody>
      </p:sp>
      <p:sp>
        <p:nvSpPr>
          <p:cNvPr id="3" name="TextBox 2"/>
          <p:cNvSpPr txBox="1"/>
          <p:nvPr/>
        </p:nvSpPr>
        <p:spPr>
          <a:xfrm>
            <a:off x="640080" y="960120"/>
            <a:ext cx="10911535" cy="546227"/>
          </a:xfrm>
          <a:prstGeom prst="rect">
            <a:avLst/>
          </a:prstGeom>
          <a:noFill/>
        </p:spPr>
        <p:txBody>
          <a:bodyPr wrap="square" anchor="t" lIns="0" rIns="0" tIns="0" bIns="0">
            <a:spAutoFit/>
          </a:bodyPr>
          <a:lstStyle/>
          <a:p>
            <a:pPr algn="l"/>
            <a:r>
              <a:rPr sz="3700" b="1">
                <a:solidFill>
                  <a:srgbClr val="C7C2EF"/>
                </a:solidFill>
                <a:latin typeface="ITC Avant Garde Gothic"/>
              </a:rPr>
              <a:t>Qué revisa el sitio al registrar</a:t>
            </a:r>
          </a:p>
        </p:txBody>
      </p:sp>
      <p:sp>
        <p:nvSpPr>
          <p:cNvPr id="4" name="Rounded Rectangle 3"/>
          <p:cNvSpPr/>
          <p:nvPr/>
        </p:nvSpPr>
        <p:spPr>
          <a:xfrm>
            <a:off x="640080" y="1872106"/>
            <a:ext cx="2522143" cy="138341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03669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183002"/>
            <a:ext cx="2064943" cy="1017650"/>
          </a:xfrm>
          <a:prstGeom prst="rect">
            <a:avLst/>
          </a:prstGeom>
          <a:noFill/>
        </p:spPr>
        <p:txBody>
          <a:bodyPr wrap="square" anchor="t" lIns="0" rIns="0" tIns="0" bIns="0">
            <a:spAutoFit/>
          </a:bodyPr>
          <a:lstStyle/>
          <a:p>
            <a:pPr algn="l"/>
            <a:r>
              <a:rPr sz="1900" b="0">
                <a:solidFill>
                  <a:srgbClr val="C7C2EF"/>
                </a:solidFill>
                <a:latin typeface="ITC Avant Garde Gothic"/>
              </a:rPr>
              <a:t>Los tres campos llenos</a:t>
            </a:r>
          </a:p>
        </p:txBody>
      </p:sp>
      <p:sp>
        <p:nvSpPr>
          <p:cNvPr id="7" name="Rounded Rectangle 6"/>
          <p:cNvSpPr/>
          <p:nvPr/>
        </p:nvSpPr>
        <p:spPr>
          <a:xfrm>
            <a:off x="3436543" y="1872106"/>
            <a:ext cx="2522143" cy="138341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65143" y="203669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65143" y="2183002"/>
            <a:ext cx="2064943" cy="1017650"/>
          </a:xfrm>
          <a:prstGeom prst="rect">
            <a:avLst/>
          </a:prstGeom>
          <a:noFill/>
        </p:spPr>
        <p:txBody>
          <a:bodyPr wrap="square" anchor="t" lIns="0" rIns="0" tIns="0" bIns="0">
            <a:spAutoFit/>
          </a:bodyPr>
          <a:lstStyle/>
          <a:p>
            <a:pPr algn="l"/>
            <a:r>
              <a:rPr sz="1900" b="0">
                <a:solidFill>
                  <a:srgbClr val="C7C2EF"/>
                </a:solidFill>
                <a:latin typeface="ITC Avant Garde Gothic"/>
              </a:rPr>
              <a:t>Correo con formato válido</a:t>
            </a:r>
          </a:p>
        </p:txBody>
      </p:sp>
      <p:sp>
        <p:nvSpPr>
          <p:cNvPr id="10" name="Rounded Rectangle 9"/>
          <p:cNvSpPr/>
          <p:nvPr/>
        </p:nvSpPr>
        <p:spPr>
          <a:xfrm>
            <a:off x="6233007" y="1872106"/>
            <a:ext cx="2522143" cy="138341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61607" y="203669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1607" y="2183002"/>
            <a:ext cx="2064943" cy="1017650"/>
          </a:xfrm>
          <a:prstGeom prst="rect">
            <a:avLst/>
          </a:prstGeom>
          <a:noFill/>
        </p:spPr>
        <p:txBody>
          <a:bodyPr wrap="square" anchor="t" lIns="0" rIns="0" tIns="0" bIns="0">
            <a:spAutoFit/>
          </a:bodyPr>
          <a:lstStyle/>
          <a:p>
            <a:pPr algn="l"/>
            <a:r>
              <a:rPr sz="1900" b="0">
                <a:solidFill>
                  <a:srgbClr val="C7C2EF"/>
                </a:solidFill>
                <a:latin typeface="ITC Avant Garde Gothic"/>
              </a:rPr>
              <a:t>Contraseña de ocho caracteres o más</a:t>
            </a:r>
          </a:p>
        </p:txBody>
      </p:sp>
      <p:sp>
        <p:nvSpPr>
          <p:cNvPr id="13" name="Rounded Rectangle 12"/>
          <p:cNvSpPr/>
          <p:nvPr/>
        </p:nvSpPr>
        <p:spPr>
          <a:xfrm>
            <a:off x="9029471" y="1872106"/>
            <a:ext cx="2522143" cy="138341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258071" y="203669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58071" y="2183002"/>
            <a:ext cx="2064943" cy="1017650"/>
          </a:xfrm>
          <a:prstGeom prst="rect">
            <a:avLst/>
          </a:prstGeom>
          <a:noFill/>
        </p:spPr>
        <p:txBody>
          <a:bodyPr wrap="square" anchor="t" lIns="0" rIns="0" tIns="0" bIns="0">
            <a:spAutoFit/>
          </a:bodyPr>
          <a:lstStyle/>
          <a:p>
            <a:pPr algn="l"/>
            <a:r>
              <a:rPr sz="1900" b="0">
                <a:solidFill>
                  <a:srgbClr val="C7C2EF"/>
                </a:solidFill>
                <a:latin typeface="ITC Avant Garde Gothic"/>
              </a:rPr>
              <a:t>No existe ya una cuenta con ese correo</a:t>
            </a:r>
          </a:p>
        </p:txBody>
      </p:sp>
      <p:sp>
        <p:nvSpPr>
          <p:cNvPr id="16" name="Rounded Rectangle 15"/>
          <p:cNvSpPr/>
          <p:nvPr/>
        </p:nvSpPr>
        <p:spPr>
          <a:xfrm>
            <a:off x="640080" y="3529837"/>
            <a:ext cx="2522143" cy="16921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68680" y="369442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840733"/>
            <a:ext cx="2064943" cy="1326387"/>
          </a:xfrm>
          <a:prstGeom prst="rect">
            <a:avLst/>
          </a:prstGeom>
          <a:noFill/>
        </p:spPr>
        <p:txBody>
          <a:bodyPr wrap="square" anchor="t" lIns="0" rIns="0" tIns="0" bIns="0">
            <a:spAutoFit/>
          </a:bodyPr>
          <a:lstStyle/>
          <a:p>
            <a:pPr algn="l"/>
            <a:r>
              <a:rPr sz="1900" b="0">
                <a:solidFill>
                  <a:srgbClr val="C7C2EF"/>
                </a:solidFill>
                <a:latin typeface="ITC Avant Garde Gothic"/>
              </a:rPr>
              <a:t>Bienvenido, Usuario de demostración</a:t>
            </a:r>
          </a:p>
        </p:txBody>
      </p:sp>
      <p:sp>
        <p:nvSpPr>
          <p:cNvPr id="19" name="Rounded Rectangle 18"/>
          <p:cNvSpPr/>
          <p:nvPr/>
        </p:nvSpPr>
        <p:spPr>
          <a:xfrm>
            <a:off x="3436543" y="3529837"/>
            <a:ext cx="2522143" cy="16921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5143" y="369442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65143" y="3840733"/>
            <a:ext cx="2064943" cy="1326387"/>
          </a:xfrm>
          <a:prstGeom prst="rect">
            <a:avLst/>
          </a:prstGeom>
          <a:noFill/>
        </p:spPr>
        <p:txBody>
          <a:bodyPr wrap="square" anchor="t" lIns="0" rIns="0" tIns="0" bIns="0">
            <a:spAutoFit/>
          </a:bodyPr>
          <a:lstStyle/>
          <a:p>
            <a:pPr algn="l"/>
            <a:r>
              <a:rPr sz="1900" b="0">
                <a:solidFill>
                  <a:srgbClr val="C7C2EF"/>
                </a:solidFill>
                <a:latin typeface="ITC Avant Garde Gothic"/>
              </a:rPr>
              <a:t>Usuario de demostración</a:t>
            </a:r>
          </a:p>
        </p:txBody>
      </p:sp>
      <p:sp>
        <p:nvSpPr>
          <p:cNvPr id="22" name="Rounded Rectangle 21"/>
          <p:cNvSpPr/>
          <p:nvPr/>
        </p:nvSpPr>
        <p:spPr>
          <a:xfrm>
            <a:off x="6233007" y="3529837"/>
            <a:ext cx="2522143" cy="16921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61607" y="369442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61607" y="3840733"/>
            <a:ext cx="2064943" cy="1326387"/>
          </a:xfrm>
          <a:prstGeom prst="rect">
            <a:avLst/>
          </a:prstGeom>
          <a:noFill/>
        </p:spPr>
        <p:txBody>
          <a:bodyPr wrap="square" anchor="t" lIns="0" rIns="0" tIns="0" bIns="0">
            <a:spAutoFit/>
          </a:bodyPr>
          <a:lstStyle/>
          <a:p>
            <a:pPr algn="l"/>
            <a:r>
              <a:rPr sz="1900" b="0">
                <a:solidFill>
                  <a:srgbClr val="C7C2EF"/>
                </a:solidFill>
                <a:latin typeface="ITC Avant Garde Gothic"/>
              </a:rPr>
              <a:t>Salir</a:t>
            </a:r>
          </a:p>
        </p:txBody>
      </p:sp>
      <p:sp>
        <p:nvSpPr>
          <p:cNvPr id="25" name="Rounded Rectangle 24"/>
          <p:cNvSpPr/>
          <p:nvPr/>
        </p:nvSpPr>
        <p:spPr>
          <a:xfrm>
            <a:off x="9029471" y="3529837"/>
            <a:ext cx="2522143" cy="16921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58071" y="369442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58071" y="3840733"/>
            <a:ext cx="2064943" cy="1326387"/>
          </a:xfrm>
          <a:prstGeom prst="rect">
            <a:avLst/>
          </a:prstGeom>
          <a:noFill/>
        </p:spPr>
        <p:txBody>
          <a:bodyPr wrap="square" anchor="t" lIns="0" rIns="0" tIns="0" bIns="0">
            <a:spAutoFit/>
          </a:bodyPr>
          <a:lstStyle/>
          <a:p>
            <a:pPr algn="l"/>
            <a:r>
              <a:rPr sz="1900" b="0">
                <a:solidFill>
                  <a:srgbClr val="C7C2EF"/>
                </a:solidFill>
                <a:latin typeface="ITC Avant Garde Gothic"/>
              </a:rPr>
              <a:t>La cuenta se crea y la sesión se inicia en el acto.</a:t>
            </a:r>
          </a:p>
        </p:txBody>
      </p:sp>
      <p:sp>
        <p:nvSpPr>
          <p:cNvPr id="28" name="TextBox 27"/>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Cuenta</a:t>
            </a:r>
          </a:p>
        </p:txBody>
      </p:sp>
      <p:sp>
        <p:nvSpPr>
          <p:cNvPr id="3" name="TextBox 2"/>
          <p:cNvSpPr txBox="1"/>
          <p:nvPr/>
        </p:nvSpPr>
        <p:spPr>
          <a:xfrm>
            <a:off x="640080" y="960120"/>
            <a:ext cx="10911535" cy="449833"/>
          </a:xfrm>
          <a:prstGeom prst="rect">
            <a:avLst/>
          </a:prstGeom>
          <a:noFill/>
        </p:spPr>
        <p:txBody>
          <a:bodyPr wrap="square" anchor="t" lIns="0" rIns="0" tIns="0" bIns="0">
            <a:spAutoFit/>
          </a:bodyPr>
          <a:lstStyle/>
          <a:p>
            <a:pPr algn="l"/>
            <a:r>
              <a:rPr sz="3100" b="1">
                <a:solidFill>
                  <a:srgbClr val="C7C2EF"/>
                </a:solidFill>
                <a:latin typeface="ITC Avant Garde Gothic"/>
              </a:rPr>
              <a:t>Tres decisiones de diseño</a:t>
            </a:r>
          </a:p>
        </p:txBody>
      </p:sp>
      <p:sp>
        <p:nvSpPr>
          <p:cNvPr id="4" name="Rounded Rectangle 3"/>
          <p:cNvSpPr/>
          <p:nvPr/>
        </p:nvSpPr>
        <p:spPr>
          <a:xfrm>
            <a:off x="640080" y="1775714"/>
            <a:ext cx="2522143" cy="98336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86610"/>
            <a:ext cx="2064943" cy="617601"/>
          </a:xfrm>
          <a:prstGeom prst="rect">
            <a:avLst/>
          </a:prstGeom>
          <a:noFill/>
        </p:spPr>
        <p:txBody>
          <a:bodyPr wrap="square" anchor="t" lIns="0" rIns="0" tIns="0" bIns="0">
            <a:spAutoFit/>
          </a:bodyPr>
          <a:lstStyle/>
          <a:p>
            <a:pPr algn="l"/>
            <a:r>
              <a:rPr sz="1200" b="0">
                <a:solidFill>
                  <a:srgbClr val="C7C2EF"/>
                </a:solidFill>
                <a:latin typeface="ITC Avant Garde Gothic"/>
              </a:rPr>
              <a:t>Sin aprobación</a:t>
            </a:r>
          </a:p>
        </p:txBody>
      </p:sp>
      <p:sp>
        <p:nvSpPr>
          <p:cNvPr id="7" name="Rounded Rectangle 6"/>
          <p:cNvSpPr/>
          <p:nvPr/>
        </p:nvSpPr>
        <p:spPr>
          <a:xfrm>
            <a:off x="3436543" y="1775714"/>
            <a:ext cx="2522143" cy="98336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65143"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65143" y="2086610"/>
            <a:ext cx="2064943" cy="617601"/>
          </a:xfrm>
          <a:prstGeom prst="rect">
            <a:avLst/>
          </a:prstGeom>
          <a:noFill/>
        </p:spPr>
        <p:txBody>
          <a:bodyPr wrap="square" anchor="t" lIns="0" rIns="0" tIns="0" bIns="0">
            <a:spAutoFit/>
          </a:bodyPr>
          <a:lstStyle/>
          <a:p>
            <a:pPr algn="l"/>
            <a:r>
              <a:rPr sz="1200" b="0">
                <a:solidFill>
                  <a:srgbClr val="C7C2EF"/>
                </a:solidFill>
                <a:latin typeface="ITC Avant Garde Gothic"/>
              </a:rPr>
              <a:t>Cualquiera se registra sin que un administrador lo apruebe.</a:t>
            </a:r>
          </a:p>
        </p:txBody>
      </p:sp>
      <p:sp>
        <p:nvSpPr>
          <p:cNvPr id="10" name="Rounded Rectangle 9"/>
          <p:cNvSpPr/>
          <p:nvPr/>
        </p:nvSpPr>
        <p:spPr>
          <a:xfrm>
            <a:off x="6233007" y="1775714"/>
            <a:ext cx="2522143" cy="98336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61607"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1607" y="2086610"/>
            <a:ext cx="2064943" cy="617601"/>
          </a:xfrm>
          <a:prstGeom prst="rect">
            <a:avLst/>
          </a:prstGeom>
          <a:noFill/>
        </p:spPr>
        <p:txBody>
          <a:bodyPr wrap="square" anchor="t" lIns="0" rIns="0" tIns="0" bIns="0">
            <a:spAutoFit/>
          </a:bodyPr>
          <a:lstStyle/>
          <a:p>
            <a:pPr algn="l"/>
            <a:r>
              <a:rPr sz="1200" b="0">
                <a:solidFill>
                  <a:srgbClr val="C7C2EF"/>
                </a:solidFill>
                <a:latin typeface="ITC Avant Garde Gothic"/>
              </a:rPr>
              <a:t>Contraseña cifrada</a:t>
            </a:r>
          </a:p>
        </p:txBody>
      </p:sp>
      <p:sp>
        <p:nvSpPr>
          <p:cNvPr id="13" name="Rounded Rectangle 12"/>
          <p:cNvSpPr/>
          <p:nvPr/>
        </p:nvSpPr>
        <p:spPr>
          <a:xfrm>
            <a:off x="9029471" y="1775714"/>
            <a:ext cx="2522143" cy="98336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258071"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58071" y="2086610"/>
            <a:ext cx="2064943" cy="617601"/>
          </a:xfrm>
          <a:prstGeom prst="rect">
            <a:avLst/>
          </a:prstGeom>
          <a:noFill/>
        </p:spPr>
        <p:txBody>
          <a:bodyPr wrap="square" anchor="t" lIns="0" rIns="0" tIns="0" bIns="0">
            <a:spAutoFit/>
          </a:bodyPr>
          <a:lstStyle/>
          <a:p>
            <a:pPr algn="l"/>
            <a:r>
              <a:rPr sz="1200" b="0">
                <a:solidFill>
                  <a:srgbClr val="C7C2EF"/>
                </a:solidFill>
                <a:latin typeface="ITC Avant Garde Gothic"/>
              </a:rPr>
              <a:t>mi contraseña</a:t>
            </a:r>
          </a:p>
        </p:txBody>
      </p:sp>
      <p:sp>
        <p:nvSpPr>
          <p:cNvPr id="16" name="Rounded Rectangle 15"/>
          <p:cNvSpPr/>
          <p:nvPr/>
        </p:nvSpPr>
        <p:spPr>
          <a:xfrm>
            <a:off x="640080" y="3033395"/>
            <a:ext cx="2522143" cy="98336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68680" y="3197987"/>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344291"/>
            <a:ext cx="2064943" cy="617601"/>
          </a:xfrm>
          <a:prstGeom prst="rect">
            <a:avLst/>
          </a:prstGeom>
          <a:noFill/>
        </p:spPr>
        <p:txBody>
          <a:bodyPr wrap="square" anchor="t" lIns="0" rIns="0" tIns="0" bIns="0">
            <a:spAutoFit/>
          </a:bodyPr>
          <a:lstStyle/>
          <a:p>
            <a:pPr algn="l"/>
            <a:r>
              <a:rPr sz="1200" b="0">
                <a:solidFill>
                  <a:srgbClr val="C7C2EF"/>
                </a:solidFill>
                <a:latin typeface="ITC Avant Garde Gothic"/>
              </a:rPr>
              <a:t>8f2a·c91b·e407…</a:t>
            </a:r>
          </a:p>
        </p:txBody>
      </p:sp>
      <p:sp>
        <p:nvSpPr>
          <p:cNvPr id="19" name="Rounded Rectangle 18"/>
          <p:cNvSpPr/>
          <p:nvPr/>
        </p:nvSpPr>
        <p:spPr>
          <a:xfrm>
            <a:off x="3436543" y="3033395"/>
            <a:ext cx="2522143" cy="98336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5143" y="3197987"/>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65143" y="3344291"/>
            <a:ext cx="2064943" cy="617601"/>
          </a:xfrm>
          <a:prstGeom prst="rect">
            <a:avLst/>
          </a:prstGeom>
          <a:noFill/>
        </p:spPr>
        <p:txBody>
          <a:bodyPr wrap="square" anchor="t" lIns="0" rIns="0" tIns="0" bIns="0">
            <a:spAutoFit/>
          </a:bodyPr>
          <a:lstStyle/>
          <a:p>
            <a:pPr algn="l"/>
            <a:r>
              <a:rPr sz="1200" b="0">
                <a:solidFill>
                  <a:srgbClr val="C7C2EF"/>
                </a:solidFill>
                <a:latin typeface="ITC Avant Garde Gothic"/>
              </a:rPr>
              <a:t>Se guarda un resumen que no se puede invertir; nadie la puede ver.</a:t>
            </a:r>
          </a:p>
        </p:txBody>
      </p:sp>
      <p:sp>
        <p:nvSpPr>
          <p:cNvPr id="22" name="Rounded Rectangle 21"/>
          <p:cNvSpPr/>
          <p:nvPr/>
        </p:nvSpPr>
        <p:spPr>
          <a:xfrm>
            <a:off x="6233007" y="3033395"/>
            <a:ext cx="2522143" cy="98336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61607" y="3197987"/>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61607" y="3344291"/>
            <a:ext cx="2064943" cy="617601"/>
          </a:xfrm>
          <a:prstGeom prst="rect">
            <a:avLst/>
          </a:prstGeom>
          <a:noFill/>
        </p:spPr>
        <p:txBody>
          <a:bodyPr wrap="square" anchor="t" lIns="0" rIns="0" tIns="0" bIns="0">
            <a:spAutoFit/>
          </a:bodyPr>
          <a:lstStyle/>
          <a:p>
            <a:pPr algn="l"/>
            <a:r>
              <a:rPr sz="1200" b="0">
                <a:solidFill>
                  <a:srgbClr val="C7C2EF"/>
                </a:solidFill>
                <a:latin typeface="ITC Avant Garde Gothic"/>
              </a:rPr>
              <a:t>Formularios protegidos</a:t>
            </a:r>
          </a:p>
        </p:txBody>
      </p:sp>
      <p:sp>
        <p:nvSpPr>
          <p:cNvPr id="25" name="Rounded Rectangle 24"/>
          <p:cNvSpPr/>
          <p:nvPr/>
        </p:nvSpPr>
        <p:spPr>
          <a:xfrm>
            <a:off x="9029471" y="3033395"/>
            <a:ext cx="2522143" cy="98336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58071" y="3197987"/>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58071" y="3344291"/>
            <a:ext cx="2064943" cy="617601"/>
          </a:xfrm>
          <a:prstGeom prst="rect">
            <a:avLst/>
          </a:prstGeom>
          <a:noFill/>
        </p:spPr>
        <p:txBody>
          <a:bodyPr wrap="square" anchor="t" lIns="0" rIns="0" tIns="0" bIns="0">
            <a:spAutoFit/>
          </a:bodyPr>
          <a:lstStyle/>
          <a:p>
            <a:pPr algn="l"/>
            <a:r>
              <a:rPr sz="1200" b="0">
                <a:solidFill>
                  <a:srgbClr val="C7C2EF"/>
                </a:solidFill>
                <a:latin typeface="ITC Avant Garde Gothic"/>
              </a:rPr>
              <a:t>código oculto</a:t>
            </a:r>
          </a:p>
        </p:txBody>
      </p:sp>
      <p:sp>
        <p:nvSpPr>
          <p:cNvPr id="28" name="Rounded Rectangle 27"/>
          <p:cNvSpPr/>
          <p:nvPr/>
        </p:nvSpPr>
        <p:spPr>
          <a:xfrm>
            <a:off x="640080" y="4291076"/>
            <a:ext cx="2522143" cy="98336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8680" y="445566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4601972"/>
            <a:ext cx="2064943" cy="617601"/>
          </a:xfrm>
          <a:prstGeom prst="rect">
            <a:avLst/>
          </a:prstGeom>
          <a:noFill/>
        </p:spPr>
        <p:txBody>
          <a:bodyPr wrap="square" anchor="t" lIns="0" rIns="0" tIns="0" bIns="0">
            <a:spAutoFit/>
          </a:bodyPr>
          <a:lstStyle/>
          <a:p>
            <a:pPr algn="l"/>
            <a:r>
              <a:rPr sz="1200" b="0">
                <a:solidFill>
                  <a:srgbClr val="C7C2EF"/>
                </a:solidFill>
                <a:latin typeface="ITC Avant Garde Gothic"/>
              </a:rPr>
              <a:t>Evita la falsificación de peticiones entre sitios.</a:t>
            </a:r>
          </a:p>
        </p:txBody>
      </p:sp>
      <p:sp>
        <p:nvSpPr>
          <p:cNvPr id="31" name="TextBox 30"/>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Cuenta</a:t>
            </a:r>
          </a:p>
        </p:txBody>
      </p:sp>
      <p:sp>
        <p:nvSpPr>
          <p:cNvPr id="3" name="TextBox 2"/>
          <p:cNvSpPr txBox="1"/>
          <p:nvPr/>
        </p:nvSpPr>
        <p:spPr>
          <a:xfrm>
            <a:off x="640080" y="960120"/>
            <a:ext cx="10911535" cy="449833"/>
          </a:xfrm>
          <a:prstGeom prst="rect">
            <a:avLst/>
          </a:prstGeom>
          <a:noFill/>
        </p:spPr>
        <p:txBody>
          <a:bodyPr wrap="square" anchor="t" lIns="0" rIns="0" tIns="0" bIns="0">
            <a:spAutoFit/>
          </a:bodyPr>
          <a:lstStyle/>
          <a:p>
            <a:pPr algn="l"/>
            <a:r>
              <a:rPr sz="3100" b="1">
                <a:solidFill>
                  <a:srgbClr val="C7C2EF"/>
                </a:solidFill>
                <a:latin typeface="ITC Avant Garde Gothic"/>
              </a:rPr>
              <a:t>Salir, volver a entrar y el aviso de error</a:t>
            </a:r>
          </a:p>
        </p:txBody>
      </p:sp>
      <p:sp>
        <p:nvSpPr>
          <p:cNvPr id="4" name="Rounded Rectangle 3"/>
          <p:cNvSpPr/>
          <p:nvPr/>
        </p:nvSpPr>
        <p:spPr>
          <a:xfrm>
            <a:off x="640080" y="1775714"/>
            <a:ext cx="2522143" cy="58381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86610"/>
            <a:ext cx="2064943" cy="218058"/>
          </a:xfrm>
          <a:prstGeom prst="rect">
            <a:avLst/>
          </a:prstGeom>
          <a:noFill/>
        </p:spPr>
        <p:txBody>
          <a:bodyPr wrap="square" anchor="t" lIns="0" rIns="0" tIns="0" bIns="0">
            <a:spAutoFit/>
          </a:bodyPr>
          <a:lstStyle/>
          <a:p>
            <a:pPr algn="l"/>
            <a:r>
              <a:rPr sz="1200" b="0">
                <a:solidFill>
                  <a:srgbClr val="C7C2EF"/>
                </a:solidFill>
                <a:latin typeface="ITC Avant Garde Gothic"/>
              </a:rPr>
              <a:t>Salir</a:t>
            </a:r>
          </a:p>
        </p:txBody>
      </p:sp>
      <p:sp>
        <p:nvSpPr>
          <p:cNvPr id="7" name="Rounded Rectangle 6"/>
          <p:cNvSpPr/>
          <p:nvPr/>
        </p:nvSpPr>
        <p:spPr>
          <a:xfrm>
            <a:off x="3436543" y="1775714"/>
            <a:ext cx="2522143" cy="58381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65143"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65143" y="2086610"/>
            <a:ext cx="2064943" cy="218058"/>
          </a:xfrm>
          <a:prstGeom prst="rect">
            <a:avLst/>
          </a:prstGeom>
          <a:noFill/>
        </p:spPr>
        <p:txBody>
          <a:bodyPr wrap="square" anchor="t" lIns="0" rIns="0" tIns="0" bIns="0">
            <a:spAutoFit/>
          </a:bodyPr>
          <a:lstStyle/>
          <a:p>
            <a:pPr algn="l"/>
            <a:r>
              <a:rPr sz="1200" b="0">
                <a:solidFill>
                  <a:srgbClr val="C7C2EF"/>
                </a:solidFill>
                <a:latin typeface="ITC Avant Garde Gothic"/>
              </a:rPr>
              <a:t>Cerraste sesión</a:t>
            </a:r>
          </a:p>
        </p:txBody>
      </p:sp>
      <p:sp>
        <p:nvSpPr>
          <p:cNvPr id="10" name="Rounded Rectangle 9"/>
          <p:cNvSpPr/>
          <p:nvPr/>
        </p:nvSpPr>
        <p:spPr>
          <a:xfrm>
            <a:off x="6233007" y="1775714"/>
            <a:ext cx="2522143" cy="58381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61607"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1607" y="2086610"/>
            <a:ext cx="2064943" cy="218058"/>
          </a:xfrm>
          <a:prstGeom prst="rect">
            <a:avLst/>
          </a:prstGeom>
          <a:noFill/>
        </p:spPr>
        <p:txBody>
          <a:bodyPr wrap="square" anchor="t" lIns="0" rIns="0" tIns="0" bIns="0">
            <a:spAutoFit/>
          </a:bodyPr>
          <a:lstStyle/>
          <a:p>
            <a:pPr algn="l"/>
            <a:r>
              <a:rPr sz="1200" b="0">
                <a:solidFill>
                  <a:srgbClr val="C7C2EF"/>
                </a:solidFill>
                <a:latin typeface="ITC Avant Garde Gothic"/>
              </a:rPr>
              <a:t>Regresa al inicio.</a:t>
            </a:r>
          </a:p>
        </p:txBody>
      </p:sp>
      <p:sp>
        <p:nvSpPr>
          <p:cNvPr id="13" name="Rounded Rectangle 12"/>
          <p:cNvSpPr/>
          <p:nvPr/>
        </p:nvSpPr>
        <p:spPr>
          <a:xfrm>
            <a:off x="9029471" y="1775714"/>
            <a:ext cx="2522143" cy="58381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258071"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58071" y="2086610"/>
            <a:ext cx="2064943" cy="218058"/>
          </a:xfrm>
          <a:prstGeom prst="rect">
            <a:avLst/>
          </a:prstGeom>
          <a:noFill/>
        </p:spPr>
        <p:txBody>
          <a:bodyPr wrap="square" anchor="t" lIns="0" rIns="0" tIns="0" bIns="0">
            <a:spAutoFit/>
          </a:bodyPr>
          <a:lstStyle/>
          <a:p>
            <a:pPr algn="l"/>
            <a:r>
              <a:rPr sz="1200" b="0">
                <a:solidFill>
                  <a:srgbClr val="C7C2EF"/>
                </a:solidFill>
                <a:latin typeface="ITC Avant Garde Gothic"/>
              </a:rPr>
              <a:t>Entrar</a:t>
            </a:r>
          </a:p>
        </p:txBody>
      </p:sp>
      <p:sp>
        <p:nvSpPr>
          <p:cNvPr id="16" name="Rounded Rectangle 15"/>
          <p:cNvSpPr/>
          <p:nvPr/>
        </p:nvSpPr>
        <p:spPr>
          <a:xfrm>
            <a:off x="640080" y="2633853"/>
            <a:ext cx="2522143" cy="98336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68680" y="279844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2944749"/>
            <a:ext cx="2064943" cy="617601"/>
          </a:xfrm>
          <a:prstGeom prst="rect">
            <a:avLst/>
          </a:prstGeom>
          <a:noFill/>
        </p:spPr>
        <p:txBody>
          <a:bodyPr wrap="square" anchor="t" lIns="0" rIns="0" tIns="0" bIns="0">
            <a:spAutoFit/>
          </a:bodyPr>
          <a:lstStyle/>
          <a:p>
            <a:pPr algn="l"/>
            <a:r>
              <a:rPr sz="1200" b="0">
                <a:solidFill>
                  <a:srgbClr val="C7C2EF"/>
                </a:solidFill>
                <a:latin typeface="ITC Avant Garde Gothic"/>
              </a:rPr>
              <a:t>Recordarme en este equipo</a:t>
            </a:r>
          </a:p>
        </p:txBody>
      </p:sp>
      <p:sp>
        <p:nvSpPr>
          <p:cNvPr id="19" name="Rounded Rectangle 18"/>
          <p:cNvSpPr/>
          <p:nvPr/>
        </p:nvSpPr>
        <p:spPr>
          <a:xfrm>
            <a:off x="3436543" y="2633853"/>
            <a:ext cx="2522143" cy="98336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5143" y="279844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65143" y="2944749"/>
            <a:ext cx="2064943" cy="617601"/>
          </a:xfrm>
          <a:prstGeom prst="rect">
            <a:avLst/>
          </a:prstGeom>
          <a:noFill/>
        </p:spPr>
        <p:txBody>
          <a:bodyPr wrap="square" anchor="t" lIns="0" rIns="0" tIns="0" bIns="0">
            <a:spAutoFit/>
          </a:bodyPr>
          <a:lstStyle/>
          <a:p>
            <a:pPr algn="l"/>
            <a:r>
              <a:rPr sz="1200" b="0">
                <a:solidFill>
                  <a:srgbClr val="C7C2EF"/>
                </a:solidFill>
                <a:latin typeface="ITC Avant Garde Gothic"/>
              </a:rPr>
              <a:t>Cómodo en un equipo personal, poco recomendable en uno compartido.</a:t>
            </a:r>
          </a:p>
        </p:txBody>
      </p:sp>
      <p:sp>
        <p:nvSpPr>
          <p:cNvPr id="22" name="Rounded Rectangle 21"/>
          <p:cNvSpPr/>
          <p:nvPr/>
        </p:nvSpPr>
        <p:spPr>
          <a:xfrm>
            <a:off x="6233007" y="2633853"/>
            <a:ext cx="2522143" cy="98336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61607" y="279844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61607" y="2944749"/>
            <a:ext cx="2064943" cy="617601"/>
          </a:xfrm>
          <a:prstGeom prst="rect">
            <a:avLst/>
          </a:prstGeom>
          <a:noFill/>
        </p:spPr>
        <p:txBody>
          <a:bodyPr wrap="square" anchor="t" lIns="0" rIns="0" tIns="0" bIns="0">
            <a:spAutoFit/>
          </a:bodyPr>
          <a:lstStyle/>
          <a:p>
            <a:pPr algn="l"/>
            <a:r>
              <a:rPr sz="1200" b="0">
                <a:solidFill>
                  <a:srgbClr val="C7C2EF"/>
                </a:solidFill>
                <a:latin typeface="ITC Avant Garde Gothic"/>
              </a:rPr>
              <a:t>Contraseña incorrecta</a:t>
            </a:r>
          </a:p>
        </p:txBody>
      </p:sp>
      <p:sp>
        <p:nvSpPr>
          <p:cNvPr id="25" name="Rounded Rectangle 24"/>
          <p:cNvSpPr/>
          <p:nvPr/>
        </p:nvSpPr>
        <p:spPr>
          <a:xfrm>
            <a:off x="9029471" y="2633853"/>
            <a:ext cx="2522143" cy="98336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58071" y="279844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58071" y="2944749"/>
            <a:ext cx="2064943" cy="617601"/>
          </a:xfrm>
          <a:prstGeom prst="rect">
            <a:avLst/>
          </a:prstGeom>
          <a:noFill/>
        </p:spPr>
        <p:txBody>
          <a:bodyPr wrap="square" anchor="t" lIns="0" rIns="0" tIns="0" bIns="0">
            <a:spAutoFit/>
          </a:bodyPr>
          <a:lstStyle/>
          <a:p>
            <a:pPr algn="l"/>
            <a:r>
              <a:rPr sz="1200" b="0">
                <a:solidFill>
                  <a:srgbClr val="C7C2EF"/>
                </a:solidFill>
                <a:latin typeface="ITC Avant Garde Gothic"/>
              </a:rPr>
              <a:t>Correo o contraseña incorrectos</a:t>
            </a:r>
          </a:p>
        </p:txBody>
      </p:sp>
      <p:sp>
        <p:nvSpPr>
          <p:cNvPr id="28" name="Rounded Rectangle 27"/>
          <p:cNvSpPr/>
          <p:nvPr/>
        </p:nvSpPr>
        <p:spPr>
          <a:xfrm>
            <a:off x="640080" y="3891534"/>
            <a:ext cx="2522143" cy="98336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8680" y="405612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4202430"/>
            <a:ext cx="2064943" cy="617601"/>
          </a:xfrm>
          <a:prstGeom prst="rect">
            <a:avLst/>
          </a:prstGeom>
          <a:noFill/>
        </p:spPr>
        <p:txBody>
          <a:bodyPr wrap="square" anchor="t" lIns="0" rIns="0" tIns="0" bIns="0">
            <a:spAutoFit/>
          </a:bodyPr>
          <a:lstStyle/>
          <a:p>
            <a:pPr algn="l"/>
            <a:r>
              <a:rPr sz="1200" b="0">
                <a:solidFill>
                  <a:srgbClr val="C7C2EF"/>
                </a:solidFill>
                <a:latin typeface="ITC Avant Garde Gothic"/>
              </a:rPr>
              <a:t>No dice cuál falló: nadie averigua qué correos están registrados.</a:t>
            </a:r>
          </a:p>
        </p:txBody>
      </p:sp>
      <p:sp>
        <p:nvSpPr>
          <p:cNvPr id="31" name="TextBox 30"/>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Subir las imágenes</a:t>
            </a:r>
          </a:p>
        </p:txBody>
      </p:sp>
      <p:sp>
        <p:nvSpPr>
          <p:cNvPr id="3" name="TextBox 2"/>
          <p:cNvSpPr txBox="1"/>
          <p:nvPr/>
        </p:nvSpPr>
        <p:spPr>
          <a:xfrm>
            <a:off x="640080" y="960120"/>
            <a:ext cx="10911535" cy="449833"/>
          </a:xfrm>
          <a:prstGeom prst="rect">
            <a:avLst/>
          </a:prstGeom>
          <a:noFill/>
        </p:spPr>
        <p:txBody>
          <a:bodyPr wrap="square" anchor="t" lIns="0" rIns="0" tIns="0" bIns="0">
            <a:spAutoFit/>
          </a:bodyPr>
          <a:lstStyle/>
          <a:p>
            <a:pPr algn="l"/>
            <a:r>
              <a:rPr sz="3100" b="1">
                <a:solidFill>
                  <a:srgbClr val="C7C2EF"/>
                </a:solidFill>
                <a:latin typeface="ITC Avant Garde Gothic"/>
              </a:rPr>
              <a:t>Un recuadro con lo necesario</a:t>
            </a:r>
          </a:p>
        </p:txBody>
      </p:sp>
      <p:sp>
        <p:nvSpPr>
          <p:cNvPr id="4" name="Rounded Rectangle 3"/>
          <p:cNvSpPr/>
          <p:nvPr/>
        </p:nvSpPr>
        <p:spPr>
          <a:xfrm>
            <a:off x="640080" y="1775714"/>
            <a:ext cx="2522143" cy="98336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86610"/>
            <a:ext cx="2064943" cy="617601"/>
          </a:xfrm>
          <a:prstGeom prst="rect">
            <a:avLst/>
          </a:prstGeom>
          <a:noFill/>
        </p:spPr>
        <p:txBody>
          <a:bodyPr wrap="square" anchor="t" lIns="0" rIns="0" tIns="0" bIns="0">
            <a:spAutoFit/>
          </a:bodyPr>
          <a:lstStyle/>
          <a:p>
            <a:pPr algn="l"/>
            <a:r>
              <a:rPr sz="1200" b="0">
                <a:solidFill>
                  <a:srgbClr val="C7C2EF"/>
                </a:solidFill>
                <a:latin typeface="ITC Avant Garde Gothic"/>
              </a:rPr>
              <a:t>Sube tus imágenes (hasta 10)</a:t>
            </a:r>
          </a:p>
        </p:txBody>
      </p:sp>
      <p:sp>
        <p:nvSpPr>
          <p:cNvPr id="7" name="Rounded Rectangle 6"/>
          <p:cNvSpPr/>
          <p:nvPr/>
        </p:nvSpPr>
        <p:spPr>
          <a:xfrm>
            <a:off x="3436543" y="1775714"/>
            <a:ext cx="2522143" cy="98336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65143"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65143" y="2086610"/>
            <a:ext cx="2064943" cy="617601"/>
          </a:xfrm>
          <a:prstGeom prst="rect">
            <a:avLst/>
          </a:prstGeom>
          <a:noFill/>
        </p:spPr>
        <p:txBody>
          <a:bodyPr wrap="square" anchor="t" lIns="0" rIns="0" tIns="0" bIns="0">
            <a:spAutoFit/>
          </a:bodyPr>
          <a:lstStyle/>
          <a:p>
            <a:pPr algn="l"/>
            <a:r>
              <a:rPr sz="1200" b="0">
                <a:solidFill>
                  <a:srgbClr val="C7C2EF"/>
                </a:solidFill>
                <a:latin typeface="ITC Avant Garde Gothic"/>
              </a:rPr>
              <a:t>Elegir archivos</a:t>
            </a:r>
          </a:p>
        </p:txBody>
      </p:sp>
      <p:sp>
        <p:nvSpPr>
          <p:cNvPr id="10" name="Rounded Rectangle 9"/>
          <p:cNvSpPr/>
          <p:nvPr/>
        </p:nvSpPr>
        <p:spPr>
          <a:xfrm>
            <a:off x="6233007" y="1775714"/>
            <a:ext cx="2522143" cy="98336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61607"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1607" y="2086610"/>
            <a:ext cx="2064943" cy="617601"/>
          </a:xfrm>
          <a:prstGeom prst="rect">
            <a:avLst/>
          </a:prstGeom>
          <a:noFill/>
        </p:spPr>
        <p:txBody>
          <a:bodyPr wrap="square" anchor="t" lIns="0" rIns="0" tIns="0" bIns="0">
            <a:spAutoFit/>
          </a:bodyPr>
          <a:lstStyle/>
          <a:p>
            <a:pPr algn="l"/>
            <a:r>
              <a:rPr sz="1200" b="0">
                <a:solidFill>
                  <a:srgbClr val="C7C2EF"/>
                </a:solidFill>
                <a:latin typeface="ITC Avant Garde Gothic"/>
              </a:rPr>
              <a:t>Sin archivos seleccionados</a:t>
            </a:r>
          </a:p>
        </p:txBody>
      </p:sp>
      <p:sp>
        <p:nvSpPr>
          <p:cNvPr id="13" name="Rounded Rectangle 12"/>
          <p:cNvSpPr/>
          <p:nvPr/>
        </p:nvSpPr>
        <p:spPr>
          <a:xfrm>
            <a:off x="9029471" y="1775714"/>
            <a:ext cx="2522143" cy="98336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258071"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58071" y="2086610"/>
            <a:ext cx="2064943" cy="617601"/>
          </a:xfrm>
          <a:prstGeom prst="rect">
            <a:avLst/>
          </a:prstGeom>
          <a:noFill/>
        </p:spPr>
        <p:txBody>
          <a:bodyPr wrap="square" anchor="t" lIns="0" rIns="0" tIns="0" bIns="0">
            <a:spAutoFit/>
          </a:bodyPr>
          <a:lstStyle/>
          <a:p>
            <a:pPr algn="l"/>
            <a:r>
              <a:rPr sz="1200" b="0">
                <a:solidFill>
                  <a:srgbClr val="C7C2EF"/>
                </a:solidFill>
                <a:latin typeface="ITC Avant Garde Gothic"/>
              </a:rPr>
              <a:t>Formatos: BMP, PNG o TIFF. JPG se acepta, pero pierde calidad.</a:t>
            </a:r>
          </a:p>
        </p:txBody>
      </p:sp>
      <p:sp>
        <p:nvSpPr>
          <p:cNvPr id="16" name="Rounded Rectangle 15"/>
          <p:cNvSpPr/>
          <p:nvPr/>
        </p:nvSpPr>
        <p:spPr>
          <a:xfrm>
            <a:off x="640080" y="3033395"/>
            <a:ext cx="2522143" cy="78359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68680" y="3197987"/>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344291"/>
            <a:ext cx="2064943" cy="417830"/>
          </a:xfrm>
          <a:prstGeom prst="rect">
            <a:avLst/>
          </a:prstGeom>
          <a:noFill/>
        </p:spPr>
        <p:txBody>
          <a:bodyPr wrap="square" anchor="t" lIns="0" rIns="0" tIns="0" bIns="0">
            <a:spAutoFit/>
          </a:bodyPr>
          <a:lstStyle/>
          <a:p>
            <a:pPr algn="l"/>
            <a:r>
              <a:rPr sz="1200" b="0">
                <a:solidFill>
                  <a:srgbClr val="C7C2EF"/>
                </a:solidFill>
                <a:latin typeface="ITC Avant Garde Gothic"/>
              </a:rPr>
              <a:t>ANALIZAR</a:t>
            </a:r>
          </a:p>
        </p:txBody>
      </p:sp>
      <p:sp>
        <p:nvSpPr>
          <p:cNvPr id="19" name="Rounded Rectangle 18"/>
          <p:cNvSpPr/>
          <p:nvPr/>
        </p:nvSpPr>
        <p:spPr>
          <a:xfrm>
            <a:off x="3436543" y="3033395"/>
            <a:ext cx="2522143" cy="78359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5143" y="3197987"/>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65143" y="3344291"/>
            <a:ext cx="2064943" cy="417830"/>
          </a:xfrm>
          <a:prstGeom prst="rect">
            <a:avLst/>
          </a:prstGeom>
          <a:noFill/>
        </p:spPr>
        <p:txBody>
          <a:bodyPr wrap="square" anchor="t" lIns="0" rIns="0" tIns="0" bIns="0">
            <a:spAutoFit/>
          </a:bodyPr>
          <a:lstStyle/>
          <a:p>
            <a:pPr algn="l"/>
            <a:r>
              <a:rPr sz="1200" b="0">
                <a:solidFill>
                  <a:srgbClr val="C7C2EF"/>
                </a:solidFill>
                <a:latin typeface="ITC Avant Garde Gothic"/>
              </a:rPr>
              <a:t>PROBAR CON LA IMAGEN DE EJEMPLO</a:t>
            </a:r>
          </a:p>
        </p:txBody>
      </p:sp>
      <p:sp>
        <p:nvSpPr>
          <p:cNvPr id="22" name="Rounded Rectangle 21"/>
          <p:cNvSpPr/>
          <p:nvPr/>
        </p:nvSpPr>
        <p:spPr>
          <a:xfrm>
            <a:off x="6233007" y="3033395"/>
            <a:ext cx="2522143" cy="78359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61607" y="3197987"/>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61607" y="3344291"/>
            <a:ext cx="2064943" cy="417830"/>
          </a:xfrm>
          <a:prstGeom prst="rect">
            <a:avLst/>
          </a:prstGeom>
          <a:noFill/>
        </p:spPr>
        <p:txBody>
          <a:bodyPr wrap="square" anchor="t" lIns="0" rIns="0" tIns="0" bIns="0">
            <a:spAutoFit/>
          </a:bodyPr>
          <a:lstStyle/>
          <a:p>
            <a:pPr algn="l"/>
            <a:r>
              <a:rPr sz="1200" b="0">
                <a:solidFill>
                  <a:srgbClr val="C7C2EF"/>
                </a:solidFill>
                <a:latin typeface="ITC Avant Garde Gothic"/>
              </a:rPr>
              <a:t>BMP</a:t>
            </a:r>
          </a:p>
        </p:txBody>
      </p:sp>
      <p:sp>
        <p:nvSpPr>
          <p:cNvPr id="25" name="Rounded Rectangle 24"/>
          <p:cNvSpPr/>
          <p:nvPr/>
        </p:nvSpPr>
        <p:spPr>
          <a:xfrm>
            <a:off x="9029471" y="3033395"/>
            <a:ext cx="2522143" cy="78359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58071" y="3197987"/>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58071" y="3344291"/>
            <a:ext cx="2064943" cy="417830"/>
          </a:xfrm>
          <a:prstGeom prst="rect">
            <a:avLst/>
          </a:prstGeom>
          <a:noFill/>
        </p:spPr>
        <p:txBody>
          <a:bodyPr wrap="square" anchor="t" lIns="0" rIns="0" tIns="0" bIns="0">
            <a:spAutoFit/>
          </a:bodyPr>
          <a:lstStyle/>
          <a:p>
            <a:pPr algn="l"/>
            <a:r>
              <a:rPr sz="1200" b="0">
                <a:solidFill>
                  <a:srgbClr val="C7C2EF"/>
                </a:solidFill>
                <a:latin typeface="ITC Avant Garde Gothic"/>
              </a:rPr>
              <a:t>PNG</a:t>
            </a:r>
          </a:p>
        </p:txBody>
      </p:sp>
      <p:sp>
        <p:nvSpPr>
          <p:cNvPr id="28" name="Rounded Rectangle 27"/>
          <p:cNvSpPr/>
          <p:nvPr/>
        </p:nvSpPr>
        <p:spPr>
          <a:xfrm>
            <a:off x="640080" y="4091305"/>
            <a:ext cx="2522143" cy="58381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8680" y="4255897"/>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4402201"/>
            <a:ext cx="2064943" cy="218058"/>
          </a:xfrm>
          <a:prstGeom prst="rect">
            <a:avLst/>
          </a:prstGeom>
          <a:noFill/>
        </p:spPr>
        <p:txBody>
          <a:bodyPr wrap="square" anchor="t" lIns="0" rIns="0" tIns="0" bIns="0">
            <a:spAutoFit/>
          </a:bodyPr>
          <a:lstStyle/>
          <a:p>
            <a:pPr algn="l"/>
            <a:r>
              <a:rPr sz="1200" b="0">
                <a:solidFill>
                  <a:srgbClr val="C7C2EF"/>
                </a:solidFill>
                <a:latin typeface="ITC Avant Garde Gothic"/>
              </a:rPr>
              <a:t>TIFF</a:t>
            </a:r>
          </a:p>
        </p:txBody>
      </p:sp>
      <p:sp>
        <p:nvSpPr>
          <p:cNvPr id="31" name="Rounded Rectangle 30"/>
          <p:cNvSpPr/>
          <p:nvPr/>
        </p:nvSpPr>
        <p:spPr>
          <a:xfrm>
            <a:off x="3436543" y="4091305"/>
            <a:ext cx="2522143" cy="58381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65143" y="4255897"/>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65143" y="4402201"/>
            <a:ext cx="2064943" cy="218058"/>
          </a:xfrm>
          <a:prstGeom prst="rect">
            <a:avLst/>
          </a:prstGeom>
          <a:noFill/>
        </p:spPr>
        <p:txBody>
          <a:bodyPr wrap="square" anchor="t" lIns="0" rIns="0" tIns="0" bIns="0">
            <a:spAutoFit/>
          </a:bodyPr>
          <a:lstStyle/>
          <a:p>
            <a:pPr algn="l"/>
            <a:r>
              <a:rPr sz="1200" b="0">
                <a:solidFill>
                  <a:srgbClr val="C7C2EF"/>
                </a:solidFill>
                <a:latin typeface="ITC Avant Garde Gothic"/>
              </a:rPr>
              <a:t>JPG: pierde calidad</a:t>
            </a:r>
          </a:p>
        </p:txBody>
      </p:sp>
      <p:sp>
        <p:nvSpPr>
          <p:cNvPr id="34" name="TextBox 33"/>
          <p:cNvSpPr txBox="1"/>
          <p:nvPr/>
        </p:nvSpPr>
        <p:spPr>
          <a:xfrm>
            <a:off x="640080" y="4858004"/>
            <a:ext cx="10911535" cy="204520"/>
          </a:xfrm>
          <a:prstGeom prst="rect">
            <a:avLst/>
          </a:prstGeom>
          <a:noFill/>
        </p:spPr>
        <p:txBody>
          <a:bodyPr wrap="square" anchor="t" lIns="0" rIns="0" tIns="0" bIns="0">
            <a:spAutoFit/>
          </a:bodyPr>
          <a:lstStyle/>
          <a:p>
            <a:pPr algn="l"/>
            <a:r>
              <a:rPr sz="1300" b="0">
                <a:solidFill>
                  <a:srgbClr val="C7C2EF"/>
                </a:solidFill>
                <a:latin typeface="ITC Avant Garde Gothic"/>
              </a:rPr>
              <a:t>De una a diez imágenes por operación. Sin parámetros: dos personas obtienen el mismo resultado.</a:t>
            </a:r>
          </a:p>
        </p:txBody>
      </p:sp>
      <p:sp>
        <p:nvSpPr>
          <p:cNvPr id="35" name="TextBox 34"/>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Esperar el análisis</a:t>
            </a:r>
          </a:p>
        </p:txBody>
      </p:sp>
      <p:sp>
        <p:nvSpPr>
          <p:cNvPr id="3" name="TextBox 2"/>
          <p:cNvSpPr txBox="1"/>
          <p:nvPr/>
        </p:nvSpPr>
        <p:spPr>
          <a:xfrm>
            <a:off x="640080" y="960120"/>
            <a:ext cx="10911535" cy="591210"/>
          </a:xfrm>
          <a:prstGeom prst="rect">
            <a:avLst/>
          </a:prstGeom>
          <a:noFill/>
        </p:spPr>
        <p:txBody>
          <a:bodyPr wrap="square" anchor="t" lIns="0" rIns="0" tIns="0" bIns="0">
            <a:spAutoFit/>
          </a:bodyPr>
          <a:lstStyle/>
          <a:p>
            <a:pPr algn="l"/>
            <a:r>
              <a:rPr sz="4000" b="1">
                <a:solidFill>
                  <a:srgbClr val="C7C2EF"/>
                </a:solidFill>
                <a:latin typeface="ITC Avant Garde Gothic"/>
              </a:rPr>
              <a:t>La cubierta de espera</a:t>
            </a:r>
          </a:p>
        </p:txBody>
      </p:sp>
      <p:sp>
        <p:nvSpPr>
          <p:cNvPr id="4" name="Rounded Rectangle 3"/>
          <p:cNvSpPr/>
          <p:nvPr/>
        </p:nvSpPr>
        <p:spPr>
          <a:xfrm>
            <a:off x="640080" y="1917090"/>
            <a:ext cx="3454298" cy="112552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08168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227986"/>
            <a:ext cx="2997098" cy="759764"/>
          </a:xfrm>
          <a:prstGeom prst="rect">
            <a:avLst/>
          </a:prstGeom>
          <a:noFill/>
        </p:spPr>
        <p:txBody>
          <a:bodyPr wrap="square" anchor="t" lIns="0" rIns="0" tIns="0" bIns="0">
            <a:spAutoFit/>
          </a:bodyPr>
          <a:lstStyle/>
          <a:p>
            <a:pPr algn="l"/>
            <a:r>
              <a:rPr sz="2000" b="0">
                <a:solidFill>
                  <a:srgbClr val="C7C2EF"/>
                </a:solidFill>
                <a:latin typeface="ITC Avant Garde Gothic"/>
              </a:rPr>
              <a:t>Analizando las imágenes…</a:t>
            </a:r>
          </a:p>
        </p:txBody>
      </p:sp>
      <p:sp>
        <p:nvSpPr>
          <p:cNvPr id="7" name="Rounded Rectangle 6"/>
          <p:cNvSpPr/>
          <p:nvPr/>
        </p:nvSpPr>
        <p:spPr>
          <a:xfrm>
            <a:off x="4368698" y="1917090"/>
            <a:ext cx="3454298" cy="112552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97298" y="208168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7298" y="2227986"/>
            <a:ext cx="2997098" cy="759764"/>
          </a:xfrm>
          <a:prstGeom prst="rect">
            <a:avLst/>
          </a:prstGeom>
          <a:noFill/>
        </p:spPr>
        <p:txBody>
          <a:bodyPr wrap="square" anchor="t" lIns="0" rIns="0" tIns="0" bIns="0">
            <a:spAutoFit/>
          </a:bodyPr>
          <a:lstStyle/>
          <a:p>
            <a:pPr algn="l"/>
            <a:r>
              <a:rPr sz="2000" b="0">
                <a:solidFill>
                  <a:srgbClr val="C7C2EF"/>
                </a:solidFill>
                <a:latin typeface="ITC Avant Garde Gothic"/>
              </a:rPr>
              <a:t>No cierres esta página</a:t>
            </a:r>
          </a:p>
        </p:txBody>
      </p:sp>
      <p:sp>
        <p:nvSpPr>
          <p:cNvPr id="10" name="Rounded Rectangle 9"/>
          <p:cNvSpPr/>
          <p:nvPr/>
        </p:nvSpPr>
        <p:spPr>
          <a:xfrm>
            <a:off x="8097316" y="1917090"/>
            <a:ext cx="3454298" cy="112552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25916" y="208168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5916" y="2227986"/>
            <a:ext cx="2997098" cy="759764"/>
          </a:xfrm>
          <a:prstGeom prst="rect">
            <a:avLst/>
          </a:prstGeom>
          <a:noFill/>
        </p:spPr>
        <p:txBody>
          <a:bodyPr wrap="square" anchor="t" lIns="0" rIns="0" tIns="0" bIns="0">
            <a:spAutoFit/>
          </a:bodyPr>
          <a:lstStyle/>
          <a:p>
            <a:pPr algn="l"/>
            <a:r>
              <a:rPr sz="2000" b="0">
                <a:solidFill>
                  <a:srgbClr val="C7C2EF"/>
                </a:solidFill>
                <a:latin typeface="ITC Avant Garde Gothic"/>
              </a:rPr>
              <a:t>Barra de actividad, no de porcentaje</a:t>
            </a:r>
          </a:p>
        </p:txBody>
      </p:sp>
      <p:sp>
        <p:nvSpPr>
          <p:cNvPr id="13" name="TextBox 12"/>
          <p:cNvSpPr txBox="1"/>
          <p:nvPr/>
        </p:nvSpPr>
        <p:spPr>
          <a:xfrm>
            <a:off x="640080" y="3225495"/>
            <a:ext cx="10911535" cy="684215"/>
          </a:xfrm>
          <a:prstGeom prst="rect">
            <a:avLst/>
          </a:prstGeom>
          <a:noFill/>
        </p:spPr>
        <p:txBody>
          <a:bodyPr wrap="square" anchor="t" lIns="0" rIns="0" tIns="0" bIns="0">
            <a:spAutoFit/>
          </a:bodyPr>
          <a:lstStyle/>
          <a:p>
            <a:pPr algn="l"/>
            <a:r>
              <a:rPr sz="2200" b="0">
                <a:solidFill>
                  <a:srgbClr val="C7C2EF"/>
                </a:solidFill>
                <a:latin typeface="ITC Avant Garde Gothic"/>
              </a:rPr>
              <a:t>El análisis de una imagen es una sola operación en el servidor; el navegador recibe el resultado cuando termina.</a:t>
            </a:r>
          </a:p>
        </p:txBody>
      </p:sp>
      <p:sp>
        <p:nvSpPr>
          <p:cNvPr id="14" name="Rounded Rectangle 13"/>
          <p:cNvSpPr/>
          <p:nvPr/>
        </p:nvSpPr>
        <p:spPr>
          <a:xfrm>
            <a:off x="640080" y="4138310"/>
            <a:ext cx="10911535" cy="791362"/>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430290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449206"/>
            <a:ext cx="10454335" cy="425602"/>
          </a:xfrm>
          <a:prstGeom prst="rect">
            <a:avLst/>
          </a:prstGeom>
          <a:noFill/>
        </p:spPr>
        <p:txBody>
          <a:bodyPr wrap="square" anchor="t" lIns="0" rIns="0" tIns="0" bIns="0">
            <a:spAutoFit/>
          </a:bodyPr>
          <a:lstStyle/>
          <a:p>
            <a:pPr algn="l"/>
            <a:r>
              <a:rPr sz="2000" b="0">
                <a:solidFill>
                  <a:srgbClr val="C7C2EF"/>
                </a:solidFill>
                <a:latin typeface="ITC Avant Garde Gothic"/>
              </a:rPr>
              <a:t>Confirma que el sistema trabaja y que la petición no se perdió.</a:t>
            </a:r>
          </a:p>
        </p:txBody>
      </p:sp>
      <p:sp>
        <p:nvSpPr>
          <p:cNvPr id="17" name="TextBox 16"/>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Esperar el análisis</a:t>
            </a:r>
          </a:p>
        </p:txBody>
      </p:sp>
      <p:sp>
        <p:nvSpPr>
          <p:cNvPr id="3" name="TextBox 2"/>
          <p:cNvSpPr txBox="1"/>
          <p:nvPr/>
        </p:nvSpPr>
        <p:spPr>
          <a:xfrm>
            <a:off x="640080" y="960120"/>
            <a:ext cx="10911535" cy="546227"/>
          </a:xfrm>
          <a:prstGeom prst="rect">
            <a:avLst/>
          </a:prstGeom>
          <a:noFill/>
        </p:spPr>
        <p:txBody>
          <a:bodyPr wrap="square" anchor="t" lIns="0" rIns="0" tIns="0" bIns="0">
            <a:spAutoFit/>
          </a:bodyPr>
          <a:lstStyle/>
          <a:p>
            <a:pPr algn="l"/>
            <a:r>
              <a:rPr sz="3700" b="1">
                <a:solidFill>
                  <a:srgbClr val="C7C2EF"/>
                </a:solidFill>
                <a:latin typeface="ITC Avant Garde Gothic"/>
              </a:rPr>
              <a:t>Unos segundos por imagen, y se suman</a:t>
            </a:r>
          </a:p>
        </p:txBody>
      </p:sp>
      <p:sp>
        <p:nvSpPr>
          <p:cNvPr id="4" name="Rounded Rectangle 3"/>
          <p:cNvSpPr/>
          <p:nvPr/>
        </p:nvSpPr>
        <p:spPr>
          <a:xfrm>
            <a:off x="640080" y="1872106"/>
            <a:ext cx="3454298" cy="765936"/>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03669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183002"/>
            <a:ext cx="2997098" cy="400176"/>
          </a:xfrm>
          <a:prstGeom prst="rect">
            <a:avLst/>
          </a:prstGeom>
          <a:noFill/>
        </p:spPr>
        <p:txBody>
          <a:bodyPr wrap="square" anchor="t" lIns="0" rIns="0" tIns="0" bIns="0">
            <a:spAutoFit/>
          </a:bodyPr>
          <a:lstStyle/>
          <a:p>
            <a:pPr algn="l"/>
            <a:r>
              <a:rPr sz="1900" b="0">
                <a:solidFill>
                  <a:srgbClr val="C7C2EF"/>
                </a:solidFill>
                <a:latin typeface="ITC Avant Garde Gothic"/>
              </a:rPr>
              <a:t>Fluorescencia</a:t>
            </a:r>
          </a:p>
        </p:txBody>
      </p:sp>
      <p:sp>
        <p:nvSpPr>
          <p:cNvPr id="7" name="Rounded Rectangle 6"/>
          <p:cNvSpPr/>
          <p:nvPr/>
        </p:nvSpPr>
        <p:spPr>
          <a:xfrm>
            <a:off x="4368698" y="1872106"/>
            <a:ext cx="3454298" cy="765936"/>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97298" y="203669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7298" y="2183002"/>
            <a:ext cx="2997098" cy="400176"/>
          </a:xfrm>
          <a:prstGeom prst="rect">
            <a:avLst/>
          </a:prstGeom>
          <a:noFill/>
        </p:spPr>
        <p:txBody>
          <a:bodyPr wrap="square" anchor="t" lIns="0" rIns="0" tIns="0" bIns="0">
            <a:spAutoFit/>
          </a:bodyPr>
          <a:lstStyle/>
          <a:p>
            <a:pPr algn="l"/>
            <a:r>
              <a:rPr sz="1900" b="0">
                <a:solidFill>
                  <a:srgbClr val="C7C2EF"/>
                </a:solidFill>
                <a:latin typeface="ITC Avant Garde Gothic"/>
              </a:rPr>
              <a:t>~40 s</a:t>
            </a:r>
          </a:p>
        </p:txBody>
      </p:sp>
      <p:sp>
        <p:nvSpPr>
          <p:cNvPr id="10" name="Rounded Rectangle 9"/>
          <p:cNvSpPr/>
          <p:nvPr/>
        </p:nvSpPr>
        <p:spPr>
          <a:xfrm>
            <a:off x="8097316" y="1872106"/>
            <a:ext cx="3454298" cy="765936"/>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25916" y="203669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5916" y="2183002"/>
            <a:ext cx="2997098" cy="400176"/>
          </a:xfrm>
          <a:prstGeom prst="rect">
            <a:avLst/>
          </a:prstGeom>
          <a:noFill/>
        </p:spPr>
        <p:txBody>
          <a:bodyPr wrap="square" anchor="t" lIns="0" rIns="0" tIns="0" bIns="0">
            <a:spAutoFit/>
          </a:bodyPr>
          <a:lstStyle/>
          <a:p>
            <a:pPr algn="l"/>
            <a:r>
              <a:rPr sz="1900" b="0">
                <a:solidFill>
                  <a:srgbClr val="C7C2EF"/>
                </a:solidFill>
                <a:latin typeface="ITC Avant Garde Gothic"/>
              </a:rPr>
              <a:t>Fondo claro</a:t>
            </a:r>
          </a:p>
        </p:txBody>
      </p:sp>
      <p:sp>
        <p:nvSpPr>
          <p:cNvPr id="13" name="Rounded Rectangle 12"/>
          <p:cNvSpPr/>
          <p:nvPr/>
        </p:nvSpPr>
        <p:spPr>
          <a:xfrm>
            <a:off x="640080" y="2912363"/>
            <a:ext cx="3454298" cy="138341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68680" y="307695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223259"/>
            <a:ext cx="2997098" cy="1017650"/>
          </a:xfrm>
          <a:prstGeom prst="rect">
            <a:avLst/>
          </a:prstGeom>
          <a:noFill/>
        </p:spPr>
        <p:txBody>
          <a:bodyPr wrap="square" anchor="t" lIns="0" rIns="0" tIns="0" bIns="0">
            <a:spAutoFit/>
          </a:bodyPr>
          <a:lstStyle/>
          <a:p>
            <a:pPr algn="l"/>
            <a:r>
              <a:rPr sz="1900" b="0">
                <a:solidFill>
                  <a:srgbClr val="C7C2EF"/>
                </a:solidFill>
                <a:latin typeface="ITC Avant Garde Gothic"/>
              </a:rPr>
              <a:t>10 a 20 s</a:t>
            </a:r>
          </a:p>
        </p:txBody>
      </p:sp>
      <p:sp>
        <p:nvSpPr>
          <p:cNvPr id="16" name="Rounded Rectangle 15"/>
          <p:cNvSpPr/>
          <p:nvPr/>
        </p:nvSpPr>
        <p:spPr>
          <a:xfrm>
            <a:off x="4368698" y="2912363"/>
            <a:ext cx="3454298" cy="138341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97298" y="307695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97298" y="3223259"/>
            <a:ext cx="2997098" cy="1017650"/>
          </a:xfrm>
          <a:prstGeom prst="rect">
            <a:avLst/>
          </a:prstGeom>
          <a:noFill/>
        </p:spPr>
        <p:txBody>
          <a:bodyPr wrap="square" anchor="t" lIns="0" rIns="0" tIns="0" bIns="0">
            <a:spAutoFit/>
          </a:bodyPr>
          <a:lstStyle/>
          <a:p>
            <a:pPr algn="l"/>
            <a:r>
              <a:rPr sz="1900" b="0">
                <a:solidFill>
                  <a:srgbClr val="C7C2EF"/>
                </a:solidFill>
                <a:latin typeface="ITC Avant Garde Gothic"/>
              </a:rPr>
              <a:t>Varias imágenes: una tras otra, el tiempo total es la suma.</a:t>
            </a:r>
          </a:p>
        </p:txBody>
      </p:sp>
      <p:sp>
        <p:nvSpPr>
          <p:cNvPr id="19" name="TextBox 18"/>
          <p:cNvSpPr txBox="1"/>
          <p:nvPr/>
        </p:nvSpPr>
        <p:spPr>
          <a:xfrm>
            <a:off x="640080" y="4478655"/>
            <a:ext cx="10911535" cy="632155"/>
          </a:xfrm>
          <a:prstGeom prst="rect">
            <a:avLst/>
          </a:prstGeom>
          <a:noFill/>
        </p:spPr>
        <p:txBody>
          <a:bodyPr wrap="square" anchor="t" lIns="0" rIns="0" tIns="0" bIns="0">
            <a:spAutoFit/>
          </a:bodyPr>
          <a:lstStyle/>
          <a:p>
            <a:pPr algn="l"/>
            <a:r>
              <a:rPr sz="2000" b="0">
                <a:solidFill>
                  <a:srgbClr val="C7C2EF"/>
                </a:solidFill>
                <a:latin typeface="ITC Avant Garde Gothic"/>
              </a:rPr>
              <a:t>El primer análisis tarda más: el modelo se carga en memoria una sola vez.</a:t>
            </a:r>
          </a:p>
        </p:txBody>
      </p:sp>
      <p:sp>
        <p:nvSpPr>
          <p:cNvPr id="20" name="TextBox 19"/>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Resultados</a:t>
            </a:r>
          </a:p>
        </p:txBody>
      </p:sp>
      <p:sp>
        <p:nvSpPr>
          <p:cNvPr id="3" name="TextBox 2"/>
          <p:cNvSpPr txBox="1"/>
          <p:nvPr/>
        </p:nvSpPr>
        <p:spPr>
          <a:xfrm>
            <a:off x="640080" y="960120"/>
            <a:ext cx="10911535" cy="449833"/>
          </a:xfrm>
          <a:prstGeom prst="rect">
            <a:avLst/>
          </a:prstGeom>
          <a:noFill/>
        </p:spPr>
        <p:txBody>
          <a:bodyPr wrap="square" anchor="t" lIns="0" rIns="0" tIns="0" bIns="0">
            <a:spAutoFit/>
          </a:bodyPr>
          <a:lstStyle/>
          <a:p>
            <a:pPr algn="l"/>
            <a:r>
              <a:rPr sz="3100" b="1">
                <a:solidFill>
                  <a:srgbClr val="C7C2EF"/>
                </a:solidFill>
                <a:latin typeface="ITC Avant Garde Gothic"/>
              </a:rPr>
              <a:t>La página de resultados, de arriba hacia abajo</a:t>
            </a:r>
          </a:p>
        </p:txBody>
      </p:sp>
      <p:sp>
        <p:nvSpPr>
          <p:cNvPr id="4" name="Rounded Rectangle 3"/>
          <p:cNvSpPr/>
          <p:nvPr/>
        </p:nvSpPr>
        <p:spPr>
          <a:xfrm>
            <a:off x="640080" y="1775714"/>
            <a:ext cx="1589989" cy="599975"/>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86610"/>
            <a:ext cx="1132789" cy="234215"/>
          </a:xfrm>
          <a:prstGeom prst="rect">
            <a:avLst/>
          </a:prstGeom>
          <a:noFill/>
        </p:spPr>
        <p:txBody>
          <a:bodyPr wrap="square" anchor="t" lIns="0" rIns="0" tIns="0" bIns="0">
            <a:spAutoFit/>
          </a:bodyPr>
          <a:lstStyle/>
          <a:p>
            <a:pPr algn="l"/>
            <a:r>
              <a:rPr sz="1300" b="0">
                <a:solidFill>
                  <a:srgbClr val="C7C2EF"/>
                </a:solidFill>
                <a:latin typeface="ITC Avant Garde Gothic"/>
              </a:rPr>
              <a:t>1</a:t>
            </a:r>
          </a:p>
        </p:txBody>
      </p:sp>
      <p:sp>
        <p:nvSpPr>
          <p:cNvPr id="7" name="Rounded Rectangle 6"/>
          <p:cNvSpPr/>
          <p:nvPr/>
        </p:nvSpPr>
        <p:spPr>
          <a:xfrm>
            <a:off x="2504389" y="1775714"/>
            <a:ext cx="1589989" cy="599975"/>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32989"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32989" y="2086610"/>
            <a:ext cx="1132789" cy="234215"/>
          </a:xfrm>
          <a:prstGeom prst="rect">
            <a:avLst/>
          </a:prstGeom>
          <a:noFill/>
        </p:spPr>
        <p:txBody>
          <a:bodyPr wrap="square" anchor="t" lIns="0" rIns="0" tIns="0" bIns="0">
            <a:spAutoFit/>
          </a:bodyPr>
          <a:lstStyle/>
          <a:p>
            <a:pPr algn="l"/>
            <a:r>
              <a:rPr sz="1300" b="0">
                <a:solidFill>
                  <a:srgbClr val="C7C2EF"/>
                </a:solidFill>
                <a:latin typeface="ITC Avant Garde Gothic"/>
              </a:rPr>
              <a:t>2</a:t>
            </a:r>
          </a:p>
        </p:txBody>
      </p:sp>
      <p:sp>
        <p:nvSpPr>
          <p:cNvPr id="10" name="Rounded Rectangle 9"/>
          <p:cNvSpPr/>
          <p:nvPr/>
        </p:nvSpPr>
        <p:spPr>
          <a:xfrm>
            <a:off x="4368698" y="1775714"/>
            <a:ext cx="1589989" cy="599975"/>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97298"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2086610"/>
            <a:ext cx="1132789" cy="234215"/>
          </a:xfrm>
          <a:prstGeom prst="rect">
            <a:avLst/>
          </a:prstGeom>
          <a:noFill/>
        </p:spPr>
        <p:txBody>
          <a:bodyPr wrap="square" anchor="t" lIns="0" rIns="0" tIns="0" bIns="0">
            <a:spAutoFit/>
          </a:bodyPr>
          <a:lstStyle/>
          <a:p>
            <a:pPr algn="l"/>
            <a:r>
              <a:rPr sz="1300" b="0">
                <a:solidFill>
                  <a:srgbClr val="C7C2EF"/>
                </a:solidFill>
                <a:latin typeface="ITC Avant Garde Gothic"/>
              </a:rPr>
              <a:t>3</a:t>
            </a:r>
          </a:p>
        </p:txBody>
      </p:sp>
      <p:sp>
        <p:nvSpPr>
          <p:cNvPr id="13" name="Rounded Rectangle 12"/>
          <p:cNvSpPr/>
          <p:nvPr/>
        </p:nvSpPr>
        <p:spPr>
          <a:xfrm>
            <a:off x="6233007" y="1775714"/>
            <a:ext cx="1589989" cy="599975"/>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61607"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1607" y="2086610"/>
            <a:ext cx="1132789" cy="234215"/>
          </a:xfrm>
          <a:prstGeom prst="rect">
            <a:avLst/>
          </a:prstGeom>
          <a:noFill/>
        </p:spPr>
        <p:txBody>
          <a:bodyPr wrap="square" anchor="t" lIns="0" rIns="0" tIns="0" bIns="0">
            <a:spAutoFit/>
          </a:bodyPr>
          <a:lstStyle/>
          <a:p>
            <a:pPr algn="l"/>
            <a:r>
              <a:rPr sz="1300" b="0">
                <a:solidFill>
                  <a:srgbClr val="C7C2EF"/>
                </a:solidFill>
                <a:latin typeface="ITC Avant Garde Gothic"/>
              </a:rPr>
              <a:t>4</a:t>
            </a:r>
          </a:p>
        </p:txBody>
      </p:sp>
      <p:sp>
        <p:nvSpPr>
          <p:cNvPr id="16" name="Rounded Rectangle 15"/>
          <p:cNvSpPr/>
          <p:nvPr/>
        </p:nvSpPr>
        <p:spPr>
          <a:xfrm>
            <a:off x="8097316" y="1775714"/>
            <a:ext cx="1589989" cy="599975"/>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5916"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5916" y="2086610"/>
            <a:ext cx="1132789" cy="234215"/>
          </a:xfrm>
          <a:prstGeom prst="rect">
            <a:avLst/>
          </a:prstGeom>
          <a:noFill/>
        </p:spPr>
        <p:txBody>
          <a:bodyPr wrap="square" anchor="t" lIns="0" rIns="0" tIns="0" bIns="0">
            <a:spAutoFit/>
          </a:bodyPr>
          <a:lstStyle/>
          <a:p>
            <a:pPr algn="l"/>
            <a:r>
              <a:rPr sz="1300" b="0">
                <a:solidFill>
                  <a:srgbClr val="C7C2EF"/>
                </a:solidFill>
                <a:latin typeface="ITC Avant Garde Gothic"/>
              </a:rPr>
              <a:t>5</a:t>
            </a:r>
          </a:p>
        </p:txBody>
      </p:sp>
      <p:sp>
        <p:nvSpPr>
          <p:cNvPr id="19" name="Rounded Rectangle 18"/>
          <p:cNvSpPr/>
          <p:nvPr/>
        </p:nvSpPr>
        <p:spPr>
          <a:xfrm>
            <a:off x="9961625" y="1775714"/>
            <a:ext cx="1589989" cy="599975"/>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190225"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190225" y="2086610"/>
            <a:ext cx="1132789" cy="234215"/>
          </a:xfrm>
          <a:prstGeom prst="rect">
            <a:avLst/>
          </a:prstGeom>
          <a:noFill/>
        </p:spPr>
        <p:txBody>
          <a:bodyPr wrap="square" anchor="t" lIns="0" rIns="0" tIns="0" bIns="0">
            <a:spAutoFit/>
          </a:bodyPr>
          <a:lstStyle/>
          <a:p>
            <a:pPr algn="l"/>
            <a:r>
              <a:rPr sz="1300" b="0">
                <a:solidFill>
                  <a:srgbClr val="C7C2EF"/>
                </a:solidFill>
                <a:latin typeface="ITC Avant Garde Gothic"/>
              </a:rPr>
              <a:t>6</a:t>
            </a:r>
          </a:p>
        </p:txBody>
      </p:sp>
      <p:sp>
        <p:nvSpPr>
          <p:cNvPr id="22" name="Rounded Rectangle 21"/>
          <p:cNvSpPr/>
          <p:nvPr/>
        </p:nvSpPr>
        <p:spPr>
          <a:xfrm>
            <a:off x="640080" y="2650009"/>
            <a:ext cx="1589989" cy="103183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68680" y="2814601"/>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2960905"/>
            <a:ext cx="1132789" cy="666070"/>
          </a:xfrm>
          <a:prstGeom prst="rect">
            <a:avLst/>
          </a:prstGeom>
          <a:noFill/>
        </p:spPr>
        <p:txBody>
          <a:bodyPr wrap="square" anchor="t" lIns="0" rIns="0" tIns="0" bIns="0">
            <a:spAutoFit/>
          </a:bodyPr>
          <a:lstStyle/>
          <a:p>
            <a:pPr algn="l"/>
            <a:r>
              <a:rPr sz="1300" b="0">
                <a:solidFill>
                  <a:srgbClr val="C7C2EF"/>
                </a:solidFill>
                <a:latin typeface="ITC Avant Garde Gothic"/>
              </a:rPr>
              <a:t>1</a:t>
            </a:r>
          </a:p>
        </p:txBody>
      </p:sp>
      <p:sp>
        <p:nvSpPr>
          <p:cNvPr id="25" name="Rounded Rectangle 24"/>
          <p:cNvSpPr/>
          <p:nvPr/>
        </p:nvSpPr>
        <p:spPr>
          <a:xfrm>
            <a:off x="2504389" y="2650009"/>
            <a:ext cx="1589989" cy="103183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732989" y="2814601"/>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32989" y="2960905"/>
            <a:ext cx="1132789" cy="666070"/>
          </a:xfrm>
          <a:prstGeom prst="rect">
            <a:avLst/>
          </a:prstGeom>
          <a:noFill/>
        </p:spPr>
        <p:txBody>
          <a:bodyPr wrap="square" anchor="t" lIns="0" rIns="0" tIns="0" bIns="0">
            <a:spAutoFit/>
          </a:bodyPr>
          <a:lstStyle/>
          <a:p>
            <a:pPr algn="l"/>
            <a:r>
              <a:rPr sz="1300" b="0">
                <a:solidFill>
                  <a:srgbClr val="C7C2EF"/>
                </a:solidFill>
                <a:latin typeface="ITC Avant Garde Gothic"/>
              </a:rPr>
              <a:t>Encabezado: quién y cuándo</a:t>
            </a:r>
          </a:p>
        </p:txBody>
      </p:sp>
      <p:sp>
        <p:nvSpPr>
          <p:cNvPr id="28" name="Rounded Rectangle 27"/>
          <p:cNvSpPr/>
          <p:nvPr/>
        </p:nvSpPr>
        <p:spPr>
          <a:xfrm>
            <a:off x="4368698" y="2650009"/>
            <a:ext cx="1589989" cy="103183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97298" y="2814601"/>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97298" y="2960905"/>
            <a:ext cx="1132789" cy="666070"/>
          </a:xfrm>
          <a:prstGeom prst="rect">
            <a:avLst/>
          </a:prstGeom>
          <a:noFill/>
        </p:spPr>
        <p:txBody>
          <a:bodyPr wrap="square" anchor="t" lIns="0" rIns="0" tIns="0" bIns="0">
            <a:spAutoFit/>
          </a:bodyPr>
          <a:lstStyle/>
          <a:p>
            <a:pPr algn="l"/>
            <a:r>
              <a:rPr sz="1300" b="0">
                <a:solidFill>
                  <a:srgbClr val="C7C2EF"/>
                </a:solidFill>
                <a:latin typeface="ITC Avant Garde Gothic"/>
              </a:rPr>
              <a:t>2</a:t>
            </a:r>
          </a:p>
        </p:txBody>
      </p:sp>
      <p:sp>
        <p:nvSpPr>
          <p:cNvPr id="31" name="Rounded Rectangle 30"/>
          <p:cNvSpPr/>
          <p:nvPr/>
        </p:nvSpPr>
        <p:spPr>
          <a:xfrm>
            <a:off x="6233007" y="2650009"/>
            <a:ext cx="1589989" cy="103183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61607" y="2814601"/>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61607" y="2960905"/>
            <a:ext cx="1132789" cy="666070"/>
          </a:xfrm>
          <a:prstGeom prst="rect">
            <a:avLst/>
          </a:prstGeom>
          <a:noFill/>
        </p:spPr>
        <p:txBody>
          <a:bodyPr wrap="square" anchor="t" lIns="0" rIns="0" tIns="0" bIns="0">
            <a:spAutoFit/>
          </a:bodyPr>
          <a:lstStyle/>
          <a:p>
            <a:pPr algn="l"/>
            <a:r>
              <a:rPr sz="1300" b="0">
                <a:solidFill>
                  <a:srgbClr val="C7C2EF"/>
                </a:solidFill>
                <a:latin typeface="ITC Avant Garde Gothic"/>
              </a:rPr>
              <a:t>Recuadros de contexto</a:t>
            </a:r>
          </a:p>
        </p:txBody>
      </p:sp>
      <p:sp>
        <p:nvSpPr>
          <p:cNvPr id="34" name="Rounded Rectangle 33"/>
          <p:cNvSpPr/>
          <p:nvPr/>
        </p:nvSpPr>
        <p:spPr>
          <a:xfrm>
            <a:off x="8097316" y="2650009"/>
            <a:ext cx="1589989" cy="103183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25916" y="2814601"/>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25916" y="2960905"/>
            <a:ext cx="1132789" cy="666070"/>
          </a:xfrm>
          <a:prstGeom prst="rect">
            <a:avLst/>
          </a:prstGeom>
          <a:noFill/>
        </p:spPr>
        <p:txBody>
          <a:bodyPr wrap="square" anchor="t" lIns="0" rIns="0" tIns="0" bIns="0">
            <a:spAutoFit/>
          </a:bodyPr>
          <a:lstStyle/>
          <a:p>
            <a:pPr algn="l"/>
            <a:r>
              <a:rPr sz="1300" b="0">
                <a:solidFill>
                  <a:srgbClr val="C7C2EF"/>
                </a:solidFill>
                <a:latin typeface="ITC Avant Garde Gothic"/>
              </a:rPr>
              <a:t>3</a:t>
            </a:r>
          </a:p>
        </p:txBody>
      </p:sp>
      <p:sp>
        <p:nvSpPr>
          <p:cNvPr id="37" name="Rounded Rectangle 36"/>
          <p:cNvSpPr/>
          <p:nvPr/>
        </p:nvSpPr>
        <p:spPr>
          <a:xfrm>
            <a:off x="9961625" y="2650009"/>
            <a:ext cx="1589989" cy="103183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90225" y="2814601"/>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190225" y="2960905"/>
            <a:ext cx="1132789" cy="666070"/>
          </a:xfrm>
          <a:prstGeom prst="rect">
            <a:avLst/>
          </a:prstGeom>
          <a:noFill/>
        </p:spPr>
        <p:txBody>
          <a:bodyPr wrap="square" anchor="t" lIns="0" rIns="0" tIns="0" bIns="0">
            <a:spAutoFit/>
          </a:bodyPr>
          <a:lstStyle/>
          <a:p>
            <a:pPr algn="l"/>
            <a:r>
              <a:rPr sz="1300" b="0">
                <a:solidFill>
                  <a:srgbClr val="C7C2EF"/>
                </a:solidFill>
                <a:latin typeface="ITC Avant Garde Gothic"/>
              </a:rPr>
              <a:t>Imagen marcada</a:t>
            </a:r>
          </a:p>
        </p:txBody>
      </p:sp>
      <p:sp>
        <p:nvSpPr>
          <p:cNvPr id="40" name="Rounded Rectangle 39"/>
          <p:cNvSpPr/>
          <p:nvPr/>
        </p:nvSpPr>
        <p:spPr>
          <a:xfrm>
            <a:off x="640080" y="3956160"/>
            <a:ext cx="1589989" cy="103183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68680" y="412075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8680" y="4267056"/>
            <a:ext cx="1132789" cy="666070"/>
          </a:xfrm>
          <a:prstGeom prst="rect">
            <a:avLst/>
          </a:prstGeom>
          <a:noFill/>
        </p:spPr>
        <p:txBody>
          <a:bodyPr wrap="square" anchor="t" lIns="0" rIns="0" tIns="0" bIns="0">
            <a:spAutoFit/>
          </a:bodyPr>
          <a:lstStyle/>
          <a:p>
            <a:pPr algn="l"/>
            <a:r>
              <a:rPr sz="1300" b="0">
                <a:solidFill>
                  <a:srgbClr val="C7C2EF"/>
                </a:solidFill>
                <a:latin typeface="ITC Avant Garde Gothic"/>
              </a:rPr>
              <a:t>4</a:t>
            </a:r>
          </a:p>
        </p:txBody>
      </p:sp>
      <p:sp>
        <p:nvSpPr>
          <p:cNvPr id="43" name="Rounded Rectangle 42"/>
          <p:cNvSpPr/>
          <p:nvPr/>
        </p:nvSpPr>
        <p:spPr>
          <a:xfrm>
            <a:off x="2504389" y="3956160"/>
            <a:ext cx="1589989" cy="103183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732989" y="412075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732989" y="4267056"/>
            <a:ext cx="1132789" cy="666070"/>
          </a:xfrm>
          <a:prstGeom prst="rect">
            <a:avLst/>
          </a:prstGeom>
          <a:noFill/>
        </p:spPr>
        <p:txBody>
          <a:bodyPr wrap="square" anchor="t" lIns="0" rIns="0" tIns="0" bIns="0">
            <a:spAutoFit/>
          </a:bodyPr>
          <a:lstStyle/>
          <a:p>
            <a:pPr algn="l"/>
            <a:r>
              <a:rPr sz="1300" b="0">
                <a:solidFill>
                  <a:srgbClr val="C7C2EF"/>
                </a:solidFill>
                <a:latin typeface="ITC Avant Garde Gothic"/>
              </a:rPr>
              <a:t>Mensajes y metadatos</a:t>
            </a:r>
          </a:p>
        </p:txBody>
      </p:sp>
      <p:sp>
        <p:nvSpPr>
          <p:cNvPr id="46" name="Rounded Rectangle 45"/>
          <p:cNvSpPr/>
          <p:nvPr/>
        </p:nvSpPr>
        <p:spPr>
          <a:xfrm>
            <a:off x="4368698" y="3956160"/>
            <a:ext cx="1589989" cy="103183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597298" y="412075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97298" y="4267056"/>
            <a:ext cx="1132789" cy="666070"/>
          </a:xfrm>
          <a:prstGeom prst="rect">
            <a:avLst/>
          </a:prstGeom>
          <a:noFill/>
        </p:spPr>
        <p:txBody>
          <a:bodyPr wrap="square" anchor="t" lIns="0" rIns="0" tIns="0" bIns="0">
            <a:spAutoFit/>
          </a:bodyPr>
          <a:lstStyle/>
          <a:p>
            <a:pPr algn="l"/>
            <a:r>
              <a:rPr sz="1300" b="0">
                <a:solidFill>
                  <a:srgbClr val="C7C2EF"/>
                </a:solidFill>
                <a:latin typeface="ITC Avant Garde Gothic"/>
              </a:rPr>
              <a:t>5</a:t>
            </a:r>
          </a:p>
        </p:txBody>
      </p:sp>
      <p:sp>
        <p:nvSpPr>
          <p:cNvPr id="49" name="Rounded Rectangle 48"/>
          <p:cNvSpPr/>
          <p:nvPr/>
        </p:nvSpPr>
        <p:spPr>
          <a:xfrm>
            <a:off x="6233007" y="3956160"/>
            <a:ext cx="1589989" cy="103183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461607" y="412075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61607" y="4267056"/>
            <a:ext cx="1132789" cy="666070"/>
          </a:xfrm>
          <a:prstGeom prst="rect">
            <a:avLst/>
          </a:prstGeom>
          <a:noFill/>
        </p:spPr>
        <p:txBody>
          <a:bodyPr wrap="square" anchor="t" lIns="0" rIns="0" tIns="0" bIns="0">
            <a:spAutoFit/>
          </a:bodyPr>
          <a:lstStyle/>
          <a:p>
            <a:pPr algn="l"/>
            <a:r>
              <a:rPr sz="1300" b="0">
                <a:solidFill>
                  <a:srgbClr val="C7C2EF"/>
                </a:solidFill>
                <a:latin typeface="ITC Avant Garde Gothic"/>
              </a:rPr>
              <a:t>Datos principales y gráfica</a:t>
            </a:r>
          </a:p>
        </p:txBody>
      </p:sp>
      <p:sp>
        <p:nvSpPr>
          <p:cNvPr id="52" name="Rounded Rectangle 51"/>
          <p:cNvSpPr/>
          <p:nvPr/>
        </p:nvSpPr>
        <p:spPr>
          <a:xfrm>
            <a:off x="8097316" y="3956160"/>
            <a:ext cx="1589989" cy="103183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325916" y="412075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325916" y="4267056"/>
            <a:ext cx="1132789" cy="666070"/>
          </a:xfrm>
          <a:prstGeom prst="rect">
            <a:avLst/>
          </a:prstGeom>
          <a:noFill/>
        </p:spPr>
        <p:txBody>
          <a:bodyPr wrap="square" anchor="t" lIns="0" rIns="0" tIns="0" bIns="0">
            <a:spAutoFit/>
          </a:bodyPr>
          <a:lstStyle/>
          <a:p>
            <a:pPr algn="l"/>
            <a:r>
              <a:rPr sz="1300" b="0">
                <a:solidFill>
                  <a:srgbClr val="C7C2EF"/>
                </a:solidFill>
                <a:latin typeface="ITC Avant Garde Gothic"/>
              </a:rPr>
              <a:t>6</a:t>
            </a:r>
          </a:p>
        </p:txBody>
      </p:sp>
      <p:sp>
        <p:nvSpPr>
          <p:cNvPr id="55" name="Rounded Rectangle 54"/>
          <p:cNvSpPr/>
          <p:nvPr/>
        </p:nvSpPr>
        <p:spPr>
          <a:xfrm>
            <a:off x="9961625" y="3956160"/>
            <a:ext cx="1589989" cy="103183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0190225" y="412075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190225" y="4267056"/>
            <a:ext cx="1132789" cy="666070"/>
          </a:xfrm>
          <a:prstGeom prst="rect">
            <a:avLst/>
          </a:prstGeom>
          <a:noFill/>
        </p:spPr>
        <p:txBody>
          <a:bodyPr wrap="square" anchor="t" lIns="0" rIns="0" tIns="0" bIns="0">
            <a:spAutoFit/>
          </a:bodyPr>
          <a:lstStyle/>
          <a:p>
            <a:pPr algn="l"/>
            <a:r>
              <a:rPr sz="1300" b="0">
                <a:solidFill>
                  <a:srgbClr val="C7C2EF"/>
                </a:solidFill>
                <a:latin typeface="ITC Avant Garde Gothic"/>
              </a:rPr>
              <a:t>Tabla de detalle</a:t>
            </a:r>
          </a:p>
        </p:txBody>
      </p:sp>
      <p:sp>
        <p:nvSpPr>
          <p:cNvPr id="58" name="TextBox 57"/>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Resultados</a:t>
            </a:r>
          </a:p>
        </p:txBody>
      </p:sp>
      <p:sp>
        <p:nvSpPr>
          <p:cNvPr id="3" name="TextBox 2"/>
          <p:cNvSpPr txBox="1"/>
          <p:nvPr/>
        </p:nvSpPr>
        <p:spPr>
          <a:xfrm>
            <a:off x="640080" y="960120"/>
            <a:ext cx="10911535" cy="501243"/>
          </a:xfrm>
          <a:prstGeom prst="rect">
            <a:avLst/>
          </a:prstGeom>
          <a:noFill/>
        </p:spPr>
        <p:txBody>
          <a:bodyPr wrap="square" anchor="t" lIns="0" rIns="0" tIns="0" bIns="0">
            <a:spAutoFit/>
          </a:bodyPr>
          <a:lstStyle/>
          <a:p>
            <a:pPr algn="l"/>
            <a:r>
              <a:rPr sz="3400" b="1">
                <a:solidFill>
                  <a:srgbClr val="C7C2EF"/>
                </a:solidFill>
                <a:latin typeface="ITC Avant Garde Gothic"/>
              </a:rPr>
              <a:t>Encabezado y recuadros de contexto</a:t>
            </a:r>
          </a:p>
        </p:txBody>
      </p:sp>
      <p:sp>
        <p:nvSpPr>
          <p:cNvPr id="4" name="Rounded Rectangle 3"/>
          <p:cNvSpPr/>
          <p:nvPr/>
        </p:nvSpPr>
        <p:spPr>
          <a:xfrm>
            <a:off x="640080" y="1827123"/>
            <a:ext cx="5318607" cy="95067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99171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138019"/>
            <a:ext cx="4861407" cy="584911"/>
          </a:xfrm>
          <a:prstGeom prst="rect">
            <a:avLst/>
          </a:prstGeom>
          <a:noFill/>
        </p:spPr>
        <p:txBody>
          <a:bodyPr wrap="square" anchor="t" lIns="0" rIns="0" tIns="0" bIns="0">
            <a:spAutoFit/>
          </a:bodyPr>
          <a:lstStyle/>
          <a:p>
            <a:pPr algn="l"/>
            <a:r>
              <a:rPr sz="1700" b="0">
                <a:solidFill>
                  <a:srgbClr val="C7C2EF"/>
                </a:solidFill>
                <a:latin typeface="ITC Avant Garde Gothic"/>
              </a:rPr>
              <a:t>Resultados del análisis</a:t>
            </a:r>
          </a:p>
        </p:txBody>
      </p:sp>
      <p:sp>
        <p:nvSpPr>
          <p:cNvPr id="7" name="Rounded Rectangle 6"/>
          <p:cNvSpPr/>
          <p:nvPr/>
        </p:nvSpPr>
        <p:spPr>
          <a:xfrm>
            <a:off x="6233007" y="1827123"/>
            <a:ext cx="5318607" cy="95067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61607" y="199171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1607" y="2138019"/>
            <a:ext cx="4861407" cy="584911"/>
          </a:xfrm>
          <a:prstGeom prst="rect">
            <a:avLst/>
          </a:prstGeom>
          <a:noFill/>
        </p:spPr>
        <p:txBody>
          <a:bodyPr wrap="square" anchor="t" lIns="0" rIns="0" tIns="0" bIns="0">
            <a:spAutoFit/>
          </a:bodyPr>
          <a:lstStyle/>
          <a:p>
            <a:pPr algn="l"/>
            <a:r>
              <a:rPr sz="1700" b="0">
                <a:solidFill>
                  <a:srgbClr val="C7C2EF"/>
                </a:solidFill>
                <a:latin typeface="ITC Avant Garde Gothic"/>
              </a:rPr>
              <a:t>Usuario de demostración · 18/10/2026 10:16:02</a:t>
            </a:r>
          </a:p>
        </p:txBody>
      </p:sp>
      <p:sp>
        <p:nvSpPr>
          <p:cNvPr id="10" name="TextBox 9"/>
          <p:cNvSpPr txBox="1"/>
          <p:nvPr/>
        </p:nvSpPr>
        <p:spPr>
          <a:xfrm>
            <a:off x="640080" y="2960674"/>
            <a:ext cx="10911535" cy="580095"/>
          </a:xfrm>
          <a:prstGeom prst="rect">
            <a:avLst/>
          </a:prstGeom>
          <a:noFill/>
        </p:spPr>
        <p:txBody>
          <a:bodyPr wrap="square" anchor="t" lIns="0" rIns="0" tIns="0" bIns="0">
            <a:spAutoFit/>
          </a:bodyPr>
          <a:lstStyle/>
          <a:p>
            <a:pPr algn="l"/>
            <a:r>
              <a:rPr sz="1900" b="0">
                <a:solidFill>
                  <a:srgbClr val="C7C2EF"/>
                </a:solidFill>
                <a:latin typeface="ITC Avant Garde Gothic"/>
              </a:rPr>
              <a:t>Estado del modelo: está entrenado con un número acotado de imágenes y, donde hay muchos espermatozoides juntos, el conteo se lee como una estimación.</a:t>
            </a:r>
          </a:p>
        </p:txBody>
      </p:sp>
      <p:sp>
        <p:nvSpPr>
          <p:cNvPr id="11" name="TextBox 10"/>
          <p:cNvSpPr txBox="1"/>
          <p:nvPr/>
        </p:nvSpPr>
        <p:spPr>
          <a:xfrm>
            <a:off x="640080" y="3769370"/>
            <a:ext cx="10911535" cy="580095"/>
          </a:xfrm>
          <a:prstGeom prst="rect">
            <a:avLst/>
          </a:prstGeom>
          <a:noFill/>
        </p:spPr>
        <p:txBody>
          <a:bodyPr wrap="square" anchor="t" lIns="0" rIns="0" tIns="0" bIns="0">
            <a:spAutoFit/>
          </a:bodyPr>
          <a:lstStyle/>
          <a:p>
            <a:pPr algn="l"/>
            <a:r>
              <a:rPr sz="1900" b="0">
                <a:solidFill>
                  <a:srgbClr val="C7C2EF"/>
                </a:solidFill>
                <a:latin typeface="ITC Avant Garde Gothic"/>
              </a:rPr>
              <a:t>Escala: se usan 60 px = 1 micra para todas las imágenes (la regla de la imagen marcada mide 300 px = 5 micras).</a:t>
            </a:r>
          </a:p>
        </p:txBody>
      </p:sp>
      <p:sp>
        <p:nvSpPr>
          <p:cNvPr id="12" name="Rounded Rectangle 11"/>
          <p:cNvSpPr/>
          <p:nvPr/>
        </p:nvSpPr>
        <p:spPr>
          <a:xfrm>
            <a:off x="640080" y="4578065"/>
            <a:ext cx="10911535" cy="66735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68680" y="4742657"/>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888961"/>
            <a:ext cx="10454335" cy="301599"/>
          </a:xfrm>
          <a:prstGeom prst="rect">
            <a:avLst/>
          </a:prstGeom>
          <a:noFill/>
        </p:spPr>
        <p:txBody>
          <a:bodyPr wrap="square" anchor="t" lIns="0" rIns="0" tIns="0" bIns="0">
            <a:spAutoFit/>
          </a:bodyPr>
          <a:lstStyle/>
          <a:p>
            <a:pPr algn="l"/>
            <a:r>
              <a:rPr sz="1700" b="0">
                <a:solidFill>
                  <a:srgbClr val="C7C2EF"/>
                </a:solidFill>
                <a:latin typeface="ITC Avant Garde Gothic"/>
              </a:rPr>
              <a:t>Los dos recuadros se repiten en el PDF.</a:t>
            </a:r>
          </a:p>
        </p:txBody>
      </p:sp>
      <p:sp>
        <p:nvSpPr>
          <p:cNvPr id="15" name="TextBox 14"/>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5669280" cy="320040"/>
          </a:xfrm>
          <a:prstGeom prst="rect">
            <a:avLst/>
          </a:prstGeom>
          <a:noFill/>
        </p:spPr>
        <p:txBody>
          <a:bodyPr wrap="square" anchor="t" lIns="0" rIns="0" tIns="0" bIns="0">
            <a:spAutoFit/>
          </a:bodyPr>
          <a:lstStyle/>
          <a:p>
            <a:pPr algn="l"/>
            <a:r>
              <a:rPr sz="1600" b="0">
                <a:solidFill>
                  <a:srgbClr val="FF983D"/>
                </a:solidFill>
                <a:latin typeface="Retropix"/>
              </a:rPr>
              <a:t>Resultados</a:t>
            </a:r>
          </a:p>
        </p:txBody>
      </p:sp>
      <p:sp>
        <p:nvSpPr>
          <p:cNvPr id="3" name="TextBox 2"/>
          <p:cNvSpPr txBox="1"/>
          <p:nvPr/>
        </p:nvSpPr>
        <p:spPr>
          <a:xfrm>
            <a:off x="640080" y="960120"/>
            <a:ext cx="5669280" cy="1002487"/>
          </a:xfrm>
          <a:prstGeom prst="rect">
            <a:avLst/>
          </a:prstGeom>
          <a:noFill/>
        </p:spPr>
        <p:txBody>
          <a:bodyPr wrap="square" anchor="t" lIns="0" rIns="0" tIns="0" bIns="0">
            <a:spAutoFit/>
          </a:bodyPr>
          <a:lstStyle/>
          <a:p>
            <a:pPr algn="l"/>
            <a:r>
              <a:rPr sz="3400" b="1">
                <a:solidFill>
                  <a:srgbClr val="C7C2EF"/>
                </a:solidFill>
                <a:latin typeface="ITC Avant Garde Gothic"/>
              </a:rPr>
              <a:t>Imagen marcada y datos principales</a:t>
            </a:r>
          </a:p>
        </p:txBody>
      </p:sp>
      <p:sp>
        <p:nvSpPr>
          <p:cNvPr id="4" name="Rounded Rectangle 3"/>
          <p:cNvSpPr/>
          <p:nvPr/>
        </p:nvSpPr>
        <p:spPr>
          <a:xfrm>
            <a:off x="640080" y="2328367"/>
            <a:ext cx="1706880" cy="55873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49295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39263"/>
            <a:ext cx="1249680" cy="192974"/>
          </a:xfrm>
          <a:prstGeom prst="rect">
            <a:avLst/>
          </a:prstGeom>
          <a:noFill/>
        </p:spPr>
        <p:txBody>
          <a:bodyPr wrap="square" anchor="t" lIns="0" rIns="0" tIns="0" bIns="0">
            <a:spAutoFit/>
          </a:bodyPr>
          <a:lstStyle/>
          <a:p>
            <a:pPr algn="l"/>
            <a:r>
              <a:rPr sz="1100" b="0">
                <a:solidFill>
                  <a:srgbClr val="C7C2EF"/>
                </a:solidFill>
                <a:latin typeface="ITC Avant Garde Gothic"/>
              </a:rPr>
              <a:t>11</a:t>
            </a:r>
          </a:p>
        </p:txBody>
      </p:sp>
      <p:sp>
        <p:nvSpPr>
          <p:cNvPr id="7" name="Rounded Rectangle 6"/>
          <p:cNvSpPr/>
          <p:nvPr/>
        </p:nvSpPr>
        <p:spPr>
          <a:xfrm>
            <a:off x="2621280" y="2328367"/>
            <a:ext cx="1706880" cy="55873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49880" y="249295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49880" y="2639263"/>
            <a:ext cx="1249680" cy="192974"/>
          </a:xfrm>
          <a:prstGeom prst="rect">
            <a:avLst/>
          </a:prstGeom>
          <a:noFill/>
        </p:spPr>
        <p:txBody>
          <a:bodyPr wrap="square" anchor="t" lIns="0" rIns="0" tIns="0" bIns="0">
            <a:spAutoFit/>
          </a:bodyPr>
          <a:lstStyle/>
          <a:p>
            <a:pPr algn="l"/>
            <a:r>
              <a:rPr sz="1100" b="0">
                <a:solidFill>
                  <a:srgbClr val="C7C2EF"/>
                </a:solidFill>
                <a:latin typeface="ITC Avant Garde Gothic"/>
              </a:rPr>
              <a:t>espermatozoides</a:t>
            </a:r>
          </a:p>
        </p:txBody>
      </p:sp>
      <p:sp>
        <p:nvSpPr>
          <p:cNvPr id="10" name="Rounded Rectangle 9"/>
          <p:cNvSpPr/>
          <p:nvPr/>
        </p:nvSpPr>
        <p:spPr>
          <a:xfrm>
            <a:off x="4602480" y="2328367"/>
            <a:ext cx="1706880" cy="55873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31080" y="249295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31080" y="2639263"/>
            <a:ext cx="1249680" cy="192974"/>
          </a:xfrm>
          <a:prstGeom prst="rect">
            <a:avLst/>
          </a:prstGeom>
          <a:noFill/>
        </p:spPr>
        <p:txBody>
          <a:bodyPr wrap="square" anchor="t" lIns="0" rIns="0" tIns="0" bIns="0">
            <a:spAutoFit/>
          </a:bodyPr>
          <a:lstStyle/>
          <a:p>
            <a:pPr algn="l"/>
            <a:r>
              <a:rPr sz="1100" b="0">
                <a:solidFill>
                  <a:srgbClr val="C7C2EF"/>
                </a:solidFill>
                <a:latin typeface="ITC Avant Garde Gothic"/>
              </a:rPr>
              <a:t>1124.73</a:t>
            </a:r>
          </a:p>
        </p:txBody>
      </p:sp>
      <p:sp>
        <p:nvSpPr>
          <p:cNvPr id="13" name="Rounded Rectangle 12"/>
          <p:cNvSpPr/>
          <p:nvPr/>
        </p:nvSpPr>
        <p:spPr>
          <a:xfrm>
            <a:off x="640080" y="3161421"/>
            <a:ext cx="1706880" cy="55873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68680" y="3326013"/>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472317"/>
            <a:ext cx="1249680" cy="192974"/>
          </a:xfrm>
          <a:prstGeom prst="rect">
            <a:avLst/>
          </a:prstGeom>
          <a:noFill/>
        </p:spPr>
        <p:txBody>
          <a:bodyPr wrap="square" anchor="t" lIns="0" rIns="0" tIns="0" bIns="0">
            <a:spAutoFit/>
          </a:bodyPr>
          <a:lstStyle/>
          <a:p>
            <a:pPr algn="l"/>
            <a:r>
              <a:rPr sz="1100" b="0">
                <a:solidFill>
                  <a:srgbClr val="C7C2EF"/>
                </a:solidFill>
                <a:latin typeface="ITC Avant Garde Gothic"/>
              </a:rPr>
              <a:t>área media (px)</a:t>
            </a:r>
          </a:p>
        </p:txBody>
      </p:sp>
      <p:sp>
        <p:nvSpPr>
          <p:cNvPr id="16" name="Rounded Rectangle 15"/>
          <p:cNvSpPr/>
          <p:nvPr/>
        </p:nvSpPr>
        <p:spPr>
          <a:xfrm>
            <a:off x="2621280" y="3161421"/>
            <a:ext cx="1706880" cy="55873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49880" y="3326013"/>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49880" y="3472317"/>
            <a:ext cx="1249680" cy="192974"/>
          </a:xfrm>
          <a:prstGeom prst="rect">
            <a:avLst/>
          </a:prstGeom>
          <a:noFill/>
        </p:spPr>
        <p:txBody>
          <a:bodyPr wrap="square" anchor="t" lIns="0" rIns="0" tIns="0" bIns="0">
            <a:spAutoFit/>
          </a:bodyPr>
          <a:lstStyle/>
          <a:p>
            <a:pPr algn="l"/>
            <a:r>
              <a:rPr sz="1100" b="0">
                <a:solidFill>
                  <a:srgbClr val="C7C2EF"/>
                </a:solidFill>
                <a:latin typeface="ITC Avant Garde Gothic"/>
              </a:rPr>
              <a:t>624.44</a:t>
            </a:r>
          </a:p>
        </p:txBody>
      </p:sp>
      <p:sp>
        <p:nvSpPr>
          <p:cNvPr id="19" name="Rounded Rectangle 18"/>
          <p:cNvSpPr/>
          <p:nvPr/>
        </p:nvSpPr>
        <p:spPr>
          <a:xfrm>
            <a:off x="4602480" y="3161421"/>
            <a:ext cx="1706880" cy="55873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831080" y="3326013"/>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31080" y="3472317"/>
            <a:ext cx="1249680" cy="192974"/>
          </a:xfrm>
          <a:prstGeom prst="rect">
            <a:avLst/>
          </a:prstGeom>
          <a:noFill/>
        </p:spPr>
        <p:txBody>
          <a:bodyPr wrap="square" anchor="t" lIns="0" rIns="0" tIns="0" bIns="0">
            <a:spAutoFit/>
          </a:bodyPr>
          <a:lstStyle/>
          <a:p>
            <a:pPr algn="l"/>
            <a:r>
              <a:rPr sz="1100" b="0">
                <a:solidFill>
                  <a:srgbClr val="C7C2EF"/>
                </a:solidFill>
                <a:latin typeface="ITC Avant Garde Gothic"/>
              </a:rPr>
              <a:t>desv. estándar</a:t>
            </a:r>
          </a:p>
        </p:txBody>
      </p:sp>
      <p:sp>
        <p:nvSpPr>
          <p:cNvPr id="22" name="Rounded Rectangle 21"/>
          <p:cNvSpPr/>
          <p:nvPr/>
        </p:nvSpPr>
        <p:spPr>
          <a:xfrm>
            <a:off x="640080" y="3994476"/>
            <a:ext cx="1706880" cy="12574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68680" y="415906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4305372"/>
            <a:ext cx="1249680" cy="891720"/>
          </a:xfrm>
          <a:prstGeom prst="rect">
            <a:avLst/>
          </a:prstGeom>
          <a:noFill/>
        </p:spPr>
        <p:txBody>
          <a:bodyPr wrap="square" anchor="t" lIns="0" rIns="0" tIns="0" bIns="0">
            <a:spAutoFit/>
          </a:bodyPr>
          <a:lstStyle/>
          <a:p>
            <a:pPr algn="l"/>
            <a:r>
              <a:rPr sz="1100" b="0">
                <a:solidFill>
                  <a:srgbClr val="C7C2EF"/>
                </a:solidFill>
                <a:latin typeface="ITC Avant Garde Gothic"/>
              </a:rPr>
              <a:t>Largo: media 67.46 px, desviación 28.93 px (de 10.0 a 103.1).</a:t>
            </a:r>
          </a:p>
        </p:txBody>
      </p:sp>
      <p:sp>
        <p:nvSpPr>
          <p:cNvPr id="25" name="Rounded Rectangle 24"/>
          <p:cNvSpPr/>
          <p:nvPr/>
        </p:nvSpPr>
        <p:spPr>
          <a:xfrm>
            <a:off x="2621280" y="3994476"/>
            <a:ext cx="1706880" cy="12574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849880" y="415906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49880" y="4305372"/>
            <a:ext cx="1249680" cy="891720"/>
          </a:xfrm>
          <a:prstGeom prst="rect">
            <a:avLst/>
          </a:prstGeom>
          <a:noFill/>
        </p:spPr>
        <p:txBody>
          <a:bodyPr wrap="square" anchor="t" lIns="0" rIns="0" tIns="0" bIns="0">
            <a:spAutoFit/>
          </a:bodyPr>
          <a:lstStyle/>
          <a:p>
            <a:pPr algn="l"/>
            <a:r>
              <a:rPr sz="1100" b="0">
                <a:solidFill>
                  <a:srgbClr val="C7C2EF"/>
                </a:solidFill>
                <a:latin typeface="ITC Avant Garde Gothic"/>
              </a:rPr>
              <a:t>En micras: área media 0.31 µm², largo medio 1.12 µm.</a:t>
            </a:r>
          </a:p>
        </p:txBody>
      </p:sp>
      <p:sp>
        <p:nvSpPr>
          <p:cNvPr id="28" name="TextBox 27"/>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pic>
        <p:nvPicPr>
          <p:cNvPr id="29" name="Picture 28" descr="foto-marcada.png"/>
          <p:cNvPicPr>
            <a:picLocks noChangeAspect="1"/>
          </p:cNvPicPr>
          <p:nvPr/>
        </p:nvPicPr>
        <p:blipFill>
          <a:blip r:embed="rId2"/>
          <a:stretch>
            <a:fillRect/>
          </a:stretch>
        </p:blipFill>
        <p:spPr>
          <a:xfrm>
            <a:off x="6583680" y="502920"/>
            <a:ext cx="4967935" cy="3806079"/>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Resultados</a:t>
            </a:r>
          </a:p>
        </p:txBody>
      </p:sp>
      <p:sp>
        <p:nvSpPr>
          <p:cNvPr id="3" name="TextBox 2"/>
          <p:cNvSpPr txBox="1"/>
          <p:nvPr/>
        </p:nvSpPr>
        <p:spPr>
          <a:xfrm>
            <a:off x="640080" y="960120"/>
            <a:ext cx="10911535" cy="501243"/>
          </a:xfrm>
          <a:prstGeom prst="rect">
            <a:avLst/>
          </a:prstGeom>
          <a:noFill/>
        </p:spPr>
        <p:txBody>
          <a:bodyPr wrap="square" anchor="t" lIns="0" rIns="0" tIns="0" bIns="0">
            <a:spAutoFit/>
          </a:bodyPr>
          <a:lstStyle/>
          <a:p>
            <a:pPr algn="l"/>
            <a:r>
              <a:rPr sz="3400" b="1">
                <a:solidFill>
                  <a:srgbClr val="C7C2EF"/>
                </a:solidFill>
                <a:latin typeface="ITC Avant Garde Gothic"/>
              </a:rPr>
              <a:t>«Distribución de tamaños»: un histograma</a:t>
            </a:r>
          </a:p>
        </p:txBody>
      </p:sp>
      <p:sp>
        <p:nvSpPr>
          <p:cNvPr id="4" name="Rounded Rectangle 3"/>
          <p:cNvSpPr/>
          <p:nvPr/>
        </p:nvSpPr>
        <p:spPr>
          <a:xfrm>
            <a:off x="640080" y="1827123"/>
            <a:ext cx="3454298" cy="66735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99171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138019"/>
            <a:ext cx="2997098" cy="301599"/>
          </a:xfrm>
          <a:prstGeom prst="rect">
            <a:avLst/>
          </a:prstGeom>
          <a:noFill/>
        </p:spPr>
        <p:txBody>
          <a:bodyPr wrap="square" anchor="t" lIns="0" rIns="0" tIns="0" bIns="0">
            <a:spAutoFit/>
          </a:bodyPr>
          <a:lstStyle/>
          <a:p>
            <a:pPr algn="l"/>
            <a:r>
              <a:rPr sz="1700" b="0">
                <a:solidFill>
                  <a:srgbClr val="C7C2EF"/>
                </a:solidFill>
                <a:latin typeface="ITC Avant Garde Gothic"/>
              </a:rPr>
              <a:t>2.0</a:t>
            </a:r>
          </a:p>
        </p:txBody>
      </p:sp>
      <p:sp>
        <p:nvSpPr>
          <p:cNvPr id="7" name="Rounded Rectangle 6"/>
          <p:cNvSpPr/>
          <p:nvPr/>
        </p:nvSpPr>
        <p:spPr>
          <a:xfrm>
            <a:off x="4368698" y="1827123"/>
            <a:ext cx="3454298" cy="66735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97298" y="199171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7298" y="2138019"/>
            <a:ext cx="2997098" cy="301599"/>
          </a:xfrm>
          <a:prstGeom prst="rect">
            <a:avLst/>
          </a:prstGeom>
          <a:noFill/>
        </p:spPr>
        <p:txBody>
          <a:bodyPr wrap="square" anchor="t" lIns="0" rIns="0" tIns="0" bIns="0">
            <a:spAutoFit/>
          </a:bodyPr>
          <a:lstStyle/>
          <a:p>
            <a:pPr algn="l"/>
            <a:r>
              <a:rPr sz="1700" b="0">
                <a:solidFill>
                  <a:srgbClr val="C7C2EF"/>
                </a:solidFill>
                <a:latin typeface="ITC Avant Garde Gothic"/>
              </a:rPr>
              <a:t>1.0</a:t>
            </a:r>
          </a:p>
        </p:txBody>
      </p:sp>
      <p:sp>
        <p:nvSpPr>
          <p:cNvPr id="10" name="Rounded Rectangle 9"/>
          <p:cNvSpPr/>
          <p:nvPr/>
        </p:nvSpPr>
        <p:spPr>
          <a:xfrm>
            <a:off x="8097316" y="1827123"/>
            <a:ext cx="3454298" cy="66735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25916" y="199171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5916" y="2138019"/>
            <a:ext cx="2997098" cy="301599"/>
          </a:xfrm>
          <a:prstGeom prst="rect">
            <a:avLst/>
          </a:prstGeom>
          <a:noFill/>
        </p:spPr>
        <p:txBody>
          <a:bodyPr wrap="square" anchor="t" lIns="0" rIns="0" tIns="0" bIns="0">
            <a:spAutoFit/>
          </a:bodyPr>
          <a:lstStyle/>
          <a:p>
            <a:pPr algn="l"/>
            <a:r>
              <a:rPr sz="1700" b="0">
                <a:solidFill>
                  <a:srgbClr val="C7C2EF"/>
                </a:solidFill>
                <a:latin typeface="ITC Avant Garde Gothic"/>
              </a:rPr>
              <a:t>0</a:t>
            </a:r>
          </a:p>
        </p:txBody>
      </p:sp>
      <p:sp>
        <p:nvSpPr>
          <p:cNvPr id="13" name="Rounded Rectangle 12"/>
          <p:cNvSpPr/>
          <p:nvPr/>
        </p:nvSpPr>
        <p:spPr>
          <a:xfrm>
            <a:off x="640080" y="2768803"/>
            <a:ext cx="3454298" cy="95067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68680" y="293339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079699"/>
            <a:ext cx="2997098" cy="584911"/>
          </a:xfrm>
          <a:prstGeom prst="rect">
            <a:avLst/>
          </a:prstGeom>
          <a:noFill/>
        </p:spPr>
        <p:txBody>
          <a:bodyPr wrap="square" anchor="t" lIns="0" rIns="0" tIns="0" bIns="0">
            <a:spAutoFit/>
          </a:bodyPr>
          <a:lstStyle/>
          <a:p>
            <a:pPr algn="l"/>
            <a:r>
              <a:rPr sz="1700" b="0">
                <a:solidFill>
                  <a:srgbClr val="C7C2EF"/>
                </a:solidFill>
                <a:latin typeface="ITC Avant Garde Gothic"/>
              </a:rPr>
              <a:t>Área del espermatozoide (px), en intervalos</a:t>
            </a:r>
          </a:p>
        </p:txBody>
      </p:sp>
      <p:sp>
        <p:nvSpPr>
          <p:cNvPr id="16" name="Rounded Rectangle 15"/>
          <p:cNvSpPr/>
          <p:nvPr/>
        </p:nvSpPr>
        <p:spPr>
          <a:xfrm>
            <a:off x="4368698" y="2768803"/>
            <a:ext cx="3454298" cy="95067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97298" y="293339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97298" y="3079699"/>
            <a:ext cx="2997098" cy="584911"/>
          </a:xfrm>
          <a:prstGeom prst="rect">
            <a:avLst/>
          </a:prstGeom>
          <a:noFill/>
        </p:spPr>
        <p:txBody>
          <a:bodyPr wrap="square" anchor="t" lIns="0" rIns="0" tIns="0" bIns="0">
            <a:spAutoFit/>
          </a:bodyPr>
          <a:lstStyle/>
          <a:p>
            <a:pPr algn="l"/>
            <a:r>
              <a:rPr sz="1700" b="0">
                <a:solidFill>
                  <a:srgbClr val="C7C2EF"/>
                </a:solidFill>
                <a:latin typeface="ITC Avant Garde Gothic"/>
              </a:rPr>
              <a:t>Eje horizontal: área en píxeles</a:t>
            </a:r>
          </a:p>
        </p:txBody>
      </p:sp>
      <p:sp>
        <p:nvSpPr>
          <p:cNvPr id="19" name="Rounded Rectangle 18"/>
          <p:cNvSpPr/>
          <p:nvPr/>
        </p:nvSpPr>
        <p:spPr>
          <a:xfrm>
            <a:off x="8097316" y="2768803"/>
            <a:ext cx="3454298" cy="95067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25916" y="293339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5916" y="3079699"/>
            <a:ext cx="2997098" cy="584911"/>
          </a:xfrm>
          <a:prstGeom prst="rect">
            <a:avLst/>
          </a:prstGeom>
          <a:noFill/>
        </p:spPr>
        <p:txBody>
          <a:bodyPr wrap="square" anchor="t" lIns="0" rIns="0" tIns="0" bIns="0">
            <a:spAutoFit/>
          </a:bodyPr>
          <a:lstStyle/>
          <a:p>
            <a:pPr algn="l"/>
            <a:r>
              <a:rPr sz="1700" b="0">
                <a:solidFill>
                  <a:srgbClr val="C7C2EF"/>
                </a:solidFill>
                <a:latin typeface="ITC Avant Garde Gothic"/>
              </a:rPr>
              <a:t>Eje vertical: cuántas células por intervalo</a:t>
            </a:r>
          </a:p>
        </p:txBody>
      </p:sp>
      <p:sp>
        <p:nvSpPr>
          <p:cNvPr id="22" name="TextBox 21"/>
          <p:cNvSpPr txBox="1"/>
          <p:nvPr/>
        </p:nvSpPr>
        <p:spPr>
          <a:xfrm>
            <a:off x="640080" y="3902354"/>
            <a:ext cx="10911535" cy="580095"/>
          </a:xfrm>
          <a:prstGeom prst="rect">
            <a:avLst/>
          </a:prstGeom>
          <a:noFill/>
        </p:spPr>
        <p:txBody>
          <a:bodyPr wrap="square" anchor="t" lIns="0" rIns="0" tIns="0" bIns="0">
            <a:spAutoFit/>
          </a:bodyPr>
          <a:lstStyle/>
          <a:p>
            <a:pPr algn="l"/>
            <a:r>
              <a:rPr sz="1900" b="0">
                <a:solidFill>
                  <a:srgbClr val="C7C2EF"/>
                </a:solidFill>
                <a:latin typeface="ITC Avant Garde Gothic"/>
              </a:rPr>
              <a:t>El mínimo y el máximo del eje salen de cada imagen. No se supone ninguna forma: se dibuja lo que se midió.</a:t>
            </a:r>
          </a:p>
        </p:txBody>
      </p:sp>
      <p:sp>
        <p:nvSpPr>
          <p:cNvPr id="23" name="TextBox 22"/>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5669280" cy="320040"/>
          </a:xfrm>
          <a:prstGeom prst="rect">
            <a:avLst/>
          </a:prstGeom>
          <a:noFill/>
        </p:spPr>
        <p:txBody>
          <a:bodyPr wrap="square" anchor="t" lIns="0" rIns="0" tIns="0" bIns="0">
            <a:spAutoFit/>
          </a:bodyPr>
          <a:lstStyle/>
          <a:p>
            <a:pPr algn="l"/>
            <a:r>
              <a:rPr sz="1600" b="0">
                <a:solidFill>
                  <a:srgbClr val="FF983D"/>
                </a:solidFill>
                <a:latin typeface="Retropix"/>
              </a:rPr>
              <a:t>Explorar la imagen</a:t>
            </a:r>
          </a:p>
        </p:txBody>
      </p:sp>
      <p:sp>
        <p:nvSpPr>
          <p:cNvPr id="3" name="TextBox 2"/>
          <p:cNvSpPr txBox="1"/>
          <p:nvPr/>
        </p:nvSpPr>
        <p:spPr>
          <a:xfrm>
            <a:off x="640080" y="960120"/>
            <a:ext cx="5669280" cy="899667"/>
          </a:xfrm>
          <a:prstGeom prst="rect">
            <a:avLst/>
          </a:prstGeom>
          <a:noFill/>
        </p:spPr>
        <p:txBody>
          <a:bodyPr wrap="square" anchor="t" lIns="0" rIns="0" tIns="0" bIns="0">
            <a:spAutoFit/>
          </a:bodyPr>
          <a:lstStyle/>
          <a:p>
            <a:pPr algn="l"/>
            <a:r>
              <a:rPr sz="3100" b="1">
                <a:solidFill>
                  <a:srgbClr val="C7C2EF"/>
                </a:solidFill>
                <a:latin typeface="ITC Avant Garde Gothic"/>
              </a:rPr>
              <a:t>Un visor con zoom para revisar cada contorno</a:t>
            </a:r>
          </a:p>
        </p:txBody>
      </p:sp>
      <p:sp>
        <p:nvSpPr>
          <p:cNvPr id="4" name="Rounded Rectangle 3"/>
          <p:cNvSpPr/>
          <p:nvPr/>
        </p:nvSpPr>
        <p:spPr>
          <a:xfrm>
            <a:off x="640080" y="2225548"/>
            <a:ext cx="1706880" cy="62377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39014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536443"/>
            <a:ext cx="1249680" cy="258013"/>
          </a:xfrm>
          <a:prstGeom prst="rect">
            <a:avLst/>
          </a:prstGeom>
          <a:noFill/>
        </p:spPr>
        <p:txBody>
          <a:bodyPr wrap="square" anchor="t" lIns="0" rIns="0" tIns="0" bIns="0">
            <a:spAutoFit/>
          </a:bodyPr>
          <a:lstStyle/>
          <a:p>
            <a:pPr algn="l"/>
            <a:r>
              <a:rPr sz="1500" b="0">
                <a:solidFill>
                  <a:srgbClr val="C7C2EF"/>
                </a:solidFill>
                <a:latin typeface="ITC Avant Garde Gothic"/>
              </a:rPr>
              <a:t>−</a:t>
            </a:r>
          </a:p>
        </p:txBody>
      </p:sp>
      <p:sp>
        <p:nvSpPr>
          <p:cNvPr id="7" name="Rounded Rectangle 6"/>
          <p:cNvSpPr/>
          <p:nvPr/>
        </p:nvSpPr>
        <p:spPr>
          <a:xfrm>
            <a:off x="2621280" y="2225548"/>
            <a:ext cx="1706880" cy="62377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49880" y="239014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49880" y="2536443"/>
            <a:ext cx="1249680" cy="258013"/>
          </a:xfrm>
          <a:prstGeom prst="rect">
            <a:avLst/>
          </a:prstGeom>
          <a:noFill/>
        </p:spPr>
        <p:txBody>
          <a:bodyPr wrap="square" anchor="t" lIns="0" rIns="0" tIns="0" bIns="0">
            <a:spAutoFit/>
          </a:bodyPr>
          <a:lstStyle/>
          <a:p>
            <a:pPr algn="l"/>
            <a:r>
              <a:rPr sz="1500" b="0">
                <a:solidFill>
                  <a:srgbClr val="C7C2EF"/>
                </a:solidFill>
                <a:latin typeface="ITC Avant Garde Gothic"/>
              </a:rPr>
              <a:t>+</a:t>
            </a:r>
          </a:p>
        </p:txBody>
      </p:sp>
      <p:sp>
        <p:nvSpPr>
          <p:cNvPr id="10" name="Rounded Rectangle 9"/>
          <p:cNvSpPr/>
          <p:nvPr/>
        </p:nvSpPr>
        <p:spPr>
          <a:xfrm>
            <a:off x="4602480" y="2225548"/>
            <a:ext cx="1706880" cy="62377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31080" y="239014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31080" y="2536443"/>
            <a:ext cx="1249680" cy="258013"/>
          </a:xfrm>
          <a:prstGeom prst="rect">
            <a:avLst/>
          </a:prstGeom>
          <a:noFill/>
        </p:spPr>
        <p:txBody>
          <a:bodyPr wrap="square" anchor="t" lIns="0" rIns="0" tIns="0" bIns="0">
            <a:spAutoFit/>
          </a:bodyPr>
          <a:lstStyle/>
          <a:p>
            <a:pPr algn="l"/>
            <a:r>
              <a:rPr sz="1500" b="0">
                <a:solidFill>
                  <a:srgbClr val="C7C2EF"/>
                </a:solidFill>
                <a:latin typeface="ITC Avant Garde Gothic"/>
              </a:rPr>
              <a:t>Ajustar</a:t>
            </a:r>
          </a:p>
        </p:txBody>
      </p:sp>
      <p:sp>
        <p:nvSpPr>
          <p:cNvPr id="13" name="Rounded Rectangle 12"/>
          <p:cNvSpPr/>
          <p:nvPr/>
        </p:nvSpPr>
        <p:spPr>
          <a:xfrm>
            <a:off x="640080" y="3123641"/>
            <a:ext cx="1706880" cy="13429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68680" y="3288233"/>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434537"/>
            <a:ext cx="1249680" cy="977188"/>
          </a:xfrm>
          <a:prstGeom prst="rect">
            <a:avLst/>
          </a:prstGeom>
          <a:noFill/>
        </p:spPr>
        <p:txBody>
          <a:bodyPr wrap="square" anchor="t" lIns="0" rIns="0" tIns="0" bIns="0">
            <a:spAutoFit/>
          </a:bodyPr>
          <a:lstStyle/>
          <a:p>
            <a:pPr algn="l"/>
            <a:r>
              <a:rPr sz="1500" b="0">
                <a:solidFill>
                  <a:srgbClr val="C7C2EF"/>
                </a:solidFill>
                <a:latin typeface="ITC Avant Garde Gothic"/>
              </a:rPr>
              <a:t>100 %</a:t>
            </a:r>
          </a:p>
        </p:txBody>
      </p:sp>
      <p:sp>
        <p:nvSpPr>
          <p:cNvPr id="16" name="Rounded Rectangle 15"/>
          <p:cNvSpPr/>
          <p:nvPr/>
        </p:nvSpPr>
        <p:spPr>
          <a:xfrm>
            <a:off x="2621280" y="3123641"/>
            <a:ext cx="1706880" cy="13429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49880" y="3288233"/>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49880" y="3434537"/>
            <a:ext cx="1249680" cy="977188"/>
          </a:xfrm>
          <a:prstGeom prst="rect">
            <a:avLst/>
          </a:prstGeom>
          <a:noFill/>
        </p:spPr>
        <p:txBody>
          <a:bodyPr wrap="square" anchor="t" lIns="0" rIns="0" tIns="0" bIns="0">
            <a:spAutoFit/>
          </a:bodyPr>
          <a:lstStyle/>
          <a:p>
            <a:pPr algn="l"/>
            <a:r>
              <a:rPr sz="1500" b="0">
                <a:solidFill>
                  <a:srgbClr val="C7C2EF"/>
                </a:solidFill>
                <a:latin typeface="ITC Avant Garde Gothic"/>
              </a:rPr>
              <a:t>Rueda del ratón, arrastre y doble clic.</a:t>
            </a:r>
          </a:p>
        </p:txBody>
      </p:sp>
      <p:sp>
        <p:nvSpPr>
          <p:cNvPr id="19" name="TextBox 18"/>
          <p:cNvSpPr txBox="1"/>
          <p:nvPr/>
        </p:nvSpPr>
        <p:spPr>
          <a:xfrm>
            <a:off x="640080" y="4649470"/>
            <a:ext cx="5669280" cy="490849"/>
          </a:xfrm>
          <a:prstGeom prst="rect">
            <a:avLst/>
          </a:prstGeom>
          <a:noFill/>
        </p:spPr>
        <p:txBody>
          <a:bodyPr wrap="square" anchor="t" lIns="0" rIns="0" tIns="0" bIns="0">
            <a:spAutoFit/>
          </a:bodyPr>
          <a:lstStyle/>
          <a:p>
            <a:pPr algn="l"/>
            <a:r>
              <a:rPr sz="1600" b="0">
                <a:solidFill>
                  <a:srgbClr val="C7C2EF"/>
                </a:solidFill>
                <a:latin typeface="ITC Avant Garde Gothic"/>
              </a:rPr>
              <a:t>¿El contorno es un espermatozoide? ¿Dos células quedaron separadas? ¿Una quedó partida?</a:t>
            </a:r>
          </a:p>
        </p:txBody>
      </p:sp>
      <p:sp>
        <p:nvSpPr>
          <p:cNvPr id="20" name="TextBox 19"/>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pic>
        <p:nvPicPr>
          <p:cNvPr id="21" name="Picture 20" descr="foto-marcada.png"/>
          <p:cNvPicPr>
            <a:picLocks noChangeAspect="1"/>
          </p:cNvPicPr>
          <p:nvPr/>
        </p:nvPicPr>
        <p:blipFill>
          <a:blip r:embed="rId2"/>
          <a:stretch>
            <a:fillRect/>
          </a:stretch>
        </p:blipFill>
        <p:spPr>
          <a:xfrm>
            <a:off x="6583680" y="502920"/>
            <a:ext cx="3640274" cy="2788920"/>
          </a:xfrm>
          <a:prstGeom prst="rect">
            <a:avLst/>
          </a:prstGeom>
        </p:spPr>
      </p:pic>
      <p:pic>
        <p:nvPicPr>
          <p:cNvPr id="22" name="Picture 21" descr="zoom-marcada.png"/>
          <p:cNvPicPr>
            <a:picLocks noChangeAspect="1"/>
          </p:cNvPicPr>
          <p:nvPr/>
        </p:nvPicPr>
        <p:blipFill>
          <a:blip r:embed="rId3"/>
          <a:stretch>
            <a:fillRect/>
          </a:stretch>
        </p:blipFill>
        <p:spPr>
          <a:xfrm>
            <a:off x="6583680" y="3566160"/>
            <a:ext cx="4967935" cy="2235571"/>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5669280" cy="320040"/>
          </a:xfrm>
          <a:prstGeom prst="rect">
            <a:avLst/>
          </a:prstGeom>
          <a:noFill/>
        </p:spPr>
        <p:txBody>
          <a:bodyPr wrap="square" anchor="t" lIns="0" rIns="0" tIns="0" bIns="0">
            <a:spAutoFit/>
          </a:bodyPr>
          <a:lstStyle/>
          <a:p>
            <a:pPr algn="l"/>
            <a:r>
              <a:rPr sz="1600" b="0">
                <a:solidFill>
                  <a:srgbClr val="FF983D"/>
                </a:solidFill>
                <a:latin typeface="Retropix"/>
              </a:rPr>
              <a:t>Explorar la imagen</a:t>
            </a:r>
          </a:p>
        </p:txBody>
      </p:sp>
      <p:sp>
        <p:nvSpPr>
          <p:cNvPr id="3" name="TextBox 2"/>
          <p:cNvSpPr txBox="1"/>
          <p:nvPr/>
        </p:nvSpPr>
        <p:spPr>
          <a:xfrm>
            <a:off x="640080" y="960120"/>
            <a:ext cx="5669280" cy="1503730"/>
          </a:xfrm>
          <a:prstGeom prst="rect">
            <a:avLst/>
          </a:prstGeom>
          <a:noFill/>
        </p:spPr>
        <p:txBody>
          <a:bodyPr wrap="square" anchor="t" lIns="0" rIns="0" tIns="0" bIns="0">
            <a:spAutoFit/>
          </a:bodyPr>
          <a:lstStyle/>
          <a:p>
            <a:pPr algn="l"/>
            <a:r>
              <a:rPr sz="3400" b="1">
                <a:solidFill>
                  <a:srgbClr val="C7C2EF"/>
                </a:solidFill>
                <a:latin typeface="ITC Avant Garde Gothic"/>
              </a:rPr>
              <a:t>Al pasar el cursor, el detalle de cada espermatozoide</a:t>
            </a:r>
          </a:p>
        </p:txBody>
      </p:sp>
      <p:sp>
        <p:nvSpPr>
          <p:cNvPr id="4" name="Rounded Rectangle 3"/>
          <p:cNvSpPr/>
          <p:nvPr/>
        </p:nvSpPr>
        <p:spPr>
          <a:xfrm>
            <a:off x="640080" y="2829610"/>
            <a:ext cx="2697480" cy="95067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99420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3140506"/>
            <a:ext cx="2240280" cy="584911"/>
          </a:xfrm>
          <a:prstGeom prst="rect">
            <a:avLst/>
          </a:prstGeom>
          <a:noFill/>
        </p:spPr>
        <p:txBody>
          <a:bodyPr wrap="square" anchor="t" lIns="0" rIns="0" tIns="0" bIns="0">
            <a:spAutoFit/>
          </a:bodyPr>
          <a:lstStyle/>
          <a:p>
            <a:pPr algn="l"/>
            <a:r>
              <a:rPr sz="1700" b="0">
                <a:solidFill>
                  <a:srgbClr val="C7C2EF"/>
                </a:solidFill>
                <a:latin typeface="ITC Avant Garde Gothic"/>
              </a:rPr>
              <a:t>N.º 7</a:t>
            </a:r>
          </a:p>
        </p:txBody>
      </p:sp>
      <p:sp>
        <p:nvSpPr>
          <p:cNvPr id="7" name="Rounded Rectangle 6"/>
          <p:cNvSpPr/>
          <p:nvPr/>
        </p:nvSpPr>
        <p:spPr>
          <a:xfrm>
            <a:off x="3611880" y="2829610"/>
            <a:ext cx="2697480" cy="95067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840480" y="299420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0" y="3140506"/>
            <a:ext cx="2240280" cy="584911"/>
          </a:xfrm>
          <a:prstGeom prst="rect">
            <a:avLst/>
          </a:prstGeom>
          <a:noFill/>
        </p:spPr>
        <p:txBody>
          <a:bodyPr wrap="square" anchor="t" lIns="0" rIns="0" tIns="0" bIns="0">
            <a:spAutoFit/>
          </a:bodyPr>
          <a:lstStyle/>
          <a:p>
            <a:pPr algn="l"/>
            <a:r>
              <a:rPr sz="1700" b="0">
                <a:solidFill>
                  <a:srgbClr val="C7C2EF"/>
                </a:solidFill>
                <a:latin typeface="ITC Avant Garde Gothic"/>
              </a:rPr>
              <a:t>Área: 1883 px · 0.52 µm²</a:t>
            </a:r>
          </a:p>
        </p:txBody>
      </p:sp>
      <p:sp>
        <p:nvSpPr>
          <p:cNvPr id="10" name="Rounded Rectangle 9"/>
          <p:cNvSpPr/>
          <p:nvPr/>
        </p:nvSpPr>
        <p:spPr>
          <a:xfrm>
            <a:off x="640080" y="4054602"/>
            <a:ext cx="2697480" cy="95067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421919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365498"/>
            <a:ext cx="2240280" cy="584911"/>
          </a:xfrm>
          <a:prstGeom prst="rect">
            <a:avLst/>
          </a:prstGeom>
          <a:noFill/>
        </p:spPr>
        <p:txBody>
          <a:bodyPr wrap="square" anchor="t" lIns="0" rIns="0" tIns="0" bIns="0">
            <a:spAutoFit/>
          </a:bodyPr>
          <a:lstStyle/>
          <a:p>
            <a:pPr algn="l"/>
            <a:r>
              <a:rPr sz="1700" b="0">
                <a:solidFill>
                  <a:srgbClr val="C7C2EF"/>
                </a:solidFill>
                <a:latin typeface="ITC Avant Garde Gothic"/>
              </a:rPr>
              <a:t>Largo: 103.1 px · 1.72 µm</a:t>
            </a:r>
          </a:p>
        </p:txBody>
      </p:sp>
      <p:sp>
        <p:nvSpPr>
          <p:cNvPr id="13" name="TextBox 12"/>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pic>
        <p:nvPicPr>
          <p:cNvPr id="14" name="Picture 13" descr="zoom-marcada.png"/>
          <p:cNvPicPr>
            <a:picLocks noChangeAspect="1"/>
          </p:cNvPicPr>
          <p:nvPr/>
        </p:nvPicPr>
        <p:blipFill>
          <a:blip r:embed="rId2"/>
          <a:stretch>
            <a:fillRect/>
          </a:stretch>
        </p:blipFill>
        <p:spPr>
          <a:xfrm>
            <a:off x="6583680" y="502920"/>
            <a:ext cx="4967935" cy="2235571"/>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Un ejemplo de lectura</a:t>
            </a:r>
          </a:p>
        </p:txBody>
      </p:sp>
      <p:sp>
        <p:nvSpPr>
          <p:cNvPr id="3" name="TextBox 2"/>
          <p:cNvSpPr txBox="1"/>
          <p:nvPr/>
        </p:nvSpPr>
        <p:spPr>
          <a:xfrm>
            <a:off x="640080" y="960120"/>
            <a:ext cx="10911535" cy="899667"/>
          </a:xfrm>
          <a:prstGeom prst="rect">
            <a:avLst/>
          </a:prstGeom>
          <a:noFill/>
        </p:spPr>
        <p:txBody>
          <a:bodyPr wrap="square" anchor="t" lIns="0" rIns="0" tIns="0" bIns="0">
            <a:spAutoFit/>
          </a:bodyPr>
          <a:lstStyle/>
          <a:p>
            <a:pPr algn="l"/>
            <a:r>
              <a:rPr sz="3100" b="1">
                <a:solidFill>
                  <a:srgbClr val="C7C2EF"/>
                </a:solidFill>
                <a:latin typeface="ITC Avant Garde Gothic"/>
              </a:rPr>
              <a:t>Dos fotografías del mismo tipo (valores inventados)</a:t>
            </a:r>
          </a:p>
        </p:txBody>
      </p:sp>
      <p:sp>
        <p:nvSpPr>
          <p:cNvPr id="4" name="Rounded Rectangle 3"/>
          <p:cNvSpPr/>
          <p:nvPr/>
        </p:nvSpPr>
        <p:spPr>
          <a:xfrm>
            <a:off x="640080" y="2225548"/>
            <a:ext cx="1589989"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39014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536443"/>
            <a:ext cx="1132789" cy="199897"/>
          </a:xfrm>
          <a:prstGeom prst="rect">
            <a:avLst/>
          </a:prstGeom>
          <a:noFill/>
        </p:spPr>
        <p:txBody>
          <a:bodyPr wrap="square" anchor="t" lIns="0" rIns="0" tIns="0" bIns="0">
            <a:spAutoFit/>
          </a:bodyPr>
          <a:lstStyle/>
          <a:p>
            <a:pPr algn="l"/>
            <a:r>
              <a:rPr sz="1100" b="0">
                <a:solidFill>
                  <a:srgbClr val="C7C2EF"/>
                </a:solidFill>
                <a:latin typeface="ITC Avant Garde Gothic"/>
              </a:rPr>
              <a:t>Fotografía</a:t>
            </a:r>
          </a:p>
        </p:txBody>
      </p:sp>
      <p:sp>
        <p:nvSpPr>
          <p:cNvPr id="7" name="Rounded Rectangle 6"/>
          <p:cNvSpPr/>
          <p:nvPr/>
        </p:nvSpPr>
        <p:spPr>
          <a:xfrm>
            <a:off x="2504389" y="2225548"/>
            <a:ext cx="1589989"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32989" y="239014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32989" y="2536443"/>
            <a:ext cx="1132789" cy="199897"/>
          </a:xfrm>
          <a:prstGeom prst="rect">
            <a:avLst/>
          </a:prstGeom>
          <a:noFill/>
        </p:spPr>
        <p:txBody>
          <a:bodyPr wrap="square" anchor="t" lIns="0" rIns="0" tIns="0" bIns="0">
            <a:spAutoFit/>
          </a:bodyPr>
          <a:lstStyle/>
          <a:p>
            <a:pPr algn="l"/>
            <a:r>
              <a:rPr sz="1100" b="0">
                <a:solidFill>
                  <a:srgbClr val="C7C2EF"/>
                </a:solidFill>
                <a:latin typeface="ITC Avant Garde Gothic"/>
              </a:rPr>
              <a:t>Células</a:t>
            </a:r>
          </a:p>
        </p:txBody>
      </p:sp>
      <p:sp>
        <p:nvSpPr>
          <p:cNvPr id="10" name="Rounded Rectangle 9"/>
          <p:cNvSpPr/>
          <p:nvPr/>
        </p:nvSpPr>
        <p:spPr>
          <a:xfrm>
            <a:off x="4368698" y="2225548"/>
            <a:ext cx="1589989"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97298" y="239014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2536443"/>
            <a:ext cx="1132789" cy="199897"/>
          </a:xfrm>
          <a:prstGeom prst="rect">
            <a:avLst/>
          </a:prstGeom>
          <a:noFill/>
        </p:spPr>
        <p:txBody>
          <a:bodyPr wrap="square" anchor="t" lIns="0" rIns="0" tIns="0" bIns="0">
            <a:spAutoFit/>
          </a:bodyPr>
          <a:lstStyle/>
          <a:p>
            <a:pPr algn="l"/>
            <a:r>
              <a:rPr sz="1100" b="0">
                <a:solidFill>
                  <a:srgbClr val="C7C2EF"/>
                </a:solidFill>
                <a:latin typeface="ITC Avant Garde Gothic"/>
              </a:rPr>
              <a:t>Área media</a:t>
            </a:r>
          </a:p>
        </p:txBody>
      </p:sp>
      <p:sp>
        <p:nvSpPr>
          <p:cNvPr id="13" name="Rounded Rectangle 12"/>
          <p:cNvSpPr/>
          <p:nvPr/>
        </p:nvSpPr>
        <p:spPr>
          <a:xfrm>
            <a:off x="6233007" y="2225548"/>
            <a:ext cx="1589989"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61607" y="239014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1607" y="2536443"/>
            <a:ext cx="1132789" cy="199897"/>
          </a:xfrm>
          <a:prstGeom prst="rect">
            <a:avLst/>
          </a:prstGeom>
          <a:noFill/>
        </p:spPr>
        <p:txBody>
          <a:bodyPr wrap="square" anchor="t" lIns="0" rIns="0" tIns="0" bIns="0">
            <a:spAutoFit/>
          </a:bodyPr>
          <a:lstStyle/>
          <a:p>
            <a:pPr algn="l"/>
            <a:r>
              <a:rPr sz="1100" b="0">
                <a:solidFill>
                  <a:srgbClr val="C7C2EF"/>
                </a:solidFill>
                <a:latin typeface="ITC Avant Garde Gothic"/>
              </a:rPr>
              <a:t>Desv. est.</a:t>
            </a:r>
          </a:p>
        </p:txBody>
      </p:sp>
      <p:sp>
        <p:nvSpPr>
          <p:cNvPr id="16" name="Rounded Rectangle 15"/>
          <p:cNvSpPr/>
          <p:nvPr/>
        </p:nvSpPr>
        <p:spPr>
          <a:xfrm>
            <a:off x="8097316" y="2225548"/>
            <a:ext cx="1589989"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5916" y="239014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5916" y="2536443"/>
            <a:ext cx="1132789" cy="199897"/>
          </a:xfrm>
          <a:prstGeom prst="rect">
            <a:avLst/>
          </a:prstGeom>
          <a:noFill/>
        </p:spPr>
        <p:txBody>
          <a:bodyPr wrap="square" anchor="t" lIns="0" rIns="0" tIns="0" bIns="0">
            <a:spAutoFit/>
          </a:bodyPr>
          <a:lstStyle/>
          <a:p>
            <a:pPr algn="l"/>
            <a:r>
              <a:rPr sz="1100" b="0">
                <a:solidFill>
                  <a:srgbClr val="C7C2EF"/>
                </a:solidFill>
                <a:latin typeface="ITC Avant Garde Gothic"/>
              </a:rPr>
              <a:t>Primera</a:t>
            </a:r>
          </a:p>
        </p:txBody>
      </p:sp>
      <p:sp>
        <p:nvSpPr>
          <p:cNvPr id="19" name="Rounded Rectangle 18"/>
          <p:cNvSpPr/>
          <p:nvPr/>
        </p:nvSpPr>
        <p:spPr>
          <a:xfrm>
            <a:off x="9961625" y="2225548"/>
            <a:ext cx="1589989"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190225" y="239014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190225" y="2536443"/>
            <a:ext cx="1132789" cy="199897"/>
          </a:xfrm>
          <a:prstGeom prst="rect">
            <a:avLst/>
          </a:prstGeom>
          <a:noFill/>
        </p:spPr>
        <p:txBody>
          <a:bodyPr wrap="square" anchor="t" lIns="0" rIns="0" tIns="0" bIns="0">
            <a:spAutoFit/>
          </a:bodyPr>
          <a:lstStyle/>
          <a:p>
            <a:pPr algn="l"/>
            <a:r>
              <a:rPr sz="1100" b="0">
                <a:solidFill>
                  <a:srgbClr val="C7C2EF"/>
                </a:solidFill>
                <a:latin typeface="ITC Avant Garde Gothic"/>
              </a:rPr>
              <a:t>120</a:t>
            </a:r>
          </a:p>
        </p:txBody>
      </p:sp>
      <p:sp>
        <p:nvSpPr>
          <p:cNvPr id="22" name="Rounded Rectangle 21"/>
          <p:cNvSpPr/>
          <p:nvPr/>
        </p:nvSpPr>
        <p:spPr>
          <a:xfrm>
            <a:off x="640080" y="3065526"/>
            <a:ext cx="1589989"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68680" y="323011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3376422"/>
            <a:ext cx="1132789" cy="199897"/>
          </a:xfrm>
          <a:prstGeom prst="rect">
            <a:avLst/>
          </a:prstGeom>
          <a:noFill/>
        </p:spPr>
        <p:txBody>
          <a:bodyPr wrap="square" anchor="t" lIns="0" rIns="0" tIns="0" bIns="0">
            <a:spAutoFit/>
          </a:bodyPr>
          <a:lstStyle/>
          <a:p>
            <a:pPr algn="l"/>
            <a:r>
              <a:rPr sz="1100" b="0">
                <a:solidFill>
                  <a:srgbClr val="C7C2EF"/>
                </a:solidFill>
                <a:latin typeface="ITC Avant Garde Gothic"/>
              </a:rPr>
              <a:t>900</a:t>
            </a:r>
          </a:p>
        </p:txBody>
      </p:sp>
      <p:sp>
        <p:nvSpPr>
          <p:cNvPr id="25" name="Rounded Rectangle 24"/>
          <p:cNvSpPr/>
          <p:nvPr/>
        </p:nvSpPr>
        <p:spPr>
          <a:xfrm>
            <a:off x="2504389" y="3065526"/>
            <a:ext cx="1589989"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732989" y="323011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32989" y="3376422"/>
            <a:ext cx="1132789" cy="199897"/>
          </a:xfrm>
          <a:prstGeom prst="rect">
            <a:avLst/>
          </a:prstGeom>
          <a:noFill/>
        </p:spPr>
        <p:txBody>
          <a:bodyPr wrap="square" anchor="t" lIns="0" rIns="0" tIns="0" bIns="0">
            <a:spAutoFit/>
          </a:bodyPr>
          <a:lstStyle/>
          <a:p>
            <a:pPr algn="l"/>
            <a:r>
              <a:rPr sz="1100" b="0">
                <a:solidFill>
                  <a:srgbClr val="C7C2EF"/>
                </a:solidFill>
                <a:latin typeface="ITC Avant Garde Gothic"/>
              </a:rPr>
              <a:t>150</a:t>
            </a:r>
          </a:p>
        </p:txBody>
      </p:sp>
      <p:sp>
        <p:nvSpPr>
          <p:cNvPr id="28" name="Rounded Rectangle 27"/>
          <p:cNvSpPr/>
          <p:nvPr/>
        </p:nvSpPr>
        <p:spPr>
          <a:xfrm>
            <a:off x="4368698" y="3065526"/>
            <a:ext cx="1589989"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97298" y="323011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97298" y="3376422"/>
            <a:ext cx="1132789" cy="199897"/>
          </a:xfrm>
          <a:prstGeom prst="rect">
            <a:avLst/>
          </a:prstGeom>
          <a:noFill/>
        </p:spPr>
        <p:txBody>
          <a:bodyPr wrap="square" anchor="t" lIns="0" rIns="0" tIns="0" bIns="0">
            <a:spAutoFit/>
          </a:bodyPr>
          <a:lstStyle/>
          <a:p>
            <a:pPr algn="l"/>
            <a:r>
              <a:rPr sz="1100" b="0">
                <a:solidFill>
                  <a:srgbClr val="C7C2EF"/>
                </a:solidFill>
                <a:latin typeface="ITC Avant Garde Gothic"/>
              </a:rPr>
              <a:t>Segunda</a:t>
            </a:r>
          </a:p>
        </p:txBody>
      </p:sp>
      <p:sp>
        <p:nvSpPr>
          <p:cNvPr id="31" name="Rounded Rectangle 30"/>
          <p:cNvSpPr/>
          <p:nvPr/>
        </p:nvSpPr>
        <p:spPr>
          <a:xfrm>
            <a:off x="6233007" y="3065526"/>
            <a:ext cx="1589989"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61607" y="323011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61607" y="3376422"/>
            <a:ext cx="1132789" cy="199897"/>
          </a:xfrm>
          <a:prstGeom prst="rect">
            <a:avLst/>
          </a:prstGeom>
          <a:noFill/>
        </p:spPr>
        <p:txBody>
          <a:bodyPr wrap="square" anchor="t" lIns="0" rIns="0" tIns="0" bIns="0">
            <a:spAutoFit/>
          </a:bodyPr>
          <a:lstStyle/>
          <a:p>
            <a:pPr algn="l"/>
            <a:r>
              <a:rPr sz="1100" b="0">
                <a:solidFill>
                  <a:srgbClr val="C7C2EF"/>
                </a:solidFill>
                <a:latin typeface="ITC Avant Garde Gothic"/>
              </a:rPr>
              <a:t>80</a:t>
            </a:r>
          </a:p>
        </p:txBody>
      </p:sp>
      <p:sp>
        <p:nvSpPr>
          <p:cNvPr id="34" name="Rounded Rectangle 33"/>
          <p:cNvSpPr/>
          <p:nvPr/>
        </p:nvSpPr>
        <p:spPr>
          <a:xfrm>
            <a:off x="8097316" y="3065526"/>
            <a:ext cx="1589989"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25916" y="323011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25916" y="3376422"/>
            <a:ext cx="1132789" cy="199897"/>
          </a:xfrm>
          <a:prstGeom prst="rect">
            <a:avLst/>
          </a:prstGeom>
          <a:noFill/>
        </p:spPr>
        <p:txBody>
          <a:bodyPr wrap="square" anchor="t" lIns="0" rIns="0" tIns="0" bIns="0">
            <a:spAutoFit/>
          </a:bodyPr>
          <a:lstStyle/>
          <a:p>
            <a:pPr algn="l"/>
            <a:r>
              <a:rPr sz="1100" b="0">
                <a:solidFill>
                  <a:srgbClr val="C7C2EF"/>
                </a:solidFill>
                <a:latin typeface="ITC Avant Garde Gothic"/>
              </a:rPr>
              <a:t>1100</a:t>
            </a:r>
          </a:p>
        </p:txBody>
      </p:sp>
      <p:sp>
        <p:nvSpPr>
          <p:cNvPr id="37" name="Rounded Rectangle 36"/>
          <p:cNvSpPr/>
          <p:nvPr/>
        </p:nvSpPr>
        <p:spPr>
          <a:xfrm>
            <a:off x="9961625" y="3065526"/>
            <a:ext cx="1589989"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90225" y="323011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190225" y="3376422"/>
            <a:ext cx="1132789" cy="199897"/>
          </a:xfrm>
          <a:prstGeom prst="rect">
            <a:avLst/>
          </a:prstGeom>
          <a:noFill/>
        </p:spPr>
        <p:txBody>
          <a:bodyPr wrap="square" anchor="t" lIns="0" rIns="0" tIns="0" bIns="0">
            <a:spAutoFit/>
          </a:bodyPr>
          <a:lstStyle/>
          <a:p>
            <a:pPr algn="l"/>
            <a:r>
              <a:rPr sz="1100" b="0">
                <a:solidFill>
                  <a:srgbClr val="C7C2EF"/>
                </a:solidFill>
                <a:latin typeface="ITC Avant Garde Gothic"/>
              </a:rPr>
              <a:t>250</a:t>
            </a:r>
          </a:p>
        </p:txBody>
      </p:sp>
      <p:sp>
        <p:nvSpPr>
          <p:cNvPr id="40" name="Rounded Rectangle 39"/>
          <p:cNvSpPr/>
          <p:nvPr/>
        </p:nvSpPr>
        <p:spPr>
          <a:xfrm>
            <a:off x="640080" y="3905504"/>
            <a:ext cx="1589989" cy="147370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68680" y="407009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8680" y="4216400"/>
            <a:ext cx="1132789" cy="1107947"/>
          </a:xfrm>
          <a:prstGeom prst="rect">
            <a:avLst/>
          </a:prstGeom>
          <a:noFill/>
        </p:spPr>
        <p:txBody>
          <a:bodyPr wrap="square" anchor="t" lIns="0" rIns="0" tIns="0" bIns="0">
            <a:spAutoFit/>
          </a:bodyPr>
          <a:lstStyle/>
          <a:p>
            <a:pPr algn="l"/>
            <a:r>
              <a:rPr sz="1100" b="0">
                <a:solidFill>
                  <a:srgbClr val="C7C2EF"/>
                </a:solidFill>
                <a:latin typeface="ITC Avant Garde Gothic"/>
              </a:rPr>
              <a:t>Ejemplo hipotético: los valores no corresponden a ninguna muestra.</a:t>
            </a:r>
          </a:p>
        </p:txBody>
      </p:sp>
      <p:sp>
        <p:nvSpPr>
          <p:cNvPr id="43" name="Rounded Rectangle 42"/>
          <p:cNvSpPr/>
          <p:nvPr/>
        </p:nvSpPr>
        <p:spPr>
          <a:xfrm>
            <a:off x="2504389" y="3905504"/>
            <a:ext cx="1589989" cy="147370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732989" y="407009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732989" y="4216400"/>
            <a:ext cx="1132789" cy="1107947"/>
          </a:xfrm>
          <a:prstGeom prst="rect">
            <a:avLst/>
          </a:prstGeom>
          <a:noFill/>
        </p:spPr>
        <p:txBody>
          <a:bodyPr wrap="square" anchor="t" lIns="0" rIns="0" tIns="0" bIns="0">
            <a:spAutoFit/>
          </a:bodyPr>
          <a:lstStyle/>
          <a:p>
            <a:pPr algn="l"/>
            <a:r>
              <a:rPr sz="1100" b="0">
                <a:solidFill>
                  <a:srgbClr val="C7C2EF"/>
                </a:solidFill>
                <a:latin typeface="ITC Avant Garde Gothic"/>
              </a:rPr>
              <a:t>Células por imagen</a:t>
            </a:r>
          </a:p>
        </p:txBody>
      </p:sp>
      <p:sp>
        <p:nvSpPr>
          <p:cNvPr id="46" name="Rounded Rectangle 45"/>
          <p:cNvSpPr/>
          <p:nvPr/>
        </p:nvSpPr>
        <p:spPr>
          <a:xfrm>
            <a:off x="4368698" y="3905504"/>
            <a:ext cx="1589989" cy="147370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597298" y="407009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97298" y="4216400"/>
            <a:ext cx="1132789" cy="1107947"/>
          </a:xfrm>
          <a:prstGeom prst="rect">
            <a:avLst/>
          </a:prstGeom>
          <a:noFill/>
        </p:spPr>
        <p:txBody>
          <a:bodyPr wrap="square" anchor="t" lIns="0" rIns="0" tIns="0" bIns="0">
            <a:spAutoFit/>
          </a:bodyPr>
          <a:lstStyle/>
          <a:p>
            <a:pPr algn="l"/>
            <a:r>
              <a:rPr sz="1100" b="0">
                <a:solidFill>
                  <a:srgbClr val="C7C2EF"/>
                </a:solidFill>
                <a:latin typeface="ITC Avant Garde Gothic"/>
              </a:rPr>
              <a:t>Desviación relativa a la media</a:t>
            </a:r>
          </a:p>
        </p:txBody>
      </p:sp>
      <p:sp>
        <p:nvSpPr>
          <p:cNvPr id="49" name="TextBox 48"/>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Un ejemplo de lectura</a:t>
            </a:r>
          </a:p>
        </p:txBody>
      </p:sp>
      <p:sp>
        <p:nvSpPr>
          <p:cNvPr id="3" name="TextBox 2"/>
          <p:cNvSpPr txBox="1"/>
          <p:nvPr/>
        </p:nvSpPr>
        <p:spPr>
          <a:xfrm>
            <a:off x="640080" y="960120"/>
            <a:ext cx="10911535" cy="1285240"/>
          </a:xfrm>
          <a:prstGeom prst="rect">
            <a:avLst/>
          </a:prstGeom>
          <a:noFill/>
        </p:spPr>
        <p:txBody>
          <a:bodyPr wrap="square" anchor="t" lIns="0" rIns="0" tIns="0" bIns="0">
            <a:spAutoFit/>
          </a:bodyPr>
          <a:lstStyle/>
          <a:p>
            <a:pPr algn="l"/>
            <a:r>
              <a:rPr sz="4400" b="1">
                <a:solidFill>
                  <a:srgbClr val="C7C2EF"/>
                </a:solidFill>
                <a:latin typeface="ITC Avant Garde Gothic"/>
              </a:rPr>
              <a:t>¿La diferencia es real o es ruido?</a:t>
            </a:r>
          </a:p>
        </p:txBody>
      </p:sp>
      <p:sp>
        <p:nvSpPr>
          <p:cNvPr id="4" name="Rounded Rectangle 3"/>
          <p:cNvSpPr/>
          <p:nvPr/>
        </p:nvSpPr>
        <p:spPr>
          <a:xfrm>
            <a:off x="640080" y="2611119"/>
            <a:ext cx="5318607" cy="154686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77571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922015"/>
            <a:ext cx="4861407" cy="1181099"/>
          </a:xfrm>
          <a:prstGeom prst="rect">
            <a:avLst/>
          </a:prstGeom>
          <a:noFill/>
        </p:spPr>
        <p:txBody>
          <a:bodyPr wrap="square" anchor="t" lIns="0" rIns="0" tIns="0" bIns="0">
            <a:spAutoFit/>
          </a:bodyPr>
          <a:lstStyle/>
          <a:p>
            <a:pPr algn="l"/>
            <a:r>
              <a:rPr sz="2200" b="0">
                <a:solidFill>
                  <a:srgbClr val="C7C2EF"/>
                </a:solidFill>
                <a:latin typeface="ITC Avant Garde Gothic"/>
              </a:rPr>
              <a:t>Cada media tiene un margen de error: los rangos se traslapan.</a:t>
            </a:r>
          </a:p>
        </p:txBody>
      </p:sp>
      <p:sp>
        <p:nvSpPr>
          <p:cNvPr id="7" name="Rounded Rectangle 6"/>
          <p:cNvSpPr/>
          <p:nvPr/>
        </p:nvSpPr>
        <p:spPr>
          <a:xfrm>
            <a:off x="6233007" y="2611119"/>
            <a:ext cx="5318607" cy="154686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61607" y="277571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1607" y="2922015"/>
            <a:ext cx="4861407" cy="1181099"/>
          </a:xfrm>
          <a:prstGeom prst="rect">
            <a:avLst/>
          </a:prstGeom>
          <a:noFill/>
        </p:spPr>
        <p:txBody>
          <a:bodyPr wrap="square" anchor="t" lIns="0" rIns="0" tIns="0" bIns="0">
            <a:spAutoFit/>
          </a:bodyPr>
          <a:lstStyle/>
          <a:p>
            <a:pPr algn="l"/>
            <a:r>
              <a:rPr sz="2200" b="0">
                <a:solidFill>
                  <a:srgbClr val="C7C2EF"/>
                </a:solidFill>
                <a:latin typeface="ITC Avant Garde Gothic"/>
              </a:rPr>
              <a:t>Hace falta una prueba estadística</a:t>
            </a:r>
          </a:p>
        </p:txBody>
      </p:sp>
      <p:sp>
        <p:nvSpPr>
          <p:cNvPr id="10" name="TextBox 9"/>
          <p:cNvSpPr txBox="1"/>
          <p:nvPr/>
        </p:nvSpPr>
        <p:spPr>
          <a:xfrm>
            <a:off x="640080" y="4340860"/>
            <a:ext cx="10911535" cy="743712"/>
          </a:xfrm>
          <a:prstGeom prst="rect">
            <a:avLst/>
          </a:prstGeom>
          <a:noFill/>
        </p:spPr>
        <p:txBody>
          <a:bodyPr wrap="square" anchor="t" lIns="0" rIns="0" tIns="0" bIns="0">
            <a:spAutoFit/>
          </a:bodyPr>
          <a:lstStyle/>
          <a:p>
            <a:pPr algn="l"/>
            <a:r>
              <a:rPr sz="2400" b="0">
                <a:solidFill>
                  <a:srgbClr val="C7C2EF"/>
                </a:solidFill>
                <a:latin typeface="ITC Avant Garde Gothic"/>
              </a:rPr>
              <a:t>La decide el grupo con sus propios criterios. El CSV trae los datos por espermatozoide para hacerla.</a:t>
            </a:r>
          </a:p>
        </p:txBody>
      </p:sp>
      <p:sp>
        <p:nvSpPr>
          <p:cNvPr id="11" name="TextBox 10"/>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Un ejemplo de lectura</a:t>
            </a:r>
          </a:p>
        </p:txBody>
      </p:sp>
      <p:sp>
        <p:nvSpPr>
          <p:cNvPr id="3" name="TextBox 2"/>
          <p:cNvSpPr txBox="1"/>
          <p:nvPr/>
        </p:nvSpPr>
        <p:spPr>
          <a:xfrm>
            <a:off x="640080" y="960120"/>
            <a:ext cx="10911535" cy="546227"/>
          </a:xfrm>
          <a:prstGeom prst="rect">
            <a:avLst/>
          </a:prstGeom>
          <a:noFill/>
        </p:spPr>
        <p:txBody>
          <a:bodyPr wrap="square" anchor="t" lIns="0" rIns="0" tIns="0" bIns="0">
            <a:spAutoFit/>
          </a:bodyPr>
          <a:lstStyle/>
          <a:p>
            <a:pPr algn="l"/>
            <a:r>
              <a:rPr sz="3700" b="1">
                <a:solidFill>
                  <a:srgbClr val="C7C2EF"/>
                </a:solidFill>
                <a:latin typeface="ITC Avant Garde Gothic"/>
              </a:rPr>
              <a:t>Leer los resultados como una medición</a:t>
            </a:r>
          </a:p>
        </p:txBody>
      </p:sp>
      <p:sp>
        <p:nvSpPr>
          <p:cNvPr id="4" name="Rounded Rectangle 3"/>
          <p:cNvSpPr/>
          <p:nvPr/>
        </p:nvSpPr>
        <p:spPr>
          <a:xfrm>
            <a:off x="640080" y="1872106"/>
            <a:ext cx="2522143" cy="107467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03669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183002"/>
            <a:ext cx="2064943" cy="708913"/>
          </a:xfrm>
          <a:prstGeom prst="rect">
            <a:avLst/>
          </a:prstGeom>
          <a:noFill/>
        </p:spPr>
        <p:txBody>
          <a:bodyPr wrap="square" anchor="t" lIns="0" rIns="0" tIns="0" bIns="0">
            <a:spAutoFit/>
          </a:bodyPr>
          <a:lstStyle/>
          <a:p>
            <a:pPr algn="l"/>
            <a:r>
              <a:rPr sz="1900" b="0">
                <a:solidFill>
                  <a:srgbClr val="C7C2EF"/>
                </a:solidFill>
                <a:latin typeface="ITC Avant Garde Gothic"/>
              </a:rPr>
              <a:t>Píxeles y micras</a:t>
            </a:r>
          </a:p>
        </p:txBody>
      </p:sp>
      <p:sp>
        <p:nvSpPr>
          <p:cNvPr id="7" name="Rounded Rectangle 6"/>
          <p:cNvSpPr/>
          <p:nvPr/>
        </p:nvSpPr>
        <p:spPr>
          <a:xfrm>
            <a:off x="3436543" y="1872106"/>
            <a:ext cx="2522143" cy="107467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65143" y="203669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65143" y="2183002"/>
            <a:ext cx="2064943" cy="708913"/>
          </a:xfrm>
          <a:prstGeom prst="rect">
            <a:avLst/>
          </a:prstGeom>
          <a:noFill/>
        </p:spPr>
        <p:txBody>
          <a:bodyPr wrap="square" anchor="t" lIns="0" rIns="0" tIns="0" bIns="0">
            <a:spAutoFit/>
          </a:bodyPr>
          <a:lstStyle/>
          <a:p>
            <a:pPr algn="l"/>
            <a:r>
              <a:rPr sz="1900" b="0">
                <a:solidFill>
                  <a:srgbClr val="C7C2EF"/>
                </a:solidFill>
                <a:latin typeface="ITC Avant Garde Gothic"/>
              </a:rPr>
              <a:t>60 px</a:t>
            </a:r>
          </a:p>
        </p:txBody>
      </p:sp>
      <p:sp>
        <p:nvSpPr>
          <p:cNvPr id="10" name="Rounded Rectangle 9"/>
          <p:cNvSpPr/>
          <p:nvPr/>
        </p:nvSpPr>
        <p:spPr>
          <a:xfrm>
            <a:off x="6233007" y="1872106"/>
            <a:ext cx="2522143" cy="107467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61607" y="203669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1607" y="2183002"/>
            <a:ext cx="2064943" cy="708913"/>
          </a:xfrm>
          <a:prstGeom prst="rect">
            <a:avLst/>
          </a:prstGeom>
          <a:noFill/>
        </p:spPr>
        <p:txBody>
          <a:bodyPr wrap="square" anchor="t" lIns="0" rIns="0" tIns="0" bIns="0">
            <a:spAutoFit/>
          </a:bodyPr>
          <a:lstStyle/>
          <a:p>
            <a:pPr algn="l"/>
            <a:r>
              <a:rPr sz="1900" b="0">
                <a:solidFill>
                  <a:srgbClr val="C7C2EF"/>
                </a:solidFill>
                <a:latin typeface="ITC Avant Garde Gothic"/>
              </a:rPr>
              <a:t>=</a:t>
            </a:r>
          </a:p>
        </p:txBody>
      </p:sp>
      <p:sp>
        <p:nvSpPr>
          <p:cNvPr id="13" name="Rounded Rectangle 12"/>
          <p:cNvSpPr/>
          <p:nvPr/>
        </p:nvSpPr>
        <p:spPr>
          <a:xfrm>
            <a:off x="9029471" y="1872106"/>
            <a:ext cx="2522143" cy="107467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258071" y="203669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58071" y="2183002"/>
            <a:ext cx="2064943" cy="708913"/>
          </a:xfrm>
          <a:prstGeom prst="rect">
            <a:avLst/>
          </a:prstGeom>
          <a:noFill/>
        </p:spPr>
        <p:txBody>
          <a:bodyPr wrap="square" anchor="t" lIns="0" rIns="0" tIns="0" bIns="0">
            <a:spAutoFit/>
          </a:bodyPr>
          <a:lstStyle/>
          <a:p>
            <a:pPr algn="l"/>
            <a:r>
              <a:rPr sz="1900" b="0">
                <a:solidFill>
                  <a:srgbClr val="C7C2EF"/>
                </a:solidFill>
                <a:latin typeface="ITC Avant Garde Gothic"/>
              </a:rPr>
              <a:t>1 µm</a:t>
            </a:r>
          </a:p>
        </p:txBody>
      </p:sp>
      <p:sp>
        <p:nvSpPr>
          <p:cNvPr id="16" name="TextBox 15"/>
          <p:cNvSpPr txBox="1"/>
          <p:nvPr/>
        </p:nvSpPr>
        <p:spPr>
          <a:xfrm>
            <a:off x="640080" y="3129661"/>
            <a:ext cx="10911535" cy="632155"/>
          </a:xfrm>
          <a:prstGeom prst="rect">
            <a:avLst/>
          </a:prstGeom>
          <a:noFill/>
        </p:spPr>
        <p:txBody>
          <a:bodyPr wrap="square" anchor="t" lIns="0" rIns="0" tIns="0" bIns="0">
            <a:spAutoFit/>
          </a:bodyPr>
          <a:lstStyle/>
          <a:p>
            <a:pPr algn="l"/>
            <a:r>
              <a:rPr sz="2000" b="0">
                <a:solidFill>
                  <a:srgbClr val="C7C2EF"/>
                </a:solidFill>
                <a:latin typeface="ITC Avant Garde Gothic"/>
              </a:rPr>
              <a:t>El mismo factor se aplica a todo: las comparaciones entre imágenes con la misma escala son válidas.</a:t>
            </a:r>
          </a:p>
        </p:txBody>
      </p:sp>
      <p:sp>
        <p:nvSpPr>
          <p:cNvPr id="17" name="Rounded Rectangle 16"/>
          <p:cNvSpPr/>
          <p:nvPr/>
        </p:nvSpPr>
        <p:spPr>
          <a:xfrm>
            <a:off x="640080" y="3990416"/>
            <a:ext cx="3454298" cy="107467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8680" y="415500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301312"/>
            <a:ext cx="2997098" cy="708913"/>
          </a:xfrm>
          <a:prstGeom prst="rect">
            <a:avLst/>
          </a:prstGeom>
          <a:noFill/>
        </p:spPr>
        <p:txBody>
          <a:bodyPr wrap="square" anchor="t" lIns="0" rIns="0" tIns="0" bIns="0">
            <a:spAutoFit/>
          </a:bodyPr>
          <a:lstStyle/>
          <a:p>
            <a:pPr algn="l"/>
            <a:r>
              <a:rPr sz="1900" b="0">
                <a:solidFill>
                  <a:srgbClr val="C7C2EF"/>
                </a:solidFill>
                <a:latin typeface="ITC Avant Garde Gothic"/>
              </a:rPr>
              <a:t>¿Qué tan precisa es?</a:t>
            </a:r>
          </a:p>
        </p:txBody>
      </p:sp>
      <p:sp>
        <p:nvSpPr>
          <p:cNvPr id="20" name="Rounded Rectangle 19"/>
          <p:cNvSpPr/>
          <p:nvPr/>
        </p:nvSpPr>
        <p:spPr>
          <a:xfrm>
            <a:off x="4368698" y="3990416"/>
            <a:ext cx="3454298" cy="107467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97298" y="415500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97298" y="4301312"/>
            <a:ext cx="2997098" cy="708913"/>
          </a:xfrm>
          <a:prstGeom prst="rect">
            <a:avLst/>
          </a:prstGeom>
          <a:noFill/>
        </p:spPr>
        <p:txBody>
          <a:bodyPr wrap="square" anchor="t" lIns="0" rIns="0" tIns="0" bIns="0">
            <a:spAutoFit/>
          </a:bodyPr>
          <a:lstStyle/>
          <a:p>
            <a:pPr algn="l"/>
            <a:r>
              <a:rPr sz="1900" b="0">
                <a:solidFill>
                  <a:srgbClr val="C7C2EF"/>
                </a:solidFill>
                <a:latin typeface="ITC Avant Garde Gothic"/>
              </a:rPr>
              <a:t>¿Qué la puede alterar?</a:t>
            </a:r>
          </a:p>
        </p:txBody>
      </p:sp>
      <p:sp>
        <p:nvSpPr>
          <p:cNvPr id="23" name="Rounded Rectangle 22"/>
          <p:cNvSpPr/>
          <p:nvPr/>
        </p:nvSpPr>
        <p:spPr>
          <a:xfrm>
            <a:off x="8097316" y="3990416"/>
            <a:ext cx="3454298" cy="107467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325916" y="415500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25916" y="4301312"/>
            <a:ext cx="2997098" cy="708913"/>
          </a:xfrm>
          <a:prstGeom prst="rect">
            <a:avLst/>
          </a:prstGeom>
          <a:noFill/>
        </p:spPr>
        <p:txBody>
          <a:bodyPr wrap="square" anchor="t" lIns="0" rIns="0" tIns="0" bIns="0">
            <a:spAutoFit/>
          </a:bodyPr>
          <a:lstStyle/>
          <a:p>
            <a:pPr algn="l"/>
            <a:r>
              <a:rPr sz="1900" b="0">
                <a:solidFill>
                  <a:srgbClr val="C7C2EF"/>
                </a:solidFill>
                <a:latin typeface="ITC Avant Garde Gothic"/>
              </a:rPr>
              <a:t>¿Con qué se puede comparar?</a:t>
            </a:r>
          </a:p>
        </p:txBody>
      </p:sp>
      <p:sp>
        <p:nvSpPr>
          <p:cNvPr id="26" name="TextBox 25"/>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Avisos y casos</a:t>
            </a:r>
          </a:p>
        </p:txBody>
      </p:sp>
      <p:sp>
        <p:nvSpPr>
          <p:cNvPr id="3" name="TextBox 2"/>
          <p:cNvSpPr txBox="1"/>
          <p:nvPr/>
        </p:nvSpPr>
        <p:spPr>
          <a:xfrm>
            <a:off x="640080" y="960120"/>
            <a:ext cx="10911535" cy="591210"/>
          </a:xfrm>
          <a:prstGeom prst="rect">
            <a:avLst/>
          </a:prstGeom>
          <a:noFill/>
        </p:spPr>
        <p:txBody>
          <a:bodyPr wrap="square" anchor="t" lIns="0" rIns="0" tIns="0" bIns="0">
            <a:spAutoFit/>
          </a:bodyPr>
          <a:lstStyle/>
          <a:p>
            <a:pPr algn="l"/>
            <a:r>
              <a:rPr sz="4000" b="1">
                <a:solidFill>
                  <a:srgbClr val="C7C2EF"/>
                </a:solidFill>
                <a:latin typeface="ITC Avant Garde Gothic"/>
              </a:rPr>
              <a:t>Cuando el envío no es válido</a:t>
            </a:r>
          </a:p>
        </p:txBody>
      </p:sp>
      <p:sp>
        <p:nvSpPr>
          <p:cNvPr id="4" name="Rounded Rectangle 3"/>
          <p:cNvSpPr/>
          <p:nvPr/>
        </p:nvSpPr>
        <p:spPr>
          <a:xfrm>
            <a:off x="640080" y="1917090"/>
            <a:ext cx="3454298" cy="112552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08168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227986"/>
            <a:ext cx="2997098" cy="759764"/>
          </a:xfrm>
          <a:prstGeom prst="rect">
            <a:avLst/>
          </a:prstGeom>
          <a:noFill/>
        </p:spPr>
        <p:txBody>
          <a:bodyPr wrap="square" anchor="t" lIns="0" rIns="0" tIns="0" bIns="0">
            <a:spAutoFit/>
          </a:bodyPr>
          <a:lstStyle/>
          <a:p>
            <a:pPr algn="l"/>
            <a:r>
              <a:rPr sz="2000" b="0">
                <a:solidFill>
                  <a:srgbClr val="C7C2EF"/>
                </a:solidFill>
                <a:latin typeface="ITC Avant Garde Gothic"/>
              </a:rPr>
              <a:t>Sin imágenes</a:t>
            </a:r>
          </a:p>
        </p:txBody>
      </p:sp>
      <p:sp>
        <p:nvSpPr>
          <p:cNvPr id="7" name="Rounded Rectangle 6"/>
          <p:cNvSpPr/>
          <p:nvPr/>
        </p:nvSpPr>
        <p:spPr>
          <a:xfrm>
            <a:off x="4368698" y="1917090"/>
            <a:ext cx="3454298" cy="112552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97298" y="208168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7298" y="2227986"/>
            <a:ext cx="2997098" cy="759764"/>
          </a:xfrm>
          <a:prstGeom prst="rect">
            <a:avLst/>
          </a:prstGeom>
          <a:noFill/>
        </p:spPr>
        <p:txBody>
          <a:bodyPr wrap="square" anchor="t" lIns="0" rIns="0" tIns="0" bIns="0">
            <a:spAutoFit/>
          </a:bodyPr>
          <a:lstStyle/>
          <a:p>
            <a:pPr algn="l"/>
            <a:r>
              <a:rPr sz="2000" b="0">
                <a:solidFill>
                  <a:srgbClr val="C7C2EF"/>
                </a:solidFill>
                <a:latin typeface="ITC Avant Garde Gothic"/>
              </a:rPr>
              <a:t>Elige al menos una imagen.</a:t>
            </a:r>
          </a:p>
        </p:txBody>
      </p:sp>
      <p:sp>
        <p:nvSpPr>
          <p:cNvPr id="10" name="Rounded Rectangle 9"/>
          <p:cNvSpPr/>
          <p:nvPr/>
        </p:nvSpPr>
        <p:spPr>
          <a:xfrm>
            <a:off x="8097316" y="1917090"/>
            <a:ext cx="3454298" cy="112552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25916" y="208168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5916" y="2227986"/>
            <a:ext cx="2997098" cy="759764"/>
          </a:xfrm>
          <a:prstGeom prst="rect">
            <a:avLst/>
          </a:prstGeom>
          <a:noFill/>
        </p:spPr>
        <p:txBody>
          <a:bodyPr wrap="square" anchor="t" lIns="0" rIns="0" tIns="0" bIns="0">
            <a:spAutoFit/>
          </a:bodyPr>
          <a:lstStyle/>
          <a:p>
            <a:pPr algn="l"/>
            <a:r>
              <a:rPr sz="2000" b="0">
                <a:solidFill>
                  <a:srgbClr val="C7C2EF"/>
                </a:solidFill>
                <a:latin typeface="ITC Avant Garde Gothic"/>
              </a:rPr>
              <a:t>Más de diez</a:t>
            </a:r>
          </a:p>
        </p:txBody>
      </p:sp>
      <p:sp>
        <p:nvSpPr>
          <p:cNvPr id="13" name="Rounded Rectangle 12"/>
          <p:cNvSpPr/>
          <p:nvPr/>
        </p:nvSpPr>
        <p:spPr>
          <a:xfrm>
            <a:off x="640080" y="3316935"/>
            <a:ext cx="3454298" cy="179384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68680" y="3481527"/>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627831"/>
            <a:ext cx="2997098" cy="1428089"/>
          </a:xfrm>
          <a:prstGeom prst="rect">
            <a:avLst/>
          </a:prstGeom>
          <a:noFill/>
        </p:spPr>
        <p:txBody>
          <a:bodyPr wrap="square" anchor="t" lIns="0" rIns="0" tIns="0" bIns="0">
            <a:spAutoFit/>
          </a:bodyPr>
          <a:lstStyle/>
          <a:p>
            <a:pPr algn="l"/>
            <a:r>
              <a:rPr sz="2000" b="0">
                <a:solidFill>
                  <a:srgbClr val="C7C2EF"/>
                </a:solidFill>
                <a:latin typeface="ITC Avant Garde Gothic"/>
              </a:rPr>
              <a:t>El máximo es diez imágenes por vez.</a:t>
            </a:r>
          </a:p>
        </p:txBody>
      </p:sp>
      <p:sp>
        <p:nvSpPr>
          <p:cNvPr id="16" name="Rounded Rectangle 15"/>
          <p:cNvSpPr/>
          <p:nvPr/>
        </p:nvSpPr>
        <p:spPr>
          <a:xfrm>
            <a:off x="4368698" y="3316935"/>
            <a:ext cx="3454298" cy="179384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97298" y="3481527"/>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97298" y="3627831"/>
            <a:ext cx="2997098" cy="1428089"/>
          </a:xfrm>
          <a:prstGeom prst="rect">
            <a:avLst/>
          </a:prstGeom>
          <a:noFill/>
        </p:spPr>
        <p:txBody>
          <a:bodyPr wrap="square" anchor="t" lIns="0" rIns="0" tIns="0" bIns="0">
            <a:spAutoFit/>
          </a:bodyPr>
          <a:lstStyle/>
          <a:p>
            <a:pPr algn="l"/>
            <a:r>
              <a:rPr sz="2000" b="0">
                <a:solidFill>
                  <a:srgbClr val="C7C2EF"/>
                </a:solidFill>
                <a:latin typeface="ITC Avant Garde Gothic"/>
              </a:rPr>
              <a:t>Extensión no admitida</a:t>
            </a:r>
          </a:p>
        </p:txBody>
      </p:sp>
      <p:sp>
        <p:nvSpPr>
          <p:cNvPr id="19" name="Rounded Rectangle 18"/>
          <p:cNvSpPr/>
          <p:nvPr/>
        </p:nvSpPr>
        <p:spPr>
          <a:xfrm>
            <a:off x="8097316" y="3316935"/>
            <a:ext cx="3454298" cy="179384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25916" y="3481527"/>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5916" y="3627831"/>
            <a:ext cx="2997098" cy="1428089"/>
          </a:xfrm>
          <a:prstGeom prst="rect">
            <a:avLst/>
          </a:prstGeom>
          <a:noFill/>
        </p:spPr>
        <p:txBody>
          <a:bodyPr wrap="square" anchor="t" lIns="0" rIns="0" tIns="0" bIns="0">
            <a:spAutoFit/>
          </a:bodyPr>
          <a:lstStyle/>
          <a:p>
            <a:pPr algn="l"/>
            <a:r>
              <a:rPr sz="2000" b="0">
                <a:solidFill>
                  <a:srgbClr val="C7C2EF"/>
                </a:solidFill>
                <a:latin typeface="ITC Avant Garde Gothic"/>
              </a:rPr>
              <a:t>documento.txt no es una imagen válida. Usa BMP, PNG o TIFF.</a:t>
            </a:r>
          </a:p>
        </p:txBody>
      </p:sp>
      <p:sp>
        <p:nvSpPr>
          <p:cNvPr id="22" name="TextBox 21"/>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Avisos y casos</a:t>
            </a:r>
          </a:p>
        </p:txBody>
      </p:sp>
      <p:sp>
        <p:nvSpPr>
          <p:cNvPr id="3" name="TextBox 2"/>
          <p:cNvSpPr txBox="1"/>
          <p:nvPr/>
        </p:nvSpPr>
        <p:spPr>
          <a:xfrm>
            <a:off x="640080" y="960120"/>
            <a:ext cx="10911535" cy="449833"/>
          </a:xfrm>
          <a:prstGeom prst="rect">
            <a:avLst/>
          </a:prstGeom>
          <a:noFill/>
        </p:spPr>
        <p:txBody>
          <a:bodyPr wrap="square" anchor="t" lIns="0" rIns="0" tIns="0" bIns="0">
            <a:spAutoFit/>
          </a:bodyPr>
          <a:lstStyle/>
          <a:p>
            <a:pPr algn="l"/>
            <a:r>
              <a:rPr sz="3100" b="1">
                <a:solidFill>
                  <a:srgbClr val="C7C2EF"/>
                </a:solidFill>
                <a:latin typeface="ITC Avant Garde Gothic"/>
              </a:rPr>
              <a:t>Cuando la imagen no se puede analizar</a:t>
            </a:r>
          </a:p>
        </p:txBody>
      </p:sp>
      <p:sp>
        <p:nvSpPr>
          <p:cNvPr id="4" name="Rounded Rectangle 3"/>
          <p:cNvSpPr/>
          <p:nvPr/>
        </p:nvSpPr>
        <p:spPr>
          <a:xfrm>
            <a:off x="640080" y="1775714"/>
            <a:ext cx="2522143" cy="13429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86610"/>
            <a:ext cx="2064943" cy="977188"/>
          </a:xfrm>
          <a:prstGeom prst="rect">
            <a:avLst/>
          </a:prstGeom>
          <a:noFill/>
        </p:spPr>
        <p:txBody>
          <a:bodyPr wrap="square" anchor="t" lIns="0" rIns="0" tIns="0" bIns="0">
            <a:spAutoFit/>
          </a:bodyPr>
          <a:lstStyle/>
          <a:p>
            <a:pPr algn="l"/>
            <a:r>
              <a:rPr sz="1500" b="0">
                <a:solidFill>
                  <a:srgbClr val="C7C2EF"/>
                </a:solidFill>
                <a:latin typeface="ITC Avant Garde Gothic"/>
              </a:rPr>
              <a:t>Archivo dañado</a:t>
            </a:r>
          </a:p>
        </p:txBody>
      </p:sp>
      <p:sp>
        <p:nvSpPr>
          <p:cNvPr id="7" name="Rounded Rectangle 6"/>
          <p:cNvSpPr/>
          <p:nvPr/>
        </p:nvSpPr>
        <p:spPr>
          <a:xfrm>
            <a:off x="3436543" y="1775714"/>
            <a:ext cx="2522143" cy="13429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65143"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65143" y="2086610"/>
            <a:ext cx="2064943" cy="977188"/>
          </a:xfrm>
          <a:prstGeom prst="rect">
            <a:avLst/>
          </a:prstGeom>
          <a:noFill/>
        </p:spPr>
        <p:txBody>
          <a:bodyPr wrap="square" anchor="t" lIns="0" rIns="0" tIns="0" bIns="0">
            <a:spAutoFit/>
          </a:bodyPr>
          <a:lstStyle/>
          <a:p>
            <a:pPr algn="l"/>
            <a:r>
              <a:rPr sz="1500" b="0">
                <a:solidFill>
                  <a:srgbClr val="C7C2EF"/>
                </a:solidFill>
                <a:latin typeface="ITC Avant Garde Gothic"/>
              </a:rPr>
              <a:t>No se pudo abrir el archivo como imagen. No se analizó.</a:t>
            </a:r>
          </a:p>
        </p:txBody>
      </p:sp>
      <p:sp>
        <p:nvSpPr>
          <p:cNvPr id="10" name="Rounded Rectangle 9"/>
          <p:cNvSpPr/>
          <p:nvPr/>
        </p:nvSpPr>
        <p:spPr>
          <a:xfrm>
            <a:off x="6233007" y="1775714"/>
            <a:ext cx="2522143" cy="13429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61607"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1607" y="2086610"/>
            <a:ext cx="2064943" cy="977188"/>
          </a:xfrm>
          <a:prstGeom prst="rect">
            <a:avLst/>
          </a:prstGeom>
          <a:noFill/>
        </p:spPr>
        <p:txBody>
          <a:bodyPr wrap="square" anchor="t" lIns="0" rIns="0" tIns="0" bIns="0">
            <a:spAutoFit/>
          </a:bodyPr>
          <a:lstStyle/>
          <a:p>
            <a:pPr algn="l"/>
            <a:r>
              <a:rPr sz="1500" b="0">
                <a:solidFill>
                  <a:srgbClr val="C7C2EF"/>
                </a:solidFill>
                <a:latin typeface="ITC Avant Garde Gothic"/>
              </a:rPr>
              <a:t>Las demás del lote se analizan con normalidad.</a:t>
            </a:r>
          </a:p>
        </p:txBody>
      </p:sp>
      <p:sp>
        <p:nvSpPr>
          <p:cNvPr id="13" name="Rounded Rectangle 12"/>
          <p:cNvSpPr/>
          <p:nvPr/>
        </p:nvSpPr>
        <p:spPr>
          <a:xfrm>
            <a:off x="9029471" y="1775714"/>
            <a:ext cx="2522143" cy="13429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258071"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58071" y="2086610"/>
            <a:ext cx="2064943" cy="977188"/>
          </a:xfrm>
          <a:prstGeom prst="rect">
            <a:avLst/>
          </a:prstGeom>
          <a:noFill/>
        </p:spPr>
        <p:txBody>
          <a:bodyPr wrap="square" anchor="t" lIns="0" rIns="0" tIns="0" bIns="0">
            <a:spAutoFit/>
          </a:bodyPr>
          <a:lstStyle/>
          <a:p>
            <a:pPr algn="l"/>
            <a:r>
              <a:rPr sz="1500" b="0">
                <a:solidFill>
                  <a:srgbClr val="C7C2EF"/>
                </a:solidFill>
                <a:latin typeface="ITC Avant Garde Gothic"/>
              </a:rPr>
              <a:t>No se encuentra nada</a:t>
            </a:r>
          </a:p>
        </p:txBody>
      </p:sp>
      <p:sp>
        <p:nvSpPr>
          <p:cNvPr id="16" name="TextBox 15"/>
          <p:cNvSpPr txBox="1"/>
          <p:nvPr/>
        </p:nvSpPr>
        <p:spPr>
          <a:xfrm>
            <a:off x="640080" y="3301542"/>
            <a:ext cx="10911535" cy="490849"/>
          </a:xfrm>
          <a:prstGeom prst="rect">
            <a:avLst/>
          </a:prstGeom>
          <a:noFill/>
        </p:spPr>
        <p:txBody>
          <a:bodyPr wrap="square" anchor="t" lIns="0" rIns="0" tIns="0" bIns="0">
            <a:spAutoFit/>
          </a:bodyPr>
          <a:lstStyle/>
          <a:p>
            <a:pPr algn="l"/>
            <a:r>
              <a:rPr sz="1600" b="0">
                <a:solidFill>
                  <a:srgbClr val="C7C2EF"/>
                </a:solidFill>
                <a:latin typeface="ITC Avant Garde Gothic"/>
              </a:rPr>
              <a:t>No se encontraron espermatozoides o la imagen es de mala calidad: no es factible analizarla.</a:t>
            </a:r>
          </a:p>
        </p:txBody>
      </p:sp>
      <p:sp>
        <p:nvSpPr>
          <p:cNvPr id="17" name="Rounded Rectangle 16"/>
          <p:cNvSpPr/>
          <p:nvPr/>
        </p:nvSpPr>
        <p:spPr>
          <a:xfrm>
            <a:off x="640080" y="4020992"/>
            <a:ext cx="10911535" cy="62377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8680" y="418558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331888"/>
            <a:ext cx="10454335" cy="258013"/>
          </a:xfrm>
          <a:prstGeom prst="rect">
            <a:avLst/>
          </a:prstGeom>
          <a:noFill/>
        </p:spPr>
        <p:txBody>
          <a:bodyPr wrap="square" anchor="t" lIns="0" rIns="0" tIns="0" bIns="0">
            <a:spAutoFit/>
          </a:bodyPr>
          <a:lstStyle/>
          <a:p>
            <a:pPr algn="l"/>
            <a:r>
              <a:rPr sz="1500" b="0">
                <a:solidFill>
                  <a:srgbClr val="C7C2EF"/>
                </a:solidFill>
                <a:latin typeface="ITC Avant Garde Gothic"/>
              </a:rPr>
              <a:t>Menos de tres</a:t>
            </a:r>
          </a:p>
        </p:txBody>
      </p:sp>
      <p:sp>
        <p:nvSpPr>
          <p:cNvPr id="20" name="TextBox 19"/>
          <p:cNvSpPr txBox="1"/>
          <p:nvPr/>
        </p:nvSpPr>
        <p:spPr>
          <a:xfrm>
            <a:off x="640080" y="4827645"/>
            <a:ext cx="10911535" cy="245424"/>
          </a:xfrm>
          <a:prstGeom prst="rect">
            <a:avLst/>
          </a:prstGeom>
          <a:noFill/>
        </p:spPr>
        <p:txBody>
          <a:bodyPr wrap="square" anchor="t" lIns="0" rIns="0" tIns="0" bIns="0">
            <a:spAutoFit/>
          </a:bodyPr>
          <a:lstStyle/>
          <a:p>
            <a:pPr algn="l"/>
            <a:r>
              <a:rPr sz="1600" b="0">
                <a:solidFill>
                  <a:srgbClr val="C7C2EF"/>
                </a:solidFill>
                <a:latin typeface="ITC Avant Garde Gothic"/>
              </a:rPr>
              <a:t>Se contaron muy pocos espermatozoides: la distribución de tamaños no es confiable.</a:t>
            </a:r>
          </a:p>
        </p:txBody>
      </p:sp>
      <p:sp>
        <p:nvSpPr>
          <p:cNvPr id="21" name="TextBox 20"/>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Avisos y casos</a:t>
            </a:r>
          </a:p>
        </p:txBody>
      </p:sp>
      <p:sp>
        <p:nvSpPr>
          <p:cNvPr id="3" name="TextBox 2"/>
          <p:cNvSpPr txBox="1"/>
          <p:nvPr/>
        </p:nvSpPr>
        <p:spPr>
          <a:xfrm>
            <a:off x="640080" y="960120"/>
            <a:ext cx="10911535" cy="1182420"/>
          </a:xfrm>
          <a:prstGeom prst="rect">
            <a:avLst/>
          </a:prstGeom>
          <a:noFill/>
        </p:spPr>
        <p:txBody>
          <a:bodyPr wrap="square" anchor="t" lIns="0" rIns="0" tIns="0" bIns="0">
            <a:spAutoFit/>
          </a:bodyPr>
          <a:lstStyle/>
          <a:p>
            <a:pPr algn="l"/>
            <a:r>
              <a:rPr sz="4000" b="1">
                <a:solidFill>
                  <a:srgbClr val="C7C2EF"/>
                </a:solidFill>
                <a:latin typeface="ITC Avant Garde Gothic"/>
              </a:rPr>
              <a:t>Si faltan los modelos, el sitio no se cae</a:t>
            </a:r>
          </a:p>
        </p:txBody>
      </p:sp>
      <p:sp>
        <p:nvSpPr>
          <p:cNvPr id="4" name="Rounded Rectangle 3"/>
          <p:cNvSpPr/>
          <p:nvPr/>
        </p:nvSpPr>
        <p:spPr>
          <a:xfrm>
            <a:off x="640080" y="2508300"/>
            <a:ext cx="2522143" cy="178942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67289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819196"/>
            <a:ext cx="2064943" cy="1423661"/>
          </a:xfrm>
          <a:prstGeom prst="rect">
            <a:avLst/>
          </a:prstGeom>
          <a:noFill/>
        </p:spPr>
        <p:txBody>
          <a:bodyPr wrap="square" anchor="t" lIns="0" rIns="0" tIns="0" bIns="0">
            <a:spAutoFit/>
          </a:bodyPr>
          <a:lstStyle/>
          <a:p>
            <a:pPr algn="l"/>
            <a:r>
              <a:rPr sz="2000" b="0">
                <a:solidFill>
                  <a:srgbClr val="C7C2EF"/>
                </a:solidFill>
                <a:latin typeface="ITC Avant Garde Gothic"/>
              </a:rPr>
              <a:t>Modelos disponibles</a:t>
            </a:r>
          </a:p>
        </p:txBody>
      </p:sp>
      <p:sp>
        <p:nvSpPr>
          <p:cNvPr id="7" name="Rounded Rectangle 6"/>
          <p:cNvSpPr/>
          <p:nvPr/>
        </p:nvSpPr>
        <p:spPr>
          <a:xfrm>
            <a:off x="3436543" y="2508300"/>
            <a:ext cx="2522143" cy="178942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65143" y="267289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65143" y="2819196"/>
            <a:ext cx="2064943" cy="1423661"/>
          </a:xfrm>
          <a:prstGeom prst="rect">
            <a:avLst/>
          </a:prstGeom>
          <a:noFill/>
        </p:spPr>
        <p:txBody>
          <a:bodyPr wrap="square" anchor="t" lIns="0" rIns="0" tIns="0" bIns="0">
            <a:spAutoFit/>
          </a:bodyPr>
          <a:lstStyle/>
          <a:p>
            <a:pPr algn="l"/>
            <a:r>
              <a:rPr sz="2000" b="0">
                <a:solidFill>
                  <a:srgbClr val="C7C2EF"/>
                </a:solidFill>
                <a:latin typeface="ITC Avant Garde Gothic"/>
              </a:rPr>
              <a:t>Red neuronal: fluorescencia o campo claro.</a:t>
            </a:r>
          </a:p>
        </p:txBody>
      </p:sp>
      <p:sp>
        <p:nvSpPr>
          <p:cNvPr id="10" name="Rounded Rectangle 9"/>
          <p:cNvSpPr/>
          <p:nvPr/>
        </p:nvSpPr>
        <p:spPr>
          <a:xfrm>
            <a:off x="6233007" y="2508300"/>
            <a:ext cx="2522143" cy="178942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61607" y="267289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1607" y="2819196"/>
            <a:ext cx="2064943" cy="1423661"/>
          </a:xfrm>
          <a:prstGeom prst="rect">
            <a:avLst/>
          </a:prstGeom>
          <a:noFill/>
        </p:spPr>
        <p:txBody>
          <a:bodyPr wrap="square" anchor="t" lIns="0" rIns="0" tIns="0" bIns="0">
            <a:spAutoFit/>
          </a:bodyPr>
          <a:lstStyle/>
          <a:p>
            <a:pPr algn="l"/>
            <a:r>
              <a:rPr sz="2000" b="0">
                <a:solidFill>
                  <a:srgbClr val="C7C2EF"/>
                </a:solidFill>
                <a:latin typeface="ITC Avant Garde Gothic"/>
              </a:rPr>
              <a:t>Modelos no disponibles</a:t>
            </a:r>
          </a:p>
        </p:txBody>
      </p:sp>
      <p:sp>
        <p:nvSpPr>
          <p:cNvPr id="13" name="Rounded Rectangle 12"/>
          <p:cNvSpPr/>
          <p:nvPr/>
        </p:nvSpPr>
        <p:spPr>
          <a:xfrm>
            <a:off x="9029471" y="2508300"/>
            <a:ext cx="2522143" cy="178942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258071" y="267289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58071" y="2819196"/>
            <a:ext cx="2064943" cy="1423661"/>
          </a:xfrm>
          <a:prstGeom prst="rect">
            <a:avLst/>
          </a:prstGeom>
          <a:noFill/>
        </p:spPr>
        <p:txBody>
          <a:bodyPr wrap="square" anchor="t" lIns="0" rIns="0" tIns="0" bIns="0">
            <a:spAutoFit/>
          </a:bodyPr>
          <a:lstStyle/>
          <a:p>
            <a:pPr algn="l"/>
            <a:r>
              <a:rPr sz="2000" b="0">
                <a:solidFill>
                  <a:srgbClr val="C7C2EF"/>
                </a:solidFill>
                <a:latin typeface="ITC Avant Garde Gothic"/>
              </a:rPr>
              <a:t>Detección más simple, por umbral de color</a:t>
            </a:r>
          </a:p>
        </p:txBody>
      </p:sp>
      <p:sp>
        <p:nvSpPr>
          <p:cNvPr id="16" name="TextBox 15"/>
          <p:cNvSpPr txBox="1"/>
          <p:nvPr/>
        </p:nvSpPr>
        <p:spPr>
          <a:xfrm>
            <a:off x="640080" y="4480602"/>
            <a:ext cx="10911535" cy="684215"/>
          </a:xfrm>
          <a:prstGeom prst="rect">
            <a:avLst/>
          </a:prstGeom>
          <a:noFill/>
        </p:spPr>
        <p:txBody>
          <a:bodyPr wrap="square" anchor="t" lIns="0" rIns="0" tIns="0" bIns="0">
            <a:spAutoFit/>
          </a:bodyPr>
          <a:lstStyle/>
          <a:p>
            <a:pPr algn="l"/>
            <a:r>
              <a:rPr sz="2200" b="0">
                <a:solidFill>
                  <a:srgbClr val="C7C2EF"/>
                </a:solidFill>
                <a:latin typeface="ITC Avant Garde Gothic"/>
              </a:rPr>
              <a:t>Se anuncia con un recuadro amarillo. En la operación normal no debería verse.</a:t>
            </a:r>
          </a:p>
        </p:txBody>
      </p:sp>
      <p:sp>
        <p:nvSpPr>
          <p:cNvPr id="17" name="TextBox 16"/>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Un lote de imágenes</a:t>
            </a:r>
          </a:p>
        </p:txBody>
      </p:sp>
      <p:sp>
        <p:nvSpPr>
          <p:cNvPr id="3" name="TextBox 2"/>
          <p:cNvSpPr txBox="1"/>
          <p:nvPr/>
        </p:nvSpPr>
        <p:spPr>
          <a:xfrm>
            <a:off x="640080" y="960120"/>
            <a:ext cx="10911535" cy="1285240"/>
          </a:xfrm>
          <a:prstGeom prst="rect">
            <a:avLst/>
          </a:prstGeom>
          <a:noFill/>
        </p:spPr>
        <p:txBody>
          <a:bodyPr wrap="square" anchor="t" lIns="0" rIns="0" tIns="0" bIns="0">
            <a:spAutoFit/>
          </a:bodyPr>
          <a:lstStyle/>
          <a:p>
            <a:pPr algn="l"/>
            <a:r>
              <a:rPr sz="4400" b="1">
                <a:solidFill>
                  <a:srgbClr val="C7C2EF"/>
                </a:solidFill>
                <a:latin typeface="ITC Avant Garde Gothic"/>
              </a:rPr>
              <a:t>Tres fotografías, dos tipos de fondo</a:t>
            </a:r>
          </a:p>
        </p:txBody>
      </p:sp>
      <p:sp>
        <p:nvSpPr>
          <p:cNvPr id="4" name="Rounded Rectangle 3"/>
          <p:cNvSpPr/>
          <p:nvPr/>
        </p:nvSpPr>
        <p:spPr>
          <a:xfrm>
            <a:off x="640080" y="2611119"/>
            <a:ext cx="2522143" cy="790255"/>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77571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922015"/>
            <a:ext cx="2064943" cy="424495"/>
          </a:xfrm>
          <a:prstGeom prst="rect">
            <a:avLst/>
          </a:prstGeom>
          <a:noFill/>
        </p:spPr>
        <p:txBody>
          <a:bodyPr wrap="square" anchor="t" lIns="0" rIns="0" tIns="0" bIns="0">
            <a:spAutoFit/>
          </a:bodyPr>
          <a:lstStyle/>
          <a:p>
            <a:pPr algn="l"/>
            <a:r>
              <a:rPr sz="2000" b="0">
                <a:solidFill>
                  <a:srgbClr val="C7C2EF"/>
                </a:solidFill>
                <a:latin typeface="ITC Avant Garde Gothic"/>
              </a:rPr>
              <a:t>Fluorescencia</a:t>
            </a:r>
          </a:p>
        </p:txBody>
      </p:sp>
      <p:sp>
        <p:nvSpPr>
          <p:cNvPr id="7" name="Rounded Rectangle 6"/>
          <p:cNvSpPr/>
          <p:nvPr/>
        </p:nvSpPr>
        <p:spPr>
          <a:xfrm>
            <a:off x="3436543" y="2611119"/>
            <a:ext cx="2522143" cy="790255"/>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65143" y="277571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65143" y="2922015"/>
            <a:ext cx="2064943" cy="424495"/>
          </a:xfrm>
          <a:prstGeom prst="rect">
            <a:avLst/>
          </a:prstGeom>
          <a:noFill/>
        </p:spPr>
        <p:txBody>
          <a:bodyPr wrap="square" anchor="t" lIns="0" rIns="0" tIns="0" bIns="0">
            <a:spAutoFit/>
          </a:bodyPr>
          <a:lstStyle/>
          <a:p>
            <a:pPr algn="l"/>
            <a:r>
              <a:rPr sz="2000" b="0">
                <a:solidFill>
                  <a:srgbClr val="C7C2EF"/>
                </a:solidFill>
                <a:latin typeface="ITC Avant Garde Gothic"/>
              </a:rPr>
              <a:t>Fluorescencia</a:t>
            </a:r>
          </a:p>
        </p:txBody>
      </p:sp>
      <p:sp>
        <p:nvSpPr>
          <p:cNvPr id="10" name="Rounded Rectangle 9"/>
          <p:cNvSpPr/>
          <p:nvPr/>
        </p:nvSpPr>
        <p:spPr>
          <a:xfrm>
            <a:off x="6233007" y="2611119"/>
            <a:ext cx="2522143" cy="790255"/>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61607" y="277571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1607" y="2922015"/>
            <a:ext cx="2064943" cy="424495"/>
          </a:xfrm>
          <a:prstGeom prst="rect">
            <a:avLst/>
          </a:prstGeom>
          <a:noFill/>
        </p:spPr>
        <p:txBody>
          <a:bodyPr wrap="square" anchor="t" lIns="0" rIns="0" tIns="0" bIns="0">
            <a:spAutoFit/>
          </a:bodyPr>
          <a:lstStyle/>
          <a:p>
            <a:pPr algn="l"/>
            <a:r>
              <a:rPr sz="2000" b="0">
                <a:solidFill>
                  <a:srgbClr val="C7C2EF"/>
                </a:solidFill>
                <a:latin typeface="ITC Avant Garde Gothic"/>
              </a:rPr>
              <a:t>Fondo claro</a:t>
            </a:r>
          </a:p>
        </p:txBody>
      </p:sp>
      <p:sp>
        <p:nvSpPr>
          <p:cNvPr id="13" name="Rounded Rectangle 12"/>
          <p:cNvSpPr/>
          <p:nvPr/>
        </p:nvSpPr>
        <p:spPr>
          <a:xfrm>
            <a:off x="9029471" y="2611119"/>
            <a:ext cx="2522143" cy="790255"/>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258071" y="277571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58071" y="2922015"/>
            <a:ext cx="2064943" cy="424495"/>
          </a:xfrm>
          <a:prstGeom prst="rect">
            <a:avLst/>
          </a:prstGeom>
          <a:noFill/>
        </p:spPr>
        <p:txBody>
          <a:bodyPr wrap="square" anchor="t" lIns="0" rIns="0" tIns="0" bIns="0">
            <a:spAutoFit/>
          </a:bodyPr>
          <a:lstStyle/>
          <a:p>
            <a:pPr algn="l"/>
            <a:r>
              <a:rPr sz="2000" b="0">
                <a:solidFill>
                  <a:srgbClr val="C7C2EF"/>
                </a:solidFill>
                <a:latin typeface="ITC Avant Garde Gothic"/>
              </a:rPr>
              <a:t>ANALIZAR</a:t>
            </a:r>
          </a:p>
        </p:txBody>
      </p:sp>
      <p:sp>
        <p:nvSpPr>
          <p:cNvPr id="16" name="TextBox 15"/>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Un lote de imágenes</a:t>
            </a:r>
          </a:p>
        </p:txBody>
      </p:sp>
      <p:sp>
        <p:nvSpPr>
          <p:cNvPr id="3" name="TextBox 2"/>
          <p:cNvSpPr txBox="1"/>
          <p:nvPr/>
        </p:nvSpPr>
        <p:spPr>
          <a:xfrm>
            <a:off x="640080" y="960120"/>
            <a:ext cx="10911535" cy="642620"/>
          </a:xfrm>
          <a:prstGeom prst="rect">
            <a:avLst/>
          </a:prstGeom>
          <a:noFill/>
        </p:spPr>
        <p:txBody>
          <a:bodyPr wrap="square" anchor="t" lIns="0" rIns="0" tIns="0" bIns="0">
            <a:spAutoFit/>
          </a:bodyPr>
          <a:lstStyle/>
          <a:p>
            <a:pPr algn="l"/>
            <a:r>
              <a:rPr sz="4400" b="1">
                <a:solidFill>
                  <a:srgbClr val="C7C2EF"/>
                </a:solidFill>
                <a:latin typeface="ITC Avant Garde Gothic"/>
              </a:rPr>
              <a:t>Una regla simple elige el modelo</a:t>
            </a:r>
          </a:p>
        </p:txBody>
      </p:sp>
      <p:sp>
        <p:nvSpPr>
          <p:cNvPr id="4" name="Rounded Rectangle 3"/>
          <p:cNvSpPr/>
          <p:nvPr/>
        </p:nvSpPr>
        <p:spPr>
          <a:xfrm>
            <a:off x="640080" y="1968500"/>
            <a:ext cx="2522143" cy="117882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13309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279396"/>
            <a:ext cx="2064943" cy="813060"/>
          </a:xfrm>
          <a:prstGeom prst="rect">
            <a:avLst/>
          </a:prstGeom>
          <a:noFill/>
        </p:spPr>
        <p:txBody>
          <a:bodyPr wrap="square" anchor="t" lIns="0" rIns="0" tIns="0" bIns="0">
            <a:spAutoFit/>
          </a:bodyPr>
          <a:lstStyle/>
          <a:p>
            <a:pPr algn="l"/>
            <a:r>
              <a:rPr sz="2200" b="0">
                <a:solidFill>
                  <a:srgbClr val="C7C2EF"/>
                </a:solidFill>
                <a:latin typeface="ITC Avant Garde Gothic"/>
              </a:rPr>
              <a:t>Máximo de R, G y B</a:t>
            </a:r>
          </a:p>
        </p:txBody>
      </p:sp>
      <p:sp>
        <p:nvSpPr>
          <p:cNvPr id="7" name="Rounded Rectangle 6"/>
          <p:cNvSpPr/>
          <p:nvPr/>
        </p:nvSpPr>
        <p:spPr>
          <a:xfrm>
            <a:off x="3436543" y="1968500"/>
            <a:ext cx="2522143" cy="117882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65143" y="213309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65143" y="2279396"/>
            <a:ext cx="2064943" cy="813060"/>
          </a:xfrm>
          <a:prstGeom prst="rect">
            <a:avLst/>
          </a:prstGeom>
          <a:noFill/>
        </p:spPr>
        <p:txBody>
          <a:bodyPr wrap="square" anchor="t" lIns="0" rIns="0" tIns="0" bIns="0">
            <a:spAutoFit/>
          </a:bodyPr>
          <a:lstStyle/>
          <a:p>
            <a:pPr algn="l"/>
            <a:r>
              <a:rPr sz="2200" b="0">
                <a:solidFill>
                  <a:srgbClr val="C7C2EF"/>
                </a:solidFill>
                <a:latin typeface="ITC Avant Garde Gothic"/>
              </a:rPr>
              <a:t>En cada píxel.</a:t>
            </a:r>
          </a:p>
        </p:txBody>
      </p:sp>
      <p:sp>
        <p:nvSpPr>
          <p:cNvPr id="10" name="Rounded Rectangle 9"/>
          <p:cNvSpPr/>
          <p:nvPr/>
        </p:nvSpPr>
        <p:spPr>
          <a:xfrm>
            <a:off x="6233007" y="1968500"/>
            <a:ext cx="2522143" cy="117882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61607" y="213309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1607" y="2279396"/>
            <a:ext cx="2064943" cy="813060"/>
          </a:xfrm>
          <a:prstGeom prst="rect">
            <a:avLst/>
          </a:prstGeom>
          <a:noFill/>
        </p:spPr>
        <p:txBody>
          <a:bodyPr wrap="square" anchor="t" lIns="0" rIns="0" tIns="0" bIns="0">
            <a:spAutoFit/>
          </a:bodyPr>
          <a:lstStyle/>
          <a:p>
            <a:pPr algn="l"/>
            <a:r>
              <a:rPr sz="2200" b="0">
                <a:solidFill>
                  <a:srgbClr val="C7C2EF"/>
                </a:solidFill>
                <a:latin typeface="ITC Avant Garde Gothic"/>
              </a:rPr>
              <a:t>Mediana</a:t>
            </a:r>
          </a:p>
        </p:txBody>
      </p:sp>
      <p:sp>
        <p:nvSpPr>
          <p:cNvPr id="13" name="Rounded Rectangle 12"/>
          <p:cNvSpPr/>
          <p:nvPr/>
        </p:nvSpPr>
        <p:spPr>
          <a:xfrm>
            <a:off x="9029471" y="1968500"/>
            <a:ext cx="2522143" cy="117882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258071" y="213309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58071" y="2279396"/>
            <a:ext cx="2064943" cy="813060"/>
          </a:xfrm>
          <a:prstGeom prst="rect">
            <a:avLst/>
          </a:prstGeom>
          <a:noFill/>
        </p:spPr>
        <p:txBody>
          <a:bodyPr wrap="square" anchor="t" lIns="0" rIns="0" tIns="0" bIns="0">
            <a:spAutoFit/>
          </a:bodyPr>
          <a:lstStyle/>
          <a:p>
            <a:pPr algn="l"/>
            <a:r>
              <a:rPr sz="2200" b="0">
                <a:solidFill>
                  <a:srgbClr val="C7C2EF"/>
                </a:solidFill>
                <a:latin typeface="ITC Avant Garde Gothic"/>
              </a:rPr>
              <a:t>De todos esos valores.</a:t>
            </a:r>
          </a:p>
        </p:txBody>
      </p:sp>
      <p:sp>
        <p:nvSpPr>
          <p:cNvPr id="16" name="Rounded Rectangle 15"/>
          <p:cNvSpPr/>
          <p:nvPr/>
        </p:nvSpPr>
        <p:spPr>
          <a:xfrm>
            <a:off x="640080" y="3421640"/>
            <a:ext cx="2522143" cy="153963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68680" y="358623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732536"/>
            <a:ext cx="2064943" cy="1173870"/>
          </a:xfrm>
          <a:prstGeom prst="rect">
            <a:avLst/>
          </a:prstGeom>
          <a:noFill/>
        </p:spPr>
        <p:txBody>
          <a:bodyPr wrap="square" anchor="t" lIns="0" rIns="0" tIns="0" bIns="0">
            <a:spAutoFit/>
          </a:bodyPr>
          <a:lstStyle/>
          <a:p>
            <a:pPr algn="l"/>
            <a:r>
              <a:rPr sz="2200" b="0">
                <a:solidFill>
                  <a:srgbClr val="C7C2EF"/>
                </a:solidFill>
                <a:latin typeface="ITC Avant Garde Gothic"/>
              </a:rPr>
              <a:t>¿Más de 127?</a:t>
            </a:r>
          </a:p>
        </p:txBody>
      </p:sp>
      <p:sp>
        <p:nvSpPr>
          <p:cNvPr id="19" name="Rounded Rectangle 18"/>
          <p:cNvSpPr/>
          <p:nvPr/>
        </p:nvSpPr>
        <p:spPr>
          <a:xfrm>
            <a:off x="3436543" y="3421640"/>
            <a:ext cx="2522143" cy="153963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5143" y="358623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65143" y="3732536"/>
            <a:ext cx="2064943" cy="1173870"/>
          </a:xfrm>
          <a:prstGeom prst="rect">
            <a:avLst/>
          </a:prstGeom>
          <a:noFill/>
        </p:spPr>
        <p:txBody>
          <a:bodyPr wrap="square" anchor="t" lIns="0" rIns="0" tIns="0" bIns="0">
            <a:spAutoFit/>
          </a:bodyPr>
          <a:lstStyle/>
          <a:p>
            <a:pPr algn="l"/>
            <a:r>
              <a:rPr sz="2200" b="0">
                <a:solidFill>
                  <a:srgbClr val="C7C2EF"/>
                </a:solidFill>
                <a:latin typeface="ITC Avant Garde Gothic"/>
              </a:rPr>
              <a:t>En una escala de 0 a 255.</a:t>
            </a:r>
          </a:p>
        </p:txBody>
      </p:sp>
      <p:sp>
        <p:nvSpPr>
          <p:cNvPr id="22" name="Rounded Rectangle 21"/>
          <p:cNvSpPr/>
          <p:nvPr/>
        </p:nvSpPr>
        <p:spPr>
          <a:xfrm>
            <a:off x="6233007" y="3421640"/>
            <a:ext cx="2522143" cy="153963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61607" y="358623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61607" y="3732536"/>
            <a:ext cx="2064943" cy="1173870"/>
          </a:xfrm>
          <a:prstGeom prst="rect">
            <a:avLst/>
          </a:prstGeom>
          <a:noFill/>
        </p:spPr>
        <p:txBody>
          <a:bodyPr wrap="square" anchor="t" lIns="0" rIns="0" tIns="0" bIns="0">
            <a:spAutoFit/>
          </a:bodyPr>
          <a:lstStyle/>
          <a:p>
            <a:pPr algn="l"/>
            <a:r>
              <a:rPr sz="2200" b="0">
                <a:solidFill>
                  <a:srgbClr val="C7C2EF"/>
                </a:solidFill>
                <a:latin typeface="ITC Avant Garde Gothic"/>
              </a:rPr>
              <a:t>Fondo claro u oscuro</a:t>
            </a:r>
          </a:p>
        </p:txBody>
      </p:sp>
      <p:sp>
        <p:nvSpPr>
          <p:cNvPr id="25" name="Rounded Rectangle 24"/>
          <p:cNvSpPr/>
          <p:nvPr/>
        </p:nvSpPr>
        <p:spPr>
          <a:xfrm>
            <a:off x="9029471" y="3421640"/>
            <a:ext cx="2522143" cy="153963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58071" y="358623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58071" y="3732536"/>
            <a:ext cx="2064943" cy="1173870"/>
          </a:xfrm>
          <a:prstGeom prst="rect">
            <a:avLst/>
          </a:prstGeom>
          <a:noFill/>
        </p:spPr>
        <p:txBody>
          <a:bodyPr wrap="square" anchor="t" lIns="0" rIns="0" tIns="0" bIns="0">
            <a:spAutoFit/>
          </a:bodyPr>
          <a:lstStyle/>
          <a:p>
            <a:pPr algn="l"/>
            <a:r>
              <a:rPr sz="2200" b="0">
                <a:solidFill>
                  <a:srgbClr val="C7C2EF"/>
                </a:solidFill>
                <a:latin typeface="ITC Avant Garde Gothic"/>
              </a:rPr>
              <a:t>Se aplica el modelo que corresponde.</a:t>
            </a:r>
          </a:p>
        </p:txBody>
      </p:sp>
      <p:sp>
        <p:nvSpPr>
          <p:cNvPr id="28" name="TextBox 27"/>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Un lote de imágenes</a:t>
            </a:r>
          </a:p>
        </p:txBody>
      </p:sp>
      <p:sp>
        <p:nvSpPr>
          <p:cNvPr id="3" name="TextBox 2"/>
          <p:cNvSpPr txBox="1"/>
          <p:nvPr/>
        </p:nvSpPr>
        <p:spPr>
          <a:xfrm>
            <a:off x="640080" y="960120"/>
            <a:ext cx="10911535" cy="1285240"/>
          </a:xfrm>
          <a:prstGeom prst="rect">
            <a:avLst/>
          </a:prstGeom>
          <a:noFill/>
        </p:spPr>
        <p:txBody>
          <a:bodyPr wrap="square" anchor="t" lIns="0" rIns="0" tIns="0" bIns="0">
            <a:spAutoFit/>
          </a:bodyPr>
          <a:lstStyle/>
          <a:p>
            <a:pPr algn="l"/>
            <a:r>
              <a:rPr sz="4400" b="1">
                <a:solidFill>
                  <a:srgbClr val="C7C2EF"/>
                </a:solidFill>
                <a:latin typeface="ITC Avant Garde Gothic"/>
              </a:rPr>
              <a:t>Un bloque por imagen y un promedio del lote</a:t>
            </a:r>
          </a:p>
        </p:txBody>
      </p:sp>
      <p:sp>
        <p:nvSpPr>
          <p:cNvPr id="4" name="Rounded Rectangle 3"/>
          <p:cNvSpPr/>
          <p:nvPr/>
        </p:nvSpPr>
        <p:spPr>
          <a:xfrm>
            <a:off x="640080" y="2611119"/>
            <a:ext cx="2522143" cy="154686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77571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922015"/>
            <a:ext cx="2064943" cy="1181099"/>
          </a:xfrm>
          <a:prstGeom prst="rect">
            <a:avLst/>
          </a:prstGeom>
          <a:noFill/>
        </p:spPr>
        <p:txBody>
          <a:bodyPr wrap="square" anchor="t" lIns="0" rIns="0" tIns="0" bIns="0">
            <a:spAutoFit/>
          </a:bodyPr>
          <a:lstStyle/>
          <a:p>
            <a:pPr algn="l"/>
            <a:r>
              <a:rPr sz="2200" b="0">
                <a:solidFill>
                  <a:srgbClr val="C7C2EF"/>
                </a:solidFill>
                <a:latin typeface="ITC Avant Garde Gothic"/>
              </a:rPr>
              <a:t>Imagen 1: conteo, datos y gráfica</a:t>
            </a:r>
          </a:p>
        </p:txBody>
      </p:sp>
      <p:sp>
        <p:nvSpPr>
          <p:cNvPr id="7" name="Rounded Rectangle 6"/>
          <p:cNvSpPr/>
          <p:nvPr/>
        </p:nvSpPr>
        <p:spPr>
          <a:xfrm>
            <a:off x="3436543" y="2611119"/>
            <a:ext cx="2522143" cy="154686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65143" y="277571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65143" y="2922015"/>
            <a:ext cx="2064943" cy="1181099"/>
          </a:xfrm>
          <a:prstGeom prst="rect">
            <a:avLst/>
          </a:prstGeom>
          <a:noFill/>
        </p:spPr>
        <p:txBody>
          <a:bodyPr wrap="square" anchor="t" lIns="0" rIns="0" tIns="0" bIns="0">
            <a:spAutoFit/>
          </a:bodyPr>
          <a:lstStyle/>
          <a:p>
            <a:pPr algn="l"/>
            <a:r>
              <a:rPr sz="2200" b="0">
                <a:solidFill>
                  <a:srgbClr val="C7C2EF"/>
                </a:solidFill>
                <a:latin typeface="ITC Avant Garde Gothic"/>
              </a:rPr>
              <a:t>Imagen 2: conteo, datos y gráfica</a:t>
            </a:r>
          </a:p>
        </p:txBody>
      </p:sp>
      <p:sp>
        <p:nvSpPr>
          <p:cNvPr id="10" name="Rounded Rectangle 9"/>
          <p:cNvSpPr/>
          <p:nvPr/>
        </p:nvSpPr>
        <p:spPr>
          <a:xfrm>
            <a:off x="6233007" y="2611119"/>
            <a:ext cx="2522143" cy="154686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61607" y="277571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1607" y="2922015"/>
            <a:ext cx="2064943" cy="1181099"/>
          </a:xfrm>
          <a:prstGeom prst="rect">
            <a:avLst/>
          </a:prstGeom>
          <a:noFill/>
        </p:spPr>
        <p:txBody>
          <a:bodyPr wrap="square" anchor="t" lIns="0" rIns="0" tIns="0" bIns="0">
            <a:spAutoFit/>
          </a:bodyPr>
          <a:lstStyle/>
          <a:p>
            <a:pPr algn="l"/>
            <a:r>
              <a:rPr sz="2200" b="0">
                <a:solidFill>
                  <a:srgbClr val="C7C2EF"/>
                </a:solidFill>
                <a:latin typeface="ITC Avant Garde Gothic"/>
              </a:rPr>
              <a:t>Imagen 3: conteo, datos y gráfica</a:t>
            </a:r>
          </a:p>
        </p:txBody>
      </p:sp>
      <p:sp>
        <p:nvSpPr>
          <p:cNvPr id="13" name="Rounded Rectangle 12"/>
          <p:cNvSpPr/>
          <p:nvPr/>
        </p:nvSpPr>
        <p:spPr>
          <a:xfrm>
            <a:off x="9029471" y="2611119"/>
            <a:ext cx="2522143" cy="154686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258071" y="277571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58071" y="2922015"/>
            <a:ext cx="2064943" cy="1181099"/>
          </a:xfrm>
          <a:prstGeom prst="rect">
            <a:avLst/>
          </a:prstGeom>
          <a:noFill/>
        </p:spPr>
        <p:txBody>
          <a:bodyPr wrap="square" anchor="t" lIns="0" rIns="0" tIns="0" bIns="0">
            <a:spAutoFit/>
          </a:bodyPr>
          <a:lstStyle/>
          <a:p>
            <a:pPr algn="l"/>
            <a:r>
              <a:rPr sz="2200" b="0">
                <a:solidFill>
                  <a:srgbClr val="C7C2EF"/>
                </a:solidFill>
                <a:latin typeface="ITC Avant Garde Gothic"/>
              </a:rPr>
              <a:t>Promedio entre las tres imágenes</a:t>
            </a:r>
          </a:p>
        </p:txBody>
      </p:sp>
      <p:sp>
        <p:nvSpPr>
          <p:cNvPr id="16" name="TextBox 15"/>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La escala en micras</a:t>
            </a:r>
          </a:p>
        </p:txBody>
      </p:sp>
      <p:sp>
        <p:nvSpPr>
          <p:cNvPr id="3" name="TextBox 2"/>
          <p:cNvSpPr txBox="1"/>
          <p:nvPr/>
        </p:nvSpPr>
        <p:spPr>
          <a:xfrm>
            <a:off x="640080" y="960120"/>
            <a:ext cx="10911535" cy="642620"/>
          </a:xfrm>
          <a:prstGeom prst="rect">
            <a:avLst/>
          </a:prstGeom>
          <a:noFill/>
        </p:spPr>
        <p:txBody>
          <a:bodyPr wrap="square" anchor="t" lIns="0" rIns="0" tIns="0" bIns="0">
            <a:spAutoFit/>
          </a:bodyPr>
          <a:lstStyle/>
          <a:p>
            <a:pPr algn="l"/>
            <a:r>
              <a:rPr sz="4400" b="1">
                <a:solidFill>
                  <a:srgbClr val="C7C2EF"/>
                </a:solidFill>
                <a:latin typeface="ITC Avant Garde Gothic"/>
              </a:rPr>
              <a:t>La regla de la imagen marcada</a:t>
            </a:r>
          </a:p>
        </p:txBody>
      </p:sp>
      <p:sp>
        <p:nvSpPr>
          <p:cNvPr id="4" name="Rounded Rectangle 3"/>
          <p:cNvSpPr/>
          <p:nvPr/>
        </p:nvSpPr>
        <p:spPr>
          <a:xfrm>
            <a:off x="640080" y="1968500"/>
            <a:ext cx="3454298" cy="19100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13309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279396"/>
            <a:ext cx="2997098" cy="1544320"/>
          </a:xfrm>
          <a:prstGeom prst="rect">
            <a:avLst/>
          </a:prstGeom>
          <a:noFill/>
        </p:spPr>
        <p:txBody>
          <a:bodyPr wrap="square" anchor="t" lIns="0" rIns="0" tIns="0" bIns="0">
            <a:spAutoFit/>
          </a:bodyPr>
          <a:lstStyle/>
          <a:p>
            <a:pPr algn="l"/>
            <a:r>
              <a:rPr sz="2200" b="0">
                <a:solidFill>
                  <a:srgbClr val="C7C2EF"/>
                </a:solidFill>
                <a:latin typeface="ITC Avant Garde Gothic"/>
              </a:rPr>
              <a:t>300 px = 5 micras</a:t>
            </a:r>
          </a:p>
        </p:txBody>
      </p:sp>
      <p:sp>
        <p:nvSpPr>
          <p:cNvPr id="7" name="Rounded Rectangle 6"/>
          <p:cNvSpPr/>
          <p:nvPr/>
        </p:nvSpPr>
        <p:spPr>
          <a:xfrm>
            <a:off x="4368698" y="1968500"/>
            <a:ext cx="3454298" cy="19100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97298" y="213309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7298" y="2279396"/>
            <a:ext cx="2997098" cy="1544320"/>
          </a:xfrm>
          <a:prstGeom prst="rect">
            <a:avLst/>
          </a:prstGeom>
          <a:noFill/>
        </p:spPr>
        <p:txBody>
          <a:bodyPr wrap="square" anchor="t" lIns="0" rIns="0" tIns="0" bIns="0">
            <a:spAutoFit/>
          </a:bodyPr>
          <a:lstStyle/>
          <a:p>
            <a:pPr algn="l"/>
            <a:r>
              <a:rPr sz="2200" b="0">
                <a:solidFill>
                  <a:srgbClr val="C7C2EF"/>
                </a:solidFill>
                <a:latin typeface="ITC Avant Garde Gothic"/>
              </a:rPr>
              <a:t>Una línea de 300 píxeles en la esquina inferior izquierda.</a:t>
            </a:r>
          </a:p>
        </p:txBody>
      </p:sp>
      <p:sp>
        <p:nvSpPr>
          <p:cNvPr id="10" name="Rounded Rectangle 9"/>
          <p:cNvSpPr/>
          <p:nvPr/>
        </p:nvSpPr>
        <p:spPr>
          <a:xfrm>
            <a:off x="8097316" y="1968500"/>
            <a:ext cx="3454298" cy="19100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25916" y="213309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5916" y="2279396"/>
            <a:ext cx="2997098" cy="1544320"/>
          </a:xfrm>
          <a:prstGeom prst="rect">
            <a:avLst/>
          </a:prstGeom>
          <a:noFill/>
        </p:spPr>
        <p:txBody>
          <a:bodyPr wrap="square" anchor="t" lIns="0" rIns="0" tIns="0" bIns="0">
            <a:spAutoFit/>
          </a:bodyPr>
          <a:lstStyle/>
          <a:p>
            <a:pPr algn="l"/>
            <a:r>
              <a:rPr sz="2200" b="0">
                <a:solidFill>
                  <a:srgbClr val="C7C2EF"/>
                </a:solidFill>
                <a:latin typeface="ITC Avant Garde Gothic"/>
              </a:rPr>
              <a:t>Así se ve de inmediato qué equivalencia se usa.</a:t>
            </a:r>
          </a:p>
        </p:txBody>
      </p:sp>
      <p:sp>
        <p:nvSpPr>
          <p:cNvPr id="13" name="TextBox 12"/>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La escala en micras</a:t>
            </a:r>
          </a:p>
        </p:txBody>
      </p:sp>
      <p:sp>
        <p:nvSpPr>
          <p:cNvPr id="3" name="TextBox 2"/>
          <p:cNvSpPr txBox="1"/>
          <p:nvPr/>
        </p:nvSpPr>
        <p:spPr>
          <a:xfrm>
            <a:off x="640080" y="960120"/>
            <a:ext cx="10911535" cy="449833"/>
          </a:xfrm>
          <a:prstGeom prst="rect">
            <a:avLst/>
          </a:prstGeom>
          <a:noFill/>
        </p:spPr>
        <p:txBody>
          <a:bodyPr wrap="square" anchor="t" lIns="0" rIns="0" tIns="0" bIns="0">
            <a:spAutoFit/>
          </a:bodyPr>
          <a:lstStyle/>
          <a:p>
            <a:pPr algn="l"/>
            <a:r>
              <a:rPr sz="3100" b="1">
                <a:solidFill>
                  <a:srgbClr val="C7C2EF"/>
                </a:solidFill>
                <a:latin typeface="ITC Avant Garde Gothic"/>
              </a:rPr>
              <a:t>Sesenta píxeles por micra</a:t>
            </a:r>
          </a:p>
        </p:txBody>
      </p:sp>
      <p:sp>
        <p:nvSpPr>
          <p:cNvPr id="4" name="Rounded Rectangle 3"/>
          <p:cNvSpPr/>
          <p:nvPr/>
        </p:nvSpPr>
        <p:spPr>
          <a:xfrm>
            <a:off x="640080" y="1775714"/>
            <a:ext cx="2522143" cy="74726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86610"/>
            <a:ext cx="2064943" cy="381508"/>
          </a:xfrm>
          <a:prstGeom prst="rect">
            <a:avLst/>
          </a:prstGeom>
          <a:noFill/>
        </p:spPr>
        <p:txBody>
          <a:bodyPr wrap="square" anchor="t" lIns="0" rIns="0" tIns="0" bIns="0">
            <a:spAutoFit/>
          </a:bodyPr>
          <a:lstStyle/>
          <a:p>
            <a:pPr algn="l"/>
            <a:r>
              <a:rPr sz="1100" b="0">
                <a:solidFill>
                  <a:srgbClr val="C7C2EF"/>
                </a:solidFill>
                <a:latin typeface="ITC Avant Garde Gothic"/>
              </a:rPr>
              <a:t>60 px</a:t>
            </a:r>
          </a:p>
        </p:txBody>
      </p:sp>
      <p:sp>
        <p:nvSpPr>
          <p:cNvPr id="7" name="Rounded Rectangle 6"/>
          <p:cNvSpPr/>
          <p:nvPr/>
        </p:nvSpPr>
        <p:spPr>
          <a:xfrm>
            <a:off x="3436543" y="1775714"/>
            <a:ext cx="2522143" cy="74726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65143"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65143" y="2086610"/>
            <a:ext cx="2064943" cy="381508"/>
          </a:xfrm>
          <a:prstGeom prst="rect">
            <a:avLst/>
          </a:prstGeom>
          <a:noFill/>
        </p:spPr>
        <p:txBody>
          <a:bodyPr wrap="square" anchor="t" lIns="0" rIns="0" tIns="0" bIns="0">
            <a:spAutoFit/>
          </a:bodyPr>
          <a:lstStyle/>
          <a:p>
            <a:pPr algn="l"/>
            <a:r>
              <a:rPr sz="1100" b="0">
                <a:solidFill>
                  <a:srgbClr val="C7C2EF"/>
                </a:solidFill>
                <a:latin typeface="ITC Avant Garde Gothic"/>
              </a:rPr>
              <a:t>= 1 micra</a:t>
            </a:r>
          </a:p>
        </p:txBody>
      </p:sp>
      <p:sp>
        <p:nvSpPr>
          <p:cNvPr id="10" name="Rounded Rectangle 9"/>
          <p:cNvSpPr/>
          <p:nvPr/>
        </p:nvSpPr>
        <p:spPr>
          <a:xfrm>
            <a:off x="6233007" y="1775714"/>
            <a:ext cx="2522143" cy="74726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61607"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1607" y="2086610"/>
            <a:ext cx="2064943" cy="381508"/>
          </a:xfrm>
          <a:prstGeom prst="rect">
            <a:avLst/>
          </a:prstGeom>
          <a:noFill/>
        </p:spPr>
        <p:txBody>
          <a:bodyPr wrap="square" anchor="t" lIns="0" rIns="0" tIns="0" bIns="0">
            <a:spAutoFit/>
          </a:bodyPr>
          <a:lstStyle/>
          <a:p>
            <a:pPr algn="l"/>
            <a:r>
              <a:rPr sz="1100" b="0">
                <a:solidFill>
                  <a:srgbClr val="C7C2EF"/>
                </a:solidFill>
                <a:latin typeface="ITC Avant Garde Gothic"/>
              </a:rPr>
              <a:t>Una raya de 300 píxeles equivale a cinco micras.</a:t>
            </a:r>
          </a:p>
        </p:txBody>
      </p:sp>
      <p:sp>
        <p:nvSpPr>
          <p:cNvPr id="13" name="Rounded Rectangle 12"/>
          <p:cNvSpPr/>
          <p:nvPr/>
        </p:nvSpPr>
        <p:spPr>
          <a:xfrm>
            <a:off x="9029471" y="1775714"/>
            <a:ext cx="2522143" cy="74726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258071"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58071" y="2086610"/>
            <a:ext cx="2064943" cy="381508"/>
          </a:xfrm>
          <a:prstGeom prst="rect">
            <a:avLst/>
          </a:prstGeom>
          <a:noFill/>
        </p:spPr>
        <p:txBody>
          <a:bodyPr wrap="square" anchor="t" lIns="0" rIns="0" tIns="0" bIns="0">
            <a:spAutoFit/>
          </a:bodyPr>
          <a:lstStyle/>
          <a:p>
            <a:pPr algn="l"/>
            <a:r>
              <a:rPr sz="1100" b="0">
                <a:solidFill>
                  <a:srgbClr val="C7C2EF"/>
                </a:solidFill>
                <a:latin typeface="ITC Avant Garde Gothic"/>
              </a:rPr>
              <a:t>Resolución de la foto</a:t>
            </a:r>
          </a:p>
        </p:txBody>
      </p:sp>
      <p:sp>
        <p:nvSpPr>
          <p:cNvPr id="16" name="Rounded Rectangle 15"/>
          <p:cNvSpPr/>
          <p:nvPr/>
        </p:nvSpPr>
        <p:spPr>
          <a:xfrm>
            <a:off x="640080" y="2797302"/>
            <a:ext cx="2522143"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68680" y="296189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108198"/>
            <a:ext cx="2064943" cy="199897"/>
          </a:xfrm>
          <a:prstGeom prst="rect">
            <a:avLst/>
          </a:prstGeom>
          <a:noFill/>
        </p:spPr>
        <p:txBody>
          <a:bodyPr wrap="square" anchor="t" lIns="0" rIns="0" tIns="0" bIns="0">
            <a:spAutoFit/>
          </a:bodyPr>
          <a:lstStyle/>
          <a:p>
            <a:pPr algn="l"/>
            <a:r>
              <a:rPr sz="1100" b="0">
                <a:solidFill>
                  <a:srgbClr val="C7C2EF"/>
                </a:solidFill>
                <a:latin typeface="ITC Avant Garde Gothic"/>
              </a:rPr>
              <a:t>Valor</a:t>
            </a:r>
          </a:p>
        </p:txBody>
      </p:sp>
      <p:sp>
        <p:nvSpPr>
          <p:cNvPr id="19" name="Rounded Rectangle 18"/>
          <p:cNvSpPr/>
          <p:nvPr/>
        </p:nvSpPr>
        <p:spPr>
          <a:xfrm>
            <a:off x="3436543" y="2797302"/>
            <a:ext cx="2522143"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5143" y="296189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65143" y="3108198"/>
            <a:ext cx="2064943" cy="199897"/>
          </a:xfrm>
          <a:prstGeom prst="rect">
            <a:avLst/>
          </a:prstGeom>
          <a:noFill/>
        </p:spPr>
        <p:txBody>
          <a:bodyPr wrap="square" anchor="t" lIns="0" rIns="0" tIns="0" bIns="0">
            <a:spAutoFit/>
          </a:bodyPr>
          <a:lstStyle/>
          <a:p>
            <a:pPr algn="l"/>
            <a:r>
              <a:rPr sz="1100" b="0">
                <a:solidFill>
                  <a:srgbClr val="C7C2EF"/>
                </a:solidFill>
                <a:latin typeface="ITC Avant Garde Gothic"/>
              </a:rPr>
              <a:t>≈ 1792 px de ancho</a:t>
            </a:r>
          </a:p>
        </p:txBody>
      </p:sp>
      <p:sp>
        <p:nvSpPr>
          <p:cNvPr id="22" name="Rounded Rectangle 21"/>
          <p:cNvSpPr/>
          <p:nvPr/>
        </p:nvSpPr>
        <p:spPr>
          <a:xfrm>
            <a:off x="6233007" y="2797302"/>
            <a:ext cx="2522143"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61607" y="296189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61607" y="3108198"/>
            <a:ext cx="2064943" cy="199897"/>
          </a:xfrm>
          <a:prstGeom prst="rect">
            <a:avLst/>
          </a:prstGeom>
          <a:noFill/>
        </p:spPr>
        <p:txBody>
          <a:bodyPr wrap="square" anchor="t" lIns="0" rIns="0" tIns="0" bIns="0">
            <a:spAutoFit/>
          </a:bodyPr>
          <a:lstStyle/>
          <a:p>
            <a:pPr algn="l"/>
            <a:r>
              <a:rPr sz="1100" b="0">
                <a:solidFill>
                  <a:srgbClr val="C7C2EF"/>
                </a:solidFill>
                <a:latin typeface="ITC Avant Garde Gothic"/>
              </a:rPr>
              <a:t>propio</a:t>
            </a:r>
          </a:p>
        </p:txBody>
      </p:sp>
      <p:sp>
        <p:nvSpPr>
          <p:cNvPr id="25" name="Rounded Rectangle 24"/>
          <p:cNvSpPr/>
          <p:nvPr/>
        </p:nvSpPr>
        <p:spPr>
          <a:xfrm>
            <a:off x="9029471" y="2797302"/>
            <a:ext cx="2522143"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58071" y="296189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58071" y="3108198"/>
            <a:ext cx="2064943" cy="199897"/>
          </a:xfrm>
          <a:prstGeom prst="rect">
            <a:avLst/>
          </a:prstGeom>
          <a:noFill/>
        </p:spPr>
        <p:txBody>
          <a:bodyPr wrap="square" anchor="t" lIns="0" rIns="0" tIns="0" bIns="0">
            <a:spAutoFit/>
          </a:bodyPr>
          <a:lstStyle/>
          <a:p>
            <a:pPr algn="l"/>
            <a:r>
              <a:rPr sz="1100" b="0">
                <a:solidFill>
                  <a:srgbClr val="C7C2EF"/>
                </a:solidFill>
                <a:latin typeface="ITC Avant Garde Gothic"/>
              </a:rPr>
              <a:t>≈ 3584 px de ancho</a:t>
            </a:r>
          </a:p>
        </p:txBody>
      </p:sp>
      <p:sp>
        <p:nvSpPr>
          <p:cNvPr id="28" name="Rounded Rectangle 27"/>
          <p:cNvSpPr/>
          <p:nvPr/>
        </p:nvSpPr>
        <p:spPr>
          <a:xfrm>
            <a:off x="640080" y="3637280"/>
            <a:ext cx="2522143"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8680" y="380187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3948176"/>
            <a:ext cx="2064943" cy="199897"/>
          </a:xfrm>
          <a:prstGeom prst="rect">
            <a:avLst/>
          </a:prstGeom>
          <a:noFill/>
        </p:spPr>
        <p:txBody>
          <a:bodyPr wrap="square" anchor="t" lIns="0" rIns="0" tIns="0" bIns="0">
            <a:spAutoFit/>
          </a:bodyPr>
          <a:lstStyle/>
          <a:p>
            <a:pPr algn="l"/>
            <a:r>
              <a:rPr sz="1100" b="0">
                <a:solidFill>
                  <a:srgbClr val="C7C2EF"/>
                </a:solidFill>
                <a:latin typeface="ITC Avant Garde Gothic"/>
              </a:rPr>
              <a:t>propio</a:t>
            </a:r>
          </a:p>
        </p:txBody>
      </p:sp>
      <p:sp>
        <p:nvSpPr>
          <p:cNvPr id="31" name="TextBox 30"/>
          <p:cNvSpPr txBox="1"/>
          <p:nvPr/>
        </p:nvSpPr>
        <p:spPr>
          <a:xfrm>
            <a:off x="640080" y="4385818"/>
            <a:ext cx="10911535" cy="185928"/>
          </a:xfrm>
          <a:prstGeom prst="rect">
            <a:avLst/>
          </a:prstGeom>
          <a:noFill/>
        </p:spPr>
        <p:txBody>
          <a:bodyPr wrap="square" anchor="t" lIns="0" rIns="0" tIns="0" bIns="0">
            <a:spAutoFit/>
          </a:bodyPr>
          <a:lstStyle/>
          <a:p>
            <a:pPr algn="l"/>
            <a:r>
              <a:rPr sz="1200" b="0">
                <a:solidFill>
                  <a:srgbClr val="C7C2EF"/>
                </a:solidFill>
                <a:latin typeface="ITC Avant Garde Gothic"/>
              </a:rPr>
              <a:t>Tabla de escalas: un archivo de configuración que se edita sin tocar el código.</a:t>
            </a:r>
          </a:p>
        </p:txBody>
      </p:sp>
      <p:sp>
        <p:nvSpPr>
          <p:cNvPr id="32" name="TextBox 31"/>
          <p:cNvSpPr txBox="1"/>
          <p:nvPr/>
        </p:nvSpPr>
        <p:spPr>
          <a:xfrm>
            <a:off x="640080" y="4800346"/>
            <a:ext cx="10911535" cy="185928"/>
          </a:xfrm>
          <a:prstGeom prst="rect">
            <a:avLst/>
          </a:prstGeom>
          <a:noFill/>
        </p:spPr>
        <p:txBody>
          <a:bodyPr wrap="square" anchor="t" lIns="0" rIns="0" tIns="0" bIns="0">
            <a:spAutoFit/>
          </a:bodyPr>
          <a:lstStyle/>
          <a:p>
            <a:pPr algn="l"/>
            <a:r>
              <a:rPr sz="1200" b="0">
                <a:solidFill>
                  <a:srgbClr val="C7C2EF"/>
                </a:solidFill>
                <a:latin typeface="ITC Avant Garde Gothic"/>
              </a:rPr>
              <a:t>Los píxeles son lo que se midió; las micras, esa medida por el factor de la escala.</a:t>
            </a:r>
          </a:p>
        </p:txBody>
      </p:sp>
      <p:sp>
        <p:nvSpPr>
          <p:cNvPr id="33" name="TextBox 32"/>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Descargar</a:t>
            </a:r>
          </a:p>
        </p:txBody>
      </p:sp>
      <p:sp>
        <p:nvSpPr>
          <p:cNvPr id="3" name="TextBox 2"/>
          <p:cNvSpPr txBox="1"/>
          <p:nvPr/>
        </p:nvSpPr>
        <p:spPr>
          <a:xfrm>
            <a:off x="640080" y="960120"/>
            <a:ext cx="10911535" cy="449833"/>
          </a:xfrm>
          <a:prstGeom prst="rect">
            <a:avLst/>
          </a:prstGeom>
          <a:noFill/>
        </p:spPr>
        <p:txBody>
          <a:bodyPr wrap="square" anchor="t" lIns="0" rIns="0" tIns="0" bIns="0">
            <a:spAutoFit/>
          </a:bodyPr>
          <a:lstStyle/>
          <a:p>
            <a:pPr algn="l"/>
            <a:r>
              <a:rPr sz="3100" b="1">
                <a:solidFill>
                  <a:srgbClr val="C7C2EF"/>
                </a:solidFill>
                <a:latin typeface="ITC Avant Garde Gothic"/>
              </a:rPr>
              <a:t>El CSV: una fila por espermatozoide</a:t>
            </a:r>
          </a:p>
        </p:txBody>
      </p:sp>
      <p:sp>
        <p:nvSpPr>
          <p:cNvPr id="4" name="Rounded Rectangle 3"/>
          <p:cNvSpPr/>
          <p:nvPr/>
        </p:nvSpPr>
        <p:spPr>
          <a:xfrm>
            <a:off x="640080" y="1775714"/>
            <a:ext cx="1243926" cy="7142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86610"/>
            <a:ext cx="786726" cy="348487"/>
          </a:xfrm>
          <a:prstGeom prst="rect">
            <a:avLst/>
          </a:prstGeom>
          <a:noFill/>
        </p:spPr>
        <p:txBody>
          <a:bodyPr wrap="square" anchor="t" lIns="0" rIns="0" tIns="0" bIns="0">
            <a:spAutoFit/>
          </a:bodyPr>
          <a:lstStyle/>
          <a:p>
            <a:pPr algn="l"/>
            <a:r>
              <a:rPr sz="1000" b="0">
                <a:solidFill>
                  <a:srgbClr val="C7C2EF"/>
                </a:solidFill>
                <a:latin typeface="ITC Avant Garde Gothic"/>
              </a:rPr>
              <a:t>imagen</a:t>
            </a:r>
          </a:p>
        </p:txBody>
      </p:sp>
      <p:sp>
        <p:nvSpPr>
          <p:cNvPr id="7" name="Rounded Rectangle 6"/>
          <p:cNvSpPr/>
          <p:nvPr/>
        </p:nvSpPr>
        <p:spPr>
          <a:xfrm>
            <a:off x="2021166" y="1775714"/>
            <a:ext cx="1243926" cy="7142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49766"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49766" y="2086610"/>
            <a:ext cx="786726" cy="348487"/>
          </a:xfrm>
          <a:prstGeom prst="rect">
            <a:avLst/>
          </a:prstGeom>
          <a:noFill/>
        </p:spPr>
        <p:txBody>
          <a:bodyPr wrap="square" anchor="t" lIns="0" rIns="0" tIns="0" bIns="0">
            <a:spAutoFit/>
          </a:bodyPr>
          <a:lstStyle/>
          <a:p>
            <a:pPr algn="l"/>
            <a:r>
              <a:rPr sz="1000" b="0">
                <a:solidFill>
                  <a:srgbClr val="C7C2EF"/>
                </a:solidFill>
                <a:latin typeface="ITC Avant Garde Gothic"/>
              </a:rPr>
              <a:t>espermatozoide</a:t>
            </a:r>
          </a:p>
        </p:txBody>
      </p:sp>
      <p:sp>
        <p:nvSpPr>
          <p:cNvPr id="10" name="Rounded Rectangle 9"/>
          <p:cNvSpPr/>
          <p:nvPr/>
        </p:nvSpPr>
        <p:spPr>
          <a:xfrm>
            <a:off x="3402253" y="1775714"/>
            <a:ext cx="1243926" cy="7142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30853"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30853" y="2086610"/>
            <a:ext cx="786726" cy="348487"/>
          </a:xfrm>
          <a:prstGeom prst="rect">
            <a:avLst/>
          </a:prstGeom>
          <a:noFill/>
        </p:spPr>
        <p:txBody>
          <a:bodyPr wrap="square" anchor="t" lIns="0" rIns="0" tIns="0" bIns="0">
            <a:spAutoFit/>
          </a:bodyPr>
          <a:lstStyle/>
          <a:p>
            <a:pPr algn="l"/>
            <a:r>
              <a:rPr sz="1000" b="0">
                <a:solidFill>
                  <a:srgbClr val="C7C2EF"/>
                </a:solidFill>
                <a:latin typeface="ITC Avant Garde Gothic"/>
              </a:rPr>
              <a:t>area_px</a:t>
            </a:r>
          </a:p>
        </p:txBody>
      </p:sp>
      <p:sp>
        <p:nvSpPr>
          <p:cNvPr id="13" name="Rounded Rectangle 12"/>
          <p:cNvSpPr/>
          <p:nvPr/>
        </p:nvSpPr>
        <p:spPr>
          <a:xfrm>
            <a:off x="4783340" y="1775714"/>
            <a:ext cx="1243926" cy="7142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11940"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11940" y="2086610"/>
            <a:ext cx="786726" cy="348487"/>
          </a:xfrm>
          <a:prstGeom prst="rect">
            <a:avLst/>
          </a:prstGeom>
          <a:noFill/>
        </p:spPr>
        <p:txBody>
          <a:bodyPr wrap="square" anchor="t" lIns="0" rIns="0" tIns="0" bIns="0">
            <a:spAutoFit/>
          </a:bodyPr>
          <a:lstStyle/>
          <a:p>
            <a:pPr algn="l"/>
            <a:r>
              <a:rPr sz="1000" b="0">
                <a:solidFill>
                  <a:srgbClr val="C7C2EF"/>
                </a:solidFill>
                <a:latin typeface="ITC Avant Garde Gothic"/>
              </a:rPr>
              <a:t>longitud_px</a:t>
            </a:r>
          </a:p>
        </p:txBody>
      </p:sp>
      <p:sp>
        <p:nvSpPr>
          <p:cNvPr id="16" name="Rounded Rectangle 15"/>
          <p:cNvSpPr/>
          <p:nvPr/>
        </p:nvSpPr>
        <p:spPr>
          <a:xfrm>
            <a:off x="6164427" y="1775714"/>
            <a:ext cx="1243926" cy="7142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93027"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93027" y="2086610"/>
            <a:ext cx="786726" cy="348487"/>
          </a:xfrm>
          <a:prstGeom prst="rect">
            <a:avLst/>
          </a:prstGeom>
          <a:noFill/>
        </p:spPr>
        <p:txBody>
          <a:bodyPr wrap="square" anchor="t" lIns="0" rIns="0" tIns="0" bIns="0">
            <a:spAutoFit/>
          </a:bodyPr>
          <a:lstStyle/>
          <a:p>
            <a:pPr algn="l"/>
            <a:r>
              <a:rPr sz="1000" b="0">
                <a:solidFill>
                  <a:srgbClr val="C7C2EF"/>
                </a:solidFill>
                <a:latin typeface="ITC Avant Garde Gothic"/>
              </a:rPr>
              <a:t>area_um2</a:t>
            </a:r>
          </a:p>
        </p:txBody>
      </p:sp>
      <p:sp>
        <p:nvSpPr>
          <p:cNvPr id="19" name="Rounded Rectangle 18"/>
          <p:cNvSpPr/>
          <p:nvPr/>
        </p:nvSpPr>
        <p:spPr>
          <a:xfrm>
            <a:off x="7545514" y="1775714"/>
            <a:ext cx="1243926" cy="7142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4114"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4114" y="2086610"/>
            <a:ext cx="786726" cy="348487"/>
          </a:xfrm>
          <a:prstGeom prst="rect">
            <a:avLst/>
          </a:prstGeom>
          <a:noFill/>
        </p:spPr>
        <p:txBody>
          <a:bodyPr wrap="square" anchor="t" lIns="0" rIns="0" tIns="0" bIns="0">
            <a:spAutoFit/>
          </a:bodyPr>
          <a:lstStyle/>
          <a:p>
            <a:pPr algn="l"/>
            <a:r>
              <a:rPr sz="1000" b="0">
                <a:solidFill>
                  <a:srgbClr val="C7C2EF"/>
                </a:solidFill>
                <a:latin typeface="ITC Avant Garde Gothic"/>
              </a:rPr>
              <a:t>longitud_um</a:t>
            </a:r>
          </a:p>
        </p:txBody>
      </p:sp>
      <p:sp>
        <p:nvSpPr>
          <p:cNvPr id="22" name="Rounded Rectangle 21"/>
          <p:cNvSpPr/>
          <p:nvPr/>
        </p:nvSpPr>
        <p:spPr>
          <a:xfrm>
            <a:off x="8926601" y="1775714"/>
            <a:ext cx="1243926" cy="7142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55201"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55201" y="2086610"/>
            <a:ext cx="786726" cy="348487"/>
          </a:xfrm>
          <a:prstGeom prst="rect">
            <a:avLst/>
          </a:prstGeom>
          <a:noFill/>
        </p:spPr>
        <p:txBody>
          <a:bodyPr wrap="square" anchor="t" lIns="0" rIns="0" tIns="0" bIns="0">
            <a:spAutoFit/>
          </a:bodyPr>
          <a:lstStyle/>
          <a:p>
            <a:pPr algn="l"/>
            <a:r>
              <a:rPr sz="1000" b="0">
                <a:solidFill>
                  <a:srgbClr val="C7C2EF"/>
                </a:solidFill>
                <a:latin typeface="ITC Avant Garde Gothic"/>
              </a:rPr>
              <a:t>Núm. 2.bmp</a:t>
            </a:r>
          </a:p>
        </p:txBody>
      </p:sp>
      <p:sp>
        <p:nvSpPr>
          <p:cNvPr id="25" name="Rounded Rectangle 24"/>
          <p:cNvSpPr/>
          <p:nvPr/>
        </p:nvSpPr>
        <p:spPr>
          <a:xfrm>
            <a:off x="10307688" y="1775714"/>
            <a:ext cx="1243926" cy="7142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536288"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536288" y="2086610"/>
            <a:ext cx="786726" cy="348487"/>
          </a:xfrm>
          <a:prstGeom prst="rect">
            <a:avLst/>
          </a:prstGeom>
          <a:noFill/>
        </p:spPr>
        <p:txBody>
          <a:bodyPr wrap="square" anchor="t" lIns="0" rIns="0" tIns="0" bIns="0">
            <a:spAutoFit/>
          </a:bodyPr>
          <a:lstStyle/>
          <a:p>
            <a:pPr algn="l"/>
            <a:r>
              <a:rPr sz="1000" b="0">
                <a:solidFill>
                  <a:srgbClr val="C7C2EF"/>
                </a:solidFill>
                <a:latin typeface="ITC Avant Garde Gothic"/>
              </a:rPr>
              <a:t>1</a:t>
            </a:r>
          </a:p>
        </p:txBody>
      </p:sp>
      <p:sp>
        <p:nvSpPr>
          <p:cNvPr id="28" name="Rounded Rectangle 27"/>
          <p:cNvSpPr/>
          <p:nvPr/>
        </p:nvSpPr>
        <p:spPr>
          <a:xfrm>
            <a:off x="640080" y="2627122"/>
            <a:ext cx="1243926" cy="5491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8680" y="279171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2938018"/>
            <a:ext cx="786726" cy="183387"/>
          </a:xfrm>
          <a:prstGeom prst="rect">
            <a:avLst/>
          </a:prstGeom>
          <a:noFill/>
        </p:spPr>
        <p:txBody>
          <a:bodyPr wrap="square" anchor="t" lIns="0" rIns="0" tIns="0" bIns="0">
            <a:spAutoFit/>
          </a:bodyPr>
          <a:lstStyle/>
          <a:p>
            <a:pPr algn="l"/>
            <a:r>
              <a:rPr sz="1000" b="0">
                <a:solidFill>
                  <a:srgbClr val="C7C2EF"/>
                </a:solidFill>
                <a:latin typeface="ITC Avant Garde Gothic"/>
              </a:rPr>
              <a:t>1392</a:t>
            </a:r>
          </a:p>
        </p:txBody>
      </p:sp>
      <p:sp>
        <p:nvSpPr>
          <p:cNvPr id="31" name="Rounded Rectangle 30"/>
          <p:cNvSpPr/>
          <p:nvPr/>
        </p:nvSpPr>
        <p:spPr>
          <a:xfrm>
            <a:off x="2021166" y="2627122"/>
            <a:ext cx="1243926" cy="5491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249766" y="279171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249766" y="2938018"/>
            <a:ext cx="786726" cy="183387"/>
          </a:xfrm>
          <a:prstGeom prst="rect">
            <a:avLst/>
          </a:prstGeom>
          <a:noFill/>
        </p:spPr>
        <p:txBody>
          <a:bodyPr wrap="square" anchor="t" lIns="0" rIns="0" tIns="0" bIns="0">
            <a:spAutoFit/>
          </a:bodyPr>
          <a:lstStyle/>
          <a:p>
            <a:pPr algn="l"/>
            <a:r>
              <a:rPr sz="1000" b="0">
                <a:solidFill>
                  <a:srgbClr val="C7C2EF"/>
                </a:solidFill>
                <a:latin typeface="ITC Avant Garde Gothic"/>
              </a:rPr>
              <a:t>82.4</a:t>
            </a:r>
          </a:p>
        </p:txBody>
      </p:sp>
      <p:sp>
        <p:nvSpPr>
          <p:cNvPr id="34" name="Rounded Rectangle 33"/>
          <p:cNvSpPr/>
          <p:nvPr/>
        </p:nvSpPr>
        <p:spPr>
          <a:xfrm>
            <a:off x="3402253" y="2627122"/>
            <a:ext cx="1243926" cy="5491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30853" y="279171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30853" y="2938018"/>
            <a:ext cx="786726" cy="183387"/>
          </a:xfrm>
          <a:prstGeom prst="rect">
            <a:avLst/>
          </a:prstGeom>
          <a:noFill/>
        </p:spPr>
        <p:txBody>
          <a:bodyPr wrap="square" anchor="t" lIns="0" rIns="0" tIns="0" bIns="0">
            <a:spAutoFit/>
          </a:bodyPr>
          <a:lstStyle/>
          <a:p>
            <a:pPr algn="l"/>
            <a:r>
              <a:rPr sz="1000" b="0">
                <a:solidFill>
                  <a:srgbClr val="C7C2EF"/>
                </a:solidFill>
                <a:latin typeface="ITC Avant Garde Gothic"/>
              </a:rPr>
              <a:t>0.387</a:t>
            </a:r>
          </a:p>
        </p:txBody>
      </p:sp>
      <p:sp>
        <p:nvSpPr>
          <p:cNvPr id="37" name="Rounded Rectangle 36"/>
          <p:cNvSpPr/>
          <p:nvPr/>
        </p:nvSpPr>
        <p:spPr>
          <a:xfrm>
            <a:off x="4783340" y="2627122"/>
            <a:ext cx="1243926" cy="5491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11940" y="279171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11940" y="2938018"/>
            <a:ext cx="786726" cy="183387"/>
          </a:xfrm>
          <a:prstGeom prst="rect">
            <a:avLst/>
          </a:prstGeom>
          <a:noFill/>
        </p:spPr>
        <p:txBody>
          <a:bodyPr wrap="square" anchor="t" lIns="0" rIns="0" tIns="0" bIns="0">
            <a:spAutoFit/>
          </a:bodyPr>
          <a:lstStyle/>
          <a:p>
            <a:pPr algn="l"/>
            <a:r>
              <a:rPr sz="1000" b="0">
                <a:solidFill>
                  <a:srgbClr val="C7C2EF"/>
                </a:solidFill>
                <a:latin typeface="ITC Avant Garde Gothic"/>
              </a:rPr>
              <a:t>1.37</a:t>
            </a:r>
          </a:p>
        </p:txBody>
      </p:sp>
      <p:sp>
        <p:nvSpPr>
          <p:cNvPr id="40" name="Rounded Rectangle 39"/>
          <p:cNvSpPr/>
          <p:nvPr/>
        </p:nvSpPr>
        <p:spPr>
          <a:xfrm>
            <a:off x="6164427" y="2627122"/>
            <a:ext cx="1243926" cy="5491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93027" y="279171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93027" y="2938018"/>
            <a:ext cx="786726" cy="183387"/>
          </a:xfrm>
          <a:prstGeom prst="rect">
            <a:avLst/>
          </a:prstGeom>
          <a:noFill/>
        </p:spPr>
        <p:txBody>
          <a:bodyPr wrap="square" anchor="t" lIns="0" rIns="0" tIns="0" bIns="0">
            <a:spAutoFit/>
          </a:bodyPr>
          <a:lstStyle/>
          <a:p>
            <a:pPr algn="l"/>
            <a:r>
              <a:rPr sz="1000" b="0">
                <a:solidFill>
                  <a:srgbClr val="C7C2EF"/>
                </a:solidFill>
                <a:latin typeface="ITC Avant Garde Gothic"/>
              </a:rPr>
              <a:t>Núm. 2.bmp</a:t>
            </a:r>
          </a:p>
        </p:txBody>
      </p:sp>
      <p:sp>
        <p:nvSpPr>
          <p:cNvPr id="43" name="Rounded Rectangle 42"/>
          <p:cNvSpPr/>
          <p:nvPr/>
        </p:nvSpPr>
        <p:spPr>
          <a:xfrm>
            <a:off x="7545514" y="2627122"/>
            <a:ext cx="1243926" cy="5491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4114" y="279171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74114" y="2938018"/>
            <a:ext cx="786726" cy="183387"/>
          </a:xfrm>
          <a:prstGeom prst="rect">
            <a:avLst/>
          </a:prstGeom>
          <a:noFill/>
        </p:spPr>
        <p:txBody>
          <a:bodyPr wrap="square" anchor="t" lIns="0" rIns="0" tIns="0" bIns="0">
            <a:spAutoFit/>
          </a:bodyPr>
          <a:lstStyle/>
          <a:p>
            <a:pPr algn="l"/>
            <a:r>
              <a:rPr sz="1000" b="0">
                <a:solidFill>
                  <a:srgbClr val="C7C2EF"/>
                </a:solidFill>
                <a:latin typeface="ITC Avant Garde Gothic"/>
              </a:rPr>
              <a:t>2</a:t>
            </a:r>
          </a:p>
        </p:txBody>
      </p:sp>
      <p:sp>
        <p:nvSpPr>
          <p:cNvPr id="46" name="Rounded Rectangle 45"/>
          <p:cNvSpPr/>
          <p:nvPr/>
        </p:nvSpPr>
        <p:spPr>
          <a:xfrm>
            <a:off x="8926601" y="2627122"/>
            <a:ext cx="1243926" cy="5491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155201" y="279171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55201" y="2938018"/>
            <a:ext cx="786726" cy="183387"/>
          </a:xfrm>
          <a:prstGeom prst="rect">
            <a:avLst/>
          </a:prstGeom>
          <a:noFill/>
        </p:spPr>
        <p:txBody>
          <a:bodyPr wrap="square" anchor="t" lIns="0" rIns="0" tIns="0" bIns="0">
            <a:spAutoFit/>
          </a:bodyPr>
          <a:lstStyle/>
          <a:p>
            <a:pPr algn="l"/>
            <a:r>
              <a:rPr sz="1000" b="0">
                <a:solidFill>
                  <a:srgbClr val="C7C2EF"/>
                </a:solidFill>
                <a:latin typeface="ITC Avant Garde Gothic"/>
              </a:rPr>
              <a:t>1571</a:t>
            </a:r>
          </a:p>
        </p:txBody>
      </p:sp>
      <p:sp>
        <p:nvSpPr>
          <p:cNvPr id="49" name="Rounded Rectangle 48"/>
          <p:cNvSpPr/>
          <p:nvPr/>
        </p:nvSpPr>
        <p:spPr>
          <a:xfrm>
            <a:off x="10307688" y="2627122"/>
            <a:ext cx="1243926" cy="5491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0536288" y="279171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36288" y="2938018"/>
            <a:ext cx="786726" cy="183387"/>
          </a:xfrm>
          <a:prstGeom prst="rect">
            <a:avLst/>
          </a:prstGeom>
          <a:noFill/>
        </p:spPr>
        <p:txBody>
          <a:bodyPr wrap="square" anchor="t" lIns="0" rIns="0" tIns="0" bIns="0">
            <a:spAutoFit/>
          </a:bodyPr>
          <a:lstStyle/>
          <a:p>
            <a:pPr algn="l"/>
            <a:r>
              <a:rPr sz="1000" b="0">
                <a:solidFill>
                  <a:srgbClr val="C7C2EF"/>
                </a:solidFill>
                <a:latin typeface="ITC Avant Garde Gothic"/>
              </a:rPr>
              <a:t>86.3</a:t>
            </a:r>
          </a:p>
        </p:txBody>
      </p:sp>
      <p:sp>
        <p:nvSpPr>
          <p:cNvPr id="52" name="Rounded Rectangle 51"/>
          <p:cNvSpPr/>
          <p:nvPr/>
        </p:nvSpPr>
        <p:spPr>
          <a:xfrm>
            <a:off x="640080" y="3313430"/>
            <a:ext cx="1243926" cy="5491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68680" y="347802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68680" y="3624326"/>
            <a:ext cx="786726" cy="183387"/>
          </a:xfrm>
          <a:prstGeom prst="rect">
            <a:avLst/>
          </a:prstGeom>
          <a:noFill/>
        </p:spPr>
        <p:txBody>
          <a:bodyPr wrap="square" anchor="t" lIns="0" rIns="0" tIns="0" bIns="0">
            <a:spAutoFit/>
          </a:bodyPr>
          <a:lstStyle/>
          <a:p>
            <a:pPr algn="l"/>
            <a:r>
              <a:rPr sz="1000" b="0">
                <a:solidFill>
                  <a:srgbClr val="C7C2EF"/>
                </a:solidFill>
                <a:latin typeface="ITC Avant Garde Gothic"/>
              </a:rPr>
              <a:t>0.436</a:t>
            </a:r>
          </a:p>
        </p:txBody>
      </p:sp>
      <p:sp>
        <p:nvSpPr>
          <p:cNvPr id="55" name="Rounded Rectangle 54"/>
          <p:cNvSpPr/>
          <p:nvPr/>
        </p:nvSpPr>
        <p:spPr>
          <a:xfrm>
            <a:off x="2021166" y="3313430"/>
            <a:ext cx="1243926" cy="5491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249766" y="347802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249766" y="3624326"/>
            <a:ext cx="786726" cy="183387"/>
          </a:xfrm>
          <a:prstGeom prst="rect">
            <a:avLst/>
          </a:prstGeom>
          <a:noFill/>
        </p:spPr>
        <p:txBody>
          <a:bodyPr wrap="square" anchor="t" lIns="0" rIns="0" tIns="0" bIns="0">
            <a:spAutoFit/>
          </a:bodyPr>
          <a:lstStyle/>
          <a:p>
            <a:pPr algn="l"/>
            <a:r>
              <a:rPr sz="1000" b="0">
                <a:solidFill>
                  <a:srgbClr val="C7C2EF"/>
                </a:solidFill>
                <a:latin typeface="ITC Avant Garde Gothic"/>
              </a:rPr>
              <a:t>1.44</a:t>
            </a:r>
          </a:p>
        </p:txBody>
      </p:sp>
      <p:sp>
        <p:nvSpPr>
          <p:cNvPr id="58" name="Rounded Rectangle 57"/>
          <p:cNvSpPr/>
          <p:nvPr/>
        </p:nvSpPr>
        <p:spPr>
          <a:xfrm>
            <a:off x="3402253" y="3313430"/>
            <a:ext cx="1243926" cy="5491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3630853" y="347802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630853" y="3624326"/>
            <a:ext cx="786726" cy="183387"/>
          </a:xfrm>
          <a:prstGeom prst="rect">
            <a:avLst/>
          </a:prstGeom>
          <a:noFill/>
        </p:spPr>
        <p:txBody>
          <a:bodyPr wrap="square" anchor="t" lIns="0" rIns="0" tIns="0" bIns="0">
            <a:spAutoFit/>
          </a:bodyPr>
          <a:lstStyle/>
          <a:p>
            <a:pPr algn="l"/>
            <a:r>
              <a:rPr sz="1000" b="0">
                <a:solidFill>
                  <a:srgbClr val="C7C2EF"/>
                </a:solidFill>
                <a:latin typeface="ITC Avant Garde Gothic"/>
              </a:rPr>
              <a:t>Núm. 2.bmp</a:t>
            </a:r>
          </a:p>
        </p:txBody>
      </p:sp>
      <p:sp>
        <p:nvSpPr>
          <p:cNvPr id="61" name="Rounded Rectangle 60"/>
          <p:cNvSpPr/>
          <p:nvPr/>
        </p:nvSpPr>
        <p:spPr>
          <a:xfrm>
            <a:off x="4783340" y="3313430"/>
            <a:ext cx="1243926" cy="5491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5011940" y="347802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11940" y="3624326"/>
            <a:ext cx="786726" cy="183387"/>
          </a:xfrm>
          <a:prstGeom prst="rect">
            <a:avLst/>
          </a:prstGeom>
          <a:noFill/>
        </p:spPr>
        <p:txBody>
          <a:bodyPr wrap="square" anchor="t" lIns="0" rIns="0" tIns="0" bIns="0">
            <a:spAutoFit/>
          </a:bodyPr>
          <a:lstStyle/>
          <a:p>
            <a:pPr algn="l"/>
            <a:r>
              <a:rPr sz="1000" b="0">
                <a:solidFill>
                  <a:srgbClr val="C7C2EF"/>
                </a:solidFill>
                <a:latin typeface="ITC Avant Garde Gothic"/>
              </a:rPr>
              <a:t>3</a:t>
            </a:r>
          </a:p>
        </p:txBody>
      </p:sp>
      <p:sp>
        <p:nvSpPr>
          <p:cNvPr id="64" name="Rounded Rectangle 63"/>
          <p:cNvSpPr/>
          <p:nvPr/>
        </p:nvSpPr>
        <p:spPr>
          <a:xfrm>
            <a:off x="6164427" y="3313430"/>
            <a:ext cx="1243926" cy="5491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393027" y="347802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393027" y="3624326"/>
            <a:ext cx="786726" cy="183387"/>
          </a:xfrm>
          <a:prstGeom prst="rect">
            <a:avLst/>
          </a:prstGeom>
          <a:noFill/>
        </p:spPr>
        <p:txBody>
          <a:bodyPr wrap="square" anchor="t" lIns="0" rIns="0" tIns="0" bIns="0">
            <a:spAutoFit/>
          </a:bodyPr>
          <a:lstStyle/>
          <a:p>
            <a:pPr algn="l"/>
            <a:r>
              <a:rPr sz="1000" b="0">
                <a:solidFill>
                  <a:srgbClr val="C7C2EF"/>
                </a:solidFill>
                <a:latin typeface="ITC Avant Garde Gothic"/>
              </a:rPr>
              <a:t>1320</a:t>
            </a:r>
          </a:p>
        </p:txBody>
      </p:sp>
      <p:sp>
        <p:nvSpPr>
          <p:cNvPr id="67" name="Rounded Rectangle 66"/>
          <p:cNvSpPr/>
          <p:nvPr/>
        </p:nvSpPr>
        <p:spPr>
          <a:xfrm>
            <a:off x="7545514" y="3313430"/>
            <a:ext cx="1243926" cy="5491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7774114" y="347802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774114" y="3624326"/>
            <a:ext cx="786726" cy="183387"/>
          </a:xfrm>
          <a:prstGeom prst="rect">
            <a:avLst/>
          </a:prstGeom>
          <a:noFill/>
        </p:spPr>
        <p:txBody>
          <a:bodyPr wrap="square" anchor="t" lIns="0" rIns="0" tIns="0" bIns="0">
            <a:spAutoFit/>
          </a:bodyPr>
          <a:lstStyle/>
          <a:p>
            <a:pPr algn="l"/>
            <a:r>
              <a:rPr sz="1000" b="0">
                <a:solidFill>
                  <a:srgbClr val="C7C2EF"/>
                </a:solidFill>
                <a:latin typeface="ITC Avant Garde Gothic"/>
              </a:rPr>
              <a:t>75.1</a:t>
            </a:r>
          </a:p>
        </p:txBody>
      </p:sp>
      <p:sp>
        <p:nvSpPr>
          <p:cNvPr id="70" name="Rounded Rectangle 69"/>
          <p:cNvSpPr/>
          <p:nvPr/>
        </p:nvSpPr>
        <p:spPr>
          <a:xfrm>
            <a:off x="8926601" y="3313430"/>
            <a:ext cx="1243926" cy="5491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9155201" y="347802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155201" y="3624326"/>
            <a:ext cx="786726" cy="183387"/>
          </a:xfrm>
          <a:prstGeom prst="rect">
            <a:avLst/>
          </a:prstGeom>
          <a:noFill/>
        </p:spPr>
        <p:txBody>
          <a:bodyPr wrap="square" anchor="t" lIns="0" rIns="0" tIns="0" bIns="0">
            <a:spAutoFit/>
          </a:bodyPr>
          <a:lstStyle/>
          <a:p>
            <a:pPr algn="l"/>
            <a:r>
              <a:rPr sz="1000" b="0">
                <a:solidFill>
                  <a:srgbClr val="C7C2EF"/>
                </a:solidFill>
                <a:latin typeface="ITC Avant Garde Gothic"/>
              </a:rPr>
              <a:t>0.367</a:t>
            </a:r>
          </a:p>
        </p:txBody>
      </p:sp>
      <p:sp>
        <p:nvSpPr>
          <p:cNvPr id="73" name="Rounded Rectangle 72"/>
          <p:cNvSpPr/>
          <p:nvPr/>
        </p:nvSpPr>
        <p:spPr>
          <a:xfrm>
            <a:off x="10307688" y="3313430"/>
            <a:ext cx="1243926" cy="5491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0536288" y="347802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536288" y="3624326"/>
            <a:ext cx="786726" cy="183387"/>
          </a:xfrm>
          <a:prstGeom prst="rect">
            <a:avLst/>
          </a:prstGeom>
          <a:noFill/>
        </p:spPr>
        <p:txBody>
          <a:bodyPr wrap="square" anchor="t" lIns="0" rIns="0" tIns="0" bIns="0">
            <a:spAutoFit/>
          </a:bodyPr>
          <a:lstStyle/>
          <a:p>
            <a:pPr algn="l"/>
            <a:r>
              <a:rPr sz="1000" b="0">
                <a:solidFill>
                  <a:srgbClr val="C7C2EF"/>
                </a:solidFill>
                <a:latin typeface="ITC Avant Garde Gothic"/>
              </a:rPr>
              <a:t>1.25</a:t>
            </a:r>
          </a:p>
        </p:txBody>
      </p:sp>
      <p:sp>
        <p:nvSpPr>
          <p:cNvPr id="76" name="Rounded Rectangle 75"/>
          <p:cNvSpPr/>
          <p:nvPr/>
        </p:nvSpPr>
        <p:spPr>
          <a:xfrm>
            <a:off x="640080" y="3999738"/>
            <a:ext cx="1243926" cy="10444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68680" y="416432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68680" y="4310634"/>
            <a:ext cx="786726" cy="678688"/>
          </a:xfrm>
          <a:prstGeom prst="rect">
            <a:avLst/>
          </a:prstGeom>
          <a:noFill/>
        </p:spPr>
        <p:txBody>
          <a:bodyPr wrap="square" anchor="t" lIns="0" rIns="0" tIns="0" bIns="0">
            <a:spAutoFit/>
          </a:bodyPr>
          <a:lstStyle/>
          <a:p>
            <a:pPr algn="l"/>
            <a:r>
              <a:rPr sz="1000" b="0">
                <a:solidFill>
                  <a:srgbClr val="C7C2EF"/>
                </a:solidFill>
                <a:latin typeface="ITC Avant Garde Gothic"/>
              </a:rPr>
              <a:t>Núm. 3.bmp</a:t>
            </a:r>
          </a:p>
        </p:txBody>
      </p:sp>
      <p:sp>
        <p:nvSpPr>
          <p:cNvPr id="79" name="Rounded Rectangle 78"/>
          <p:cNvSpPr/>
          <p:nvPr/>
        </p:nvSpPr>
        <p:spPr>
          <a:xfrm>
            <a:off x="2021166" y="3999738"/>
            <a:ext cx="1243926" cy="10444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2249766" y="416432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249766" y="4310634"/>
            <a:ext cx="786726" cy="678688"/>
          </a:xfrm>
          <a:prstGeom prst="rect">
            <a:avLst/>
          </a:prstGeom>
          <a:noFill/>
        </p:spPr>
        <p:txBody>
          <a:bodyPr wrap="square" anchor="t" lIns="0" rIns="0" tIns="0" bIns="0">
            <a:spAutoFit/>
          </a:bodyPr>
          <a:lstStyle/>
          <a:p>
            <a:pPr algn="l"/>
            <a:r>
              <a:rPr sz="1000" b="0">
                <a:solidFill>
                  <a:srgbClr val="C7C2EF"/>
                </a:solidFill>
                <a:latin typeface="ITC Avant Garde Gothic"/>
              </a:rPr>
              <a:t>1</a:t>
            </a:r>
          </a:p>
        </p:txBody>
      </p:sp>
      <p:sp>
        <p:nvSpPr>
          <p:cNvPr id="82" name="Rounded Rectangle 81"/>
          <p:cNvSpPr/>
          <p:nvPr/>
        </p:nvSpPr>
        <p:spPr>
          <a:xfrm>
            <a:off x="3402253" y="3999738"/>
            <a:ext cx="1243926" cy="10444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3630853" y="416432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3630853" y="4310634"/>
            <a:ext cx="786726" cy="678688"/>
          </a:xfrm>
          <a:prstGeom prst="rect">
            <a:avLst/>
          </a:prstGeom>
          <a:noFill/>
        </p:spPr>
        <p:txBody>
          <a:bodyPr wrap="square" anchor="t" lIns="0" rIns="0" tIns="0" bIns="0">
            <a:spAutoFit/>
          </a:bodyPr>
          <a:lstStyle/>
          <a:p>
            <a:pPr algn="l"/>
            <a:r>
              <a:rPr sz="1000" b="0">
                <a:solidFill>
                  <a:srgbClr val="C7C2EF"/>
                </a:solidFill>
                <a:latin typeface="ITC Avant Garde Gothic"/>
              </a:rPr>
              <a:t>757</a:t>
            </a:r>
          </a:p>
        </p:txBody>
      </p:sp>
      <p:sp>
        <p:nvSpPr>
          <p:cNvPr id="85" name="Rounded Rectangle 84"/>
          <p:cNvSpPr/>
          <p:nvPr/>
        </p:nvSpPr>
        <p:spPr>
          <a:xfrm>
            <a:off x="4783340" y="3999738"/>
            <a:ext cx="1243926" cy="10444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5011940" y="416432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011940" y="4310634"/>
            <a:ext cx="786726" cy="678688"/>
          </a:xfrm>
          <a:prstGeom prst="rect">
            <a:avLst/>
          </a:prstGeom>
          <a:noFill/>
        </p:spPr>
        <p:txBody>
          <a:bodyPr wrap="square" anchor="t" lIns="0" rIns="0" tIns="0" bIns="0">
            <a:spAutoFit/>
          </a:bodyPr>
          <a:lstStyle/>
          <a:p>
            <a:pPr algn="l"/>
            <a:r>
              <a:rPr sz="1000" b="0">
                <a:solidFill>
                  <a:srgbClr val="C7C2EF"/>
                </a:solidFill>
                <a:latin typeface="ITC Avant Garde Gothic"/>
              </a:rPr>
              <a:t>65.2</a:t>
            </a:r>
          </a:p>
        </p:txBody>
      </p:sp>
      <p:sp>
        <p:nvSpPr>
          <p:cNvPr id="88" name="Rounded Rectangle 87"/>
          <p:cNvSpPr/>
          <p:nvPr/>
        </p:nvSpPr>
        <p:spPr>
          <a:xfrm>
            <a:off x="6164427" y="3999738"/>
            <a:ext cx="1243926" cy="10444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393027" y="416432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6393027" y="4310634"/>
            <a:ext cx="786726" cy="678688"/>
          </a:xfrm>
          <a:prstGeom prst="rect">
            <a:avLst/>
          </a:prstGeom>
          <a:noFill/>
        </p:spPr>
        <p:txBody>
          <a:bodyPr wrap="square" anchor="t" lIns="0" rIns="0" tIns="0" bIns="0">
            <a:spAutoFit/>
          </a:bodyPr>
          <a:lstStyle/>
          <a:p>
            <a:pPr algn="l"/>
            <a:r>
              <a:rPr sz="1000" b="0">
                <a:solidFill>
                  <a:srgbClr val="C7C2EF"/>
                </a:solidFill>
                <a:latin typeface="ITC Avant Garde Gothic"/>
              </a:rPr>
              <a:t>0.21</a:t>
            </a:r>
          </a:p>
        </p:txBody>
      </p:sp>
      <p:sp>
        <p:nvSpPr>
          <p:cNvPr id="91" name="Rounded Rectangle 90"/>
          <p:cNvSpPr/>
          <p:nvPr/>
        </p:nvSpPr>
        <p:spPr>
          <a:xfrm>
            <a:off x="7545514" y="3999738"/>
            <a:ext cx="1243926" cy="10444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7774114" y="416432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7774114" y="4310634"/>
            <a:ext cx="786726" cy="678688"/>
          </a:xfrm>
          <a:prstGeom prst="rect">
            <a:avLst/>
          </a:prstGeom>
          <a:noFill/>
        </p:spPr>
        <p:txBody>
          <a:bodyPr wrap="square" anchor="t" lIns="0" rIns="0" tIns="0" bIns="0">
            <a:spAutoFit/>
          </a:bodyPr>
          <a:lstStyle/>
          <a:p>
            <a:pPr algn="l"/>
            <a:r>
              <a:rPr sz="1000" b="0">
                <a:solidFill>
                  <a:srgbClr val="C7C2EF"/>
                </a:solidFill>
                <a:latin typeface="ITC Avant Garde Gothic"/>
              </a:rPr>
              <a:t>1.09</a:t>
            </a:r>
          </a:p>
        </p:txBody>
      </p:sp>
      <p:sp>
        <p:nvSpPr>
          <p:cNvPr id="94" name="Rounded Rectangle 93"/>
          <p:cNvSpPr/>
          <p:nvPr/>
        </p:nvSpPr>
        <p:spPr>
          <a:xfrm>
            <a:off x="8926601" y="3999738"/>
            <a:ext cx="1243926" cy="10444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9155201" y="416432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9155201" y="4310634"/>
            <a:ext cx="786726" cy="678688"/>
          </a:xfrm>
          <a:prstGeom prst="rect">
            <a:avLst/>
          </a:prstGeom>
          <a:noFill/>
        </p:spPr>
        <p:txBody>
          <a:bodyPr wrap="square" anchor="t" lIns="0" rIns="0" tIns="0" bIns="0">
            <a:spAutoFit/>
          </a:bodyPr>
          <a:lstStyle/>
          <a:p>
            <a:pPr algn="l"/>
            <a:r>
              <a:rPr sz="1000" b="0">
                <a:solidFill>
                  <a:srgbClr val="C7C2EF"/>
                </a:solidFill>
                <a:latin typeface="ITC Avant Garde Gothic"/>
              </a:rPr>
              <a:t>Hoja de cálculo o código propio</a:t>
            </a:r>
          </a:p>
        </p:txBody>
      </p:sp>
      <p:sp>
        <p:nvSpPr>
          <p:cNvPr id="97" name="TextBox 96"/>
          <p:cNvSpPr txBox="1"/>
          <p:nvPr/>
        </p:nvSpPr>
        <p:spPr>
          <a:xfrm>
            <a:off x="640080" y="5227066"/>
            <a:ext cx="10911535" cy="185928"/>
          </a:xfrm>
          <a:prstGeom prst="rect">
            <a:avLst/>
          </a:prstGeom>
          <a:noFill/>
        </p:spPr>
        <p:txBody>
          <a:bodyPr wrap="square" anchor="t" lIns="0" rIns="0" tIns="0" bIns="0">
            <a:spAutoFit/>
          </a:bodyPr>
          <a:lstStyle/>
          <a:p>
            <a:pPr algn="l"/>
            <a:r>
              <a:rPr sz="1200" b="0">
                <a:solidFill>
                  <a:srgbClr val="C7C2EF"/>
                </a:solidFill>
                <a:latin typeface="ITC Avant Garde Gothic"/>
              </a:rPr>
              <a:t>Varias imágenes, en un solo archivo, identificadas por la primera columna.</a:t>
            </a:r>
          </a:p>
        </p:txBody>
      </p:sp>
      <p:sp>
        <p:nvSpPr>
          <p:cNvPr id="98" name="TextBox 97"/>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Descargar</a:t>
            </a:r>
          </a:p>
        </p:txBody>
      </p:sp>
      <p:sp>
        <p:nvSpPr>
          <p:cNvPr id="3" name="TextBox 2"/>
          <p:cNvSpPr txBox="1"/>
          <p:nvPr/>
        </p:nvSpPr>
        <p:spPr>
          <a:xfrm>
            <a:off x="640080" y="960120"/>
            <a:ext cx="10911535" cy="462686"/>
          </a:xfrm>
          <a:prstGeom prst="rect">
            <a:avLst/>
          </a:prstGeom>
          <a:noFill/>
        </p:spPr>
        <p:txBody>
          <a:bodyPr wrap="square" anchor="t" lIns="0" rIns="0" tIns="0" bIns="0">
            <a:spAutoFit/>
          </a:bodyPr>
          <a:lstStyle/>
          <a:p>
            <a:pPr algn="l"/>
            <a:r>
              <a:rPr sz="3200" b="1">
                <a:solidFill>
                  <a:srgbClr val="C7C2EF"/>
                </a:solidFill>
                <a:latin typeface="ITC Avant Garde Gothic"/>
              </a:rPr>
              <a:t>El PDF: un informe con un análisis por imagen</a:t>
            </a:r>
          </a:p>
        </p:txBody>
      </p:sp>
      <p:sp>
        <p:nvSpPr>
          <p:cNvPr id="4" name="TextBox 3"/>
          <p:cNvSpPr txBox="1"/>
          <p:nvPr/>
        </p:nvSpPr>
        <p:spPr>
          <a:xfrm>
            <a:off x="640080" y="1788566"/>
            <a:ext cx="10911535" cy="267736"/>
          </a:xfrm>
          <a:prstGeom prst="rect">
            <a:avLst/>
          </a:prstGeom>
          <a:noFill/>
        </p:spPr>
        <p:txBody>
          <a:bodyPr wrap="square" anchor="t" lIns="0" rIns="0" tIns="0" bIns="0">
            <a:spAutoFit/>
          </a:bodyPr>
          <a:lstStyle/>
          <a:p>
            <a:pPr algn="l"/>
            <a:r>
              <a:rPr sz="1700" b="0">
                <a:solidFill>
                  <a:srgbClr val="C7C2EF"/>
                </a:solidFill>
                <a:latin typeface="ITC Avant Garde Gothic"/>
              </a:rPr>
              <a:t>Primera página: usuario, fecha, número de imágenes y recuadros de contexto</a:t>
            </a:r>
          </a:p>
        </p:txBody>
      </p:sp>
      <p:sp>
        <p:nvSpPr>
          <p:cNvPr id="5" name="Rounded Rectangle 4"/>
          <p:cNvSpPr/>
          <p:nvPr/>
        </p:nvSpPr>
        <p:spPr>
          <a:xfrm>
            <a:off x="640080" y="2284902"/>
            <a:ext cx="5318607" cy="90708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68680" y="244949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595798"/>
            <a:ext cx="4861407" cy="541324"/>
          </a:xfrm>
          <a:prstGeom prst="rect">
            <a:avLst/>
          </a:prstGeom>
          <a:noFill/>
        </p:spPr>
        <p:txBody>
          <a:bodyPr wrap="square" anchor="t" lIns="0" rIns="0" tIns="0" bIns="0">
            <a:spAutoFit/>
          </a:bodyPr>
          <a:lstStyle/>
          <a:p>
            <a:pPr algn="l"/>
            <a:r>
              <a:rPr sz="1600" b="0">
                <a:solidFill>
                  <a:srgbClr val="C7C2EF"/>
                </a:solidFill>
                <a:latin typeface="ITC Avant Garde Gothic"/>
              </a:rPr>
              <a:t>Una página por imagen: marcas, conteo, media, desviación y gráfica</a:t>
            </a:r>
          </a:p>
        </p:txBody>
      </p:sp>
      <p:sp>
        <p:nvSpPr>
          <p:cNvPr id="8" name="Rounded Rectangle 7"/>
          <p:cNvSpPr/>
          <p:nvPr/>
        </p:nvSpPr>
        <p:spPr>
          <a:xfrm>
            <a:off x="6233007" y="2284902"/>
            <a:ext cx="5318607" cy="90708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61607" y="244949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1607" y="2595798"/>
            <a:ext cx="4861407" cy="541324"/>
          </a:xfrm>
          <a:prstGeom prst="rect">
            <a:avLst/>
          </a:prstGeom>
          <a:noFill/>
        </p:spPr>
        <p:txBody>
          <a:bodyPr wrap="square" anchor="t" lIns="0" rIns="0" tIns="0" bIns="0">
            <a:spAutoFit/>
          </a:bodyPr>
          <a:lstStyle/>
          <a:p>
            <a:pPr algn="l"/>
            <a:r>
              <a:rPr sz="1600" b="0">
                <a:solidFill>
                  <a:srgbClr val="C7C2EF"/>
                </a:solidFill>
                <a:latin typeface="ITC Avant Garde Gothic"/>
              </a:rPr>
              <a:t>Un solo PDF</a:t>
            </a:r>
          </a:p>
        </p:txBody>
      </p:sp>
      <p:sp>
        <p:nvSpPr>
          <p:cNvPr id="11" name="TextBox 10"/>
          <p:cNvSpPr txBox="1"/>
          <p:nvPr/>
        </p:nvSpPr>
        <p:spPr>
          <a:xfrm>
            <a:off x="640080" y="3374867"/>
            <a:ext cx="10911535" cy="267736"/>
          </a:xfrm>
          <a:prstGeom prst="rect">
            <a:avLst/>
          </a:prstGeom>
          <a:noFill/>
        </p:spPr>
        <p:txBody>
          <a:bodyPr wrap="square" anchor="t" lIns="0" rIns="0" tIns="0" bIns="0">
            <a:spAutoFit/>
          </a:bodyPr>
          <a:lstStyle/>
          <a:p>
            <a:pPr algn="l"/>
            <a:r>
              <a:rPr sz="1700" b="0">
                <a:solidFill>
                  <a:srgbClr val="C7C2EF"/>
                </a:solidFill>
                <a:latin typeface="ITC Avant Garde Gothic"/>
              </a:rPr>
              <a:t>Diez imágenes no producen diez archivos, sino un documento con diez análisis.</a:t>
            </a:r>
          </a:p>
        </p:txBody>
      </p:sp>
      <p:sp>
        <p:nvSpPr>
          <p:cNvPr id="12" name="Rounded Rectangle 11"/>
          <p:cNvSpPr/>
          <p:nvPr/>
        </p:nvSpPr>
        <p:spPr>
          <a:xfrm>
            <a:off x="640080" y="3871203"/>
            <a:ext cx="10911535" cy="645566"/>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68680" y="403579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182099"/>
            <a:ext cx="10454335" cy="279806"/>
          </a:xfrm>
          <a:prstGeom prst="rect">
            <a:avLst/>
          </a:prstGeom>
          <a:noFill/>
        </p:spPr>
        <p:txBody>
          <a:bodyPr wrap="square" anchor="t" lIns="0" rIns="0" tIns="0" bIns="0">
            <a:spAutoFit/>
          </a:bodyPr>
          <a:lstStyle/>
          <a:p>
            <a:pPr algn="l"/>
            <a:r>
              <a:rPr sz="1600" b="0">
                <a:solidFill>
                  <a:srgbClr val="C7C2EF"/>
                </a:solidFill>
                <a:latin typeface="ITC Avant Garde Gothic"/>
              </a:rPr>
              <a:t>Con varias imágenes se añade una página con la gráfica de promedios.</a:t>
            </a:r>
          </a:p>
        </p:txBody>
      </p:sp>
      <p:sp>
        <p:nvSpPr>
          <p:cNvPr id="15" name="TextBox 14"/>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Descargar</a:t>
            </a:r>
          </a:p>
        </p:txBody>
      </p:sp>
      <p:sp>
        <p:nvSpPr>
          <p:cNvPr id="3" name="TextBox 2"/>
          <p:cNvSpPr txBox="1"/>
          <p:nvPr/>
        </p:nvSpPr>
        <p:spPr>
          <a:xfrm>
            <a:off x="640080" y="960120"/>
            <a:ext cx="10911535" cy="501243"/>
          </a:xfrm>
          <a:prstGeom prst="rect">
            <a:avLst/>
          </a:prstGeom>
          <a:noFill/>
        </p:spPr>
        <p:txBody>
          <a:bodyPr wrap="square" anchor="t" lIns="0" rIns="0" tIns="0" bIns="0">
            <a:spAutoFit/>
          </a:bodyPr>
          <a:lstStyle/>
          <a:p>
            <a:pPr algn="l"/>
            <a:r>
              <a:rPr sz="3400" b="1">
                <a:solidFill>
                  <a:srgbClr val="C7C2EF"/>
                </a:solidFill>
                <a:latin typeface="ITC Avant Garde Gothic"/>
              </a:rPr>
              <a:t>Las gráficas de pantalla y las del PDF</a:t>
            </a:r>
          </a:p>
        </p:txBody>
      </p:sp>
      <p:sp>
        <p:nvSpPr>
          <p:cNvPr id="4" name="Rounded Rectangle 3"/>
          <p:cNvSpPr/>
          <p:nvPr/>
        </p:nvSpPr>
        <p:spPr>
          <a:xfrm>
            <a:off x="640080" y="1827123"/>
            <a:ext cx="3454298" cy="1233982"/>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99171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138019"/>
            <a:ext cx="2997098" cy="868222"/>
          </a:xfrm>
          <a:prstGeom prst="rect">
            <a:avLst/>
          </a:prstGeom>
          <a:noFill/>
        </p:spPr>
        <p:txBody>
          <a:bodyPr wrap="square" anchor="t" lIns="0" rIns="0" tIns="0" bIns="0">
            <a:spAutoFit/>
          </a:bodyPr>
          <a:lstStyle/>
          <a:p>
            <a:pPr algn="l"/>
            <a:r>
              <a:rPr sz="1700" b="0">
                <a:solidFill>
                  <a:srgbClr val="C7C2EF"/>
                </a:solidFill>
                <a:latin typeface="ITC Avant Garde Gothic"/>
              </a:rPr>
              <a:t>Pantalla</a:t>
            </a:r>
          </a:p>
        </p:txBody>
      </p:sp>
      <p:sp>
        <p:nvSpPr>
          <p:cNvPr id="7" name="Rounded Rectangle 6"/>
          <p:cNvSpPr/>
          <p:nvPr/>
        </p:nvSpPr>
        <p:spPr>
          <a:xfrm>
            <a:off x="4368698" y="1827123"/>
            <a:ext cx="3454298" cy="1233982"/>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97298" y="199171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7298" y="2138019"/>
            <a:ext cx="2997098" cy="868222"/>
          </a:xfrm>
          <a:prstGeom prst="rect">
            <a:avLst/>
          </a:prstGeom>
          <a:noFill/>
        </p:spPr>
        <p:txBody>
          <a:bodyPr wrap="square" anchor="t" lIns="0" rIns="0" tIns="0" bIns="0">
            <a:spAutoFit/>
          </a:bodyPr>
          <a:lstStyle/>
          <a:p>
            <a:pPr algn="l"/>
            <a:r>
              <a:rPr sz="1700" b="0">
                <a:solidFill>
                  <a:srgbClr val="C7C2EF"/>
                </a:solidFill>
                <a:latin typeface="ITC Avant Garde Gothic"/>
              </a:rPr>
              <a:t>Se dibujan en el navegador con Chart.js: interactivas y ligeras.</a:t>
            </a:r>
          </a:p>
        </p:txBody>
      </p:sp>
      <p:sp>
        <p:nvSpPr>
          <p:cNvPr id="10" name="Rounded Rectangle 9"/>
          <p:cNvSpPr/>
          <p:nvPr/>
        </p:nvSpPr>
        <p:spPr>
          <a:xfrm>
            <a:off x="8097316" y="1827123"/>
            <a:ext cx="3454298" cy="1233982"/>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25916" y="199171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5916" y="2138019"/>
            <a:ext cx="2997098" cy="868222"/>
          </a:xfrm>
          <a:prstGeom prst="rect">
            <a:avLst/>
          </a:prstGeom>
          <a:noFill/>
        </p:spPr>
        <p:txBody>
          <a:bodyPr wrap="square" anchor="t" lIns="0" rIns="0" tIns="0" bIns="0">
            <a:spAutoFit/>
          </a:bodyPr>
          <a:lstStyle/>
          <a:p>
            <a:pPr algn="l"/>
            <a:r>
              <a:rPr sz="1700" b="0">
                <a:solidFill>
                  <a:srgbClr val="C7C2EF"/>
                </a:solidFill>
                <a:latin typeface="ITC Avant Garde Gothic"/>
              </a:rPr>
              <a:t>PDF</a:t>
            </a:r>
          </a:p>
        </p:txBody>
      </p:sp>
      <p:sp>
        <p:nvSpPr>
          <p:cNvPr id="13" name="TextBox 12"/>
          <p:cNvSpPr txBox="1"/>
          <p:nvPr/>
        </p:nvSpPr>
        <p:spPr>
          <a:xfrm>
            <a:off x="640080" y="3243986"/>
            <a:ext cx="10911535" cy="580095"/>
          </a:xfrm>
          <a:prstGeom prst="rect">
            <a:avLst/>
          </a:prstGeom>
          <a:noFill/>
        </p:spPr>
        <p:txBody>
          <a:bodyPr wrap="square" anchor="t" lIns="0" rIns="0" tIns="0" bIns="0">
            <a:spAutoFit/>
          </a:bodyPr>
          <a:lstStyle/>
          <a:p>
            <a:pPr algn="l"/>
            <a:r>
              <a:rPr sz="1900" b="0">
                <a:solidFill>
                  <a:srgbClr val="C7C2EF"/>
                </a:solidFill>
                <a:latin typeface="ITC Avant Garde Gothic"/>
              </a:rPr>
              <a:t>Se dibujan en el servidor con matplotlib y se incrustan como imagen; el PDF se arma con fpdf2.</a:t>
            </a:r>
          </a:p>
        </p:txBody>
      </p:sp>
      <p:sp>
        <p:nvSpPr>
          <p:cNvPr id="14" name="Rounded Rectangle 13"/>
          <p:cNvSpPr/>
          <p:nvPr/>
        </p:nvSpPr>
        <p:spPr>
          <a:xfrm>
            <a:off x="640080" y="4052681"/>
            <a:ext cx="10911535" cy="66735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4217273"/>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363577"/>
            <a:ext cx="10454335" cy="301599"/>
          </a:xfrm>
          <a:prstGeom prst="rect">
            <a:avLst/>
          </a:prstGeom>
          <a:noFill/>
        </p:spPr>
        <p:txBody>
          <a:bodyPr wrap="square" anchor="t" lIns="0" rIns="0" tIns="0" bIns="0">
            <a:spAutoFit/>
          </a:bodyPr>
          <a:lstStyle/>
          <a:p>
            <a:pPr algn="l"/>
            <a:r>
              <a:rPr sz="1700" b="0">
                <a:solidFill>
                  <a:srgbClr val="C7C2EF"/>
                </a:solidFill>
                <a:latin typeface="ITC Avant Garde Gothic"/>
              </a:rPr>
              <a:t>Los datos son los mismos; cambia el motor de dibujo.</a:t>
            </a:r>
          </a:p>
        </p:txBody>
      </p:sp>
      <p:sp>
        <p:nvSpPr>
          <p:cNvPr id="17" name="TextBox 16"/>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Descargar</a:t>
            </a:r>
          </a:p>
        </p:txBody>
      </p:sp>
      <p:sp>
        <p:nvSpPr>
          <p:cNvPr id="3" name="TextBox 2"/>
          <p:cNvSpPr txBox="1"/>
          <p:nvPr/>
        </p:nvSpPr>
        <p:spPr>
          <a:xfrm>
            <a:off x="640080" y="960120"/>
            <a:ext cx="10911535" cy="462686"/>
          </a:xfrm>
          <a:prstGeom prst="rect">
            <a:avLst/>
          </a:prstGeom>
          <a:noFill/>
        </p:spPr>
        <p:txBody>
          <a:bodyPr wrap="square" anchor="t" lIns="0" rIns="0" tIns="0" bIns="0">
            <a:spAutoFit/>
          </a:bodyPr>
          <a:lstStyle/>
          <a:p>
            <a:pPr algn="l"/>
            <a:r>
              <a:rPr sz="3200" b="1">
                <a:solidFill>
                  <a:srgbClr val="C7C2EF"/>
                </a:solidFill>
                <a:latin typeface="ITC Avant Garde Gothic"/>
              </a:rPr>
              <a:t>Imprimir, y un PDF que se genera una sola vez</a:t>
            </a:r>
          </a:p>
        </p:txBody>
      </p:sp>
      <p:sp>
        <p:nvSpPr>
          <p:cNvPr id="4" name="Rounded Rectangle 3"/>
          <p:cNvSpPr/>
          <p:nvPr/>
        </p:nvSpPr>
        <p:spPr>
          <a:xfrm>
            <a:off x="640080" y="1788566"/>
            <a:ext cx="3454298" cy="116860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95315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99462"/>
            <a:ext cx="2997098" cy="802843"/>
          </a:xfrm>
          <a:prstGeom prst="rect">
            <a:avLst/>
          </a:prstGeom>
          <a:noFill/>
        </p:spPr>
        <p:txBody>
          <a:bodyPr wrap="square" anchor="t" lIns="0" rIns="0" tIns="0" bIns="0">
            <a:spAutoFit/>
          </a:bodyPr>
          <a:lstStyle/>
          <a:p>
            <a:pPr algn="l"/>
            <a:r>
              <a:rPr sz="1600" b="0">
                <a:solidFill>
                  <a:srgbClr val="C7C2EF"/>
                </a:solidFill>
                <a:latin typeface="ITC Avant Garde Gothic"/>
              </a:rPr>
              <a:t>Imprimir</a:t>
            </a:r>
          </a:p>
        </p:txBody>
      </p:sp>
      <p:sp>
        <p:nvSpPr>
          <p:cNvPr id="7" name="Rounded Rectangle 6"/>
          <p:cNvSpPr/>
          <p:nvPr/>
        </p:nvSpPr>
        <p:spPr>
          <a:xfrm>
            <a:off x="4368698" y="1788566"/>
            <a:ext cx="3454298" cy="116860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97298" y="195315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7298" y="2099462"/>
            <a:ext cx="2997098" cy="802843"/>
          </a:xfrm>
          <a:prstGeom prst="rect">
            <a:avLst/>
          </a:prstGeom>
          <a:noFill/>
        </p:spPr>
        <p:txBody>
          <a:bodyPr wrap="square" anchor="t" lIns="0" rIns="0" tIns="0" bIns="0">
            <a:spAutoFit/>
          </a:bodyPr>
          <a:lstStyle/>
          <a:p>
            <a:pPr algn="l"/>
            <a:r>
              <a:rPr sz="1600" b="0">
                <a:solidFill>
                  <a:srgbClr val="C7C2EF"/>
                </a:solidFill>
                <a:latin typeface="ITC Avant Garde Gothic"/>
              </a:rPr>
              <a:t>Se oculta el menú, los botones y la ruta: solo el contenido.</a:t>
            </a:r>
          </a:p>
        </p:txBody>
      </p:sp>
      <p:sp>
        <p:nvSpPr>
          <p:cNvPr id="10" name="Rounded Rectangle 9"/>
          <p:cNvSpPr/>
          <p:nvPr/>
        </p:nvSpPr>
        <p:spPr>
          <a:xfrm>
            <a:off x="8097316" y="1788566"/>
            <a:ext cx="3454298" cy="116860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25916" y="195315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5916" y="2099462"/>
            <a:ext cx="2997098" cy="802843"/>
          </a:xfrm>
          <a:prstGeom prst="rect">
            <a:avLst/>
          </a:prstGeom>
          <a:noFill/>
        </p:spPr>
        <p:txBody>
          <a:bodyPr wrap="square" anchor="t" lIns="0" rIns="0" tIns="0" bIns="0">
            <a:spAutoFit/>
          </a:bodyPr>
          <a:lstStyle/>
          <a:p>
            <a:pPr algn="l"/>
            <a:r>
              <a:rPr sz="1600" b="0">
                <a:solidFill>
                  <a:srgbClr val="C7C2EF"/>
                </a:solidFill>
                <a:latin typeface="ITC Avant Garde Gothic"/>
              </a:rPr>
              <a:t>El PDF</a:t>
            </a:r>
          </a:p>
        </p:txBody>
      </p:sp>
      <p:sp>
        <p:nvSpPr>
          <p:cNvPr id="13" name="Rounded Rectangle 12"/>
          <p:cNvSpPr/>
          <p:nvPr/>
        </p:nvSpPr>
        <p:spPr>
          <a:xfrm>
            <a:off x="640080" y="3231489"/>
            <a:ext cx="3454298" cy="645566"/>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68680" y="3396081"/>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542385"/>
            <a:ext cx="2997098" cy="279806"/>
          </a:xfrm>
          <a:prstGeom prst="rect">
            <a:avLst/>
          </a:prstGeom>
          <a:noFill/>
        </p:spPr>
        <p:txBody>
          <a:bodyPr wrap="square" anchor="t" lIns="0" rIns="0" tIns="0" bIns="0">
            <a:spAutoFit/>
          </a:bodyPr>
          <a:lstStyle/>
          <a:p>
            <a:pPr algn="l"/>
            <a:r>
              <a:rPr sz="1600" b="0">
                <a:solidFill>
                  <a:srgbClr val="C7C2EF"/>
                </a:solidFill>
                <a:latin typeface="ITC Avant Garde Gothic"/>
              </a:rPr>
              <a:t>Se genera al analizar</a:t>
            </a:r>
          </a:p>
        </p:txBody>
      </p:sp>
      <p:sp>
        <p:nvSpPr>
          <p:cNvPr id="16" name="Rounded Rectangle 15"/>
          <p:cNvSpPr/>
          <p:nvPr/>
        </p:nvSpPr>
        <p:spPr>
          <a:xfrm>
            <a:off x="4368698" y="3231489"/>
            <a:ext cx="3454298" cy="645566"/>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97298" y="3396081"/>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97298" y="3542385"/>
            <a:ext cx="2997098" cy="279806"/>
          </a:xfrm>
          <a:prstGeom prst="rect">
            <a:avLst/>
          </a:prstGeom>
          <a:noFill/>
        </p:spPr>
        <p:txBody>
          <a:bodyPr wrap="square" anchor="t" lIns="0" rIns="0" tIns="0" bIns="0">
            <a:spAutoFit/>
          </a:bodyPr>
          <a:lstStyle/>
          <a:p>
            <a:pPr algn="l"/>
            <a:r>
              <a:rPr sz="1600" b="0">
                <a:solidFill>
                  <a:srgbClr val="C7C2EF"/>
                </a:solidFill>
                <a:latin typeface="ITC Avant Garde Gothic"/>
              </a:rPr>
              <a:t>Se guarda</a:t>
            </a:r>
          </a:p>
        </p:txBody>
      </p:sp>
      <p:sp>
        <p:nvSpPr>
          <p:cNvPr id="19" name="TextBox 18"/>
          <p:cNvSpPr txBox="1"/>
          <p:nvPr/>
        </p:nvSpPr>
        <p:spPr>
          <a:xfrm>
            <a:off x="640080" y="4059936"/>
            <a:ext cx="10911535" cy="535472"/>
          </a:xfrm>
          <a:prstGeom prst="rect">
            <a:avLst/>
          </a:prstGeom>
          <a:noFill/>
        </p:spPr>
        <p:txBody>
          <a:bodyPr wrap="square" anchor="t" lIns="0" rIns="0" tIns="0" bIns="0">
            <a:spAutoFit/>
          </a:bodyPr>
          <a:lstStyle/>
          <a:p>
            <a:pPr algn="l"/>
            <a:r>
              <a:rPr sz="1700" b="0">
                <a:solidFill>
                  <a:srgbClr val="C7C2EF"/>
                </a:solidFill>
                <a:latin typeface="ITC Avant Garde Gothic"/>
              </a:rPr>
              <a:t>Al volver a descargarlo no se recalcula: el de hoy y el de dentro de un mes son idénticos.</a:t>
            </a:r>
          </a:p>
        </p:txBody>
      </p:sp>
      <p:sp>
        <p:nvSpPr>
          <p:cNvPr id="20" name="TextBox 19"/>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Mis análisis</a:t>
            </a:r>
          </a:p>
        </p:txBody>
      </p:sp>
      <p:sp>
        <p:nvSpPr>
          <p:cNvPr id="3" name="TextBox 2"/>
          <p:cNvSpPr txBox="1"/>
          <p:nvPr/>
        </p:nvSpPr>
        <p:spPr>
          <a:xfrm>
            <a:off x="640080" y="960120"/>
            <a:ext cx="10911535" cy="449833"/>
          </a:xfrm>
          <a:prstGeom prst="rect">
            <a:avLst/>
          </a:prstGeom>
          <a:noFill/>
        </p:spPr>
        <p:txBody>
          <a:bodyPr wrap="square" anchor="t" lIns="0" rIns="0" tIns="0" bIns="0">
            <a:spAutoFit/>
          </a:bodyPr>
          <a:lstStyle/>
          <a:p>
            <a:pPr algn="l"/>
            <a:r>
              <a:rPr sz="3100" b="1">
                <a:solidFill>
                  <a:srgbClr val="C7C2EF"/>
                </a:solidFill>
                <a:latin typeface="ITC Avant Garde Gothic"/>
              </a:rPr>
              <a:t>El perfil y la sección «Mis análisis»</a:t>
            </a:r>
          </a:p>
        </p:txBody>
      </p:sp>
      <p:sp>
        <p:nvSpPr>
          <p:cNvPr id="4" name="Rounded Rectangle 3"/>
          <p:cNvSpPr/>
          <p:nvPr/>
        </p:nvSpPr>
        <p:spPr>
          <a:xfrm>
            <a:off x="640080" y="1775714"/>
            <a:ext cx="1589989" cy="7142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86610"/>
            <a:ext cx="1132789" cy="348487"/>
          </a:xfrm>
          <a:prstGeom prst="rect">
            <a:avLst/>
          </a:prstGeom>
          <a:noFill/>
        </p:spPr>
        <p:txBody>
          <a:bodyPr wrap="square" anchor="t" lIns="0" rIns="0" tIns="0" bIns="0">
            <a:spAutoFit/>
          </a:bodyPr>
          <a:lstStyle/>
          <a:p>
            <a:pPr algn="l"/>
            <a:r>
              <a:rPr sz="1000" b="0">
                <a:solidFill>
                  <a:srgbClr val="C7C2EF"/>
                </a:solidFill>
                <a:latin typeface="ITC Avant Garde Gothic"/>
              </a:rPr>
              <a:t>Usuario de demostración</a:t>
            </a:r>
          </a:p>
        </p:txBody>
      </p:sp>
      <p:sp>
        <p:nvSpPr>
          <p:cNvPr id="7" name="Rounded Rectangle 6"/>
          <p:cNvSpPr/>
          <p:nvPr/>
        </p:nvSpPr>
        <p:spPr>
          <a:xfrm>
            <a:off x="2504389" y="1775714"/>
            <a:ext cx="1589989" cy="7142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32989"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32989" y="2086610"/>
            <a:ext cx="1132789" cy="348487"/>
          </a:xfrm>
          <a:prstGeom prst="rect">
            <a:avLst/>
          </a:prstGeom>
          <a:noFill/>
        </p:spPr>
        <p:txBody>
          <a:bodyPr wrap="square" anchor="t" lIns="0" rIns="0" tIns="0" bIns="0">
            <a:spAutoFit/>
          </a:bodyPr>
          <a:lstStyle/>
          <a:p>
            <a:pPr algn="l"/>
            <a:r>
              <a:rPr sz="1000" b="0">
                <a:solidFill>
                  <a:srgbClr val="C7C2EF"/>
                </a:solidFill>
                <a:latin typeface="ITC Avant Garde Gothic"/>
              </a:rPr>
              <a:t>demo@ejemplo.com</a:t>
            </a:r>
          </a:p>
        </p:txBody>
      </p:sp>
      <p:sp>
        <p:nvSpPr>
          <p:cNvPr id="10" name="Rounded Rectangle 9"/>
          <p:cNvSpPr/>
          <p:nvPr/>
        </p:nvSpPr>
        <p:spPr>
          <a:xfrm>
            <a:off x="4368698" y="1775714"/>
            <a:ext cx="1589989" cy="7142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97298"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2086610"/>
            <a:ext cx="1132789" cy="348487"/>
          </a:xfrm>
          <a:prstGeom prst="rect">
            <a:avLst/>
          </a:prstGeom>
          <a:noFill/>
        </p:spPr>
        <p:txBody>
          <a:bodyPr wrap="square" anchor="t" lIns="0" rIns="0" tIns="0" bIns="0">
            <a:spAutoFit/>
          </a:bodyPr>
          <a:lstStyle/>
          <a:p>
            <a:pPr algn="l"/>
            <a:r>
              <a:rPr sz="1000" b="0">
                <a:solidFill>
                  <a:srgbClr val="C7C2EF"/>
                </a:solidFill>
                <a:latin typeface="ITC Avant Garde Gothic"/>
              </a:rPr>
              <a:t>Mis análisis</a:t>
            </a:r>
          </a:p>
        </p:txBody>
      </p:sp>
      <p:sp>
        <p:nvSpPr>
          <p:cNvPr id="13" name="Rounded Rectangle 12"/>
          <p:cNvSpPr/>
          <p:nvPr/>
        </p:nvSpPr>
        <p:spPr>
          <a:xfrm>
            <a:off x="6233007" y="1775714"/>
            <a:ext cx="1589989" cy="7142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61607"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1607" y="2086610"/>
            <a:ext cx="1132789" cy="348487"/>
          </a:xfrm>
          <a:prstGeom prst="rect">
            <a:avLst/>
          </a:prstGeom>
          <a:noFill/>
        </p:spPr>
        <p:txBody>
          <a:bodyPr wrap="square" anchor="t" lIns="0" rIns="0" tIns="0" bIns="0">
            <a:spAutoFit/>
          </a:bodyPr>
          <a:lstStyle/>
          <a:p>
            <a:pPr algn="l"/>
            <a:r>
              <a:rPr sz="1000" b="0">
                <a:solidFill>
                  <a:srgbClr val="C7C2EF"/>
                </a:solidFill>
                <a:latin typeface="ITC Avant Garde Gothic"/>
              </a:rPr>
              <a:t>Fecha</a:t>
            </a:r>
          </a:p>
        </p:txBody>
      </p:sp>
      <p:sp>
        <p:nvSpPr>
          <p:cNvPr id="16" name="Rounded Rectangle 15"/>
          <p:cNvSpPr/>
          <p:nvPr/>
        </p:nvSpPr>
        <p:spPr>
          <a:xfrm>
            <a:off x="8097316" y="1775714"/>
            <a:ext cx="1589989" cy="7142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5916"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5916" y="2086610"/>
            <a:ext cx="1132789" cy="348487"/>
          </a:xfrm>
          <a:prstGeom prst="rect">
            <a:avLst/>
          </a:prstGeom>
          <a:noFill/>
        </p:spPr>
        <p:txBody>
          <a:bodyPr wrap="square" anchor="t" lIns="0" rIns="0" tIns="0" bIns="0">
            <a:spAutoFit/>
          </a:bodyPr>
          <a:lstStyle/>
          <a:p>
            <a:pPr algn="l"/>
            <a:r>
              <a:rPr sz="1000" b="0">
                <a:solidFill>
                  <a:srgbClr val="C7C2EF"/>
                </a:solidFill>
                <a:latin typeface="ITC Avant Garde Gothic"/>
              </a:rPr>
              <a:t>Imágenes</a:t>
            </a:r>
          </a:p>
        </p:txBody>
      </p:sp>
      <p:sp>
        <p:nvSpPr>
          <p:cNvPr id="19" name="Rounded Rectangle 18"/>
          <p:cNvSpPr/>
          <p:nvPr/>
        </p:nvSpPr>
        <p:spPr>
          <a:xfrm>
            <a:off x="9961625" y="1775714"/>
            <a:ext cx="1589989" cy="7142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190225"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190225" y="2086610"/>
            <a:ext cx="1132789" cy="348487"/>
          </a:xfrm>
          <a:prstGeom prst="rect">
            <a:avLst/>
          </a:prstGeom>
          <a:noFill/>
        </p:spPr>
        <p:txBody>
          <a:bodyPr wrap="square" anchor="t" lIns="0" rIns="0" tIns="0" bIns="0">
            <a:spAutoFit/>
          </a:bodyPr>
          <a:lstStyle/>
          <a:p>
            <a:pPr algn="l"/>
            <a:r>
              <a:rPr sz="1000" b="0">
                <a:solidFill>
                  <a:srgbClr val="C7C2EF"/>
                </a:solidFill>
                <a:latin typeface="ITC Avant Garde Gothic"/>
              </a:rPr>
              <a:t>Archivos</a:t>
            </a:r>
          </a:p>
        </p:txBody>
      </p:sp>
      <p:sp>
        <p:nvSpPr>
          <p:cNvPr id="22" name="Rounded Rectangle 21"/>
          <p:cNvSpPr/>
          <p:nvPr/>
        </p:nvSpPr>
        <p:spPr>
          <a:xfrm>
            <a:off x="640080" y="2764282"/>
            <a:ext cx="1589989" cy="7142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68680" y="292887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3075178"/>
            <a:ext cx="1132789" cy="348487"/>
          </a:xfrm>
          <a:prstGeom prst="rect">
            <a:avLst/>
          </a:prstGeom>
          <a:noFill/>
        </p:spPr>
        <p:txBody>
          <a:bodyPr wrap="square" anchor="t" lIns="0" rIns="0" tIns="0" bIns="0">
            <a:spAutoFit/>
          </a:bodyPr>
          <a:lstStyle/>
          <a:p>
            <a:pPr algn="l"/>
            <a:r>
              <a:rPr sz="1000" b="0">
                <a:solidFill>
                  <a:srgbClr val="C7C2EF"/>
                </a:solidFill>
                <a:latin typeface="ITC Avant Garde Gothic"/>
              </a:rPr>
              <a:t>18/10/2026 10:18:50</a:t>
            </a:r>
          </a:p>
        </p:txBody>
      </p:sp>
      <p:sp>
        <p:nvSpPr>
          <p:cNvPr id="25" name="Rounded Rectangle 24"/>
          <p:cNvSpPr/>
          <p:nvPr/>
        </p:nvSpPr>
        <p:spPr>
          <a:xfrm>
            <a:off x="2504389" y="2764282"/>
            <a:ext cx="1589989" cy="7142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732989" y="292887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32989" y="3075178"/>
            <a:ext cx="1132789" cy="348487"/>
          </a:xfrm>
          <a:prstGeom prst="rect">
            <a:avLst/>
          </a:prstGeom>
          <a:noFill/>
        </p:spPr>
        <p:txBody>
          <a:bodyPr wrap="square" anchor="t" lIns="0" rIns="0" tIns="0" bIns="0">
            <a:spAutoFit/>
          </a:bodyPr>
          <a:lstStyle/>
          <a:p>
            <a:pPr algn="l"/>
            <a:r>
              <a:rPr sz="1000" b="0">
                <a:solidFill>
                  <a:srgbClr val="C7C2EF"/>
                </a:solidFill>
                <a:latin typeface="ITC Avant Garde Gothic"/>
              </a:rPr>
              <a:t>Núm. 3, Núm. 1, Núm. 11</a:t>
            </a:r>
          </a:p>
        </p:txBody>
      </p:sp>
      <p:sp>
        <p:nvSpPr>
          <p:cNvPr id="28" name="Rounded Rectangle 27"/>
          <p:cNvSpPr/>
          <p:nvPr/>
        </p:nvSpPr>
        <p:spPr>
          <a:xfrm>
            <a:off x="4368698" y="2764282"/>
            <a:ext cx="1589989" cy="7142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97298" y="292887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97298" y="3075178"/>
            <a:ext cx="1132789" cy="348487"/>
          </a:xfrm>
          <a:prstGeom prst="rect">
            <a:avLst/>
          </a:prstGeom>
          <a:noFill/>
        </p:spPr>
        <p:txBody>
          <a:bodyPr wrap="square" anchor="t" lIns="0" rIns="0" tIns="0" bIns="0">
            <a:spAutoFit/>
          </a:bodyPr>
          <a:lstStyle/>
          <a:p>
            <a:pPr algn="l"/>
            <a:r>
              <a:rPr sz="1000" b="0">
                <a:solidFill>
                  <a:srgbClr val="C7C2EF"/>
                </a:solidFill>
                <a:latin typeface="ITC Avant Garde Gothic"/>
              </a:rPr>
              <a:t>PDF · CSV</a:t>
            </a:r>
          </a:p>
        </p:txBody>
      </p:sp>
      <p:sp>
        <p:nvSpPr>
          <p:cNvPr id="31" name="Rounded Rectangle 30"/>
          <p:cNvSpPr/>
          <p:nvPr/>
        </p:nvSpPr>
        <p:spPr>
          <a:xfrm>
            <a:off x="6233007" y="2764282"/>
            <a:ext cx="1589989" cy="7142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61607" y="292887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61607" y="3075178"/>
            <a:ext cx="1132789" cy="348487"/>
          </a:xfrm>
          <a:prstGeom prst="rect">
            <a:avLst/>
          </a:prstGeom>
          <a:noFill/>
        </p:spPr>
        <p:txBody>
          <a:bodyPr wrap="square" anchor="t" lIns="0" rIns="0" tIns="0" bIns="0">
            <a:spAutoFit/>
          </a:bodyPr>
          <a:lstStyle/>
          <a:p>
            <a:pPr algn="l"/>
            <a:r>
              <a:rPr sz="1000" b="0">
                <a:solidFill>
                  <a:srgbClr val="C7C2EF"/>
                </a:solidFill>
                <a:latin typeface="ITC Avant Garde Gothic"/>
              </a:rPr>
              <a:t>18/10/2026 10:16:02</a:t>
            </a:r>
          </a:p>
        </p:txBody>
      </p:sp>
      <p:sp>
        <p:nvSpPr>
          <p:cNvPr id="34" name="Rounded Rectangle 33"/>
          <p:cNvSpPr/>
          <p:nvPr/>
        </p:nvSpPr>
        <p:spPr>
          <a:xfrm>
            <a:off x="8097316" y="2764282"/>
            <a:ext cx="1589989" cy="7142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25916" y="292887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25916" y="3075178"/>
            <a:ext cx="1132789" cy="348487"/>
          </a:xfrm>
          <a:prstGeom prst="rect">
            <a:avLst/>
          </a:prstGeom>
          <a:noFill/>
        </p:spPr>
        <p:txBody>
          <a:bodyPr wrap="square" anchor="t" lIns="0" rIns="0" tIns="0" bIns="0">
            <a:spAutoFit/>
          </a:bodyPr>
          <a:lstStyle/>
          <a:p>
            <a:pPr algn="l"/>
            <a:r>
              <a:rPr sz="1000" b="0">
                <a:solidFill>
                  <a:srgbClr val="C7C2EF"/>
                </a:solidFill>
                <a:latin typeface="ITC Avant Garde Gothic"/>
              </a:rPr>
              <a:t>Núm. 2.bmp</a:t>
            </a:r>
          </a:p>
        </p:txBody>
      </p:sp>
      <p:sp>
        <p:nvSpPr>
          <p:cNvPr id="37" name="Rounded Rectangle 36"/>
          <p:cNvSpPr/>
          <p:nvPr/>
        </p:nvSpPr>
        <p:spPr>
          <a:xfrm>
            <a:off x="9961625" y="2764282"/>
            <a:ext cx="1589989" cy="7142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90225" y="292887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190225" y="3075178"/>
            <a:ext cx="1132789" cy="348487"/>
          </a:xfrm>
          <a:prstGeom prst="rect">
            <a:avLst/>
          </a:prstGeom>
          <a:noFill/>
        </p:spPr>
        <p:txBody>
          <a:bodyPr wrap="square" anchor="t" lIns="0" rIns="0" tIns="0" bIns="0">
            <a:spAutoFit/>
          </a:bodyPr>
          <a:lstStyle/>
          <a:p>
            <a:pPr algn="l"/>
            <a:r>
              <a:rPr sz="1000" b="0">
                <a:solidFill>
                  <a:srgbClr val="C7C2EF"/>
                </a:solidFill>
                <a:latin typeface="ITC Avant Garde Gothic"/>
              </a:rPr>
              <a:t>PDF · CSV</a:t>
            </a:r>
          </a:p>
        </p:txBody>
      </p:sp>
      <p:sp>
        <p:nvSpPr>
          <p:cNvPr id="40" name="Rounded Rectangle 39"/>
          <p:cNvSpPr/>
          <p:nvPr/>
        </p:nvSpPr>
        <p:spPr>
          <a:xfrm>
            <a:off x="640080" y="3752850"/>
            <a:ext cx="1589989" cy="8793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68680" y="391744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8680" y="4063746"/>
            <a:ext cx="1132789" cy="513588"/>
          </a:xfrm>
          <a:prstGeom prst="rect">
            <a:avLst/>
          </a:prstGeom>
          <a:noFill/>
        </p:spPr>
        <p:txBody>
          <a:bodyPr wrap="square" anchor="t" lIns="0" rIns="0" tIns="0" bIns="0">
            <a:spAutoFit/>
          </a:bodyPr>
          <a:lstStyle/>
          <a:p>
            <a:pPr algn="l"/>
            <a:r>
              <a:rPr sz="1000" b="0">
                <a:solidFill>
                  <a:srgbClr val="C7C2EF"/>
                </a:solidFill>
                <a:latin typeface="ITC Avant Garde Gothic"/>
              </a:rPr>
              <a:t>18/10/2026 10:11:40</a:t>
            </a:r>
          </a:p>
        </p:txBody>
      </p:sp>
      <p:sp>
        <p:nvSpPr>
          <p:cNvPr id="43" name="Rounded Rectangle 42"/>
          <p:cNvSpPr/>
          <p:nvPr/>
        </p:nvSpPr>
        <p:spPr>
          <a:xfrm>
            <a:off x="2504389" y="3752850"/>
            <a:ext cx="1589989" cy="8793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732989" y="391744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732989" y="4063746"/>
            <a:ext cx="1132789" cy="513588"/>
          </a:xfrm>
          <a:prstGeom prst="rect">
            <a:avLst/>
          </a:prstGeom>
          <a:noFill/>
        </p:spPr>
        <p:txBody>
          <a:bodyPr wrap="square" anchor="t" lIns="0" rIns="0" tIns="0" bIns="0">
            <a:spAutoFit/>
          </a:bodyPr>
          <a:lstStyle/>
          <a:p>
            <a:pPr algn="l"/>
            <a:r>
              <a:rPr sz="1000" b="0">
                <a:solidFill>
                  <a:srgbClr val="C7C2EF"/>
                </a:solidFill>
                <a:latin typeface="ITC Avant Garde Gothic"/>
              </a:rPr>
              <a:t>Imagen de ejemplo</a:t>
            </a:r>
          </a:p>
        </p:txBody>
      </p:sp>
      <p:sp>
        <p:nvSpPr>
          <p:cNvPr id="46" name="Rounded Rectangle 45"/>
          <p:cNvSpPr/>
          <p:nvPr/>
        </p:nvSpPr>
        <p:spPr>
          <a:xfrm>
            <a:off x="4368698" y="3752850"/>
            <a:ext cx="1589989" cy="8793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597298" y="391744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97298" y="4063746"/>
            <a:ext cx="1132789" cy="513588"/>
          </a:xfrm>
          <a:prstGeom prst="rect">
            <a:avLst/>
          </a:prstGeom>
          <a:noFill/>
        </p:spPr>
        <p:txBody>
          <a:bodyPr wrap="square" anchor="t" lIns="0" rIns="0" tIns="0" bIns="0">
            <a:spAutoFit/>
          </a:bodyPr>
          <a:lstStyle/>
          <a:p>
            <a:pPr algn="l"/>
            <a:r>
              <a:rPr sz="1000" b="0">
                <a:solidFill>
                  <a:srgbClr val="C7C2EF"/>
                </a:solidFill>
                <a:latin typeface="ITC Avant Garde Gothic"/>
              </a:rPr>
              <a:t>PDF · CSV</a:t>
            </a:r>
          </a:p>
        </p:txBody>
      </p:sp>
      <p:sp>
        <p:nvSpPr>
          <p:cNvPr id="49" name="Rounded Rectangle 48"/>
          <p:cNvSpPr/>
          <p:nvPr/>
        </p:nvSpPr>
        <p:spPr>
          <a:xfrm>
            <a:off x="6233007" y="3752850"/>
            <a:ext cx="1589989" cy="8793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461607" y="391744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61607" y="4063746"/>
            <a:ext cx="1132789" cy="513588"/>
          </a:xfrm>
          <a:prstGeom prst="rect">
            <a:avLst/>
          </a:prstGeom>
          <a:noFill/>
        </p:spPr>
        <p:txBody>
          <a:bodyPr wrap="square" anchor="t" lIns="0" rIns="0" tIns="0" bIns="0">
            <a:spAutoFit/>
          </a:bodyPr>
          <a:lstStyle/>
          <a:p>
            <a:pPr algn="l"/>
            <a:r>
              <a:rPr sz="1000" b="0">
                <a:solidFill>
                  <a:srgbClr val="C7C2EF"/>
                </a:solidFill>
                <a:latin typeface="ITC Avant Garde Gothic"/>
              </a:rPr>
              <a:t>La fecha abre el análisis tal como se vio</a:t>
            </a:r>
          </a:p>
        </p:txBody>
      </p:sp>
      <p:sp>
        <p:nvSpPr>
          <p:cNvPr id="52" name="TextBox 51"/>
          <p:cNvSpPr txBox="1"/>
          <p:nvPr/>
        </p:nvSpPr>
        <p:spPr>
          <a:xfrm>
            <a:off x="640080" y="4815078"/>
            <a:ext cx="10911535" cy="409041"/>
          </a:xfrm>
          <a:prstGeom prst="rect">
            <a:avLst/>
          </a:prstGeom>
          <a:noFill/>
        </p:spPr>
        <p:txBody>
          <a:bodyPr wrap="square" anchor="t" lIns="0" rIns="0" tIns="0" bIns="0">
            <a:spAutoFit/>
          </a:bodyPr>
          <a:lstStyle/>
          <a:p>
            <a:pPr algn="l"/>
            <a:r>
              <a:rPr sz="1300" b="0">
                <a:solidFill>
                  <a:srgbClr val="C7C2EF"/>
                </a:solidFill>
                <a:latin typeface="ITC Avant Garde Gothic"/>
              </a:rPr>
              <a:t>Es una vista de consulta: nada se recalcula. Se guardan los resultados completos y una copia reducida de la imagen marcada.</a:t>
            </a:r>
          </a:p>
        </p:txBody>
      </p:sp>
      <p:sp>
        <p:nvSpPr>
          <p:cNvPr id="53" name="TextBox 52"/>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Privacidad</a:t>
            </a:r>
          </a:p>
        </p:txBody>
      </p:sp>
      <p:sp>
        <p:nvSpPr>
          <p:cNvPr id="3" name="TextBox 2"/>
          <p:cNvSpPr txBox="1"/>
          <p:nvPr/>
        </p:nvSpPr>
        <p:spPr>
          <a:xfrm>
            <a:off x="640080" y="960120"/>
            <a:ext cx="10911535" cy="1092454"/>
          </a:xfrm>
          <a:prstGeom prst="rect">
            <a:avLst/>
          </a:prstGeom>
          <a:noFill/>
        </p:spPr>
        <p:txBody>
          <a:bodyPr wrap="square" anchor="t" lIns="0" rIns="0" tIns="0" bIns="0">
            <a:spAutoFit/>
          </a:bodyPr>
          <a:lstStyle/>
          <a:p>
            <a:pPr algn="l"/>
            <a:r>
              <a:rPr sz="3700" b="1">
                <a:solidFill>
                  <a:srgbClr val="C7C2EF"/>
                </a:solidFill>
                <a:latin typeface="ITC Avant Garde Gothic"/>
              </a:rPr>
              <a:t>Cada análisis pertenece a quien lo hizo</a:t>
            </a:r>
          </a:p>
        </p:txBody>
      </p:sp>
      <p:sp>
        <p:nvSpPr>
          <p:cNvPr id="4" name="Rounded Rectangle 3"/>
          <p:cNvSpPr/>
          <p:nvPr/>
        </p:nvSpPr>
        <p:spPr>
          <a:xfrm>
            <a:off x="640080" y="2418334"/>
            <a:ext cx="3454298" cy="107467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58292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729230"/>
            <a:ext cx="2997098" cy="708913"/>
          </a:xfrm>
          <a:prstGeom prst="rect">
            <a:avLst/>
          </a:prstGeom>
          <a:noFill/>
        </p:spPr>
        <p:txBody>
          <a:bodyPr wrap="square" anchor="t" lIns="0" rIns="0" tIns="0" bIns="0">
            <a:spAutoFit/>
          </a:bodyPr>
          <a:lstStyle/>
          <a:p>
            <a:pPr algn="l"/>
            <a:r>
              <a:rPr sz="1900" b="0">
                <a:solidFill>
                  <a:srgbClr val="C7C2EF"/>
                </a:solidFill>
                <a:latin typeface="ITC Avant Garde Gothic"/>
              </a:rPr>
              <a:t>Usuario A</a:t>
            </a:r>
          </a:p>
        </p:txBody>
      </p:sp>
      <p:sp>
        <p:nvSpPr>
          <p:cNvPr id="7" name="Rounded Rectangle 6"/>
          <p:cNvSpPr/>
          <p:nvPr/>
        </p:nvSpPr>
        <p:spPr>
          <a:xfrm>
            <a:off x="4368698" y="2418334"/>
            <a:ext cx="3454298" cy="107467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97298" y="258292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7298" y="2729230"/>
            <a:ext cx="2997098" cy="708913"/>
          </a:xfrm>
          <a:prstGeom prst="rect">
            <a:avLst/>
          </a:prstGeom>
          <a:noFill/>
        </p:spPr>
        <p:txBody>
          <a:bodyPr wrap="square" anchor="t" lIns="0" rIns="0" tIns="0" bIns="0">
            <a:spAutoFit/>
          </a:bodyPr>
          <a:lstStyle/>
          <a:p>
            <a:pPr algn="l"/>
            <a:r>
              <a:rPr sz="1900" b="0">
                <a:solidFill>
                  <a:srgbClr val="C7C2EF"/>
                </a:solidFill>
                <a:latin typeface="ITC Avant Garde Gothic"/>
              </a:rPr>
              <a:t>Sus análisis</a:t>
            </a:r>
          </a:p>
        </p:txBody>
      </p:sp>
      <p:sp>
        <p:nvSpPr>
          <p:cNvPr id="10" name="Rounded Rectangle 9"/>
          <p:cNvSpPr/>
          <p:nvPr/>
        </p:nvSpPr>
        <p:spPr>
          <a:xfrm>
            <a:off x="8097316" y="2418334"/>
            <a:ext cx="3454298" cy="107467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25916" y="258292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5916" y="2729230"/>
            <a:ext cx="2997098" cy="708913"/>
          </a:xfrm>
          <a:prstGeom prst="rect">
            <a:avLst/>
          </a:prstGeom>
          <a:noFill/>
        </p:spPr>
        <p:txBody>
          <a:bodyPr wrap="square" anchor="t" lIns="0" rIns="0" tIns="0" bIns="0">
            <a:spAutoFit/>
          </a:bodyPr>
          <a:lstStyle/>
          <a:p>
            <a:pPr algn="l"/>
            <a:r>
              <a:rPr sz="1900" b="0">
                <a:solidFill>
                  <a:srgbClr val="C7C2EF"/>
                </a:solidFill>
                <a:latin typeface="ITC Avant Garde Gothic"/>
              </a:rPr>
              <a:t>Los análisis de otro usuario</a:t>
            </a:r>
          </a:p>
        </p:txBody>
      </p:sp>
      <p:sp>
        <p:nvSpPr>
          <p:cNvPr id="13" name="Rounded Rectangle 12"/>
          <p:cNvSpPr/>
          <p:nvPr/>
        </p:nvSpPr>
        <p:spPr>
          <a:xfrm>
            <a:off x="640080" y="3767328"/>
            <a:ext cx="3454298" cy="138341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68680" y="393192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078224"/>
            <a:ext cx="2997098" cy="1017650"/>
          </a:xfrm>
          <a:prstGeom prst="rect">
            <a:avLst/>
          </a:prstGeom>
          <a:noFill/>
        </p:spPr>
        <p:txBody>
          <a:bodyPr wrap="square" anchor="t" lIns="0" rIns="0" tIns="0" bIns="0">
            <a:spAutoFit/>
          </a:bodyPr>
          <a:lstStyle/>
          <a:p>
            <a:pPr algn="l"/>
            <a:r>
              <a:rPr sz="1900" b="0">
                <a:solidFill>
                  <a:srgbClr val="C7C2EF"/>
                </a:solidFill>
                <a:latin typeface="ITC Avant Garde Gothic"/>
              </a:rPr>
              <a:t>El sitio responde como si la página no existiera</a:t>
            </a:r>
          </a:p>
        </p:txBody>
      </p:sp>
      <p:sp>
        <p:nvSpPr>
          <p:cNvPr id="16" name="Rounded Rectangle 15"/>
          <p:cNvSpPr/>
          <p:nvPr/>
        </p:nvSpPr>
        <p:spPr>
          <a:xfrm>
            <a:off x="4368698" y="3767328"/>
            <a:ext cx="3454298" cy="138341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97298" y="393192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97298" y="4078224"/>
            <a:ext cx="2997098" cy="1017650"/>
          </a:xfrm>
          <a:prstGeom prst="rect">
            <a:avLst/>
          </a:prstGeom>
          <a:noFill/>
        </p:spPr>
        <p:txBody>
          <a:bodyPr wrap="square" anchor="t" lIns="0" rIns="0" tIns="0" bIns="0">
            <a:spAutoFit/>
          </a:bodyPr>
          <a:lstStyle/>
          <a:p>
            <a:pPr algn="l"/>
            <a:r>
              <a:rPr sz="1900" b="0">
                <a:solidFill>
                  <a:srgbClr val="C7C2EF"/>
                </a:solidFill>
                <a:latin typeface="ITC Avant Garde Gothic"/>
              </a:rPr>
              <a:t>Los modelos no los expone ninguna página.</a:t>
            </a:r>
          </a:p>
        </p:txBody>
      </p:sp>
      <p:sp>
        <p:nvSpPr>
          <p:cNvPr id="19" name="TextBox 18"/>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Preguntas frecuentes</a:t>
            </a:r>
          </a:p>
        </p:txBody>
      </p:sp>
      <p:sp>
        <p:nvSpPr>
          <p:cNvPr id="3" name="TextBox 2"/>
          <p:cNvSpPr txBox="1"/>
          <p:nvPr/>
        </p:nvSpPr>
        <p:spPr>
          <a:xfrm>
            <a:off x="640080" y="960120"/>
            <a:ext cx="10911535" cy="382358"/>
          </a:xfrm>
          <a:prstGeom prst="rect">
            <a:avLst/>
          </a:prstGeom>
          <a:noFill/>
        </p:spPr>
        <p:txBody>
          <a:bodyPr wrap="square" anchor="t" lIns="0" rIns="0" tIns="0" bIns="0">
            <a:spAutoFit/>
          </a:bodyPr>
          <a:lstStyle/>
          <a:p>
            <a:pPr algn="l"/>
            <a:r>
              <a:rPr sz="2600" b="1">
                <a:solidFill>
                  <a:srgbClr val="C7C2EF"/>
                </a:solidFill>
                <a:latin typeface="ITC Avant Garde Gothic"/>
              </a:rPr>
              <a:t>Cuenta, límites y resultados</a:t>
            </a:r>
          </a:p>
        </p:txBody>
      </p:sp>
      <p:sp>
        <p:nvSpPr>
          <p:cNvPr id="4" name="Rounded Rectangle 3"/>
          <p:cNvSpPr/>
          <p:nvPr/>
        </p:nvSpPr>
        <p:spPr>
          <a:xfrm>
            <a:off x="640080" y="1708238"/>
            <a:ext cx="2522143" cy="92887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87283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19134"/>
            <a:ext cx="2064943" cy="563118"/>
          </a:xfrm>
          <a:prstGeom prst="rect">
            <a:avLst/>
          </a:prstGeom>
          <a:noFill/>
        </p:spPr>
        <p:txBody>
          <a:bodyPr wrap="square" anchor="t" lIns="0" rIns="0" tIns="0" bIns="0">
            <a:spAutoFit/>
          </a:bodyPr>
          <a:lstStyle/>
          <a:p>
            <a:pPr algn="l"/>
            <a:r>
              <a:rPr sz="1100" b="0">
                <a:solidFill>
                  <a:srgbClr val="C7C2EF"/>
                </a:solidFill>
                <a:latin typeface="ITC Avant Garde Gothic"/>
              </a:rPr>
              <a:t>¿Olvidé mi contraseña?</a:t>
            </a:r>
          </a:p>
        </p:txBody>
      </p:sp>
      <p:sp>
        <p:nvSpPr>
          <p:cNvPr id="7" name="Rounded Rectangle 6"/>
          <p:cNvSpPr/>
          <p:nvPr/>
        </p:nvSpPr>
        <p:spPr>
          <a:xfrm>
            <a:off x="3436543" y="1708238"/>
            <a:ext cx="2522143" cy="92887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65143" y="187283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65143" y="2019134"/>
            <a:ext cx="2064943" cy="563118"/>
          </a:xfrm>
          <a:prstGeom prst="rect">
            <a:avLst/>
          </a:prstGeom>
          <a:noFill/>
        </p:spPr>
        <p:txBody>
          <a:bodyPr wrap="square" anchor="t" lIns="0" rIns="0" tIns="0" bIns="0">
            <a:spAutoFit/>
          </a:bodyPr>
          <a:lstStyle/>
          <a:p>
            <a:pPr algn="l"/>
            <a:r>
              <a:rPr sz="1100" b="0">
                <a:solidFill>
                  <a:srgbClr val="C7C2EF"/>
                </a:solidFill>
                <a:latin typeface="ITC Avant Garde Gothic"/>
              </a:rPr>
              <a:t>Se crea una cuenta con otro correo, o se me avisa.</a:t>
            </a:r>
          </a:p>
        </p:txBody>
      </p:sp>
      <p:sp>
        <p:nvSpPr>
          <p:cNvPr id="10" name="Rounded Rectangle 9"/>
          <p:cNvSpPr/>
          <p:nvPr/>
        </p:nvSpPr>
        <p:spPr>
          <a:xfrm>
            <a:off x="6233007" y="1708238"/>
            <a:ext cx="2522143" cy="92887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61607" y="187283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1607" y="2019134"/>
            <a:ext cx="2064943" cy="563118"/>
          </a:xfrm>
          <a:prstGeom prst="rect">
            <a:avLst/>
          </a:prstGeom>
          <a:noFill/>
        </p:spPr>
        <p:txBody>
          <a:bodyPr wrap="square" anchor="t" lIns="0" rIns="0" tIns="0" bIns="0">
            <a:spAutoFit/>
          </a:bodyPr>
          <a:lstStyle/>
          <a:p>
            <a:pPr algn="l"/>
            <a:r>
              <a:rPr sz="1100" b="0">
                <a:solidFill>
                  <a:srgbClr val="C7C2EF"/>
                </a:solidFill>
                <a:latin typeface="ITC Avant Garde Gothic"/>
              </a:rPr>
              <a:t>¿Más de diez imágenes?</a:t>
            </a:r>
          </a:p>
        </p:txBody>
      </p:sp>
      <p:sp>
        <p:nvSpPr>
          <p:cNvPr id="13" name="Rounded Rectangle 12"/>
          <p:cNvSpPr/>
          <p:nvPr/>
        </p:nvSpPr>
        <p:spPr>
          <a:xfrm>
            <a:off x="9029471" y="1708238"/>
            <a:ext cx="2522143" cy="92887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258071" y="187283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58071" y="2019134"/>
            <a:ext cx="2064943" cy="563118"/>
          </a:xfrm>
          <a:prstGeom prst="rect">
            <a:avLst/>
          </a:prstGeom>
          <a:noFill/>
        </p:spPr>
        <p:txBody>
          <a:bodyPr wrap="square" anchor="t" lIns="0" rIns="0" tIns="0" bIns="0">
            <a:spAutoFit/>
          </a:bodyPr>
          <a:lstStyle/>
          <a:p>
            <a:pPr algn="l"/>
            <a:r>
              <a:rPr sz="1100" b="0">
                <a:solidFill>
                  <a:srgbClr val="C7C2EF"/>
                </a:solidFill>
                <a:latin typeface="ITC Avant Garde Gothic"/>
              </a:rPr>
              <a:t>No en un envío: se hacen varios, cada uno con su PDF.</a:t>
            </a:r>
          </a:p>
        </p:txBody>
      </p:sp>
      <p:sp>
        <p:nvSpPr>
          <p:cNvPr id="16" name="Rounded Rectangle 15"/>
          <p:cNvSpPr/>
          <p:nvPr/>
        </p:nvSpPr>
        <p:spPr>
          <a:xfrm>
            <a:off x="640080" y="2911436"/>
            <a:ext cx="2522143" cy="92887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68680" y="307602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222332"/>
            <a:ext cx="2064943" cy="563118"/>
          </a:xfrm>
          <a:prstGeom prst="rect">
            <a:avLst/>
          </a:prstGeom>
          <a:noFill/>
        </p:spPr>
        <p:txBody>
          <a:bodyPr wrap="square" anchor="t" lIns="0" rIns="0" tIns="0" bIns="0">
            <a:spAutoFit/>
          </a:bodyPr>
          <a:lstStyle/>
          <a:p>
            <a:pPr algn="l"/>
            <a:r>
              <a:rPr sz="1100" b="0">
                <a:solidFill>
                  <a:srgbClr val="C7C2EF"/>
                </a:solidFill>
                <a:latin typeface="ITC Avant Garde Gothic"/>
              </a:rPr>
              <a:t>¿El mismo resultado cada vez?</a:t>
            </a:r>
          </a:p>
        </p:txBody>
      </p:sp>
      <p:sp>
        <p:nvSpPr>
          <p:cNvPr id="19" name="Rounded Rectangle 18"/>
          <p:cNvSpPr/>
          <p:nvPr/>
        </p:nvSpPr>
        <p:spPr>
          <a:xfrm>
            <a:off x="3436543" y="2911436"/>
            <a:ext cx="2522143" cy="92887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5143" y="307602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65143" y="3222332"/>
            <a:ext cx="2064943" cy="563118"/>
          </a:xfrm>
          <a:prstGeom prst="rect">
            <a:avLst/>
          </a:prstGeom>
          <a:noFill/>
        </p:spPr>
        <p:txBody>
          <a:bodyPr wrap="square" anchor="t" lIns="0" rIns="0" tIns="0" bIns="0">
            <a:spAutoFit/>
          </a:bodyPr>
          <a:lstStyle/>
          <a:p>
            <a:pPr algn="l"/>
            <a:r>
              <a:rPr sz="1100" b="0">
                <a:solidFill>
                  <a:srgbClr val="C7C2EF"/>
                </a:solidFill>
                <a:latin typeface="ITC Avant Garde Gothic"/>
              </a:rPr>
              <a:t>Sí: el modelo no cambia entre análisis y la medición es determinista.</a:t>
            </a:r>
          </a:p>
        </p:txBody>
      </p:sp>
      <p:sp>
        <p:nvSpPr>
          <p:cNvPr id="22" name="Rounded Rectangle 21"/>
          <p:cNvSpPr/>
          <p:nvPr/>
        </p:nvSpPr>
        <p:spPr>
          <a:xfrm>
            <a:off x="6233007" y="2911436"/>
            <a:ext cx="2522143" cy="92887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61607" y="307602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61607" y="3222332"/>
            <a:ext cx="2064943" cy="563118"/>
          </a:xfrm>
          <a:prstGeom prst="rect">
            <a:avLst/>
          </a:prstGeom>
          <a:noFill/>
        </p:spPr>
        <p:txBody>
          <a:bodyPr wrap="square" anchor="t" lIns="0" rIns="0" tIns="0" bIns="0">
            <a:spAutoFit/>
          </a:bodyPr>
          <a:lstStyle/>
          <a:p>
            <a:pPr algn="l"/>
            <a:r>
              <a:rPr sz="1100" b="0">
                <a:solidFill>
                  <a:srgbClr val="C7C2EF"/>
                </a:solidFill>
                <a:latin typeface="ITC Avant Garde Gothic"/>
              </a:rPr>
              <a:t>¿Recuperar la imagen original?</a:t>
            </a:r>
          </a:p>
        </p:txBody>
      </p:sp>
      <p:sp>
        <p:nvSpPr>
          <p:cNvPr id="25" name="Rounded Rectangle 24"/>
          <p:cNvSpPr/>
          <p:nvPr/>
        </p:nvSpPr>
        <p:spPr>
          <a:xfrm>
            <a:off x="9029471" y="2911436"/>
            <a:ext cx="2522143" cy="92887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58071" y="307602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58071" y="3222332"/>
            <a:ext cx="2064943" cy="563118"/>
          </a:xfrm>
          <a:prstGeom prst="rect">
            <a:avLst/>
          </a:prstGeom>
          <a:noFill/>
        </p:spPr>
        <p:txBody>
          <a:bodyPr wrap="square" anchor="t" lIns="0" rIns="0" tIns="0" bIns="0">
            <a:spAutoFit/>
          </a:bodyPr>
          <a:lstStyle/>
          <a:p>
            <a:pPr algn="l"/>
            <a:r>
              <a:rPr sz="1100" b="0">
                <a:solidFill>
                  <a:srgbClr val="C7C2EF"/>
                </a:solidFill>
                <a:latin typeface="ITC Avant Garde Gothic"/>
              </a:rPr>
              <a:t>No: se borra al terminar. Hay que guardar los originales.</a:t>
            </a:r>
          </a:p>
        </p:txBody>
      </p:sp>
      <p:sp>
        <p:nvSpPr>
          <p:cNvPr id="28" name="Rounded Rectangle 27"/>
          <p:cNvSpPr/>
          <p:nvPr/>
        </p:nvSpPr>
        <p:spPr>
          <a:xfrm>
            <a:off x="640080" y="4114634"/>
            <a:ext cx="2522143" cy="92887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8680" y="427922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4425530"/>
            <a:ext cx="2064943" cy="563118"/>
          </a:xfrm>
          <a:prstGeom prst="rect">
            <a:avLst/>
          </a:prstGeom>
          <a:noFill/>
        </p:spPr>
        <p:txBody>
          <a:bodyPr wrap="square" anchor="t" lIns="0" rIns="0" tIns="0" bIns="0">
            <a:spAutoFit/>
          </a:bodyPr>
          <a:lstStyle/>
          <a:p>
            <a:pPr algn="l"/>
            <a:r>
              <a:rPr sz="1100" b="0">
                <a:solidFill>
                  <a:srgbClr val="C7C2EF"/>
                </a:solidFill>
                <a:latin typeface="ITC Avant Garde Gothic"/>
              </a:rPr>
              <a:t>¿Otros ven mis análisis?</a:t>
            </a:r>
          </a:p>
        </p:txBody>
      </p:sp>
      <p:sp>
        <p:nvSpPr>
          <p:cNvPr id="31" name="Rounded Rectangle 30"/>
          <p:cNvSpPr/>
          <p:nvPr/>
        </p:nvSpPr>
        <p:spPr>
          <a:xfrm>
            <a:off x="3436543" y="4114634"/>
            <a:ext cx="2522143" cy="92887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65143" y="427922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65143" y="4425530"/>
            <a:ext cx="2064943" cy="563118"/>
          </a:xfrm>
          <a:prstGeom prst="rect">
            <a:avLst/>
          </a:prstGeom>
          <a:noFill/>
        </p:spPr>
        <p:txBody>
          <a:bodyPr wrap="square" anchor="t" lIns="0" rIns="0" tIns="0" bIns="0">
            <a:spAutoFit/>
          </a:bodyPr>
          <a:lstStyle/>
          <a:p>
            <a:pPr algn="l"/>
            <a:r>
              <a:rPr sz="1100" b="0">
                <a:solidFill>
                  <a:srgbClr val="C7C2EF"/>
                </a:solidFill>
                <a:latin typeface="ITC Avant Garde Gothic"/>
              </a:rPr>
              <a:t>No. Cada análisis es visible solo para quien lo hizo.</a:t>
            </a:r>
          </a:p>
        </p:txBody>
      </p:sp>
      <p:sp>
        <p:nvSpPr>
          <p:cNvPr id="34" name="Rounded Rectangle 33"/>
          <p:cNvSpPr/>
          <p:nvPr/>
        </p:nvSpPr>
        <p:spPr>
          <a:xfrm>
            <a:off x="6233007" y="4114634"/>
            <a:ext cx="2522143" cy="92887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61607" y="427922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61607" y="4425530"/>
            <a:ext cx="2064943" cy="563118"/>
          </a:xfrm>
          <a:prstGeom prst="rect">
            <a:avLst/>
          </a:prstGeom>
          <a:noFill/>
        </p:spPr>
        <p:txBody>
          <a:bodyPr wrap="square" anchor="t" lIns="0" rIns="0" tIns="0" bIns="0">
            <a:spAutoFit/>
          </a:bodyPr>
          <a:lstStyle/>
          <a:p>
            <a:pPr algn="l"/>
            <a:r>
              <a:rPr sz="1100" b="0">
                <a:solidFill>
                  <a:srgbClr val="C7C2EF"/>
                </a:solidFill>
                <a:latin typeface="ITC Avant Garde Gothic"/>
              </a:rPr>
              <a:t>¿Hay límite de peso?</a:t>
            </a:r>
          </a:p>
        </p:txBody>
      </p:sp>
      <p:sp>
        <p:nvSpPr>
          <p:cNvPr id="37" name="Rounded Rectangle 36"/>
          <p:cNvSpPr/>
          <p:nvPr/>
        </p:nvSpPr>
        <p:spPr>
          <a:xfrm>
            <a:off x="9029471" y="4114634"/>
            <a:ext cx="2522143" cy="92887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258071" y="427922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258071" y="4425530"/>
            <a:ext cx="2064943" cy="563118"/>
          </a:xfrm>
          <a:prstGeom prst="rect">
            <a:avLst/>
          </a:prstGeom>
          <a:noFill/>
        </p:spPr>
        <p:txBody>
          <a:bodyPr wrap="square" anchor="t" lIns="0" rIns="0" tIns="0" bIns="0">
            <a:spAutoFit/>
          </a:bodyPr>
          <a:lstStyle/>
          <a:p>
            <a:pPr algn="l"/>
            <a:r>
              <a:rPr sz="1100" b="0">
                <a:solidFill>
                  <a:srgbClr val="C7C2EF"/>
                </a:solidFill>
                <a:latin typeface="ITC Avant Garde Gothic"/>
              </a:rPr>
              <a:t>300 MB por envío, lo que ocupan unas diez imágenes BMP.</a:t>
            </a:r>
          </a:p>
        </p:txBody>
      </p:sp>
      <p:sp>
        <p:nvSpPr>
          <p:cNvPr id="40" name="TextBox 39"/>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Preguntas frecuentes</a:t>
            </a:r>
          </a:p>
        </p:txBody>
      </p:sp>
      <p:sp>
        <p:nvSpPr>
          <p:cNvPr id="3" name="TextBox 2"/>
          <p:cNvSpPr txBox="1"/>
          <p:nvPr/>
        </p:nvSpPr>
        <p:spPr>
          <a:xfrm>
            <a:off x="640080" y="960120"/>
            <a:ext cx="10911535" cy="501243"/>
          </a:xfrm>
          <a:prstGeom prst="rect">
            <a:avLst/>
          </a:prstGeom>
          <a:noFill/>
        </p:spPr>
        <p:txBody>
          <a:bodyPr wrap="square" anchor="t" lIns="0" rIns="0" tIns="0" bIns="0">
            <a:spAutoFit/>
          </a:bodyPr>
          <a:lstStyle/>
          <a:p>
            <a:pPr algn="l"/>
            <a:r>
              <a:rPr sz="3400" b="1">
                <a:solidFill>
                  <a:srgbClr val="C7C2EF"/>
                </a:solidFill>
                <a:latin typeface="ITC Avant Garde Gothic"/>
              </a:rPr>
              <a:t>Otras muestras, avisos y dónde se analiza</a:t>
            </a:r>
          </a:p>
        </p:txBody>
      </p:sp>
      <p:sp>
        <p:nvSpPr>
          <p:cNvPr id="4" name="Rounded Rectangle 3"/>
          <p:cNvSpPr/>
          <p:nvPr/>
        </p:nvSpPr>
        <p:spPr>
          <a:xfrm>
            <a:off x="640080" y="1827123"/>
            <a:ext cx="3454298" cy="151729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99171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138019"/>
            <a:ext cx="2997098" cy="1151534"/>
          </a:xfrm>
          <a:prstGeom prst="rect">
            <a:avLst/>
          </a:prstGeom>
          <a:noFill/>
        </p:spPr>
        <p:txBody>
          <a:bodyPr wrap="square" anchor="t" lIns="0" rIns="0" tIns="0" bIns="0">
            <a:spAutoFit/>
          </a:bodyPr>
          <a:lstStyle/>
          <a:p>
            <a:pPr algn="l"/>
            <a:r>
              <a:rPr sz="1700" b="0">
                <a:solidFill>
                  <a:srgbClr val="C7C2EF"/>
                </a:solidFill>
                <a:latin typeface="ITC Avant Garde Gothic"/>
              </a:rPr>
              <a:t>¿Otra tinción u otro tipo de célula?</a:t>
            </a:r>
          </a:p>
        </p:txBody>
      </p:sp>
      <p:sp>
        <p:nvSpPr>
          <p:cNvPr id="7" name="Rounded Rectangle 6"/>
          <p:cNvSpPr/>
          <p:nvPr/>
        </p:nvSpPr>
        <p:spPr>
          <a:xfrm>
            <a:off x="4368698" y="1827123"/>
            <a:ext cx="3454298" cy="151729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97298" y="199171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7298" y="2138019"/>
            <a:ext cx="2997098" cy="1151534"/>
          </a:xfrm>
          <a:prstGeom prst="rect">
            <a:avLst/>
          </a:prstGeom>
          <a:noFill/>
        </p:spPr>
        <p:txBody>
          <a:bodyPr wrap="square" anchor="t" lIns="0" rIns="0" tIns="0" bIns="0">
            <a:spAutoFit/>
          </a:bodyPr>
          <a:lstStyle/>
          <a:p>
            <a:pPr algn="l"/>
            <a:r>
              <a:rPr sz="1700" b="0">
                <a:solidFill>
                  <a:srgbClr val="C7C2EF"/>
                </a:solidFill>
                <a:latin typeface="ITC Avant Garde Gothic"/>
              </a:rPr>
              <a:t>Se puede subir, pero el resultado no es confiable: hay que reentrenar.</a:t>
            </a:r>
          </a:p>
        </p:txBody>
      </p:sp>
      <p:sp>
        <p:nvSpPr>
          <p:cNvPr id="10" name="Rounded Rectangle 9"/>
          <p:cNvSpPr/>
          <p:nvPr/>
        </p:nvSpPr>
        <p:spPr>
          <a:xfrm>
            <a:off x="8097316" y="1827123"/>
            <a:ext cx="3454298" cy="151729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25916" y="199171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5916" y="2138019"/>
            <a:ext cx="2997098" cy="1151534"/>
          </a:xfrm>
          <a:prstGeom prst="rect">
            <a:avLst/>
          </a:prstGeom>
          <a:noFill/>
        </p:spPr>
        <p:txBody>
          <a:bodyPr wrap="square" anchor="t" lIns="0" rIns="0" tIns="0" bIns="0">
            <a:spAutoFit/>
          </a:bodyPr>
          <a:lstStyle/>
          <a:p>
            <a:pPr algn="l"/>
            <a:r>
              <a:rPr sz="1700" b="0">
                <a:solidFill>
                  <a:srgbClr val="C7C2EF"/>
                </a:solidFill>
                <a:latin typeface="ITC Avant Garde Gothic"/>
              </a:rPr>
              <a:t>¿Dice que no pudo analizar una imagen?</a:t>
            </a:r>
          </a:p>
        </p:txBody>
      </p:sp>
      <p:sp>
        <p:nvSpPr>
          <p:cNvPr id="13" name="Rounded Rectangle 12"/>
          <p:cNvSpPr/>
          <p:nvPr/>
        </p:nvSpPr>
        <p:spPr>
          <a:xfrm>
            <a:off x="640080" y="3618738"/>
            <a:ext cx="3454298" cy="151729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68680" y="378333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929634"/>
            <a:ext cx="2997098" cy="1151534"/>
          </a:xfrm>
          <a:prstGeom prst="rect">
            <a:avLst/>
          </a:prstGeom>
          <a:noFill/>
        </p:spPr>
        <p:txBody>
          <a:bodyPr wrap="square" anchor="t" lIns="0" rIns="0" tIns="0" bIns="0">
            <a:spAutoFit/>
          </a:bodyPr>
          <a:lstStyle/>
          <a:p>
            <a:pPr algn="l"/>
            <a:r>
              <a:rPr sz="1700" b="0">
                <a:solidFill>
                  <a:srgbClr val="C7C2EF"/>
                </a:solidFill>
                <a:latin typeface="ITC Avant Garde Gothic"/>
              </a:rPr>
              <a:t>Revisar el formato y el enfoque; si persiste, conservarla y avisar.</a:t>
            </a:r>
          </a:p>
        </p:txBody>
      </p:sp>
      <p:sp>
        <p:nvSpPr>
          <p:cNvPr id="16" name="Rounded Rectangle 15"/>
          <p:cNvSpPr/>
          <p:nvPr/>
        </p:nvSpPr>
        <p:spPr>
          <a:xfrm>
            <a:off x="4368698" y="3618738"/>
            <a:ext cx="3454298" cy="151729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97298" y="378333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97298" y="3929634"/>
            <a:ext cx="2997098" cy="1151534"/>
          </a:xfrm>
          <a:prstGeom prst="rect">
            <a:avLst/>
          </a:prstGeom>
          <a:noFill/>
        </p:spPr>
        <p:txBody>
          <a:bodyPr wrap="square" anchor="t" lIns="0" rIns="0" tIns="0" bIns="0">
            <a:spAutoFit/>
          </a:bodyPr>
          <a:lstStyle/>
          <a:p>
            <a:pPr algn="l"/>
            <a:r>
              <a:rPr sz="1700" b="0">
                <a:solidFill>
                  <a:srgbClr val="C7C2EF"/>
                </a:solidFill>
                <a:latin typeface="ITC Avant Garde Gothic"/>
              </a:rPr>
              <a:t>¿Se analiza en mi computadora?</a:t>
            </a:r>
          </a:p>
        </p:txBody>
      </p:sp>
      <p:sp>
        <p:nvSpPr>
          <p:cNvPr id="19" name="Rounded Rectangle 18"/>
          <p:cNvSpPr/>
          <p:nvPr/>
        </p:nvSpPr>
        <p:spPr>
          <a:xfrm>
            <a:off x="8097316" y="3618738"/>
            <a:ext cx="3454298" cy="151729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25916" y="378333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5916" y="3929634"/>
            <a:ext cx="2997098" cy="1151534"/>
          </a:xfrm>
          <a:prstGeom prst="rect">
            <a:avLst/>
          </a:prstGeom>
          <a:noFill/>
        </p:spPr>
        <p:txBody>
          <a:bodyPr wrap="square" anchor="t" lIns="0" rIns="0" tIns="0" bIns="0">
            <a:spAutoFit/>
          </a:bodyPr>
          <a:lstStyle/>
          <a:p>
            <a:pPr algn="l"/>
            <a:r>
              <a:rPr sz="1700" b="0">
                <a:solidFill>
                  <a:srgbClr val="C7C2EF"/>
                </a:solidFill>
                <a:latin typeface="ITC Avant Garde Gothic"/>
              </a:rPr>
              <a:t>No, en el servidor: no hace falta instalar nada.</a:t>
            </a:r>
          </a:p>
        </p:txBody>
      </p:sp>
      <p:sp>
        <p:nvSpPr>
          <p:cNvPr id="22" name="TextBox 21"/>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Recomendaciones</a:t>
            </a:r>
          </a:p>
        </p:txBody>
      </p:sp>
      <p:sp>
        <p:nvSpPr>
          <p:cNvPr id="3" name="TextBox 2"/>
          <p:cNvSpPr txBox="1"/>
          <p:nvPr/>
        </p:nvSpPr>
        <p:spPr>
          <a:xfrm>
            <a:off x="640080" y="960120"/>
            <a:ext cx="10911535" cy="449833"/>
          </a:xfrm>
          <a:prstGeom prst="rect">
            <a:avLst/>
          </a:prstGeom>
          <a:noFill/>
        </p:spPr>
        <p:txBody>
          <a:bodyPr wrap="square" anchor="t" lIns="0" rIns="0" tIns="0" bIns="0">
            <a:spAutoFit/>
          </a:bodyPr>
          <a:lstStyle/>
          <a:p>
            <a:pPr algn="l"/>
            <a:r>
              <a:rPr sz="3100" b="1">
                <a:solidFill>
                  <a:srgbClr val="C7C2EF"/>
                </a:solidFill>
                <a:latin typeface="ITC Avant Garde Gothic"/>
              </a:rPr>
              <a:t>Cinco hábitos para usar el sitio</a:t>
            </a:r>
          </a:p>
        </p:txBody>
      </p:sp>
      <p:sp>
        <p:nvSpPr>
          <p:cNvPr id="4" name="Rounded Rectangle 3"/>
          <p:cNvSpPr/>
          <p:nvPr/>
        </p:nvSpPr>
        <p:spPr>
          <a:xfrm>
            <a:off x="640080" y="1775714"/>
            <a:ext cx="2522143" cy="110322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86610"/>
            <a:ext cx="2064943" cy="737463"/>
          </a:xfrm>
          <a:prstGeom prst="rect">
            <a:avLst/>
          </a:prstGeom>
          <a:noFill/>
        </p:spPr>
        <p:txBody>
          <a:bodyPr wrap="square" anchor="t" lIns="0" rIns="0" tIns="0" bIns="0">
            <a:spAutoFit/>
          </a:bodyPr>
          <a:lstStyle/>
          <a:p>
            <a:pPr algn="l"/>
            <a:r>
              <a:rPr sz="1500" b="0">
                <a:solidFill>
                  <a:srgbClr val="C7C2EF"/>
                </a:solidFill>
                <a:latin typeface="ITC Avant Garde Gothic"/>
              </a:rPr>
              <a:t>Originales</a:t>
            </a:r>
          </a:p>
        </p:txBody>
      </p:sp>
      <p:sp>
        <p:nvSpPr>
          <p:cNvPr id="7" name="Rounded Rectangle 6"/>
          <p:cNvSpPr/>
          <p:nvPr/>
        </p:nvSpPr>
        <p:spPr>
          <a:xfrm>
            <a:off x="3436543" y="1775714"/>
            <a:ext cx="2522143" cy="110322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65143"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65143" y="2086610"/>
            <a:ext cx="2064943" cy="737463"/>
          </a:xfrm>
          <a:prstGeom prst="rect">
            <a:avLst/>
          </a:prstGeom>
          <a:noFill/>
        </p:spPr>
        <p:txBody>
          <a:bodyPr wrap="square" anchor="t" lIns="0" rIns="0" tIns="0" bIns="0">
            <a:spAutoFit/>
          </a:bodyPr>
          <a:lstStyle/>
          <a:p>
            <a:pPr algn="l"/>
            <a:r>
              <a:rPr sz="1500" b="0">
                <a:solidFill>
                  <a:srgbClr val="C7C2EF"/>
                </a:solidFill>
                <a:latin typeface="ITC Avant Garde Gothic"/>
              </a:rPr>
              <a:t>BMP o TIFF; nada de JPG ni mensajería.</a:t>
            </a:r>
          </a:p>
        </p:txBody>
      </p:sp>
      <p:sp>
        <p:nvSpPr>
          <p:cNvPr id="10" name="Rounded Rectangle 9"/>
          <p:cNvSpPr/>
          <p:nvPr/>
        </p:nvSpPr>
        <p:spPr>
          <a:xfrm>
            <a:off x="6233007" y="1775714"/>
            <a:ext cx="2522143" cy="110322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61607"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1607" y="2086610"/>
            <a:ext cx="2064943" cy="737463"/>
          </a:xfrm>
          <a:prstGeom prst="rect">
            <a:avLst/>
          </a:prstGeom>
          <a:noFill/>
        </p:spPr>
        <p:txBody>
          <a:bodyPr wrap="square" anchor="t" lIns="0" rIns="0" tIns="0" bIns="0">
            <a:spAutoFit/>
          </a:bodyPr>
          <a:lstStyle/>
          <a:p>
            <a:pPr algn="l"/>
            <a:r>
              <a:rPr sz="1500" b="0">
                <a:solidFill>
                  <a:srgbClr val="C7C2EF"/>
                </a:solidFill>
                <a:latin typeface="ITC Avant Garde Gothic"/>
              </a:rPr>
              <a:t>Agrupar</a:t>
            </a:r>
          </a:p>
        </p:txBody>
      </p:sp>
      <p:sp>
        <p:nvSpPr>
          <p:cNvPr id="13" name="Rounded Rectangle 12"/>
          <p:cNvSpPr/>
          <p:nvPr/>
        </p:nvSpPr>
        <p:spPr>
          <a:xfrm>
            <a:off x="9029471" y="1775714"/>
            <a:ext cx="2522143" cy="110322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258071"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58071" y="2086610"/>
            <a:ext cx="2064943" cy="737463"/>
          </a:xfrm>
          <a:prstGeom prst="rect">
            <a:avLst/>
          </a:prstGeom>
          <a:noFill/>
        </p:spPr>
        <p:txBody>
          <a:bodyPr wrap="square" anchor="t" lIns="0" rIns="0" tIns="0" bIns="0">
            <a:spAutoFit/>
          </a:bodyPr>
          <a:lstStyle/>
          <a:p>
            <a:pPr algn="l"/>
            <a:r>
              <a:rPr sz="1500" b="0">
                <a:solidFill>
                  <a:srgbClr val="C7C2EF"/>
                </a:solidFill>
                <a:latin typeface="ITC Avant Garde Gothic"/>
              </a:rPr>
              <a:t>Un envío por tipo y condición.</a:t>
            </a:r>
          </a:p>
        </p:txBody>
      </p:sp>
      <p:sp>
        <p:nvSpPr>
          <p:cNvPr id="16" name="Rounded Rectangle 15"/>
          <p:cNvSpPr/>
          <p:nvPr/>
        </p:nvSpPr>
        <p:spPr>
          <a:xfrm>
            <a:off x="640080" y="3153257"/>
            <a:ext cx="2522143" cy="86349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68680" y="331784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464153"/>
            <a:ext cx="2064943" cy="497738"/>
          </a:xfrm>
          <a:prstGeom prst="rect">
            <a:avLst/>
          </a:prstGeom>
          <a:noFill/>
        </p:spPr>
        <p:txBody>
          <a:bodyPr wrap="square" anchor="t" lIns="0" rIns="0" tIns="0" bIns="0">
            <a:spAutoFit/>
          </a:bodyPr>
          <a:lstStyle/>
          <a:p>
            <a:pPr algn="l"/>
            <a:r>
              <a:rPr sz="1500" b="0">
                <a:solidFill>
                  <a:srgbClr val="C7C2EF"/>
                </a:solidFill>
                <a:latin typeface="ITC Avant Garde Gothic"/>
              </a:rPr>
              <a:t>Revisar</a:t>
            </a:r>
          </a:p>
        </p:txBody>
      </p:sp>
      <p:sp>
        <p:nvSpPr>
          <p:cNvPr id="19" name="Rounded Rectangle 18"/>
          <p:cNvSpPr/>
          <p:nvPr/>
        </p:nvSpPr>
        <p:spPr>
          <a:xfrm>
            <a:off x="3436543" y="3153257"/>
            <a:ext cx="2522143" cy="86349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5143" y="331784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65143" y="3464153"/>
            <a:ext cx="2064943" cy="497738"/>
          </a:xfrm>
          <a:prstGeom prst="rect">
            <a:avLst/>
          </a:prstGeom>
          <a:noFill/>
        </p:spPr>
        <p:txBody>
          <a:bodyPr wrap="square" anchor="t" lIns="0" rIns="0" tIns="0" bIns="0">
            <a:spAutoFit/>
          </a:bodyPr>
          <a:lstStyle/>
          <a:p>
            <a:pPr algn="l"/>
            <a:r>
              <a:rPr sz="1500" b="0">
                <a:solidFill>
                  <a:srgbClr val="C7C2EF"/>
                </a:solidFill>
                <a:latin typeface="ITC Avant Garde Gothic"/>
              </a:rPr>
              <a:t>La imagen marcada, con zoom.</a:t>
            </a:r>
          </a:p>
        </p:txBody>
      </p:sp>
      <p:sp>
        <p:nvSpPr>
          <p:cNvPr id="22" name="Rounded Rectangle 21"/>
          <p:cNvSpPr/>
          <p:nvPr/>
        </p:nvSpPr>
        <p:spPr>
          <a:xfrm>
            <a:off x="6233007" y="3153257"/>
            <a:ext cx="2522143" cy="86349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61607" y="331784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61607" y="3464153"/>
            <a:ext cx="2064943" cy="497738"/>
          </a:xfrm>
          <a:prstGeom prst="rect">
            <a:avLst/>
          </a:prstGeom>
          <a:noFill/>
        </p:spPr>
        <p:txBody>
          <a:bodyPr wrap="square" anchor="t" lIns="0" rIns="0" tIns="0" bIns="0">
            <a:spAutoFit/>
          </a:bodyPr>
          <a:lstStyle/>
          <a:p>
            <a:pPr algn="l"/>
            <a:r>
              <a:rPr sz="1500" b="0">
                <a:solidFill>
                  <a:srgbClr val="C7C2EF"/>
                </a:solidFill>
                <a:latin typeface="ITC Avant Garde Gothic"/>
              </a:rPr>
              <a:t>Guardar</a:t>
            </a:r>
          </a:p>
        </p:txBody>
      </p:sp>
      <p:sp>
        <p:nvSpPr>
          <p:cNvPr id="25" name="Rounded Rectangle 24"/>
          <p:cNvSpPr/>
          <p:nvPr/>
        </p:nvSpPr>
        <p:spPr>
          <a:xfrm>
            <a:off x="9029471" y="3153257"/>
            <a:ext cx="2522143" cy="86349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58071" y="331784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58071" y="3464153"/>
            <a:ext cx="2064943" cy="497738"/>
          </a:xfrm>
          <a:prstGeom prst="rect">
            <a:avLst/>
          </a:prstGeom>
          <a:noFill/>
        </p:spPr>
        <p:txBody>
          <a:bodyPr wrap="square" anchor="t" lIns="0" rIns="0" tIns="0" bIns="0">
            <a:spAutoFit/>
          </a:bodyPr>
          <a:lstStyle/>
          <a:p>
            <a:pPr algn="l"/>
            <a:r>
              <a:rPr sz="1500" b="0">
                <a:solidFill>
                  <a:srgbClr val="C7C2EF"/>
                </a:solidFill>
                <a:latin typeface="ITC Avant Garde Gothic"/>
              </a:rPr>
              <a:t>El CSV y el PDF.</a:t>
            </a:r>
          </a:p>
        </p:txBody>
      </p:sp>
      <p:sp>
        <p:nvSpPr>
          <p:cNvPr id="28" name="Rounded Rectangle 27"/>
          <p:cNvSpPr/>
          <p:nvPr/>
        </p:nvSpPr>
        <p:spPr>
          <a:xfrm>
            <a:off x="640080" y="4291076"/>
            <a:ext cx="2522143" cy="86349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8680" y="445566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4601972"/>
            <a:ext cx="2064943" cy="497738"/>
          </a:xfrm>
          <a:prstGeom prst="rect">
            <a:avLst/>
          </a:prstGeom>
          <a:noFill/>
        </p:spPr>
        <p:txBody>
          <a:bodyPr wrap="square" anchor="t" lIns="0" rIns="0" tIns="0" bIns="0">
            <a:spAutoFit/>
          </a:bodyPr>
          <a:lstStyle/>
          <a:p>
            <a:pPr algn="l"/>
            <a:r>
              <a:rPr sz="1500" b="0">
                <a:solidFill>
                  <a:srgbClr val="C7C2EF"/>
                </a:solidFill>
                <a:latin typeface="ITC Avant Garde Gothic"/>
              </a:rPr>
              <a:t>Registrar</a:t>
            </a:r>
          </a:p>
        </p:txBody>
      </p:sp>
      <p:sp>
        <p:nvSpPr>
          <p:cNvPr id="31" name="Rounded Rectangle 30"/>
          <p:cNvSpPr/>
          <p:nvPr/>
        </p:nvSpPr>
        <p:spPr>
          <a:xfrm>
            <a:off x="3436543" y="4291076"/>
            <a:ext cx="2522143" cy="86349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65143" y="445566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65143" y="4601972"/>
            <a:ext cx="2064943" cy="497738"/>
          </a:xfrm>
          <a:prstGeom prst="rect">
            <a:avLst/>
          </a:prstGeom>
          <a:noFill/>
        </p:spPr>
        <p:txBody>
          <a:bodyPr wrap="square" anchor="t" lIns="0" rIns="0" tIns="0" bIns="0">
            <a:spAutoFit/>
          </a:bodyPr>
          <a:lstStyle/>
          <a:p>
            <a:pPr algn="l"/>
            <a:r>
              <a:rPr sz="1500" b="0">
                <a:solidFill>
                  <a:srgbClr val="C7C2EF"/>
                </a:solidFill>
                <a:latin typeface="ITC Avant Garde Gothic"/>
              </a:rPr>
              <a:t>Los casos difíciles.</a:t>
            </a:r>
          </a:p>
        </p:txBody>
      </p:sp>
      <p:sp>
        <p:nvSpPr>
          <p:cNvPr id="34" name="TextBox 33"/>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La pregunta de fondo</a:t>
            </a:r>
          </a:p>
        </p:txBody>
      </p:sp>
      <p:sp>
        <p:nvSpPr>
          <p:cNvPr id="3" name="TextBox 2"/>
          <p:cNvSpPr txBox="1"/>
          <p:nvPr/>
        </p:nvSpPr>
        <p:spPr>
          <a:xfrm>
            <a:off x="640080" y="960120"/>
            <a:ext cx="10911535" cy="1285240"/>
          </a:xfrm>
          <a:prstGeom prst="rect">
            <a:avLst/>
          </a:prstGeom>
          <a:noFill/>
        </p:spPr>
        <p:txBody>
          <a:bodyPr wrap="square" anchor="t" lIns="0" rIns="0" tIns="0" bIns="0">
            <a:spAutoFit/>
          </a:bodyPr>
          <a:lstStyle/>
          <a:p>
            <a:pPr algn="l"/>
            <a:r>
              <a:rPr sz="4400" b="1">
                <a:solidFill>
                  <a:srgbClr val="C7C2EF"/>
                </a:solidFill>
                <a:latin typeface="ITC Avant Garde Gothic"/>
              </a:rPr>
              <a:t>¿Cómo sabe el sistema dónde hay un espermatozoide?</a:t>
            </a:r>
          </a:p>
        </p:txBody>
      </p:sp>
      <p:sp>
        <p:nvSpPr>
          <p:cNvPr id="4" name="TextBox 3"/>
          <p:cNvSpPr txBox="1"/>
          <p:nvPr/>
        </p:nvSpPr>
        <p:spPr>
          <a:xfrm>
            <a:off x="640080" y="2611119"/>
            <a:ext cx="10911535" cy="743712"/>
          </a:xfrm>
          <a:prstGeom prst="rect">
            <a:avLst/>
          </a:prstGeom>
          <a:noFill/>
        </p:spPr>
        <p:txBody>
          <a:bodyPr wrap="square" anchor="t" lIns="0" rIns="0" tIns="0" bIns="0">
            <a:spAutoFit/>
          </a:bodyPr>
          <a:lstStyle/>
          <a:p>
            <a:pPr algn="l"/>
            <a:r>
              <a:rPr sz="2400" b="0">
                <a:solidFill>
                  <a:srgbClr val="C7C2EF"/>
                </a:solidFill>
                <a:latin typeface="ITC Avant Garde Gothic"/>
              </a:rPr>
              <a:t>La respuesta es la red neuronal, y a ella dedicamos la última parte de la sesión.</a:t>
            </a:r>
          </a:p>
        </p:txBody>
      </p:sp>
      <p:sp>
        <p:nvSpPr>
          <p:cNvPr id="5" name="TextBox 4"/>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Demostración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Tercer bloque · 50 minutos</a:t>
            </a:r>
          </a:p>
        </p:txBody>
      </p:sp>
      <p:sp>
        <p:nvSpPr>
          <p:cNvPr id="3" name="TextBox 2"/>
          <p:cNvSpPr txBox="1"/>
          <p:nvPr/>
        </p:nvSpPr>
        <p:spPr>
          <a:xfrm>
            <a:off x="640080" y="960120"/>
            <a:ext cx="10911535" cy="642620"/>
          </a:xfrm>
          <a:prstGeom prst="rect">
            <a:avLst/>
          </a:prstGeom>
          <a:noFill/>
        </p:spPr>
        <p:txBody>
          <a:bodyPr wrap="square" anchor="t" lIns="0" rIns="0" tIns="0" bIns="0">
            <a:spAutoFit/>
          </a:bodyPr>
          <a:lstStyle/>
          <a:p>
            <a:pPr algn="l"/>
            <a:r>
              <a:rPr sz="4400" b="1">
                <a:solidFill>
                  <a:srgbClr val="C7C2EF"/>
                </a:solidFill>
                <a:latin typeface="ITC Avant Garde Gothic"/>
              </a:rPr>
              <a:t>¿Qué es una red neuronal?</a:t>
            </a:r>
          </a:p>
        </p:txBody>
      </p:sp>
      <p:sp>
        <p:nvSpPr>
          <p:cNvPr id="4" name="Rounded Rectangle 3"/>
          <p:cNvSpPr/>
          <p:nvPr/>
        </p:nvSpPr>
        <p:spPr>
          <a:xfrm>
            <a:off x="640080" y="1968500"/>
            <a:ext cx="3454298" cy="154686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13309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279396"/>
            <a:ext cx="2997098" cy="1181099"/>
          </a:xfrm>
          <a:prstGeom prst="rect">
            <a:avLst/>
          </a:prstGeom>
          <a:noFill/>
        </p:spPr>
        <p:txBody>
          <a:bodyPr wrap="square" anchor="t" lIns="0" rIns="0" tIns="0" bIns="0">
            <a:spAutoFit/>
          </a:bodyPr>
          <a:lstStyle/>
          <a:p>
            <a:pPr algn="l"/>
            <a:r>
              <a:rPr sz="2200" b="0">
                <a:solidFill>
                  <a:srgbClr val="C7C2EF"/>
                </a:solidFill>
                <a:latin typeface="ITC Avant Garde Gothic"/>
              </a:rPr>
              <a:t>Qué es</a:t>
            </a:r>
          </a:p>
        </p:txBody>
      </p:sp>
      <p:sp>
        <p:nvSpPr>
          <p:cNvPr id="7" name="Rounded Rectangle 6"/>
          <p:cNvSpPr/>
          <p:nvPr/>
        </p:nvSpPr>
        <p:spPr>
          <a:xfrm>
            <a:off x="4368698" y="1968500"/>
            <a:ext cx="3454298" cy="154686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97298" y="213309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7298" y="2279396"/>
            <a:ext cx="2997098" cy="1181099"/>
          </a:xfrm>
          <a:prstGeom prst="rect">
            <a:avLst/>
          </a:prstGeom>
          <a:noFill/>
        </p:spPr>
        <p:txBody>
          <a:bodyPr wrap="square" anchor="t" lIns="0" rIns="0" tIns="0" bIns="0">
            <a:spAutoFit/>
          </a:bodyPr>
          <a:lstStyle/>
          <a:p>
            <a:pPr algn="l"/>
            <a:r>
              <a:rPr sz="2200" b="0">
                <a:solidFill>
                  <a:srgbClr val="C7C2EF"/>
                </a:solidFill>
                <a:latin typeface="ITC Avant Garde Gothic"/>
              </a:rPr>
              <a:t>Cómo aprende</a:t>
            </a:r>
          </a:p>
        </p:txBody>
      </p:sp>
      <p:sp>
        <p:nvSpPr>
          <p:cNvPr id="10" name="Rounded Rectangle 9"/>
          <p:cNvSpPr/>
          <p:nvPr/>
        </p:nvSpPr>
        <p:spPr>
          <a:xfrm>
            <a:off x="8097316" y="1968500"/>
            <a:ext cx="3454298" cy="154686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25916" y="213309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5916" y="2279396"/>
            <a:ext cx="2997098" cy="1181099"/>
          </a:xfrm>
          <a:prstGeom prst="rect">
            <a:avLst/>
          </a:prstGeom>
          <a:noFill/>
        </p:spPr>
        <p:txBody>
          <a:bodyPr wrap="square" anchor="t" lIns="0" rIns="0" tIns="0" bIns="0">
            <a:spAutoFit/>
          </a:bodyPr>
          <a:lstStyle/>
          <a:p>
            <a:pPr algn="l"/>
            <a:r>
              <a:rPr sz="2200" b="0">
                <a:solidFill>
                  <a:srgbClr val="C7C2EF"/>
                </a:solidFill>
                <a:latin typeface="ITC Avant Garde Gothic"/>
              </a:rPr>
              <a:t>Por qué nos sirve una red entrenada para otra cosa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Primera idea: el brillo</a:t>
            </a:r>
          </a:p>
        </p:txBody>
      </p:sp>
      <p:sp>
        <p:nvSpPr>
          <p:cNvPr id="3" name="TextBox 2"/>
          <p:cNvSpPr txBox="1"/>
          <p:nvPr/>
        </p:nvSpPr>
        <p:spPr>
          <a:xfrm>
            <a:off x="640080" y="960120"/>
            <a:ext cx="10911535" cy="449833"/>
          </a:xfrm>
          <a:prstGeom prst="rect">
            <a:avLst/>
          </a:prstGeom>
          <a:noFill/>
        </p:spPr>
        <p:txBody>
          <a:bodyPr wrap="square" anchor="t" lIns="0" rIns="0" tIns="0" bIns="0">
            <a:spAutoFit/>
          </a:bodyPr>
          <a:lstStyle/>
          <a:p>
            <a:pPr algn="l"/>
            <a:r>
              <a:rPr sz="3100" b="1">
                <a:solidFill>
                  <a:srgbClr val="C7C2EF"/>
                </a:solidFill>
                <a:latin typeface="ITC Avant Garde Gothic"/>
              </a:rPr>
              <a:t>Umbralización</a:t>
            </a:r>
          </a:p>
        </p:txBody>
      </p:sp>
      <p:sp>
        <p:nvSpPr>
          <p:cNvPr id="4" name="Rounded Rectangle 3"/>
          <p:cNvSpPr/>
          <p:nvPr/>
        </p:nvSpPr>
        <p:spPr>
          <a:xfrm>
            <a:off x="640080" y="1775714"/>
            <a:ext cx="10911535" cy="912876"/>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050034"/>
            <a:ext cx="10454335" cy="237744"/>
          </a:xfrm>
          <a:prstGeom prst="rect">
            <a:avLst/>
          </a:prstGeom>
          <a:noFill/>
        </p:spPr>
        <p:txBody>
          <a:bodyPr wrap="square" anchor="t" lIns="0" rIns="0" tIns="0" bIns="0">
            <a:spAutoFit/>
          </a:bodyPr>
          <a:lstStyle/>
          <a:p>
            <a:pPr algn="l"/>
            <a:r>
              <a:rPr sz="1600" b="1">
                <a:solidFill>
                  <a:srgbClr val="FF983D"/>
                </a:solidFill>
                <a:latin typeface="ITC Avant Garde Gothic"/>
              </a:rPr>
              <a:t>Un umbral de brillo</a:t>
            </a:r>
          </a:p>
        </p:txBody>
      </p:sp>
      <p:sp>
        <p:nvSpPr>
          <p:cNvPr id="6" name="TextBox 5"/>
          <p:cNvSpPr txBox="1"/>
          <p:nvPr/>
        </p:nvSpPr>
        <p:spPr>
          <a:xfrm>
            <a:off x="868680" y="2379218"/>
            <a:ext cx="10454335" cy="217932"/>
          </a:xfrm>
          <a:prstGeom prst="rect">
            <a:avLst/>
          </a:prstGeom>
          <a:noFill/>
        </p:spPr>
        <p:txBody>
          <a:bodyPr wrap="square" anchor="t" lIns="0" rIns="0" tIns="0" bIns="0">
            <a:spAutoFit/>
          </a:bodyPr>
          <a:lstStyle/>
          <a:p>
            <a:pPr algn="l"/>
            <a:r>
              <a:rPr sz="1300" b="0">
                <a:solidFill>
                  <a:srgbClr val="C7C2EF"/>
                </a:solidFill>
                <a:latin typeface="ITC Avant Garde Gothic"/>
              </a:rPr>
              <a:t>Todo píxel por encima pertenece a una célula.</a:t>
            </a:r>
          </a:p>
        </p:txBody>
      </p:sp>
      <p:sp>
        <p:nvSpPr>
          <p:cNvPr id="7" name="Rounded Rectangle 6"/>
          <p:cNvSpPr/>
          <p:nvPr/>
        </p:nvSpPr>
        <p:spPr>
          <a:xfrm>
            <a:off x="640080" y="2871470"/>
            <a:ext cx="10911535" cy="912876"/>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145790"/>
            <a:ext cx="10454335" cy="237744"/>
          </a:xfrm>
          <a:prstGeom prst="rect">
            <a:avLst/>
          </a:prstGeom>
          <a:noFill/>
        </p:spPr>
        <p:txBody>
          <a:bodyPr wrap="square" anchor="t" lIns="0" rIns="0" tIns="0" bIns="0">
            <a:spAutoFit/>
          </a:bodyPr>
          <a:lstStyle/>
          <a:p>
            <a:pPr algn="l"/>
            <a:r>
              <a:rPr sz="1600" b="1">
                <a:solidFill>
                  <a:srgbClr val="FF983D"/>
                </a:solidFill>
                <a:latin typeface="ITC Avant Garde Gothic"/>
              </a:rPr>
              <a:t>Agrupar vecinos</a:t>
            </a:r>
          </a:p>
        </p:txBody>
      </p:sp>
      <p:sp>
        <p:nvSpPr>
          <p:cNvPr id="9" name="TextBox 8"/>
          <p:cNvSpPr txBox="1"/>
          <p:nvPr/>
        </p:nvSpPr>
        <p:spPr>
          <a:xfrm>
            <a:off x="868680" y="3474974"/>
            <a:ext cx="10454335" cy="217932"/>
          </a:xfrm>
          <a:prstGeom prst="rect">
            <a:avLst/>
          </a:prstGeom>
          <a:noFill/>
        </p:spPr>
        <p:txBody>
          <a:bodyPr wrap="square" anchor="t" lIns="0" rIns="0" tIns="0" bIns="0">
            <a:spAutoFit/>
          </a:bodyPr>
          <a:lstStyle/>
          <a:p>
            <a:pPr algn="l"/>
            <a:r>
              <a:rPr sz="1300" b="0">
                <a:solidFill>
                  <a:srgbClr val="C7C2EF"/>
                </a:solidFill>
                <a:latin typeface="ITC Avant Garde Gothic"/>
              </a:rPr>
              <a:t>Los píxeles contiguos forman manchas.</a:t>
            </a:r>
          </a:p>
        </p:txBody>
      </p:sp>
      <p:sp>
        <p:nvSpPr>
          <p:cNvPr id="10" name="TextBox 9"/>
          <p:cNvSpPr txBox="1"/>
          <p:nvPr/>
        </p:nvSpPr>
        <p:spPr>
          <a:xfrm>
            <a:off x="640080" y="3967226"/>
            <a:ext cx="10911535" cy="278892"/>
          </a:xfrm>
          <a:prstGeom prst="rect">
            <a:avLst/>
          </a:prstGeom>
          <a:noFill/>
        </p:spPr>
        <p:txBody>
          <a:bodyPr wrap="square" anchor="t" lIns="0" rIns="0" tIns="0" bIns="0">
            <a:spAutoFit/>
          </a:bodyPr>
          <a:lstStyle/>
          <a:p>
            <a:pPr algn="l"/>
            <a:r>
              <a:rPr sz="1800" b="1">
                <a:solidFill>
                  <a:srgbClr val="FF983D"/>
                </a:solidFill>
                <a:latin typeface="ITC Avant Garde Gothic"/>
              </a:rPr>
              <a:t>Una mancha, una célula</a:t>
            </a:r>
          </a:p>
        </p:txBody>
      </p:sp>
      <p:sp>
        <p:nvSpPr>
          <p:cNvPr id="11" name="Rounded Rectangle 10"/>
          <p:cNvSpPr/>
          <p:nvPr/>
        </p:nvSpPr>
        <p:spPr>
          <a:xfrm>
            <a:off x="640080" y="4428998"/>
            <a:ext cx="5318607" cy="819912"/>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8680" y="459359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739894"/>
            <a:ext cx="4861407" cy="454152"/>
          </a:xfrm>
          <a:prstGeom prst="rect">
            <a:avLst/>
          </a:prstGeom>
          <a:noFill/>
        </p:spPr>
        <p:txBody>
          <a:bodyPr wrap="square" anchor="t" lIns="0" rIns="0" tIns="0" bIns="0">
            <a:spAutoFit/>
          </a:bodyPr>
          <a:lstStyle/>
          <a:p>
            <a:pPr algn="l"/>
            <a:r>
              <a:rPr sz="1300" b="0">
                <a:solidFill>
                  <a:srgbClr val="C7C2EF"/>
                </a:solidFill>
                <a:latin typeface="ITC Avant Garde Gothic"/>
              </a:rPr>
              <a:t>Y se cuentan.</a:t>
            </a:r>
          </a:p>
        </p:txBody>
      </p:sp>
      <p:sp>
        <p:nvSpPr>
          <p:cNvPr id="14" name="Rounded Rectangle 13"/>
          <p:cNvSpPr/>
          <p:nvPr/>
        </p:nvSpPr>
        <p:spPr>
          <a:xfrm>
            <a:off x="6233007" y="4428998"/>
            <a:ext cx="5318607" cy="819912"/>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61607" y="459359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1607" y="4739894"/>
            <a:ext cx="4861407" cy="454152"/>
          </a:xfrm>
          <a:prstGeom prst="rect">
            <a:avLst/>
          </a:prstGeom>
          <a:noFill/>
        </p:spPr>
        <p:txBody>
          <a:bodyPr wrap="square" anchor="t" lIns="0" rIns="0" tIns="0" bIns="0">
            <a:spAutoFit/>
          </a:bodyPr>
          <a:lstStyle/>
          <a:p>
            <a:pPr algn="l"/>
            <a:r>
              <a:rPr sz="1300" b="0">
                <a:solidFill>
                  <a:srgbClr val="C7C2EF"/>
                </a:solidFill>
                <a:latin typeface="ITC Avant Garde Gothic"/>
              </a:rPr>
              <a:t>El sitio la incluye como respaldo: es la detección de emergencia.</a:t>
            </a:r>
          </a:p>
        </p:txBody>
      </p:sp>
      <p:sp>
        <p:nvSpPr>
          <p:cNvPr id="17" name="TextBox 16"/>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Aprendizaje automático</a:t>
            </a:r>
          </a:p>
        </p:txBody>
      </p:sp>
      <p:sp>
        <p:nvSpPr>
          <p:cNvPr id="3" name="TextBox 2"/>
          <p:cNvSpPr txBox="1"/>
          <p:nvPr/>
        </p:nvSpPr>
        <p:spPr>
          <a:xfrm>
            <a:off x="640080" y="960120"/>
            <a:ext cx="10911535" cy="501243"/>
          </a:xfrm>
          <a:prstGeom prst="rect">
            <a:avLst/>
          </a:prstGeom>
          <a:noFill/>
        </p:spPr>
        <p:txBody>
          <a:bodyPr wrap="square" anchor="t" lIns="0" rIns="0" tIns="0" bIns="0">
            <a:spAutoFit/>
          </a:bodyPr>
          <a:lstStyle/>
          <a:p>
            <a:pPr algn="l"/>
            <a:r>
              <a:rPr sz="3400" b="1">
                <a:solidFill>
                  <a:srgbClr val="C7C2EF"/>
                </a:solidFill>
                <a:latin typeface="ITC Avant Garde Gothic"/>
              </a:rPr>
              <a:t>Una inversión del flujo</a:t>
            </a:r>
          </a:p>
        </p:txBody>
      </p:sp>
      <p:sp>
        <p:nvSpPr>
          <p:cNvPr id="4" name="TextBox 3"/>
          <p:cNvSpPr txBox="1"/>
          <p:nvPr/>
        </p:nvSpPr>
        <p:spPr>
          <a:xfrm>
            <a:off x="640080" y="1827123"/>
            <a:ext cx="10911535" cy="290047"/>
          </a:xfrm>
          <a:prstGeom prst="rect">
            <a:avLst/>
          </a:prstGeom>
          <a:noFill/>
        </p:spPr>
        <p:txBody>
          <a:bodyPr wrap="square" anchor="t" lIns="0" rIns="0" tIns="0" bIns="0">
            <a:spAutoFit/>
          </a:bodyPr>
          <a:lstStyle/>
          <a:p>
            <a:pPr algn="l"/>
            <a:r>
              <a:rPr sz="1900" b="0">
                <a:solidFill>
                  <a:srgbClr val="C7C2EF"/>
                </a:solidFill>
                <a:latin typeface="ITC Avant Garde Gothic"/>
              </a:rPr>
              <a:t>Programación tradicional: se entregan reglas y datos, y salen respuestas</a:t>
            </a:r>
          </a:p>
        </p:txBody>
      </p:sp>
      <p:sp>
        <p:nvSpPr>
          <p:cNvPr id="5" name="Rounded Rectangle 4"/>
          <p:cNvSpPr/>
          <p:nvPr/>
        </p:nvSpPr>
        <p:spPr>
          <a:xfrm>
            <a:off x="640080" y="2345771"/>
            <a:ext cx="2522143" cy="66735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68680" y="2510363"/>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656667"/>
            <a:ext cx="2064943" cy="301599"/>
          </a:xfrm>
          <a:prstGeom prst="rect">
            <a:avLst/>
          </a:prstGeom>
          <a:noFill/>
        </p:spPr>
        <p:txBody>
          <a:bodyPr wrap="square" anchor="t" lIns="0" rIns="0" tIns="0" bIns="0">
            <a:spAutoFit/>
          </a:bodyPr>
          <a:lstStyle/>
          <a:p>
            <a:pPr algn="l"/>
            <a:r>
              <a:rPr sz="1700" b="0">
                <a:solidFill>
                  <a:srgbClr val="C7C2EF"/>
                </a:solidFill>
                <a:latin typeface="ITC Avant Garde Gothic"/>
              </a:rPr>
              <a:t>Reglas</a:t>
            </a:r>
          </a:p>
        </p:txBody>
      </p:sp>
      <p:sp>
        <p:nvSpPr>
          <p:cNvPr id="8" name="Rounded Rectangle 7"/>
          <p:cNvSpPr/>
          <p:nvPr/>
        </p:nvSpPr>
        <p:spPr>
          <a:xfrm>
            <a:off x="3436543" y="2345771"/>
            <a:ext cx="2522143" cy="66735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65143" y="2510363"/>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65143" y="2656667"/>
            <a:ext cx="2064943" cy="301599"/>
          </a:xfrm>
          <a:prstGeom prst="rect">
            <a:avLst/>
          </a:prstGeom>
          <a:noFill/>
        </p:spPr>
        <p:txBody>
          <a:bodyPr wrap="square" anchor="t" lIns="0" rIns="0" tIns="0" bIns="0">
            <a:spAutoFit/>
          </a:bodyPr>
          <a:lstStyle/>
          <a:p>
            <a:pPr algn="l"/>
            <a:r>
              <a:rPr sz="1700" b="0">
                <a:solidFill>
                  <a:srgbClr val="C7C2EF"/>
                </a:solidFill>
                <a:latin typeface="ITC Avant Garde Gothic"/>
              </a:rPr>
              <a:t>+</a:t>
            </a:r>
          </a:p>
        </p:txBody>
      </p:sp>
      <p:sp>
        <p:nvSpPr>
          <p:cNvPr id="11" name="Rounded Rectangle 10"/>
          <p:cNvSpPr/>
          <p:nvPr/>
        </p:nvSpPr>
        <p:spPr>
          <a:xfrm>
            <a:off x="6233007" y="2345771"/>
            <a:ext cx="2522143" cy="66735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61607" y="2510363"/>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1607" y="2656667"/>
            <a:ext cx="2064943" cy="301599"/>
          </a:xfrm>
          <a:prstGeom prst="rect">
            <a:avLst/>
          </a:prstGeom>
          <a:noFill/>
        </p:spPr>
        <p:txBody>
          <a:bodyPr wrap="square" anchor="t" lIns="0" rIns="0" tIns="0" bIns="0">
            <a:spAutoFit/>
          </a:bodyPr>
          <a:lstStyle/>
          <a:p>
            <a:pPr algn="l"/>
            <a:r>
              <a:rPr sz="1700" b="0">
                <a:solidFill>
                  <a:srgbClr val="C7C2EF"/>
                </a:solidFill>
                <a:latin typeface="ITC Avant Garde Gothic"/>
              </a:rPr>
              <a:t>Datos</a:t>
            </a:r>
          </a:p>
        </p:txBody>
      </p:sp>
      <p:sp>
        <p:nvSpPr>
          <p:cNvPr id="14" name="Rounded Rectangle 13"/>
          <p:cNvSpPr/>
          <p:nvPr/>
        </p:nvSpPr>
        <p:spPr>
          <a:xfrm>
            <a:off x="9029471" y="2345771"/>
            <a:ext cx="2522143" cy="66735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258071" y="2510363"/>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58071" y="2656667"/>
            <a:ext cx="2064943" cy="301599"/>
          </a:xfrm>
          <a:prstGeom prst="rect">
            <a:avLst/>
          </a:prstGeom>
          <a:noFill/>
        </p:spPr>
        <p:txBody>
          <a:bodyPr wrap="square" anchor="t" lIns="0" rIns="0" tIns="0" bIns="0">
            <a:spAutoFit/>
          </a:bodyPr>
          <a:lstStyle/>
          <a:p>
            <a:pPr algn="l"/>
            <a:r>
              <a:rPr sz="1700" b="0">
                <a:solidFill>
                  <a:srgbClr val="C7C2EF"/>
                </a:solidFill>
                <a:latin typeface="ITC Avant Garde Gothic"/>
              </a:rPr>
              <a:t>Respuestas</a:t>
            </a:r>
          </a:p>
        </p:txBody>
      </p:sp>
      <p:sp>
        <p:nvSpPr>
          <p:cNvPr id="17" name="TextBox 16"/>
          <p:cNvSpPr txBox="1"/>
          <p:nvPr/>
        </p:nvSpPr>
        <p:spPr>
          <a:xfrm>
            <a:off x="640080" y="3196010"/>
            <a:ext cx="10911535" cy="290047"/>
          </a:xfrm>
          <a:prstGeom prst="rect">
            <a:avLst/>
          </a:prstGeom>
          <a:noFill/>
        </p:spPr>
        <p:txBody>
          <a:bodyPr wrap="square" anchor="t" lIns="0" rIns="0" tIns="0" bIns="0">
            <a:spAutoFit/>
          </a:bodyPr>
          <a:lstStyle/>
          <a:p>
            <a:pPr algn="l"/>
            <a:r>
              <a:rPr sz="1900" b="0">
                <a:solidFill>
                  <a:srgbClr val="C7C2EF"/>
                </a:solidFill>
                <a:latin typeface="ITC Avant Garde Gothic"/>
              </a:rPr>
              <a:t>Aprendizaje automático: se entregan datos y respuestas, y salen las reglas</a:t>
            </a:r>
          </a:p>
        </p:txBody>
      </p:sp>
      <p:sp>
        <p:nvSpPr>
          <p:cNvPr id="18" name="Rounded Rectangle 17"/>
          <p:cNvSpPr/>
          <p:nvPr/>
        </p:nvSpPr>
        <p:spPr>
          <a:xfrm>
            <a:off x="640080" y="3714658"/>
            <a:ext cx="2522143" cy="66735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68680" y="387925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025554"/>
            <a:ext cx="2064943" cy="301599"/>
          </a:xfrm>
          <a:prstGeom prst="rect">
            <a:avLst/>
          </a:prstGeom>
          <a:noFill/>
        </p:spPr>
        <p:txBody>
          <a:bodyPr wrap="square" anchor="t" lIns="0" rIns="0" tIns="0" bIns="0">
            <a:spAutoFit/>
          </a:bodyPr>
          <a:lstStyle/>
          <a:p>
            <a:pPr algn="l"/>
            <a:r>
              <a:rPr sz="1700" b="0">
                <a:solidFill>
                  <a:srgbClr val="C7C2EF"/>
                </a:solidFill>
                <a:latin typeface="ITC Avant Garde Gothic"/>
              </a:rPr>
              <a:t>Datos</a:t>
            </a:r>
          </a:p>
        </p:txBody>
      </p:sp>
      <p:sp>
        <p:nvSpPr>
          <p:cNvPr id="21" name="Rounded Rectangle 20"/>
          <p:cNvSpPr/>
          <p:nvPr/>
        </p:nvSpPr>
        <p:spPr>
          <a:xfrm>
            <a:off x="3436543" y="3714658"/>
            <a:ext cx="2522143" cy="66735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65143" y="387925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65143" y="4025554"/>
            <a:ext cx="2064943" cy="301599"/>
          </a:xfrm>
          <a:prstGeom prst="rect">
            <a:avLst/>
          </a:prstGeom>
          <a:noFill/>
        </p:spPr>
        <p:txBody>
          <a:bodyPr wrap="square" anchor="t" lIns="0" rIns="0" tIns="0" bIns="0">
            <a:spAutoFit/>
          </a:bodyPr>
          <a:lstStyle/>
          <a:p>
            <a:pPr algn="l"/>
            <a:r>
              <a:rPr sz="1700" b="0">
                <a:solidFill>
                  <a:srgbClr val="C7C2EF"/>
                </a:solidFill>
                <a:latin typeface="ITC Avant Garde Gothic"/>
              </a:rPr>
              <a:t>+</a:t>
            </a:r>
          </a:p>
        </p:txBody>
      </p:sp>
      <p:sp>
        <p:nvSpPr>
          <p:cNvPr id="24" name="Rounded Rectangle 23"/>
          <p:cNvSpPr/>
          <p:nvPr/>
        </p:nvSpPr>
        <p:spPr>
          <a:xfrm>
            <a:off x="6233007" y="3714658"/>
            <a:ext cx="2522143" cy="66735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61607" y="387925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61607" y="4025554"/>
            <a:ext cx="2064943" cy="301599"/>
          </a:xfrm>
          <a:prstGeom prst="rect">
            <a:avLst/>
          </a:prstGeom>
          <a:noFill/>
        </p:spPr>
        <p:txBody>
          <a:bodyPr wrap="square" anchor="t" lIns="0" rIns="0" tIns="0" bIns="0">
            <a:spAutoFit/>
          </a:bodyPr>
          <a:lstStyle/>
          <a:p>
            <a:pPr algn="l"/>
            <a:r>
              <a:rPr sz="1700" b="0">
                <a:solidFill>
                  <a:srgbClr val="C7C2EF"/>
                </a:solidFill>
                <a:latin typeface="ITC Avant Garde Gothic"/>
              </a:rPr>
              <a:t>Respuestas</a:t>
            </a:r>
          </a:p>
        </p:txBody>
      </p:sp>
      <p:sp>
        <p:nvSpPr>
          <p:cNvPr id="27" name="Rounded Rectangle 26"/>
          <p:cNvSpPr/>
          <p:nvPr/>
        </p:nvSpPr>
        <p:spPr>
          <a:xfrm>
            <a:off x="9029471" y="3714658"/>
            <a:ext cx="2522143" cy="66735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258071" y="387925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58071" y="4025554"/>
            <a:ext cx="2064943" cy="301599"/>
          </a:xfrm>
          <a:prstGeom prst="rect">
            <a:avLst/>
          </a:prstGeom>
          <a:noFill/>
        </p:spPr>
        <p:txBody>
          <a:bodyPr wrap="square" anchor="t" lIns="0" rIns="0" tIns="0" bIns="0">
            <a:spAutoFit/>
          </a:bodyPr>
          <a:lstStyle/>
          <a:p>
            <a:pPr algn="l"/>
            <a:r>
              <a:rPr sz="1700" b="0">
                <a:solidFill>
                  <a:srgbClr val="C7C2EF"/>
                </a:solidFill>
                <a:latin typeface="ITC Avant Garde Gothic"/>
              </a:rPr>
              <a:t>Reglas</a:t>
            </a:r>
          </a:p>
        </p:txBody>
      </p:sp>
      <p:sp>
        <p:nvSpPr>
          <p:cNvPr id="30" name="TextBox 29"/>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Una idea previa</a:t>
            </a:r>
          </a:p>
        </p:txBody>
      </p:sp>
      <p:sp>
        <p:nvSpPr>
          <p:cNvPr id="3" name="TextBox 2"/>
          <p:cNvSpPr txBox="1"/>
          <p:nvPr/>
        </p:nvSpPr>
        <p:spPr>
          <a:xfrm>
            <a:off x="640080" y="960120"/>
            <a:ext cx="10911535" cy="1285240"/>
          </a:xfrm>
          <a:prstGeom prst="rect">
            <a:avLst/>
          </a:prstGeom>
          <a:noFill/>
        </p:spPr>
        <p:txBody>
          <a:bodyPr wrap="square" anchor="t" lIns="0" rIns="0" tIns="0" bIns="0">
            <a:spAutoFit/>
          </a:bodyPr>
          <a:lstStyle/>
          <a:p>
            <a:pPr algn="l"/>
            <a:r>
              <a:rPr sz="4400" b="1">
                <a:solidFill>
                  <a:srgbClr val="C7C2EF"/>
                </a:solidFill>
                <a:latin typeface="ITC Avant Garde Gothic"/>
              </a:rPr>
              <a:t>Una red neuronal no entiende qué es un espermatozoide</a:t>
            </a:r>
          </a:p>
        </p:txBody>
      </p:sp>
      <p:sp>
        <p:nvSpPr>
          <p:cNvPr id="4" name="Rounded Rectangle 3"/>
          <p:cNvSpPr/>
          <p:nvPr/>
        </p:nvSpPr>
        <p:spPr>
          <a:xfrm>
            <a:off x="640080" y="2611119"/>
            <a:ext cx="10911535" cy="82042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77571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922015"/>
            <a:ext cx="10454335" cy="454660"/>
          </a:xfrm>
          <a:prstGeom prst="rect">
            <a:avLst/>
          </a:prstGeom>
          <a:noFill/>
        </p:spPr>
        <p:txBody>
          <a:bodyPr wrap="square" anchor="t" lIns="0" rIns="0" tIns="0" bIns="0">
            <a:spAutoFit/>
          </a:bodyPr>
          <a:lstStyle/>
          <a:p>
            <a:pPr algn="l"/>
            <a:r>
              <a:rPr sz="2200" b="0">
                <a:solidFill>
                  <a:srgbClr val="C7C2EF"/>
                </a:solidFill>
                <a:latin typeface="ITC Avant Garde Gothic"/>
              </a:rPr>
              <a:t>Es un reconocedor de patrones muy sofisticado, y nada más.</a:t>
            </a:r>
          </a:p>
        </p:txBody>
      </p:sp>
      <p:sp>
        <p:nvSpPr>
          <p:cNvPr id="7" name="TextBox 6"/>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La neurona artificial</a:t>
            </a:r>
          </a:p>
        </p:txBody>
      </p:sp>
      <p:sp>
        <p:nvSpPr>
          <p:cNvPr id="3" name="TextBox 2"/>
          <p:cNvSpPr txBox="1"/>
          <p:nvPr/>
        </p:nvSpPr>
        <p:spPr>
          <a:xfrm>
            <a:off x="640080" y="960120"/>
            <a:ext cx="10911535" cy="462686"/>
          </a:xfrm>
          <a:prstGeom prst="rect">
            <a:avLst/>
          </a:prstGeom>
          <a:noFill/>
        </p:spPr>
        <p:txBody>
          <a:bodyPr wrap="square" anchor="t" lIns="0" rIns="0" tIns="0" bIns="0">
            <a:spAutoFit/>
          </a:bodyPr>
          <a:lstStyle/>
          <a:p>
            <a:pPr algn="l"/>
            <a:r>
              <a:rPr sz="3200" b="1">
                <a:solidFill>
                  <a:srgbClr val="C7C2EF"/>
                </a:solidFill>
                <a:latin typeface="ITC Avant Garde Gothic"/>
              </a:rPr>
              <a:t>Multiplicar, sumar y activar</a:t>
            </a:r>
          </a:p>
        </p:txBody>
      </p:sp>
      <p:sp>
        <p:nvSpPr>
          <p:cNvPr id="4" name="Rounded Rectangle 3"/>
          <p:cNvSpPr/>
          <p:nvPr/>
        </p:nvSpPr>
        <p:spPr>
          <a:xfrm>
            <a:off x="640080" y="1788566"/>
            <a:ext cx="2522143" cy="645566"/>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95315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99462"/>
            <a:ext cx="2064943" cy="279806"/>
          </a:xfrm>
          <a:prstGeom prst="rect">
            <a:avLst/>
          </a:prstGeom>
          <a:noFill/>
        </p:spPr>
        <p:txBody>
          <a:bodyPr wrap="square" anchor="t" lIns="0" rIns="0" tIns="0" bIns="0">
            <a:spAutoFit/>
          </a:bodyPr>
          <a:lstStyle/>
          <a:p>
            <a:pPr algn="l"/>
            <a:r>
              <a:rPr sz="1600" b="0">
                <a:solidFill>
                  <a:srgbClr val="C7C2EF"/>
                </a:solidFill>
                <a:latin typeface="ITC Avant Garde Gothic"/>
              </a:rPr>
              <a:t>entrada 1</a:t>
            </a:r>
          </a:p>
        </p:txBody>
      </p:sp>
      <p:sp>
        <p:nvSpPr>
          <p:cNvPr id="7" name="Rounded Rectangle 6"/>
          <p:cNvSpPr/>
          <p:nvPr/>
        </p:nvSpPr>
        <p:spPr>
          <a:xfrm>
            <a:off x="3436543" y="1788566"/>
            <a:ext cx="2522143" cy="645566"/>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65143" y="195315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65143" y="2099462"/>
            <a:ext cx="2064943" cy="279806"/>
          </a:xfrm>
          <a:prstGeom prst="rect">
            <a:avLst/>
          </a:prstGeom>
          <a:noFill/>
        </p:spPr>
        <p:txBody>
          <a:bodyPr wrap="square" anchor="t" lIns="0" rIns="0" tIns="0" bIns="0">
            <a:spAutoFit/>
          </a:bodyPr>
          <a:lstStyle/>
          <a:p>
            <a:pPr algn="l"/>
            <a:r>
              <a:rPr sz="1600" b="0">
                <a:solidFill>
                  <a:srgbClr val="C7C2EF"/>
                </a:solidFill>
                <a:latin typeface="ITC Avant Garde Gothic"/>
              </a:rPr>
              <a:t>× peso 1</a:t>
            </a:r>
          </a:p>
        </p:txBody>
      </p:sp>
      <p:sp>
        <p:nvSpPr>
          <p:cNvPr id="10" name="Rounded Rectangle 9"/>
          <p:cNvSpPr/>
          <p:nvPr/>
        </p:nvSpPr>
        <p:spPr>
          <a:xfrm>
            <a:off x="6233007" y="1788566"/>
            <a:ext cx="2522143" cy="645566"/>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61607" y="195315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1607" y="2099462"/>
            <a:ext cx="2064943" cy="279806"/>
          </a:xfrm>
          <a:prstGeom prst="rect">
            <a:avLst/>
          </a:prstGeom>
          <a:noFill/>
        </p:spPr>
        <p:txBody>
          <a:bodyPr wrap="square" anchor="t" lIns="0" rIns="0" tIns="0" bIns="0">
            <a:spAutoFit/>
          </a:bodyPr>
          <a:lstStyle/>
          <a:p>
            <a:pPr algn="l"/>
            <a:r>
              <a:rPr sz="1600" b="0">
                <a:solidFill>
                  <a:srgbClr val="C7C2EF"/>
                </a:solidFill>
                <a:latin typeface="ITC Avant Garde Gothic"/>
              </a:rPr>
              <a:t>entrada 2</a:t>
            </a:r>
          </a:p>
        </p:txBody>
      </p:sp>
      <p:sp>
        <p:nvSpPr>
          <p:cNvPr id="13" name="Rounded Rectangle 12"/>
          <p:cNvSpPr/>
          <p:nvPr/>
        </p:nvSpPr>
        <p:spPr>
          <a:xfrm>
            <a:off x="9029471" y="1788566"/>
            <a:ext cx="2522143" cy="645566"/>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258071" y="195315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58071" y="2099462"/>
            <a:ext cx="2064943" cy="279806"/>
          </a:xfrm>
          <a:prstGeom prst="rect">
            <a:avLst/>
          </a:prstGeom>
          <a:noFill/>
        </p:spPr>
        <p:txBody>
          <a:bodyPr wrap="square" anchor="t" lIns="0" rIns="0" tIns="0" bIns="0">
            <a:spAutoFit/>
          </a:bodyPr>
          <a:lstStyle/>
          <a:p>
            <a:pPr algn="l"/>
            <a:r>
              <a:rPr sz="1600" b="0">
                <a:solidFill>
                  <a:srgbClr val="C7C2EF"/>
                </a:solidFill>
                <a:latin typeface="ITC Avant Garde Gothic"/>
              </a:rPr>
              <a:t>× peso 2</a:t>
            </a:r>
          </a:p>
        </p:txBody>
      </p:sp>
      <p:sp>
        <p:nvSpPr>
          <p:cNvPr id="16" name="Rounded Rectangle 15"/>
          <p:cNvSpPr/>
          <p:nvPr/>
        </p:nvSpPr>
        <p:spPr>
          <a:xfrm>
            <a:off x="640080" y="2708452"/>
            <a:ext cx="2522143" cy="645566"/>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68680" y="287304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019348"/>
            <a:ext cx="2064943" cy="279806"/>
          </a:xfrm>
          <a:prstGeom prst="rect">
            <a:avLst/>
          </a:prstGeom>
          <a:noFill/>
        </p:spPr>
        <p:txBody>
          <a:bodyPr wrap="square" anchor="t" lIns="0" rIns="0" tIns="0" bIns="0">
            <a:spAutoFit/>
          </a:bodyPr>
          <a:lstStyle/>
          <a:p>
            <a:pPr algn="l"/>
            <a:r>
              <a:rPr sz="1600" b="0">
                <a:solidFill>
                  <a:srgbClr val="C7C2EF"/>
                </a:solidFill>
                <a:latin typeface="ITC Avant Garde Gothic"/>
              </a:rPr>
              <a:t>entrada 3</a:t>
            </a:r>
          </a:p>
        </p:txBody>
      </p:sp>
      <p:sp>
        <p:nvSpPr>
          <p:cNvPr id="19" name="Rounded Rectangle 18"/>
          <p:cNvSpPr/>
          <p:nvPr/>
        </p:nvSpPr>
        <p:spPr>
          <a:xfrm>
            <a:off x="3436543" y="2708452"/>
            <a:ext cx="2522143" cy="645566"/>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5143" y="287304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65143" y="3019348"/>
            <a:ext cx="2064943" cy="279806"/>
          </a:xfrm>
          <a:prstGeom prst="rect">
            <a:avLst/>
          </a:prstGeom>
          <a:noFill/>
        </p:spPr>
        <p:txBody>
          <a:bodyPr wrap="square" anchor="t" lIns="0" rIns="0" tIns="0" bIns="0">
            <a:spAutoFit/>
          </a:bodyPr>
          <a:lstStyle/>
          <a:p>
            <a:pPr algn="l"/>
            <a:r>
              <a:rPr sz="1600" b="0">
                <a:solidFill>
                  <a:srgbClr val="C7C2EF"/>
                </a:solidFill>
                <a:latin typeface="ITC Avant Garde Gothic"/>
              </a:rPr>
              <a:t>× peso 3</a:t>
            </a:r>
          </a:p>
        </p:txBody>
      </p:sp>
      <p:sp>
        <p:nvSpPr>
          <p:cNvPr id="22" name="Rounded Rectangle 21"/>
          <p:cNvSpPr/>
          <p:nvPr/>
        </p:nvSpPr>
        <p:spPr>
          <a:xfrm>
            <a:off x="6233007" y="2708452"/>
            <a:ext cx="2522143" cy="645566"/>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61607" y="287304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61607" y="3019348"/>
            <a:ext cx="2064943" cy="279806"/>
          </a:xfrm>
          <a:prstGeom prst="rect">
            <a:avLst/>
          </a:prstGeom>
          <a:noFill/>
        </p:spPr>
        <p:txBody>
          <a:bodyPr wrap="square" anchor="t" lIns="0" rIns="0" tIns="0" bIns="0">
            <a:spAutoFit/>
          </a:bodyPr>
          <a:lstStyle/>
          <a:p>
            <a:pPr algn="l"/>
            <a:r>
              <a:rPr sz="1600" b="0">
                <a:solidFill>
                  <a:srgbClr val="C7C2EF"/>
                </a:solidFill>
                <a:latin typeface="ITC Avant Garde Gothic"/>
              </a:rPr>
              <a:t>Suma + sesgo</a:t>
            </a:r>
          </a:p>
        </p:txBody>
      </p:sp>
      <p:sp>
        <p:nvSpPr>
          <p:cNvPr id="25" name="Rounded Rectangle 24"/>
          <p:cNvSpPr/>
          <p:nvPr/>
        </p:nvSpPr>
        <p:spPr>
          <a:xfrm>
            <a:off x="9029471" y="2708452"/>
            <a:ext cx="2522143" cy="645566"/>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58071" y="287304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58071" y="3019348"/>
            <a:ext cx="2064943" cy="279806"/>
          </a:xfrm>
          <a:prstGeom prst="rect">
            <a:avLst/>
          </a:prstGeom>
          <a:noFill/>
        </p:spPr>
        <p:txBody>
          <a:bodyPr wrap="square" anchor="t" lIns="0" rIns="0" tIns="0" bIns="0">
            <a:spAutoFit/>
          </a:bodyPr>
          <a:lstStyle/>
          <a:p>
            <a:pPr algn="l"/>
            <a:r>
              <a:rPr sz="1600" b="0">
                <a:solidFill>
                  <a:srgbClr val="C7C2EF"/>
                </a:solidFill>
                <a:latin typeface="ITC Avant Garde Gothic"/>
              </a:rPr>
              <a:t>Activación</a:t>
            </a:r>
          </a:p>
        </p:txBody>
      </p:sp>
      <p:sp>
        <p:nvSpPr>
          <p:cNvPr id="28" name="Rounded Rectangle 27"/>
          <p:cNvSpPr/>
          <p:nvPr/>
        </p:nvSpPr>
        <p:spPr>
          <a:xfrm>
            <a:off x="640080" y="3628339"/>
            <a:ext cx="2522143" cy="116860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8680" y="3792931"/>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3939235"/>
            <a:ext cx="2064943" cy="802843"/>
          </a:xfrm>
          <a:prstGeom prst="rect">
            <a:avLst/>
          </a:prstGeom>
          <a:noFill/>
        </p:spPr>
        <p:txBody>
          <a:bodyPr wrap="square" anchor="t" lIns="0" rIns="0" tIns="0" bIns="0">
            <a:spAutoFit/>
          </a:bodyPr>
          <a:lstStyle/>
          <a:p>
            <a:pPr algn="l"/>
            <a:r>
              <a:rPr sz="1600" b="0">
                <a:solidFill>
                  <a:srgbClr val="C7C2EF"/>
                </a:solidFill>
                <a:latin typeface="ITC Avant Garde Gothic"/>
              </a:rPr>
              <a:t>Salida</a:t>
            </a:r>
          </a:p>
        </p:txBody>
      </p:sp>
      <p:sp>
        <p:nvSpPr>
          <p:cNvPr id="31" name="Rounded Rectangle 30"/>
          <p:cNvSpPr/>
          <p:nvPr/>
        </p:nvSpPr>
        <p:spPr>
          <a:xfrm>
            <a:off x="3436543" y="3628339"/>
            <a:ext cx="2522143" cy="116860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65143" y="3792931"/>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65143" y="3939235"/>
            <a:ext cx="2064943" cy="802843"/>
          </a:xfrm>
          <a:prstGeom prst="rect">
            <a:avLst/>
          </a:prstGeom>
          <a:noFill/>
        </p:spPr>
        <p:txBody>
          <a:bodyPr wrap="square" anchor="t" lIns="0" rIns="0" tIns="0" bIns="0">
            <a:spAutoFit/>
          </a:bodyPr>
          <a:lstStyle/>
          <a:p>
            <a:pPr algn="l"/>
            <a:r>
              <a:rPr sz="1600" b="0">
                <a:solidFill>
                  <a:srgbClr val="C7C2EF"/>
                </a:solidFill>
                <a:latin typeface="ITC Avant Garde Gothic"/>
              </a:rPr>
              <a:t>Peso. Qué tanto le importa cada entrada.</a:t>
            </a:r>
          </a:p>
        </p:txBody>
      </p:sp>
      <p:sp>
        <p:nvSpPr>
          <p:cNvPr id="34" name="Rounded Rectangle 33"/>
          <p:cNvSpPr/>
          <p:nvPr/>
        </p:nvSpPr>
        <p:spPr>
          <a:xfrm>
            <a:off x="6233007" y="3628339"/>
            <a:ext cx="2522143" cy="116860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61607" y="3792931"/>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61607" y="3939235"/>
            <a:ext cx="2064943" cy="802843"/>
          </a:xfrm>
          <a:prstGeom prst="rect">
            <a:avLst/>
          </a:prstGeom>
          <a:noFill/>
        </p:spPr>
        <p:txBody>
          <a:bodyPr wrap="square" anchor="t" lIns="0" rIns="0" tIns="0" bIns="0">
            <a:spAutoFit/>
          </a:bodyPr>
          <a:lstStyle/>
          <a:p>
            <a:pPr algn="l"/>
            <a:r>
              <a:rPr sz="1600" b="0">
                <a:solidFill>
                  <a:srgbClr val="C7C2EF"/>
                </a:solidFill>
                <a:latin typeface="ITC Avant Garde Gothic"/>
              </a:rPr>
              <a:t>Sesgo. Qué tan exigente es antes de encenderse.</a:t>
            </a:r>
          </a:p>
        </p:txBody>
      </p:sp>
      <p:sp>
        <p:nvSpPr>
          <p:cNvPr id="37" name="TextBox 36"/>
          <p:cNvSpPr txBox="1"/>
          <p:nvPr/>
        </p:nvSpPr>
        <p:spPr>
          <a:xfrm>
            <a:off x="640080" y="4979822"/>
            <a:ext cx="10911535" cy="267736"/>
          </a:xfrm>
          <a:prstGeom prst="rect">
            <a:avLst/>
          </a:prstGeom>
          <a:noFill/>
        </p:spPr>
        <p:txBody>
          <a:bodyPr wrap="square" anchor="t" lIns="0" rIns="0" tIns="0" bIns="0">
            <a:spAutoFit/>
          </a:bodyPr>
          <a:lstStyle/>
          <a:p>
            <a:pPr algn="l"/>
            <a:r>
              <a:rPr sz="1700" b="0">
                <a:solidFill>
                  <a:srgbClr val="C7C2EF"/>
                </a:solidFill>
                <a:latin typeface="ITC Avant Garde Gothic"/>
              </a:rPr>
              <a:t>Activación. Si la suma es negativa, la salida es cero; si no, es la suma.</a:t>
            </a:r>
          </a:p>
        </p:txBody>
      </p:sp>
      <p:sp>
        <p:nvSpPr>
          <p:cNvPr id="38" name="TextBox 37"/>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El peso</a:t>
            </a:r>
          </a:p>
        </p:txBody>
      </p:sp>
      <p:sp>
        <p:nvSpPr>
          <p:cNvPr id="3" name="TextBox 2"/>
          <p:cNvSpPr txBox="1"/>
          <p:nvPr/>
        </p:nvSpPr>
        <p:spPr>
          <a:xfrm>
            <a:off x="640080" y="960120"/>
            <a:ext cx="10911535" cy="449833"/>
          </a:xfrm>
          <a:prstGeom prst="rect">
            <a:avLst/>
          </a:prstGeom>
          <a:noFill/>
        </p:spPr>
        <p:txBody>
          <a:bodyPr wrap="square" anchor="t" lIns="0" rIns="0" tIns="0" bIns="0">
            <a:spAutoFit/>
          </a:bodyPr>
          <a:lstStyle/>
          <a:p>
            <a:pPr algn="l"/>
            <a:r>
              <a:rPr sz="3100" b="1">
                <a:solidFill>
                  <a:srgbClr val="C7C2EF"/>
                </a:solidFill>
                <a:latin typeface="ITC Avant Garde Gothic"/>
              </a:rPr>
              <a:t>Qué le importa a la neurona</a:t>
            </a:r>
          </a:p>
        </p:txBody>
      </p:sp>
      <p:sp>
        <p:nvSpPr>
          <p:cNvPr id="4" name="Rounded Rectangle 3"/>
          <p:cNvSpPr/>
          <p:nvPr/>
        </p:nvSpPr>
        <p:spPr>
          <a:xfrm>
            <a:off x="640080" y="1775714"/>
            <a:ext cx="10911535" cy="87490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050034"/>
            <a:ext cx="10454335" cy="217932"/>
          </a:xfrm>
          <a:prstGeom prst="rect">
            <a:avLst/>
          </a:prstGeom>
          <a:noFill/>
        </p:spPr>
        <p:txBody>
          <a:bodyPr wrap="square" anchor="t" lIns="0" rIns="0" tIns="0" bIns="0">
            <a:spAutoFit/>
          </a:bodyPr>
          <a:lstStyle/>
          <a:p>
            <a:pPr algn="l"/>
            <a:r>
              <a:rPr sz="1400" b="1">
                <a:solidFill>
                  <a:srgbClr val="FF983D"/>
                </a:solidFill>
                <a:latin typeface="ITC Avant Garde Gothic"/>
              </a:rPr>
              <a:t>Peso grande y positivo</a:t>
            </a:r>
          </a:p>
        </p:txBody>
      </p:sp>
      <p:sp>
        <p:nvSpPr>
          <p:cNvPr id="6" name="TextBox 5"/>
          <p:cNvSpPr txBox="1"/>
          <p:nvPr/>
        </p:nvSpPr>
        <p:spPr>
          <a:xfrm>
            <a:off x="868680" y="2359406"/>
            <a:ext cx="10454335" cy="199771"/>
          </a:xfrm>
          <a:prstGeom prst="rect">
            <a:avLst/>
          </a:prstGeom>
          <a:noFill/>
        </p:spPr>
        <p:txBody>
          <a:bodyPr wrap="square" anchor="t" lIns="0" rIns="0" tIns="0" bIns="0">
            <a:spAutoFit/>
          </a:bodyPr>
          <a:lstStyle/>
          <a:p>
            <a:pPr algn="l"/>
            <a:r>
              <a:rPr sz="1200" b="0">
                <a:solidFill>
                  <a:srgbClr val="C7C2EF"/>
                </a:solidFill>
                <a:latin typeface="ITC Avant Garde Gothic"/>
              </a:rPr>
              <a:t>«Esto me importa mucho.»</a:t>
            </a:r>
          </a:p>
        </p:txBody>
      </p:sp>
      <p:sp>
        <p:nvSpPr>
          <p:cNvPr id="7" name="Rounded Rectangle 6"/>
          <p:cNvSpPr/>
          <p:nvPr/>
        </p:nvSpPr>
        <p:spPr>
          <a:xfrm>
            <a:off x="640080" y="2833497"/>
            <a:ext cx="10911535" cy="87490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107817"/>
            <a:ext cx="10454335" cy="217932"/>
          </a:xfrm>
          <a:prstGeom prst="rect">
            <a:avLst/>
          </a:prstGeom>
          <a:noFill/>
        </p:spPr>
        <p:txBody>
          <a:bodyPr wrap="square" anchor="t" lIns="0" rIns="0" tIns="0" bIns="0">
            <a:spAutoFit/>
          </a:bodyPr>
          <a:lstStyle/>
          <a:p>
            <a:pPr algn="l"/>
            <a:r>
              <a:rPr sz="1400" b="1">
                <a:solidFill>
                  <a:srgbClr val="FF983D"/>
                </a:solidFill>
                <a:latin typeface="ITC Avant Garde Gothic"/>
              </a:rPr>
              <a:t>Peso cercano a cero</a:t>
            </a:r>
          </a:p>
        </p:txBody>
      </p:sp>
      <p:sp>
        <p:nvSpPr>
          <p:cNvPr id="9" name="TextBox 8"/>
          <p:cNvSpPr txBox="1"/>
          <p:nvPr/>
        </p:nvSpPr>
        <p:spPr>
          <a:xfrm>
            <a:off x="868680" y="3417189"/>
            <a:ext cx="10454335" cy="199771"/>
          </a:xfrm>
          <a:prstGeom prst="rect">
            <a:avLst/>
          </a:prstGeom>
          <a:noFill/>
        </p:spPr>
        <p:txBody>
          <a:bodyPr wrap="square" anchor="t" lIns="0" rIns="0" tIns="0" bIns="0">
            <a:spAutoFit/>
          </a:bodyPr>
          <a:lstStyle/>
          <a:p>
            <a:pPr algn="l"/>
            <a:r>
              <a:rPr sz="1200" b="0">
                <a:solidFill>
                  <a:srgbClr val="C7C2EF"/>
                </a:solidFill>
                <a:latin typeface="ITC Avant Garde Gothic"/>
              </a:rPr>
              <a:t>«Me da igual.»</a:t>
            </a:r>
          </a:p>
        </p:txBody>
      </p:sp>
      <p:sp>
        <p:nvSpPr>
          <p:cNvPr id="10" name="Rounded Rectangle 9"/>
          <p:cNvSpPr/>
          <p:nvPr/>
        </p:nvSpPr>
        <p:spPr>
          <a:xfrm>
            <a:off x="640080" y="3891280"/>
            <a:ext cx="10911535" cy="87490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65600"/>
            <a:ext cx="10454335" cy="217932"/>
          </a:xfrm>
          <a:prstGeom prst="rect">
            <a:avLst/>
          </a:prstGeom>
          <a:noFill/>
        </p:spPr>
        <p:txBody>
          <a:bodyPr wrap="square" anchor="t" lIns="0" rIns="0" tIns="0" bIns="0">
            <a:spAutoFit/>
          </a:bodyPr>
          <a:lstStyle/>
          <a:p>
            <a:pPr algn="l"/>
            <a:r>
              <a:rPr sz="1400" b="1">
                <a:solidFill>
                  <a:srgbClr val="FF983D"/>
                </a:solidFill>
                <a:latin typeface="ITC Avant Garde Gothic"/>
              </a:rPr>
              <a:t>Peso negativo</a:t>
            </a:r>
          </a:p>
        </p:txBody>
      </p:sp>
      <p:sp>
        <p:nvSpPr>
          <p:cNvPr id="12" name="TextBox 11"/>
          <p:cNvSpPr txBox="1"/>
          <p:nvPr/>
        </p:nvSpPr>
        <p:spPr>
          <a:xfrm>
            <a:off x="868680" y="4474972"/>
            <a:ext cx="10454335" cy="199771"/>
          </a:xfrm>
          <a:prstGeom prst="rect">
            <a:avLst/>
          </a:prstGeom>
          <a:noFill/>
        </p:spPr>
        <p:txBody>
          <a:bodyPr wrap="square" anchor="t" lIns="0" rIns="0" tIns="0" bIns="0">
            <a:spAutoFit/>
          </a:bodyPr>
          <a:lstStyle/>
          <a:p>
            <a:pPr algn="l"/>
            <a:r>
              <a:rPr sz="1200" b="0">
                <a:solidFill>
                  <a:srgbClr val="C7C2EF"/>
                </a:solidFill>
                <a:latin typeface="ITC Avant Garde Gothic"/>
              </a:rPr>
              <a:t>«Esto me hace dudar.»</a:t>
            </a:r>
          </a:p>
        </p:txBody>
      </p:sp>
      <p:sp>
        <p:nvSpPr>
          <p:cNvPr id="13" name="TextBox 12"/>
          <p:cNvSpPr txBox="1"/>
          <p:nvPr/>
        </p:nvSpPr>
        <p:spPr>
          <a:xfrm>
            <a:off x="640080" y="4949063"/>
            <a:ext cx="10911535" cy="204520"/>
          </a:xfrm>
          <a:prstGeom prst="rect">
            <a:avLst/>
          </a:prstGeom>
          <a:noFill/>
        </p:spPr>
        <p:txBody>
          <a:bodyPr wrap="square" anchor="t" lIns="0" rIns="0" tIns="0" bIns="0">
            <a:spAutoFit/>
          </a:bodyPr>
          <a:lstStyle/>
          <a:p>
            <a:pPr algn="l"/>
            <a:r>
              <a:rPr sz="1300" b="0">
                <a:solidFill>
                  <a:srgbClr val="C7C2EF"/>
                </a:solidFill>
                <a:latin typeface="ITC Avant Garde Gothic"/>
              </a:rPr>
              <a:t>Ejemplo: una neurona que decide si un píxel es rojo e intenso lleva un peso grande en la entrada del rojo.</a:t>
            </a:r>
          </a:p>
        </p:txBody>
      </p:sp>
      <p:sp>
        <p:nvSpPr>
          <p:cNvPr id="14" name="TextBox 13"/>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La función de activación</a:t>
            </a:r>
          </a:p>
        </p:txBody>
      </p:sp>
      <p:sp>
        <p:nvSpPr>
          <p:cNvPr id="3" name="TextBox 2"/>
          <p:cNvSpPr txBox="1"/>
          <p:nvPr/>
        </p:nvSpPr>
        <p:spPr>
          <a:xfrm>
            <a:off x="640080" y="960120"/>
            <a:ext cx="10911535" cy="1285240"/>
          </a:xfrm>
          <a:prstGeom prst="rect">
            <a:avLst/>
          </a:prstGeom>
          <a:noFill/>
        </p:spPr>
        <p:txBody>
          <a:bodyPr wrap="square" anchor="t" lIns="0" rIns="0" tIns="0" bIns="0">
            <a:spAutoFit/>
          </a:bodyPr>
          <a:lstStyle/>
          <a:p>
            <a:pPr algn="l"/>
            <a:r>
              <a:rPr sz="4400" b="1">
                <a:solidFill>
                  <a:srgbClr val="C7C2EF"/>
                </a:solidFill>
                <a:latin typeface="ITC Avant Garde Gothic"/>
              </a:rPr>
              <a:t>Se apaga sin estímulo y responde con él</a:t>
            </a:r>
          </a:p>
        </p:txBody>
      </p:sp>
      <p:sp>
        <p:nvSpPr>
          <p:cNvPr id="4" name="Rounded Rectangle 3"/>
          <p:cNvSpPr/>
          <p:nvPr/>
        </p:nvSpPr>
        <p:spPr>
          <a:xfrm>
            <a:off x="640080" y="2611119"/>
            <a:ext cx="5318607" cy="118364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77571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922015"/>
            <a:ext cx="4861407" cy="817880"/>
          </a:xfrm>
          <a:prstGeom prst="rect">
            <a:avLst/>
          </a:prstGeom>
          <a:noFill/>
        </p:spPr>
        <p:txBody>
          <a:bodyPr wrap="square" anchor="t" lIns="0" rIns="0" tIns="0" bIns="0">
            <a:spAutoFit/>
          </a:bodyPr>
          <a:lstStyle/>
          <a:p>
            <a:pPr algn="l"/>
            <a:r>
              <a:rPr sz="2200" b="0">
                <a:solidFill>
                  <a:srgbClr val="C7C2EF"/>
                </a:solidFill>
                <a:latin typeface="ITC Avant Garde Gothic"/>
              </a:rPr>
              <a:t>Suma negativa: la salida es cero.</a:t>
            </a:r>
          </a:p>
        </p:txBody>
      </p:sp>
      <p:sp>
        <p:nvSpPr>
          <p:cNvPr id="7" name="Rounded Rectangle 6"/>
          <p:cNvSpPr/>
          <p:nvPr/>
        </p:nvSpPr>
        <p:spPr>
          <a:xfrm>
            <a:off x="6233007" y="2611119"/>
            <a:ext cx="5318607" cy="118364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61607" y="277571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1607" y="2922015"/>
            <a:ext cx="4861407" cy="817880"/>
          </a:xfrm>
          <a:prstGeom prst="rect">
            <a:avLst/>
          </a:prstGeom>
          <a:noFill/>
        </p:spPr>
        <p:txBody>
          <a:bodyPr wrap="square" anchor="t" lIns="0" rIns="0" tIns="0" bIns="0">
            <a:spAutoFit/>
          </a:bodyPr>
          <a:lstStyle/>
          <a:p>
            <a:pPr algn="l"/>
            <a:r>
              <a:rPr sz="2200" b="0">
                <a:solidFill>
                  <a:srgbClr val="C7C2EF"/>
                </a:solidFill>
                <a:latin typeface="ITC Avant Garde Gothic"/>
              </a:rPr>
              <a:t>Suma positiva: la salida es la propia suma.</a:t>
            </a:r>
          </a:p>
        </p:txBody>
      </p:sp>
      <p:sp>
        <p:nvSpPr>
          <p:cNvPr id="10" name="TextBox 9"/>
          <p:cNvSpPr txBox="1"/>
          <p:nvPr/>
        </p:nvSpPr>
        <p:spPr>
          <a:xfrm>
            <a:off x="640080" y="3977639"/>
            <a:ext cx="10911535" cy="743712"/>
          </a:xfrm>
          <a:prstGeom prst="rect">
            <a:avLst/>
          </a:prstGeom>
          <a:noFill/>
        </p:spPr>
        <p:txBody>
          <a:bodyPr wrap="square" anchor="t" lIns="0" rIns="0" tIns="0" bIns="0">
            <a:spAutoFit/>
          </a:bodyPr>
          <a:lstStyle/>
          <a:p>
            <a:pPr algn="l"/>
            <a:r>
              <a:rPr sz="2400" b="0">
                <a:solidFill>
                  <a:srgbClr val="C7C2EF"/>
                </a:solidFill>
                <a:latin typeface="ITC Avant Garde Gothic"/>
              </a:rPr>
              <a:t>Una pequeña torcedura que permite representar relaciones complicadas, no solo proporcionales.</a:t>
            </a:r>
          </a:p>
        </p:txBody>
      </p:sp>
      <p:sp>
        <p:nvSpPr>
          <p:cNvPr id="11" name="TextBox 10"/>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Capas apiladas</a:t>
            </a:r>
          </a:p>
        </p:txBody>
      </p:sp>
      <p:sp>
        <p:nvSpPr>
          <p:cNvPr id="3" name="TextBox 2"/>
          <p:cNvSpPr txBox="1"/>
          <p:nvPr/>
        </p:nvSpPr>
        <p:spPr>
          <a:xfrm>
            <a:off x="640080" y="960120"/>
            <a:ext cx="10911535" cy="642620"/>
          </a:xfrm>
          <a:prstGeom prst="rect">
            <a:avLst/>
          </a:prstGeom>
          <a:noFill/>
        </p:spPr>
        <p:txBody>
          <a:bodyPr wrap="square" anchor="t" lIns="0" rIns="0" tIns="0" bIns="0">
            <a:spAutoFit/>
          </a:bodyPr>
          <a:lstStyle/>
          <a:p>
            <a:pPr algn="l"/>
            <a:r>
              <a:rPr sz="4400" b="1">
                <a:solidFill>
                  <a:srgbClr val="C7C2EF"/>
                </a:solidFill>
                <a:latin typeface="ITC Avant Garde Gothic"/>
              </a:rPr>
              <a:t>Cada capa resume a la anterior</a:t>
            </a:r>
          </a:p>
        </p:txBody>
      </p:sp>
      <p:sp>
        <p:nvSpPr>
          <p:cNvPr id="4" name="Rounded Rectangle 3"/>
          <p:cNvSpPr/>
          <p:nvPr/>
        </p:nvSpPr>
        <p:spPr>
          <a:xfrm>
            <a:off x="640080" y="1968500"/>
            <a:ext cx="3454298" cy="82042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13309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279396"/>
            <a:ext cx="2997098" cy="454660"/>
          </a:xfrm>
          <a:prstGeom prst="rect">
            <a:avLst/>
          </a:prstGeom>
          <a:noFill/>
        </p:spPr>
        <p:txBody>
          <a:bodyPr wrap="square" anchor="t" lIns="0" rIns="0" tIns="0" bIns="0">
            <a:spAutoFit/>
          </a:bodyPr>
          <a:lstStyle/>
          <a:p>
            <a:pPr algn="l"/>
            <a:r>
              <a:rPr sz="2200" b="0">
                <a:solidFill>
                  <a:srgbClr val="C7C2EF"/>
                </a:solidFill>
                <a:latin typeface="ITC Avant Garde Gothic"/>
              </a:rPr>
              <a:t>Entrada</a:t>
            </a:r>
          </a:p>
        </p:txBody>
      </p:sp>
      <p:sp>
        <p:nvSpPr>
          <p:cNvPr id="7" name="Rounded Rectangle 6"/>
          <p:cNvSpPr/>
          <p:nvPr/>
        </p:nvSpPr>
        <p:spPr>
          <a:xfrm>
            <a:off x="4368698" y="1968500"/>
            <a:ext cx="3454298" cy="82042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97298" y="213309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7298" y="2279396"/>
            <a:ext cx="2997098" cy="454660"/>
          </a:xfrm>
          <a:prstGeom prst="rect">
            <a:avLst/>
          </a:prstGeom>
          <a:noFill/>
        </p:spPr>
        <p:txBody>
          <a:bodyPr wrap="square" anchor="t" lIns="0" rIns="0" tIns="0" bIns="0">
            <a:spAutoFit/>
          </a:bodyPr>
          <a:lstStyle/>
          <a:p>
            <a:pPr algn="l"/>
            <a:r>
              <a:rPr sz="2200" b="0">
                <a:solidFill>
                  <a:srgbClr val="C7C2EF"/>
                </a:solidFill>
                <a:latin typeface="ITC Avant Garde Gothic"/>
              </a:rPr>
              <a:t>Capa 1</a:t>
            </a:r>
          </a:p>
        </p:txBody>
      </p:sp>
      <p:sp>
        <p:nvSpPr>
          <p:cNvPr id="10" name="Rounded Rectangle 9"/>
          <p:cNvSpPr/>
          <p:nvPr/>
        </p:nvSpPr>
        <p:spPr>
          <a:xfrm>
            <a:off x="8097316" y="1968500"/>
            <a:ext cx="3454298" cy="82042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25916" y="213309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5916" y="2279396"/>
            <a:ext cx="2997098" cy="454660"/>
          </a:xfrm>
          <a:prstGeom prst="rect">
            <a:avLst/>
          </a:prstGeom>
          <a:noFill/>
        </p:spPr>
        <p:txBody>
          <a:bodyPr wrap="square" anchor="t" lIns="0" rIns="0" tIns="0" bIns="0">
            <a:spAutoFit/>
          </a:bodyPr>
          <a:lstStyle/>
          <a:p>
            <a:pPr algn="l"/>
            <a:r>
              <a:rPr sz="2200" b="0">
                <a:solidFill>
                  <a:srgbClr val="C7C2EF"/>
                </a:solidFill>
                <a:latin typeface="ITC Avant Garde Gothic"/>
              </a:rPr>
              <a:t>Capa 2</a:t>
            </a:r>
          </a:p>
        </p:txBody>
      </p:sp>
      <p:sp>
        <p:nvSpPr>
          <p:cNvPr id="13" name="Rounded Rectangle 12"/>
          <p:cNvSpPr/>
          <p:nvPr/>
        </p:nvSpPr>
        <p:spPr>
          <a:xfrm>
            <a:off x="640080" y="3063239"/>
            <a:ext cx="3454298" cy="82042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68680" y="322783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374135"/>
            <a:ext cx="2997098" cy="454660"/>
          </a:xfrm>
          <a:prstGeom prst="rect">
            <a:avLst/>
          </a:prstGeom>
          <a:noFill/>
        </p:spPr>
        <p:txBody>
          <a:bodyPr wrap="square" anchor="t" lIns="0" rIns="0" tIns="0" bIns="0">
            <a:spAutoFit/>
          </a:bodyPr>
          <a:lstStyle/>
          <a:p>
            <a:pPr algn="l"/>
            <a:r>
              <a:rPr sz="2200" b="0">
                <a:solidFill>
                  <a:srgbClr val="C7C2EF"/>
                </a:solidFill>
                <a:latin typeface="ITC Avant Garde Gothic"/>
              </a:rPr>
              <a:t>Capa 3</a:t>
            </a:r>
          </a:p>
        </p:txBody>
      </p:sp>
      <p:sp>
        <p:nvSpPr>
          <p:cNvPr id="16" name="Rounded Rectangle 15"/>
          <p:cNvSpPr/>
          <p:nvPr/>
        </p:nvSpPr>
        <p:spPr>
          <a:xfrm>
            <a:off x="4368698" y="3063239"/>
            <a:ext cx="3454298" cy="82042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97298" y="322783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97298" y="3374135"/>
            <a:ext cx="2997098" cy="454660"/>
          </a:xfrm>
          <a:prstGeom prst="rect">
            <a:avLst/>
          </a:prstGeom>
          <a:noFill/>
        </p:spPr>
        <p:txBody>
          <a:bodyPr wrap="square" anchor="t" lIns="0" rIns="0" tIns="0" bIns="0">
            <a:spAutoFit/>
          </a:bodyPr>
          <a:lstStyle/>
          <a:p>
            <a:pPr algn="l"/>
            <a:r>
              <a:rPr sz="2200" b="0">
                <a:solidFill>
                  <a:srgbClr val="C7C2EF"/>
                </a:solidFill>
                <a:latin typeface="ITC Avant Garde Gothic"/>
              </a:rPr>
              <a:t>Salida</a:t>
            </a:r>
          </a:p>
        </p:txBody>
      </p:sp>
      <p:sp>
        <p:nvSpPr>
          <p:cNvPr id="19" name="TextBox 18"/>
          <p:cNvSpPr txBox="1"/>
          <p:nvPr/>
        </p:nvSpPr>
        <p:spPr>
          <a:xfrm>
            <a:off x="640080" y="4066539"/>
            <a:ext cx="10911535" cy="743712"/>
          </a:xfrm>
          <a:prstGeom prst="rect">
            <a:avLst/>
          </a:prstGeom>
          <a:noFill/>
        </p:spPr>
        <p:txBody>
          <a:bodyPr wrap="square" anchor="t" lIns="0" rIns="0" tIns="0" bIns="0">
            <a:spAutoFit/>
          </a:bodyPr>
          <a:lstStyle/>
          <a:p>
            <a:pPr algn="l"/>
            <a:r>
              <a:rPr sz="2400" b="0">
                <a:solidFill>
                  <a:srgbClr val="C7C2EF"/>
                </a:solidFill>
                <a:latin typeface="ITC Avant Garde Gothic"/>
              </a:rPr>
              <a:t>Los 176 MB de cada modelo son, sobre todo, la lista de sus pesos. Esquema simplificado.</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Cuántos pesos tiene una red como la nuestra</a:t>
            </a:r>
          </a:p>
        </p:txBody>
      </p:sp>
      <p:sp>
        <p:nvSpPr>
          <p:cNvPr id="3" name="TextBox 2"/>
          <p:cNvSpPr txBox="1"/>
          <p:nvPr/>
        </p:nvSpPr>
        <p:spPr>
          <a:xfrm>
            <a:off x="640080" y="960120"/>
            <a:ext cx="10911535" cy="591210"/>
          </a:xfrm>
          <a:prstGeom prst="rect">
            <a:avLst/>
          </a:prstGeom>
          <a:noFill/>
        </p:spPr>
        <p:txBody>
          <a:bodyPr wrap="square" anchor="t" lIns="0" rIns="0" tIns="0" bIns="0">
            <a:spAutoFit/>
          </a:bodyPr>
          <a:lstStyle/>
          <a:p>
            <a:pPr algn="l"/>
            <a:r>
              <a:rPr sz="4000" b="1">
                <a:solidFill>
                  <a:srgbClr val="C7C2EF"/>
                </a:solidFill>
                <a:latin typeface="ITC Avant Garde Gothic"/>
              </a:rPr>
              <a:t>Muchísimos</a:t>
            </a:r>
          </a:p>
        </p:txBody>
      </p:sp>
      <p:sp>
        <p:nvSpPr>
          <p:cNvPr id="4" name="Rounded Rectangle 3"/>
          <p:cNvSpPr/>
          <p:nvPr/>
        </p:nvSpPr>
        <p:spPr>
          <a:xfrm>
            <a:off x="640080" y="1917090"/>
            <a:ext cx="2522143" cy="2128012"/>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08168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227986"/>
            <a:ext cx="2064943" cy="1762252"/>
          </a:xfrm>
          <a:prstGeom prst="rect">
            <a:avLst/>
          </a:prstGeom>
          <a:noFill/>
        </p:spPr>
        <p:txBody>
          <a:bodyPr wrap="square" anchor="t" lIns="0" rIns="0" tIns="0" bIns="0">
            <a:spAutoFit/>
          </a:bodyPr>
          <a:lstStyle/>
          <a:p>
            <a:pPr algn="l"/>
            <a:r>
              <a:rPr sz="2000" b="0">
                <a:solidFill>
                  <a:srgbClr val="C7C2EF"/>
                </a:solidFill>
                <a:latin typeface="ITC Avant Garde Gothic"/>
              </a:rPr>
              <a:t>Decenas de millones</a:t>
            </a:r>
          </a:p>
        </p:txBody>
      </p:sp>
      <p:sp>
        <p:nvSpPr>
          <p:cNvPr id="7" name="Rounded Rectangle 6"/>
          <p:cNvSpPr/>
          <p:nvPr/>
        </p:nvSpPr>
        <p:spPr>
          <a:xfrm>
            <a:off x="3436543" y="1917090"/>
            <a:ext cx="2522143" cy="2128012"/>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65143" y="208168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65143" y="2227986"/>
            <a:ext cx="2064943" cy="1762252"/>
          </a:xfrm>
          <a:prstGeom prst="rect">
            <a:avLst/>
          </a:prstGeom>
          <a:noFill/>
        </p:spPr>
        <p:txBody>
          <a:bodyPr wrap="square" anchor="t" lIns="0" rIns="0" tIns="0" bIns="0">
            <a:spAutoFit/>
          </a:bodyPr>
          <a:lstStyle/>
          <a:p>
            <a:pPr algn="l"/>
            <a:r>
              <a:rPr sz="2000" b="0">
                <a:solidFill>
                  <a:srgbClr val="C7C2EF"/>
                </a:solidFill>
                <a:latin typeface="ITC Avant Garde Gothic"/>
              </a:rPr>
              <a:t>de pesos en la Mask R-CNN</a:t>
            </a:r>
          </a:p>
        </p:txBody>
      </p:sp>
      <p:sp>
        <p:nvSpPr>
          <p:cNvPr id="10" name="Rounded Rectangle 9"/>
          <p:cNvSpPr/>
          <p:nvPr/>
        </p:nvSpPr>
        <p:spPr>
          <a:xfrm>
            <a:off x="6233007" y="1917090"/>
            <a:ext cx="2522143" cy="2128012"/>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61607" y="208168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1607" y="2227986"/>
            <a:ext cx="2064943" cy="1762252"/>
          </a:xfrm>
          <a:prstGeom prst="rect">
            <a:avLst/>
          </a:prstGeom>
          <a:noFill/>
        </p:spPr>
        <p:txBody>
          <a:bodyPr wrap="square" anchor="t" lIns="0" rIns="0" tIns="0" bIns="0">
            <a:spAutoFit/>
          </a:bodyPr>
          <a:lstStyle/>
          <a:p>
            <a:pPr algn="l"/>
            <a:r>
              <a:rPr sz="2000" b="0">
                <a:solidFill>
                  <a:srgbClr val="C7C2EF"/>
                </a:solidFill>
                <a:latin typeface="ITC Avant Garde Gothic"/>
              </a:rPr>
              <a:t>176 MB</a:t>
            </a:r>
          </a:p>
        </p:txBody>
      </p:sp>
      <p:sp>
        <p:nvSpPr>
          <p:cNvPr id="13" name="Rounded Rectangle 12"/>
          <p:cNvSpPr/>
          <p:nvPr/>
        </p:nvSpPr>
        <p:spPr>
          <a:xfrm>
            <a:off x="9029471" y="1917090"/>
            <a:ext cx="2522143" cy="2128012"/>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258071" y="208168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58071" y="2227986"/>
            <a:ext cx="2064943" cy="1762252"/>
          </a:xfrm>
          <a:prstGeom prst="rect">
            <a:avLst/>
          </a:prstGeom>
          <a:noFill/>
        </p:spPr>
        <p:txBody>
          <a:bodyPr wrap="square" anchor="t" lIns="0" rIns="0" tIns="0" bIns="0">
            <a:spAutoFit/>
          </a:bodyPr>
          <a:lstStyle/>
          <a:p>
            <a:pPr algn="l"/>
            <a:r>
              <a:rPr sz="2000" b="0">
                <a:solidFill>
                  <a:srgbClr val="C7C2EF"/>
                </a:solidFill>
                <a:latin typeface="ITC Avant Garde Gothic"/>
              </a:rPr>
              <a:t>pesa el archivo de cada modelo: casi todo es la lista de pesos</a:t>
            </a:r>
          </a:p>
        </p:txBody>
      </p:sp>
      <p:sp>
        <p:nvSpPr>
          <p:cNvPr id="16" name="TextBox 15"/>
          <p:cNvSpPr txBox="1"/>
          <p:nvPr/>
        </p:nvSpPr>
        <p:spPr>
          <a:xfrm>
            <a:off x="640080" y="4227982"/>
            <a:ext cx="10911535" cy="684215"/>
          </a:xfrm>
          <a:prstGeom prst="rect">
            <a:avLst/>
          </a:prstGeom>
          <a:noFill/>
        </p:spPr>
        <p:txBody>
          <a:bodyPr wrap="square" anchor="t" lIns="0" rIns="0" tIns="0" bIns="0">
            <a:spAutoFit/>
          </a:bodyPr>
          <a:lstStyle/>
          <a:p>
            <a:pPr algn="l"/>
            <a:r>
              <a:rPr sz="2200" b="0">
                <a:solidFill>
                  <a:srgbClr val="C7C2EF"/>
                </a:solidFill>
                <a:latin typeface="ITC Avant Garde Gothic"/>
              </a:rPr>
              <a:t>Un modelo sin entrenar tiene los mismos pesos con valores arbitrarios y produce respuestas sin sentido.</a:t>
            </a:r>
          </a:p>
        </p:txBody>
      </p:sp>
      <p:sp>
        <p:nvSpPr>
          <p:cNvPr id="17" name="TextBox 16"/>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La analogía con el cerebro</a:t>
            </a:r>
          </a:p>
        </p:txBody>
      </p:sp>
      <p:sp>
        <p:nvSpPr>
          <p:cNvPr id="3" name="TextBox 2"/>
          <p:cNvSpPr txBox="1"/>
          <p:nvPr/>
        </p:nvSpPr>
        <p:spPr>
          <a:xfrm>
            <a:off x="640080" y="960120"/>
            <a:ext cx="10911535" cy="591210"/>
          </a:xfrm>
          <a:prstGeom prst="rect">
            <a:avLst/>
          </a:prstGeom>
          <a:noFill/>
        </p:spPr>
        <p:txBody>
          <a:bodyPr wrap="square" anchor="t" lIns="0" rIns="0" tIns="0" bIns="0">
            <a:spAutoFit/>
          </a:bodyPr>
          <a:lstStyle/>
          <a:p>
            <a:pPr algn="l"/>
            <a:r>
              <a:rPr sz="4000" b="1">
                <a:solidFill>
                  <a:srgbClr val="C7C2EF"/>
                </a:solidFill>
                <a:latin typeface="ITC Avant Garde Gothic"/>
              </a:rPr>
              <a:t>Con cautela</a:t>
            </a:r>
          </a:p>
        </p:txBody>
      </p:sp>
      <p:sp>
        <p:nvSpPr>
          <p:cNvPr id="4" name="TextBox 3"/>
          <p:cNvSpPr txBox="1"/>
          <p:nvPr/>
        </p:nvSpPr>
        <p:spPr>
          <a:xfrm>
            <a:off x="640080" y="1917090"/>
            <a:ext cx="10911535" cy="427634"/>
          </a:xfrm>
          <a:prstGeom prst="rect">
            <a:avLst/>
          </a:prstGeom>
          <a:noFill/>
        </p:spPr>
        <p:txBody>
          <a:bodyPr wrap="square" anchor="t" lIns="0" rIns="0" tIns="0" bIns="0">
            <a:spAutoFit/>
          </a:bodyPr>
          <a:lstStyle/>
          <a:p>
            <a:pPr algn="l"/>
            <a:r>
              <a:rPr sz="2800" b="1">
                <a:solidFill>
                  <a:srgbClr val="FF983D"/>
                </a:solidFill>
                <a:latin typeface="ITC Avant Garde Gothic"/>
              </a:rPr>
              <a:t>Lo útil</a:t>
            </a:r>
          </a:p>
        </p:txBody>
      </p:sp>
      <p:sp>
        <p:nvSpPr>
          <p:cNvPr id="5" name="TextBox 4"/>
          <p:cNvSpPr txBox="1"/>
          <p:nvPr/>
        </p:nvSpPr>
        <p:spPr>
          <a:xfrm>
            <a:off x="640080" y="2527604"/>
            <a:ext cx="10911535" cy="684215"/>
          </a:xfrm>
          <a:prstGeom prst="rect">
            <a:avLst/>
          </a:prstGeom>
          <a:noFill/>
        </p:spPr>
        <p:txBody>
          <a:bodyPr wrap="square" anchor="t" lIns="0" rIns="0" tIns="0" bIns="0">
            <a:spAutoFit/>
          </a:bodyPr>
          <a:lstStyle/>
          <a:p>
            <a:pPr algn="l"/>
            <a:r>
              <a:rPr sz="2200" b="0">
                <a:solidFill>
                  <a:srgbClr val="C7C2EF"/>
                </a:solidFill>
                <a:latin typeface="ITC Avant Garde Gothic"/>
              </a:rPr>
              <a:t>Muchas unidades simples que, en capas, producen comportamientos complejos.</a:t>
            </a:r>
          </a:p>
        </p:txBody>
      </p:sp>
      <p:sp>
        <p:nvSpPr>
          <p:cNvPr id="6" name="TextBox 5"/>
          <p:cNvSpPr txBox="1"/>
          <p:nvPr/>
        </p:nvSpPr>
        <p:spPr>
          <a:xfrm>
            <a:off x="640080" y="3440419"/>
            <a:ext cx="10911535" cy="427634"/>
          </a:xfrm>
          <a:prstGeom prst="rect">
            <a:avLst/>
          </a:prstGeom>
          <a:noFill/>
        </p:spPr>
        <p:txBody>
          <a:bodyPr wrap="square" anchor="t" lIns="0" rIns="0" tIns="0" bIns="0">
            <a:spAutoFit/>
          </a:bodyPr>
          <a:lstStyle/>
          <a:p>
            <a:pPr algn="l"/>
            <a:r>
              <a:rPr sz="2800" b="1">
                <a:solidFill>
                  <a:srgbClr val="FF983D"/>
                </a:solidFill>
                <a:latin typeface="ITC Avant Garde Gothic"/>
              </a:rPr>
              <a:t>El error</a:t>
            </a:r>
          </a:p>
        </p:txBody>
      </p:sp>
      <p:sp>
        <p:nvSpPr>
          <p:cNvPr id="7" name="TextBox 6"/>
          <p:cNvSpPr txBox="1"/>
          <p:nvPr/>
        </p:nvSpPr>
        <p:spPr>
          <a:xfrm>
            <a:off x="640080" y="4050934"/>
            <a:ext cx="10911535" cy="684215"/>
          </a:xfrm>
          <a:prstGeom prst="rect">
            <a:avLst/>
          </a:prstGeom>
          <a:noFill/>
        </p:spPr>
        <p:txBody>
          <a:bodyPr wrap="square" anchor="t" lIns="0" rIns="0" tIns="0" bIns="0">
            <a:spAutoFit/>
          </a:bodyPr>
          <a:lstStyle/>
          <a:p>
            <a:pPr algn="l"/>
            <a:r>
              <a:rPr sz="2200" b="0">
                <a:solidFill>
                  <a:srgbClr val="C7C2EF"/>
                </a:solidFill>
                <a:latin typeface="ITC Avant Garde Gothic"/>
              </a:rPr>
              <a:t>Pensar que, por llamarse neuronal, la red «piensa» o «comprende». Una neurona artificial es mucho más simple que una biológica.</a:t>
            </a:r>
          </a:p>
        </p:txBody>
      </p:sp>
      <p:sp>
        <p:nvSpPr>
          <p:cNvPr id="8" name="TextBox 7"/>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Cómo aprende</a:t>
            </a:r>
          </a:p>
        </p:txBody>
      </p:sp>
      <p:sp>
        <p:nvSpPr>
          <p:cNvPr id="3" name="TextBox 2"/>
          <p:cNvSpPr txBox="1"/>
          <p:nvPr/>
        </p:nvSpPr>
        <p:spPr>
          <a:xfrm>
            <a:off x="640080" y="960120"/>
            <a:ext cx="10911535" cy="449833"/>
          </a:xfrm>
          <a:prstGeom prst="rect">
            <a:avLst/>
          </a:prstGeom>
          <a:noFill/>
        </p:spPr>
        <p:txBody>
          <a:bodyPr wrap="square" anchor="t" lIns="0" rIns="0" tIns="0" bIns="0">
            <a:spAutoFit/>
          </a:bodyPr>
          <a:lstStyle/>
          <a:p>
            <a:pPr algn="l"/>
            <a:r>
              <a:rPr sz="3100" b="1">
                <a:solidFill>
                  <a:srgbClr val="C7C2EF"/>
                </a:solidFill>
                <a:latin typeface="ITC Avant Garde Gothic"/>
              </a:rPr>
              <a:t>Predecir, comparar, ajustar, repetir</a:t>
            </a:r>
          </a:p>
        </p:txBody>
      </p:sp>
      <p:sp>
        <p:nvSpPr>
          <p:cNvPr id="4" name="Rounded Rectangle 3"/>
          <p:cNvSpPr/>
          <p:nvPr/>
        </p:nvSpPr>
        <p:spPr>
          <a:xfrm>
            <a:off x="640080" y="1775714"/>
            <a:ext cx="10911535" cy="83693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050034"/>
            <a:ext cx="10454335" cy="198120"/>
          </a:xfrm>
          <a:prstGeom prst="rect">
            <a:avLst/>
          </a:prstGeom>
          <a:noFill/>
        </p:spPr>
        <p:txBody>
          <a:bodyPr wrap="square" anchor="t" lIns="0" rIns="0" tIns="0" bIns="0">
            <a:spAutoFit/>
          </a:bodyPr>
          <a:lstStyle/>
          <a:p>
            <a:pPr algn="l"/>
            <a:r>
              <a:rPr sz="1300" b="1">
                <a:solidFill>
                  <a:srgbClr val="FF983D"/>
                </a:solidFill>
                <a:latin typeface="ITC Avant Garde Gothic"/>
              </a:rPr>
              <a:t>Predecir</a:t>
            </a:r>
          </a:p>
        </p:txBody>
      </p:sp>
      <p:sp>
        <p:nvSpPr>
          <p:cNvPr id="6" name="TextBox 5"/>
          <p:cNvSpPr txBox="1"/>
          <p:nvPr/>
        </p:nvSpPr>
        <p:spPr>
          <a:xfrm>
            <a:off x="868680" y="2339594"/>
            <a:ext cx="10454335" cy="181609"/>
          </a:xfrm>
          <a:prstGeom prst="rect">
            <a:avLst/>
          </a:prstGeom>
          <a:noFill/>
        </p:spPr>
        <p:txBody>
          <a:bodyPr wrap="square" anchor="t" lIns="0" rIns="0" tIns="0" bIns="0">
            <a:spAutoFit/>
          </a:bodyPr>
          <a:lstStyle/>
          <a:p>
            <a:pPr algn="l"/>
            <a:r>
              <a:rPr sz="1100" b="0">
                <a:solidFill>
                  <a:srgbClr val="C7C2EF"/>
                </a:solidFill>
                <a:latin typeface="ITC Avant Garde Gothic"/>
              </a:rPr>
              <a:t>Con los pesos que tiene en ese momento.</a:t>
            </a:r>
          </a:p>
        </p:txBody>
      </p:sp>
      <p:sp>
        <p:nvSpPr>
          <p:cNvPr id="7" name="Rounded Rectangle 6"/>
          <p:cNvSpPr/>
          <p:nvPr/>
        </p:nvSpPr>
        <p:spPr>
          <a:xfrm>
            <a:off x="640080" y="2795524"/>
            <a:ext cx="10911535" cy="83693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069844"/>
            <a:ext cx="10454335" cy="198120"/>
          </a:xfrm>
          <a:prstGeom prst="rect">
            <a:avLst/>
          </a:prstGeom>
          <a:noFill/>
        </p:spPr>
        <p:txBody>
          <a:bodyPr wrap="square" anchor="t" lIns="0" rIns="0" tIns="0" bIns="0">
            <a:spAutoFit/>
          </a:bodyPr>
          <a:lstStyle/>
          <a:p>
            <a:pPr algn="l"/>
            <a:r>
              <a:rPr sz="1300" b="1">
                <a:solidFill>
                  <a:srgbClr val="FF983D"/>
                </a:solidFill>
                <a:latin typeface="ITC Avant Garde Gothic"/>
              </a:rPr>
              <a:t>Comparar</a:t>
            </a:r>
          </a:p>
        </p:txBody>
      </p:sp>
      <p:sp>
        <p:nvSpPr>
          <p:cNvPr id="9" name="TextBox 8"/>
          <p:cNvSpPr txBox="1"/>
          <p:nvPr/>
        </p:nvSpPr>
        <p:spPr>
          <a:xfrm>
            <a:off x="868680" y="3359404"/>
            <a:ext cx="10454335" cy="181609"/>
          </a:xfrm>
          <a:prstGeom prst="rect">
            <a:avLst/>
          </a:prstGeom>
          <a:noFill/>
        </p:spPr>
        <p:txBody>
          <a:bodyPr wrap="square" anchor="t" lIns="0" rIns="0" tIns="0" bIns="0">
            <a:spAutoFit/>
          </a:bodyPr>
          <a:lstStyle/>
          <a:p>
            <a:pPr algn="l"/>
            <a:r>
              <a:rPr sz="1100" b="0">
                <a:solidFill>
                  <a:srgbClr val="C7C2EF"/>
                </a:solidFill>
                <a:latin typeface="ITC Avant Garde Gothic"/>
              </a:rPr>
              <a:t>La función de pérdida mide cuánto se equivocó.</a:t>
            </a:r>
          </a:p>
        </p:txBody>
      </p:sp>
      <p:sp>
        <p:nvSpPr>
          <p:cNvPr id="10" name="Rounded Rectangle 9"/>
          <p:cNvSpPr/>
          <p:nvPr/>
        </p:nvSpPr>
        <p:spPr>
          <a:xfrm>
            <a:off x="640080" y="3815334"/>
            <a:ext cx="10911535" cy="83693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089654"/>
            <a:ext cx="10454335" cy="198120"/>
          </a:xfrm>
          <a:prstGeom prst="rect">
            <a:avLst/>
          </a:prstGeom>
          <a:noFill/>
        </p:spPr>
        <p:txBody>
          <a:bodyPr wrap="square" anchor="t" lIns="0" rIns="0" tIns="0" bIns="0">
            <a:spAutoFit/>
          </a:bodyPr>
          <a:lstStyle/>
          <a:p>
            <a:pPr algn="l"/>
            <a:r>
              <a:rPr sz="1300" b="1">
                <a:solidFill>
                  <a:srgbClr val="FF983D"/>
                </a:solidFill>
                <a:latin typeface="ITC Avant Garde Gothic"/>
              </a:rPr>
              <a:t>Ajustar</a:t>
            </a:r>
          </a:p>
        </p:txBody>
      </p:sp>
      <p:sp>
        <p:nvSpPr>
          <p:cNvPr id="12" name="TextBox 11"/>
          <p:cNvSpPr txBox="1"/>
          <p:nvPr/>
        </p:nvSpPr>
        <p:spPr>
          <a:xfrm>
            <a:off x="868680" y="4379214"/>
            <a:ext cx="10454335" cy="181609"/>
          </a:xfrm>
          <a:prstGeom prst="rect">
            <a:avLst/>
          </a:prstGeom>
          <a:noFill/>
        </p:spPr>
        <p:txBody>
          <a:bodyPr wrap="square" anchor="t" lIns="0" rIns="0" tIns="0" bIns="0">
            <a:spAutoFit/>
          </a:bodyPr>
          <a:lstStyle/>
          <a:p>
            <a:pPr algn="l"/>
            <a:r>
              <a:rPr sz="1100" b="0">
                <a:solidFill>
                  <a:srgbClr val="C7C2EF"/>
                </a:solidFill>
                <a:latin typeface="ITC Avant Garde Gothic"/>
              </a:rPr>
              <a:t>Descenso del gradiente: un paso que baja la pérdida.</a:t>
            </a:r>
          </a:p>
        </p:txBody>
      </p:sp>
      <p:sp>
        <p:nvSpPr>
          <p:cNvPr id="13" name="TextBox 12"/>
          <p:cNvSpPr txBox="1"/>
          <p:nvPr/>
        </p:nvSpPr>
        <p:spPr>
          <a:xfrm>
            <a:off x="640080" y="4835144"/>
            <a:ext cx="10911535" cy="232410"/>
          </a:xfrm>
          <a:prstGeom prst="rect">
            <a:avLst/>
          </a:prstGeom>
          <a:noFill/>
        </p:spPr>
        <p:txBody>
          <a:bodyPr wrap="square" anchor="t" lIns="0" rIns="0" tIns="0" bIns="0">
            <a:spAutoFit/>
          </a:bodyPr>
          <a:lstStyle/>
          <a:p>
            <a:pPr algn="l"/>
            <a:r>
              <a:rPr sz="1500" b="1">
                <a:solidFill>
                  <a:srgbClr val="FF983D"/>
                </a:solidFill>
                <a:latin typeface="ITC Avant Garde Gothic"/>
              </a:rPr>
              <a:t>Repetir</a:t>
            </a:r>
          </a:p>
        </p:txBody>
      </p:sp>
      <p:sp>
        <p:nvSpPr>
          <p:cNvPr id="14" name="Rounded Rectangle 13"/>
          <p:cNvSpPr/>
          <p:nvPr/>
        </p:nvSpPr>
        <p:spPr>
          <a:xfrm>
            <a:off x="640080" y="5250434"/>
            <a:ext cx="3454298" cy="74726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541502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5561330"/>
            <a:ext cx="2997098" cy="381508"/>
          </a:xfrm>
          <a:prstGeom prst="rect">
            <a:avLst/>
          </a:prstGeom>
          <a:noFill/>
        </p:spPr>
        <p:txBody>
          <a:bodyPr wrap="square" anchor="t" lIns="0" rIns="0" tIns="0" bIns="0">
            <a:spAutoFit/>
          </a:bodyPr>
          <a:lstStyle/>
          <a:p>
            <a:pPr algn="l"/>
            <a:r>
              <a:rPr sz="1100" b="0">
                <a:solidFill>
                  <a:srgbClr val="C7C2EF"/>
                </a:solidFill>
                <a:latin typeface="ITC Avant Garde Gothic"/>
              </a:rPr>
              <a:t>Por lotes, iteraciones y épocas.</a:t>
            </a:r>
          </a:p>
        </p:txBody>
      </p:sp>
      <p:sp>
        <p:nvSpPr>
          <p:cNvPr id="17" name="Rounded Rectangle 16"/>
          <p:cNvSpPr/>
          <p:nvPr/>
        </p:nvSpPr>
        <p:spPr>
          <a:xfrm>
            <a:off x="4368698" y="5250434"/>
            <a:ext cx="3454298" cy="74726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97298" y="541502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7298" y="5561330"/>
            <a:ext cx="2997098" cy="381508"/>
          </a:xfrm>
          <a:prstGeom prst="rect">
            <a:avLst/>
          </a:prstGeom>
          <a:noFill/>
        </p:spPr>
        <p:txBody>
          <a:bodyPr wrap="square" anchor="t" lIns="0" rIns="0" tIns="0" bIns="0">
            <a:spAutoFit/>
          </a:bodyPr>
          <a:lstStyle/>
          <a:p>
            <a:pPr algn="l"/>
            <a:r>
              <a:rPr sz="1100" b="0">
                <a:solidFill>
                  <a:srgbClr val="C7C2EF"/>
                </a:solidFill>
                <a:latin typeface="ITC Avant Garde Gothic"/>
              </a:rPr>
              <a:t>Las respuestas correctas las dan personas: es la anotación.</a:t>
            </a:r>
          </a:p>
        </p:txBody>
      </p:sp>
      <p:sp>
        <p:nvSpPr>
          <p:cNvPr id="20" name="Rounded Rectangle 19"/>
          <p:cNvSpPr/>
          <p:nvPr/>
        </p:nvSpPr>
        <p:spPr>
          <a:xfrm>
            <a:off x="8097316" y="5250434"/>
            <a:ext cx="3454298" cy="74726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25916" y="541502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5916" y="5561330"/>
            <a:ext cx="2997098" cy="381508"/>
          </a:xfrm>
          <a:prstGeom prst="rect">
            <a:avLst/>
          </a:prstGeom>
          <a:noFill/>
        </p:spPr>
        <p:txBody>
          <a:bodyPr wrap="square" anchor="t" lIns="0" rIns="0" tIns="0" bIns="0">
            <a:spAutoFit/>
          </a:bodyPr>
          <a:lstStyle/>
          <a:p>
            <a:pPr algn="l"/>
            <a:r>
              <a:rPr sz="1100" b="0">
                <a:solidFill>
                  <a:srgbClr val="C7C2EF"/>
                </a:solidFill>
                <a:latin typeface="ITC Avant Garde Gothic"/>
              </a:rPr>
              <a:t>El riesgo es memorizar en lugar de aprender: sobreajuste.</a:t>
            </a:r>
          </a:p>
        </p:txBody>
      </p:sp>
      <p:sp>
        <p:nvSpPr>
          <p:cNvPr id="23" name="TextBox 22"/>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Punto de partida</a:t>
            </a:r>
          </a:p>
        </p:txBody>
      </p:sp>
      <p:sp>
        <p:nvSpPr>
          <p:cNvPr id="3" name="TextBox 2"/>
          <p:cNvSpPr txBox="1"/>
          <p:nvPr/>
        </p:nvSpPr>
        <p:spPr>
          <a:xfrm>
            <a:off x="640080" y="960120"/>
            <a:ext cx="10911535" cy="1092454"/>
          </a:xfrm>
          <a:prstGeom prst="rect">
            <a:avLst/>
          </a:prstGeom>
          <a:noFill/>
        </p:spPr>
        <p:txBody>
          <a:bodyPr wrap="square" anchor="t" lIns="0" rIns="0" tIns="0" bIns="0">
            <a:spAutoFit/>
          </a:bodyPr>
          <a:lstStyle/>
          <a:p>
            <a:pPr algn="l"/>
            <a:r>
              <a:rPr sz="3700" b="1">
                <a:solidFill>
                  <a:srgbClr val="C7C2EF"/>
                </a:solidFill>
                <a:latin typeface="ITC Avant Garde Gothic"/>
              </a:rPr>
              <a:t>Antes de entrenar, los pesos son arbitrarios</a:t>
            </a:r>
          </a:p>
        </p:txBody>
      </p:sp>
      <p:sp>
        <p:nvSpPr>
          <p:cNvPr id="4" name="Rounded Rectangle 3"/>
          <p:cNvSpPr/>
          <p:nvPr/>
        </p:nvSpPr>
        <p:spPr>
          <a:xfrm>
            <a:off x="640080" y="2418334"/>
            <a:ext cx="10911535" cy="11941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692654"/>
            <a:ext cx="10454335" cy="336803"/>
          </a:xfrm>
          <a:prstGeom prst="rect">
            <a:avLst/>
          </a:prstGeom>
          <a:noFill/>
        </p:spPr>
        <p:txBody>
          <a:bodyPr wrap="square" anchor="t" lIns="0" rIns="0" tIns="0" bIns="0">
            <a:spAutoFit/>
          </a:bodyPr>
          <a:lstStyle/>
          <a:p>
            <a:pPr algn="l"/>
            <a:r>
              <a:rPr sz="2200" b="1">
                <a:solidFill>
                  <a:srgbClr val="FF983D"/>
                </a:solidFill>
                <a:latin typeface="ITC Avant Garde Gothic"/>
              </a:rPr>
              <a:t>Si se le da una imagen</a:t>
            </a:r>
          </a:p>
        </p:txBody>
      </p:sp>
      <p:sp>
        <p:nvSpPr>
          <p:cNvPr id="6" name="TextBox 5"/>
          <p:cNvSpPr txBox="1"/>
          <p:nvPr/>
        </p:nvSpPr>
        <p:spPr>
          <a:xfrm>
            <a:off x="868680" y="3120898"/>
            <a:ext cx="10454335" cy="400176"/>
          </a:xfrm>
          <a:prstGeom prst="rect">
            <a:avLst/>
          </a:prstGeom>
          <a:noFill/>
        </p:spPr>
        <p:txBody>
          <a:bodyPr wrap="square" anchor="t" lIns="0" rIns="0" tIns="0" bIns="0">
            <a:spAutoFit/>
          </a:bodyPr>
          <a:lstStyle/>
          <a:p>
            <a:pPr algn="l"/>
            <a:r>
              <a:rPr sz="1900" b="0">
                <a:solidFill>
                  <a:srgbClr val="C7C2EF"/>
                </a:solidFill>
                <a:latin typeface="ITC Avant Garde Gothic"/>
              </a:rPr>
              <a:t>La red responde, pero la respuesta es casi aleatoria.</a:t>
            </a:r>
          </a:p>
        </p:txBody>
      </p:sp>
      <p:sp>
        <p:nvSpPr>
          <p:cNvPr id="7" name="Rounded Rectangle 6"/>
          <p:cNvSpPr/>
          <p:nvPr/>
        </p:nvSpPr>
        <p:spPr>
          <a:xfrm>
            <a:off x="640080" y="3795395"/>
            <a:ext cx="10911535" cy="11941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069715"/>
            <a:ext cx="10454335" cy="336803"/>
          </a:xfrm>
          <a:prstGeom prst="rect">
            <a:avLst/>
          </a:prstGeom>
          <a:noFill/>
        </p:spPr>
        <p:txBody>
          <a:bodyPr wrap="square" anchor="t" lIns="0" rIns="0" tIns="0" bIns="0">
            <a:spAutoFit/>
          </a:bodyPr>
          <a:lstStyle/>
          <a:p>
            <a:pPr algn="l"/>
            <a:r>
              <a:rPr sz="2200" b="1">
                <a:solidFill>
                  <a:srgbClr val="FF983D"/>
                </a:solidFill>
                <a:latin typeface="ITC Avant Garde Gothic"/>
              </a:rPr>
              <a:t>Por ejemplo</a:t>
            </a:r>
          </a:p>
        </p:txBody>
      </p:sp>
      <p:sp>
        <p:nvSpPr>
          <p:cNvPr id="9" name="TextBox 8"/>
          <p:cNvSpPr txBox="1"/>
          <p:nvPr/>
        </p:nvSpPr>
        <p:spPr>
          <a:xfrm>
            <a:off x="868680" y="4497958"/>
            <a:ext cx="10454335" cy="400176"/>
          </a:xfrm>
          <a:prstGeom prst="rect">
            <a:avLst/>
          </a:prstGeom>
          <a:noFill/>
        </p:spPr>
        <p:txBody>
          <a:bodyPr wrap="square" anchor="t" lIns="0" rIns="0" tIns="0" bIns="0">
            <a:spAutoFit/>
          </a:bodyPr>
          <a:lstStyle/>
          <a:p>
            <a:pPr algn="l"/>
            <a:r>
              <a:rPr sz="1900" b="0">
                <a:solidFill>
                  <a:srgbClr val="C7C2EF"/>
                </a:solidFill>
                <a:latin typeface="ITC Avant Garde Gothic"/>
              </a:rPr>
              <a:t>Con una imagen de 140 espermatozoides podría marcar regiones al azar.</a:t>
            </a:r>
          </a:p>
        </p:txBody>
      </p:sp>
      <p:sp>
        <p:nvSpPr>
          <p:cNvPr id="10" name="TextBox 9"/>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De dónde vienen las respuestas correctas</a:t>
            </a:r>
          </a:p>
        </p:txBody>
      </p:sp>
      <p:sp>
        <p:nvSpPr>
          <p:cNvPr id="3" name="TextBox 2"/>
          <p:cNvSpPr txBox="1"/>
          <p:nvPr/>
        </p:nvSpPr>
        <p:spPr>
          <a:xfrm>
            <a:off x="640080" y="960120"/>
            <a:ext cx="10911535" cy="642620"/>
          </a:xfrm>
          <a:prstGeom prst="rect">
            <a:avLst/>
          </a:prstGeom>
          <a:noFill/>
        </p:spPr>
        <p:txBody>
          <a:bodyPr wrap="square" anchor="t" lIns="0" rIns="0" tIns="0" bIns="0">
            <a:spAutoFit/>
          </a:bodyPr>
          <a:lstStyle/>
          <a:p>
            <a:pPr algn="l"/>
            <a:r>
              <a:rPr sz="4400" b="1">
                <a:solidFill>
                  <a:srgbClr val="C7C2EF"/>
                </a:solidFill>
                <a:latin typeface="ITC Avant Garde Gothic"/>
              </a:rPr>
              <a:t>Las dan personas, no la red</a:t>
            </a:r>
          </a:p>
        </p:txBody>
      </p:sp>
      <p:sp>
        <p:nvSpPr>
          <p:cNvPr id="4" name="TextBox 3"/>
          <p:cNvSpPr txBox="1"/>
          <p:nvPr/>
        </p:nvSpPr>
        <p:spPr>
          <a:xfrm>
            <a:off x="640080" y="1968500"/>
            <a:ext cx="10911535" cy="464820"/>
          </a:xfrm>
          <a:prstGeom prst="rect">
            <a:avLst/>
          </a:prstGeom>
          <a:noFill/>
        </p:spPr>
        <p:txBody>
          <a:bodyPr wrap="square" anchor="t" lIns="0" rIns="0" tIns="0" bIns="0">
            <a:spAutoFit/>
          </a:bodyPr>
          <a:lstStyle/>
          <a:p>
            <a:pPr algn="l"/>
            <a:r>
              <a:rPr sz="3000" b="1">
                <a:solidFill>
                  <a:srgbClr val="FF983D"/>
                </a:solidFill>
                <a:latin typeface="ITC Avant Garde Gothic"/>
              </a:rPr>
              <a:t>Anotación o etiquetado</a:t>
            </a:r>
          </a:p>
        </p:txBody>
      </p:sp>
      <p:sp>
        <p:nvSpPr>
          <p:cNvPr id="5" name="TextBox 4"/>
          <p:cNvSpPr txBox="1"/>
          <p:nvPr/>
        </p:nvSpPr>
        <p:spPr>
          <a:xfrm>
            <a:off x="640080" y="2616200"/>
            <a:ext cx="10911535" cy="1115568"/>
          </a:xfrm>
          <a:prstGeom prst="rect">
            <a:avLst/>
          </a:prstGeom>
          <a:noFill/>
        </p:spPr>
        <p:txBody>
          <a:bodyPr wrap="square" anchor="t" lIns="0" rIns="0" tIns="0" bIns="0">
            <a:spAutoFit/>
          </a:bodyPr>
          <a:lstStyle/>
          <a:p>
            <a:pPr algn="l"/>
            <a:r>
              <a:rPr sz="2400" b="0">
                <a:solidFill>
                  <a:srgbClr val="C7C2EF"/>
                </a:solidFill>
                <a:latin typeface="ITC Avant Garde Gothic"/>
              </a:rPr>
              <a:t>Alguien tuvo que mirar cada fotografía de entrenamiento y marcar con un contorno cada espermatozoide. Se hizo con CVAT.</a:t>
            </a:r>
          </a:p>
        </p:txBody>
      </p:sp>
      <p:sp>
        <p:nvSpPr>
          <p:cNvPr id="6" name="Rounded Rectangle 5"/>
          <p:cNvSpPr/>
          <p:nvPr/>
        </p:nvSpPr>
        <p:spPr>
          <a:xfrm>
            <a:off x="640080" y="3960368"/>
            <a:ext cx="10911535" cy="130810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4234688"/>
            <a:ext cx="10454335" cy="396240"/>
          </a:xfrm>
          <a:prstGeom prst="rect">
            <a:avLst/>
          </a:prstGeom>
          <a:noFill/>
        </p:spPr>
        <p:txBody>
          <a:bodyPr wrap="square" anchor="t" lIns="0" rIns="0" tIns="0" bIns="0">
            <a:spAutoFit/>
          </a:bodyPr>
          <a:lstStyle/>
          <a:p>
            <a:pPr algn="l"/>
            <a:r>
              <a:rPr sz="2600" b="1">
                <a:solidFill>
                  <a:srgbClr val="FF983D"/>
                </a:solidFill>
                <a:latin typeface="ITC Avant Garde Gothic"/>
              </a:rPr>
              <a:t>La fuente de lo que aprende</a:t>
            </a:r>
          </a:p>
        </p:txBody>
      </p:sp>
      <p:sp>
        <p:nvSpPr>
          <p:cNvPr id="8" name="TextBox 7"/>
          <p:cNvSpPr txBox="1"/>
          <p:nvPr/>
        </p:nvSpPr>
        <p:spPr>
          <a:xfrm>
            <a:off x="868680" y="4722368"/>
            <a:ext cx="10454335" cy="454660"/>
          </a:xfrm>
          <a:prstGeom prst="rect">
            <a:avLst/>
          </a:prstGeom>
          <a:noFill/>
        </p:spPr>
        <p:txBody>
          <a:bodyPr wrap="square" anchor="t" lIns="0" rIns="0" tIns="0" bIns="0">
            <a:spAutoFit/>
          </a:bodyPr>
          <a:lstStyle/>
          <a:p>
            <a:pPr algn="l"/>
            <a:r>
              <a:rPr sz="2200" b="0">
                <a:solidFill>
                  <a:srgbClr val="C7C2EF"/>
                </a:solidFill>
                <a:latin typeface="ITC Avant Garde Gothic"/>
              </a:rPr>
              <a:t>El modelo solo puede reproducir lo que las personas marcaron.</a:t>
            </a:r>
          </a:p>
        </p:txBody>
      </p:sp>
      <p:sp>
        <p:nvSpPr>
          <p:cNvPr id="9" name="TextBox 8"/>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Descenso del gradiente</a:t>
            </a:r>
          </a:p>
        </p:txBody>
      </p:sp>
      <p:sp>
        <p:nvSpPr>
          <p:cNvPr id="3" name="TextBox 2"/>
          <p:cNvSpPr txBox="1"/>
          <p:nvPr/>
        </p:nvSpPr>
        <p:spPr>
          <a:xfrm>
            <a:off x="640080" y="960120"/>
            <a:ext cx="10911535" cy="449833"/>
          </a:xfrm>
          <a:prstGeom prst="rect">
            <a:avLst/>
          </a:prstGeom>
          <a:noFill/>
        </p:spPr>
        <p:txBody>
          <a:bodyPr wrap="square" anchor="t" lIns="0" rIns="0" tIns="0" bIns="0">
            <a:spAutoFit/>
          </a:bodyPr>
          <a:lstStyle/>
          <a:p>
            <a:pPr algn="l"/>
            <a:r>
              <a:rPr sz="3100" b="1">
                <a:solidFill>
                  <a:srgbClr val="C7C2EF"/>
                </a:solidFill>
                <a:latin typeface="ITC Avant Garde Gothic"/>
              </a:rPr>
              <a:t>La imagen de la montaña, casi literal</a:t>
            </a:r>
          </a:p>
        </p:txBody>
      </p:sp>
      <p:sp>
        <p:nvSpPr>
          <p:cNvPr id="4" name="Rounded Rectangle 3"/>
          <p:cNvSpPr/>
          <p:nvPr/>
        </p:nvSpPr>
        <p:spPr>
          <a:xfrm>
            <a:off x="640080" y="1775714"/>
            <a:ext cx="10911535" cy="83693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050034"/>
            <a:ext cx="10454335" cy="198120"/>
          </a:xfrm>
          <a:prstGeom prst="rect">
            <a:avLst/>
          </a:prstGeom>
          <a:noFill/>
        </p:spPr>
        <p:txBody>
          <a:bodyPr wrap="square" anchor="t" lIns="0" rIns="0" tIns="0" bIns="0">
            <a:spAutoFit/>
          </a:bodyPr>
          <a:lstStyle/>
          <a:p>
            <a:pPr algn="l"/>
            <a:r>
              <a:rPr sz="1300" b="1">
                <a:solidFill>
                  <a:srgbClr val="FF983D"/>
                </a:solidFill>
                <a:latin typeface="ITC Avant Garde Gothic"/>
              </a:rPr>
              <a:t>La altura del terreno</a:t>
            </a:r>
          </a:p>
        </p:txBody>
      </p:sp>
      <p:sp>
        <p:nvSpPr>
          <p:cNvPr id="6" name="TextBox 5"/>
          <p:cNvSpPr txBox="1"/>
          <p:nvPr/>
        </p:nvSpPr>
        <p:spPr>
          <a:xfrm>
            <a:off x="868680" y="2339594"/>
            <a:ext cx="10454335" cy="181609"/>
          </a:xfrm>
          <a:prstGeom prst="rect">
            <a:avLst/>
          </a:prstGeom>
          <a:noFill/>
        </p:spPr>
        <p:txBody>
          <a:bodyPr wrap="square" anchor="t" lIns="0" rIns="0" tIns="0" bIns="0">
            <a:spAutoFit/>
          </a:bodyPr>
          <a:lstStyle/>
          <a:p>
            <a:pPr algn="l"/>
            <a:r>
              <a:rPr sz="1100" b="0">
                <a:solidFill>
                  <a:srgbClr val="C7C2EF"/>
                </a:solidFill>
                <a:latin typeface="ITC Avant Garde Gothic"/>
              </a:rPr>
              <a:t>Es la pérdida.</a:t>
            </a:r>
          </a:p>
        </p:txBody>
      </p:sp>
      <p:sp>
        <p:nvSpPr>
          <p:cNvPr id="7" name="Rounded Rectangle 6"/>
          <p:cNvSpPr/>
          <p:nvPr/>
        </p:nvSpPr>
        <p:spPr>
          <a:xfrm>
            <a:off x="640080" y="2795524"/>
            <a:ext cx="10911535" cy="83693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069844"/>
            <a:ext cx="10454335" cy="198120"/>
          </a:xfrm>
          <a:prstGeom prst="rect">
            <a:avLst/>
          </a:prstGeom>
          <a:noFill/>
        </p:spPr>
        <p:txBody>
          <a:bodyPr wrap="square" anchor="t" lIns="0" rIns="0" tIns="0" bIns="0">
            <a:spAutoFit/>
          </a:bodyPr>
          <a:lstStyle/>
          <a:p>
            <a:pPr algn="l"/>
            <a:r>
              <a:rPr sz="1300" b="1">
                <a:solidFill>
                  <a:srgbClr val="FF983D"/>
                </a:solidFill>
                <a:latin typeface="ITC Avant Garde Gothic"/>
              </a:rPr>
              <a:t>La posición</a:t>
            </a:r>
          </a:p>
        </p:txBody>
      </p:sp>
      <p:sp>
        <p:nvSpPr>
          <p:cNvPr id="9" name="TextBox 8"/>
          <p:cNvSpPr txBox="1"/>
          <p:nvPr/>
        </p:nvSpPr>
        <p:spPr>
          <a:xfrm>
            <a:off x="868680" y="3359404"/>
            <a:ext cx="10454335" cy="181609"/>
          </a:xfrm>
          <a:prstGeom prst="rect">
            <a:avLst/>
          </a:prstGeom>
          <a:noFill/>
        </p:spPr>
        <p:txBody>
          <a:bodyPr wrap="square" anchor="t" lIns="0" rIns="0" tIns="0" bIns="0">
            <a:spAutoFit/>
          </a:bodyPr>
          <a:lstStyle/>
          <a:p>
            <a:pPr algn="l"/>
            <a:r>
              <a:rPr sz="1100" b="0">
                <a:solidFill>
                  <a:srgbClr val="C7C2EF"/>
                </a:solidFill>
                <a:latin typeface="ITC Avant Garde Gothic"/>
              </a:rPr>
              <a:t>Es el conjunto de todos los pesos.</a:t>
            </a:r>
          </a:p>
        </p:txBody>
      </p:sp>
      <p:sp>
        <p:nvSpPr>
          <p:cNvPr id="10" name="TextBox 9"/>
          <p:cNvSpPr txBox="1"/>
          <p:nvPr/>
        </p:nvSpPr>
        <p:spPr>
          <a:xfrm>
            <a:off x="640080" y="3815334"/>
            <a:ext cx="10911535" cy="232410"/>
          </a:xfrm>
          <a:prstGeom prst="rect">
            <a:avLst/>
          </a:prstGeom>
          <a:noFill/>
        </p:spPr>
        <p:txBody>
          <a:bodyPr wrap="square" anchor="t" lIns="0" rIns="0" tIns="0" bIns="0">
            <a:spAutoFit/>
          </a:bodyPr>
          <a:lstStyle/>
          <a:p>
            <a:pPr algn="l"/>
            <a:r>
              <a:rPr sz="1500" b="1">
                <a:solidFill>
                  <a:srgbClr val="FF983D"/>
                </a:solidFill>
                <a:latin typeface="ITC Avant Garde Gothic"/>
              </a:rPr>
              <a:t>La inclinación del suelo</a:t>
            </a:r>
          </a:p>
        </p:txBody>
      </p:sp>
      <p:sp>
        <p:nvSpPr>
          <p:cNvPr id="11" name="TextBox 10"/>
          <p:cNvSpPr txBox="1"/>
          <p:nvPr/>
        </p:nvSpPr>
        <p:spPr>
          <a:xfrm>
            <a:off x="640080" y="4230624"/>
            <a:ext cx="10911535" cy="185928"/>
          </a:xfrm>
          <a:prstGeom prst="rect">
            <a:avLst/>
          </a:prstGeom>
          <a:noFill/>
        </p:spPr>
        <p:txBody>
          <a:bodyPr wrap="square" anchor="t" lIns="0" rIns="0" tIns="0" bIns="0">
            <a:spAutoFit/>
          </a:bodyPr>
          <a:lstStyle/>
          <a:p>
            <a:pPr algn="l"/>
            <a:r>
              <a:rPr sz="1200" b="0">
                <a:solidFill>
                  <a:srgbClr val="C7C2EF"/>
                </a:solidFill>
                <a:latin typeface="ITC Avant Garde Gothic"/>
              </a:rPr>
              <a:t>El gradiente: para cada peso, hacia dónde moverlo para que la pérdida baje.</a:t>
            </a:r>
          </a:p>
        </p:txBody>
      </p:sp>
      <p:sp>
        <p:nvSpPr>
          <p:cNvPr id="12" name="Rounded Rectangle 11"/>
          <p:cNvSpPr/>
          <p:nvPr/>
        </p:nvSpPr>
        <p:spPr>
          <a:xfrm>
            <a:off x="640080" y="4645152"/>
            <a:ext cx="10911535" cy="83693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919472"/>
            <a:ext cx="10454335" cy="198120"/>
          </a:xfrm>
          <a:prstGeom prst="rect">
            <a:avLst/>
          </a:prstGeom>
          <a:noFill/>
        </p:spPr>
        <p:txBody>
          <a:bodyPr wrap="square" anchor="t" lIns="0" rIns="0" tIns="0" bIns="0">
            <a:spAutoFit/>
          </a:bodyPr>
          <a:lstStyle/>
          <a:p>
            <a:pPr algn="l"/>
            <a:r>
              <a:rPr sz="1300" b="1">
                <a:solidFill>
                  <a:srgbClr val="FF983D"/>
                </a:solidFill>
                <a:latin typeface="ITC Avant Garde Gothic"/>
              </a:rPr>
              <a:t>El tamaño del paso</a:t>
            </a:r>
          </a:p>
        </p:txBody>
      </p:sp>
      <p:sp>
        <p:nvSpPr>
          <p:cNvPr id="14" name="TextBox 13"/>
          <p:cNvSpPr txBox="1"/>
          <p:nvPr/>
        </p:nvSpPr>
        <p:spPr>
          <a:xfrm>
            <a:off x="868680" y="5209032"/>
            <a:ext cx="10454335" cy="181609"/>
          </a:xfrm>
          <a:prstGeom prst="rect">
            <a:avLst/>
          </a:prstGeom>
          <a:noFill/>
        </p:spPr>
        <p:txBody>
          <a:bodyPr wrap="square" anchor="t" lIns="0" rIns="0" tIns="0" bIns="0">
            <a:spAutoFit/>
          </a:bodyPr>
          <a:lstStyle/>
          <a:p>
            <a:pPr algn="l"/>
            <a:r>
              <a:rPr sz="1100" b="0">
                <a:solidFill>
                  <a:srgbClr val="C7C2EF"/>
                </a:solidFill>
                <a:latin typeface="ITC Avant Garde Gothic"/>
              </a:rPr>
              <a:t>La tasa de aprendizaje.</a:t>
            </a:r>
          </a:p>
        </p:txBody>
      </p:sp>
      <p:sp>
        <p:nvSpPr>
          <p:cNvPr id="15" name="TextBox 14"/>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Repetir</a:t>
            </a:r>
          </a:p>
        </p:txBody>
      </p:sp>
      <p:sp>
        <p:nvSpPr>
          <p:cNvPr id="3" name="TextBox 2"/>
          <p:cNvSpPr txBox="1"/>
          <p:nvPr/>
        </p:nvSpPr>
        <p:spPr>
          <a:xfrm>
            <a:off x="640080" y="960120"/>
            <a:ext cx="10911535" cy="449833"/>
          </a:xfrm>
          <a:prstGeom prst="rect">
            <a:avLst/>
          </a:prstGeom>
          <a:noFill/>
        </p:spPr>
        <p:txBody>
          <a:bodyPr wrap="square" anchor="t" lIns="0" rIns="0" tIns="0" bIns="0">
            <a:spAutoFit/>
          </a:bodyPr>
          <a:lstStyle/>
          <a:p>
            <a:pPr algn="l"/>
            <a:r>
              <a:rPr sz="3100" b="1">
                <a:solidFill>
                  <a:srgbClr val="C7C2EF"/>
                </a:solidFill>
                <a:latin typeface="ITC Avant Garde Gothic"/>
              </a:rPr>
              <a:t>Lote, iteración y época</a:t>
            </a:r>
          </a:p>
        </p:txBody>
      </p:sp>
      <p:sp>
        <p:nvSpPr>
          <p:cNvPr id="4" name="TextBox 3"/>
          <p:cNvSpPr txBox="1"/>
          <p:nvPr/>
        </p:nvSpPr>
        <p:spPr>
          <a:xfrm>
            <a:off x="640080" y="1775714"/>
            <a:ext cx="10911535" cy="306781"/>
          </a:xfrm>
          <a:prstGeom prst="rect">
            <a:avLst/>
          </a:prstGeom>
          <a:noFill/>
        </p:spPr>
        <p:txBody>
          <a:bodyPr wrap="square" anchor="t" lIns="0" rIns="0" tIns="0" bIns="0">
            <a:spAutoFit/>
          </a:bodyPr>
          <a:lstStyle/>
          <a:p>
            <a:pPr algn="l"/>
            <a:r>
              <a:rPr sz="2000" b="1">
                <a:solidFill>
                  <a:srgbClr val="FF983D"/>
                </a:solidFill>
                <a:latin typeface="ITC Avant Garde Gothic"/>
              </a:rPr>
              <a:t>Lote</a:t>
            </a:r>
          </a:p>
        </p:txBody>
      </p:sp>
      <p:sp>
        <p:nvSpPr>
          <p:cNvPr id="5" name="TextBox 4"/>
          <p:cNvSpPr txBox="1"/>
          <p:nvPr/>
        </p:nvSpPr>
        <p:spPr>
          <a:xfrm>
            <a:off x="640080" y="2265375"/>
            <a:ext cx="10911535" cy="490849"/>
          </a:xfrm>
          <a:prstGeom prst="rect">
            <a:avLst/>
          </a:prstGeom>
          <a:noFill/>
        </p:spPr>
        <p:txBody>
          <a:bodyPr wrap="square" anchor="t" lIns="0" rIns="0" tIns="0" bIns="0">
            <a:spAutoFit/>
          </a:bodyPr>
          <a:lstStyle/>
          <a:p>
            <a:pPr algn="l"/>
            <a:r>
              <a:rPr sz="1600" b="0">
                <a:solidFill>
                  <a:srgbClr val="C7C2EF"/>
                </a:solidFill>
                <a:latin typeface="ITC Avant Garde Gothic"/>
              </a:rPr>
              <a:t>El grupo de ejemplos que se procesan juntos antes de cada ajuste. Ajustar tras cada ejemplo sería ruidoso; tras todos, lentísimo.</a:t>
            </a:r>
          </a:p>
        </p:txBody>
      </p:sp>
      <p:sp>
        <p:nvSpPr>
          <p:cNvPr id="6" name="Rounded Rectangle 5"/>
          <p:cNvSpPr/>
          <p:nvPr/>
        </p:nvSpPr>
        <p:spPr>
          <a:xfrm>
            <a:off x="640080" y="2984825"/>
            <a:ext cx="10911535" cy="95844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259145"/>
            <a:ext cx="10454335" cy="261518"/>
          </a:xfrm>
          <a:prstGeom prst="rect">
            <a:avLst/>
          </a:prstGeom>
          <a:noFill/>
        </p:spPr>
        <p:txBody>
          <a:bodyPr wrap="square" anchor="t" lIns="0" rIns="0" tIns="0" bIns="0">
            <a:spAutoFit/>
          </a:bodyPr>
          <a:lstStyle/>
          <a:p>
            <a:pPr algn="l"/>
            <a:r>
              <a:rPr sz="1700" b="1">
                <a:solidFill>
                  <a:srgbClr val="FF983D"/>
                </a:solidFill>
                <a:latin typeface="ITC Avant Garde Gothic"/>
              </a:rPr>
              <a:t>Iteración</a:t>
            </a:r>
          </a:p>
        </p:txBody>
      </p:sp>
      <p:sp>
        <p:nvSpPr>
          <p:cNvPr id="8" name="TextBox 7"/>
          <p:cNvSpPr txBox="1"/>
          <p:nvPr/>
        </p:nvSpPr>
        <p:spPr>
          <a:xfrm>
            <a:off x="868680" y="3612103"/>
            <a:ext cx="10454335" cy="239725"/>
          </a:xfrm>
          <a:prstGeom prst="rect">
            <a:avLst/>
          </a:prstGeom>
          <a:noFill/>
        </p:spPr>
        <p:txBody>
          <a:bodyPr wrap="square" anchor="t" lIns="0" rIns="0" tIns="0" bIns="0">
            <a:spAutoFit/>
          </a:bodyPr>
          <a:lstStyle/>
          <a:p>
            <a:pPr algn="l"/>
            <a:r>
              <a:rPr sz="1500" b="0">
                <a:solidFill>
                  <a:srgbClr val="C7C2EF"/>
                </a:solidFill>
                <a:latin typeface="ITC Avant Garde Gothic"/>
              </a:rPr>
              <a:t>Un ajuste de los pesos con un lote.</a:t>
            </a:r>
          </a:p>
        </p:txBody>
      </p:sp>
      <p:sp>
        <p:nvSpPr>
          <p:cNvPr id="9" name="TextBox 8"/>
          <p:cNvSpPr txBox="1"/>
          <p:nvPr/>
        </p:nvSpPr>
        <p:spPr>
          <a:xfrm>
            <a:off x="640080" y="4126148"/>
            <a:ext cx="10911535" cy="306781"/>
          </a:xfrm>
          <a:prstGeom prst="rect">
            <a:avLst/>
          </a:prstGeom>
          <a:noFill/>
        </p:spPr>
        <p:txBody>
          <a:bodyPr wrap="square" anchor="t" lIns="0" rIns="0" tIns="0" bIns="0">
            <a:spAutoFit/>
          </a:bodyPr>
          <a:lstStyle/>
          <a:p>
            <a:pPr algn="l"/>
            <a:r>
              <a:rPr sz="2000" b="1">
                <a:solidFill>
                  <a:srgbClr val="FF983D"/>
                </a:solidFill>
                <a:latin typeface="ITC Avant Garde Gothic"/>
              </a:rPr>
              <a:t>Época</a:t>
            </a:r>
          </a:p>
        </p:txBody>
      </p:sp>
      <p:sp>
        <p:nvSpPr>
          <p:cNvPr id="10" name="TextBox 9"/>
          <p:cNvSpPr txBox="1"/>
          <p:nvPr/>
        </p:nvSpPr>
        <p:spPr>
          <a:xfrm>
            <a:off x="640080" y="4615809"/>
            <a:ext cx="10911535" cy="490849"/>
          </a:xfrm>
          <a:prstGeom prst="rect">
            <a:avLst/>
          </a:prstGeom>
          <a:noFill/>
        </p:spPr>
        <p:txBody>
          <a:bodyPr wrap="square" anchor="t" lIns="0" rIns="0" tIns="0" bIns="0">
            <a:spAutoFit/>
          </a:bodyPr>
          <a:lstStyle/>
          <a:p>
            <a:pPr algn="l"/>
            <a:r>
              <a:rPr sz="1600" b="0">
                <a:solidFill>
                  <a:srgbClr val="C7C2EF"/>
                </a:solidFill>
                <a:latin typeface="ITC Avant Garde Gothic"/>
              </a:rPr>
              <a:t>Una pasada completa por los ejemplos de entrenamiento. Con cada época la pérdida suele bajar, hasta estabilizarse.</a:t>
            </a:r>
          </a:p>
        </p:txBody>
      </p:sp>
      <p:sp>
        <p:nvSpPr>
          <p:cNvPr id="11" name="TextBox 10"/>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En el cuaderno de entrenamiento</a:t>
            </a:r>
          </a:p>
        </p:txBody>
      </p:sp>
      <p:sp>
        <p:nvSpPr>
          <p:cNvPr id="3" name="TextBox 2"/>
          <p:cNvSpPr txBox="1"/>
          <p:nvPr/>
        </p:nvSpPr>
        <p:spPr>
          <a:xfrm>
            <a:off x="640080" y="960120"/>
            <a:ext cx="10911535" cy="1002487"/>
          </a:xfrm>
          <a:prstGeom prst="rect">
            <a:avLst/>
          </a:prstGeom>
          <a:noFill/>
        </p:spPr>
        <p:txBody>
          <a:bodyPr wrap="square" anchor="t" lIns="0" rIns="0" tIns="0" bIns="0">
            <a:spAutoFit/>
          </a:bodyPr>
          <a:lstStyle/>
          <a:p>
            <a:pPr algn="l"/>
            <a:r>
              <a:rPr sz="3400" b="1">
                <a:solidFill>
                  <a:srgbClr val="C7C2EF"/>
                </a:solidFill>
                <a:latin typeface="ITC Avant Garde Gothic"/>
              </a:rPr>
              <a:t>Sesenta épocas, y recortes en lugar de fotos completas</a:t>
            </a:r>
          </a:p>
        </p:txBody>
      </p:sp>
      <p:sp>
        <p:nvSpPr>
          <p:cNvPr id="4" name="Rounded Rectangle 3"/>
          <p:cNvSpPr/>
          <p:nvPr/>
        </p:nvSpPr>
        <p:spPr>
          <a:xfrm>
            <a:off x="640080" y="2328367"/>
            <a:ext cx="10911535" cy="104957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602687"/>
            <a:ext cx="10454335" cy="309067"/>
          </a:xfrm>
          <a:prstGeom prst="rect">
            <a:avLst/>
          </a:prstGeom>
          <a:noFill/>
        </p:spPr>
        <p:txBody>
          <a:bodyPr wrap="square" anchor="t" lIns="0" rIns="0" tIns="0" bIns="0">
            <a:spAutoFit/>
          </a:bodyPr>
          <a:lstStyle/>
          <a:p>
            <a:pPr algn="l"/>
            <a:r>
              <a:rPr sz="2000" b="1">
                <a:solidFill>
                  <a:srgbClr val="FF983D"/>
                </a:solidFill>
                <a:latin typeface="ITC Avant Garde Gothic"/>
              </a:rPr>
              <a:t>Por defecto</a:t>
            </a:r>
          </a:p>
        </p:txBody>
      </p:sp>
      <p:sp>
        <p:nvSpPr>
          <p:cNvPr id="6" name="TextBox 5"/>
          <p:cNvSpPr txBox="1"/>
          <p:nvPr/>
        </p:nvSpPr>
        <p:spPr>
          <a:xfrm>
            <a:off x="868680" y="3003194"/>
            <a:ext cx="10454335" cy="283311"/>
          </a:xfrm>
          <a:prstGeom prst="rect">
            <a:avLst/>
          </a:prstGeom>
          <a:noFill/>
        </p:spPr>
        <p:txBody>
          <a:bodyPr wrap="square" anchor="t" lIns="0" rIns="0" tIns="0" bIns="0">
            <a:spAutoFit/>
          </a:bodyPr>
          <a:lstStyle/>
          <a:p>
            <a:pPr algn="l"/>
            <a:r>
              <a:rPr sz="1700" b="0">
                <a:solidFill>
                  <a:srgbClr val="C7C2EF"/>
                </a:solidFill>
                <a:latin typeface="ITC Avant Garde Gothic"/>
              </a:rPr>
              <a:t>60 épocas.</a:t>
            </a:r>
          </a:p>
        </p:txBody>
      </p:sp>
      <p:sp>
        <p:nvSpPr>
          <p:cNvPr id="7" name="TextBox 6"/>
          <p:cNvSpPr txBox="1"/>
          <p:nvPr/>
        </p:nvSpPr>
        <p:spPr>
          <a:xfrm>
            <a:off x="640080" y="3560826"/>
            <a:ext cx="10911535" cy="362559"/>
          </a:xfrm>
          <a:prstGeom prst="rect">
            <a:avLst/>
          </a:prstGeom>
          <a:noFill/>
        </p:spPr>
        <p:txBody>
          <a:bodyPr wrap="square" anchor="t" lIns="0" rIns="0" tIns="0" bIns="0">
            <a:spAutoFit/>
          </a:bodyPr>
          <a:lstStyle/>
          <a:p>
            <a:pPr algn="l"/>
            <a:r>
              <a:rPr sz="2300" b="1">
                <a:solidFill>
                  <a:srgbClr val="FF983D"/>
                </a:solidFill>
                <a:latin typeface="ITC Avant Garde Gothic"/>
              </a:rPr>
              <a:t>Una época</a:t>
            </a:r>
          </a:p>
        </p:txBody>
      </p:sp>
      <p:sp>
        <p:nvSpPr>
          <p:cNvPr id="8" name="TextBox 7"/>
          <p:cNvSpPr txBox="1"/>
          <p:nvPr/>
        </p:nvSpPr>
        <p:spPr>
          <a:xfrm>
            <a:off x="640080" y="4106265"/>
            <a:ext cx="10911535" cy="870143"/>
          </a:xfrm>
          <a:prstGeom prst="rect">
            <a:avLst/>
          </a:prstGeom>
          <a:noFill/>
        </p:spPr>
        <p:txBody>
          <a:bodyPr wrap="square" anchor="t" lIns="0" rIns="0" tIns="0" bIns="0">
            <a:spAutoFit/>
          </a:bodyPr>
          <a:lstStyle/>
          <a:p>
            <a:pPr algn="l"/>
            <a:r>
              <a:rPr sz="1900" b="0">
                <a:solidFill>
                  <a:srgbClr val="C7C2EF"/>
                </a:solidFill>
                <a:latin typeface="ITC Avant Garde Gothic"/>
              </a:rPr>
              <a:t>Como cada fotografía es grande, se le entregan a la red recortes pequeños de distintas zonas; la época se define como cierto número de recortes. Por eso el entrenamiento trabaja con teselas.</a:t>
            </a:r>
          </a:p>
        </p:txBody>
      </p:sp>
      <p:sp>
        <p:nvSpPr>
          <p:cNvPr id="9" name="TextBox 8"/>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La defensa</a:t>
            </a:r>
          </a:p>
        </p:txBody>
      </p:sp>
      <p:sp>
        <p:nvSpPr>
          <p:cNvPr id="3" name="TextBox 2"/>
          <p:cNvSpPr txBox="1"/>
          <p:nvPr/>
        </p:nvSpPr>
        <p:spPr>
          <a:xfrm>
            <a:off x="640080" y="960120"/>
            <a:ext cx="10911535" cy="1092454"/>
          </a:xfrm>
          <a:prstGeom prst="rect">
            <a:avLst/>
          </a:prstGeom>
          <a:noFill/>
        </p:spPr>
        <p:txBody>
          <a:bodyPr wrap="square" anchor="t" lIns="0" rIns="0" tIns="0" bIns="0">
            <a:spAutoFit/>
          </a:bodyPr>
          <a:lstStyle/>
          <a:p>
            <a:pPr algn="l"/>
            <a:r>
              <a:rPr sz="3700" b="1">
                <a:solidFill>
                  <a:srgbClr val="C7C2EF"/>
                </a:solidFill>
                <a:latin typeface="ITC Avant Garde Gothic"/>
              </a:rPr>
              <a:t>Nunca juzgar un modelo con los ejemplos con que se entrenó</a:t>
            </a:r>
          </a:p>
        </p:txBody>
      </p:sp>
      <p:sp>
        <p:nvSpPr>
          <p:cNvPr id="4" name="TextBox 3"/>
          <p:cNvSpPr txBox="1"/>
          <p:nvPr/>
        </p:nvSpPr>
        <p:spPr>
          <a:xfrm>
            <a:off x="640080" y="2418334"/>
            <a:ext cx="10911535" cy="395097"/>
          </a:xfrm>
          <a:prstGeom prst="rect">
            <a:avLst/>
          </a:prstGeom>
          <a:noFill/>
        </p:spPr>
        <p:txBody>
          <a:bodyPr wrap="square" anchor="t" lIns="0" rIns="0" tIns="0" bIns="0">
            <a:spAutoFit/>
          </a:bodyPr>
          <a:lstStyle/>
          <a:p>
            <a:pPr algn="l"/>
            <a:r>
              <a:rPr sz="2600" b="1">
                <a:solidFill>
                  <a:srgbClr val="FF983D"/>
                </a:solidFill>
                <a:latin typeface="ITC Avant Garde Gothic"/>
              </a:rPr>
              <a:t>Conjunto de validación</a:t>
            </a:r>
          </a:p>
        </p:txBody>
      </p:sp>
      <p:sp>
        <p:nvSpPr>
          <p:cNvPr id="5" name="TextBox 4"/>
          <p:cNvSpPr txBox="1"/>
          <p:nvPr/>
        </p:nvSpPr>
        <p:spPr>
          <a:xfrm>
            <a:off x="640080" y="2996311"/>
            <a:ext cx="10911535" cy="632155"/>
          </a:xfrm>
          <a:prstGeom prst="rect">
            <a:avLst/>
          </a:prstGeom>
          <a:noFill/>
        </p:spPr>
        <p:txBody>
          <a:bodyPr wrap="square" anchor="t" lIns="0" rIns="0" tIns="0" bIns="0">
            <a:spAutoFit/>
          </a:bodyPr>
          <a:lstStyle/>
          <a:p>
            <a:pPr algn="l"/>
            <a:r>
              <a:rPr sz="2000" b="0">
                <a:solidFill>
                  <a:srgbClr val="C7C2EF"/>
                </a:solidFill>
                <a:latin typeface="ITC Avant Garde Gothic"/>
              </a:rPr>
              <a:t>Se aparta una parte de las imágenes. La red no la usa para ajustar pesos, solo para medir qué tan bien generaliza.</a:t>
            </a:r>
          </a:p>
        </p:txBody>
      </p:sp>
      <p:sp>
        <p:nvSpPr>
          <p:cNvPr id="6" name="Rounded Rectangle 5"/>
          <p:cNvSpPr/>
          <p:nvPr/>
        </p:nvSpPr>
        <p:spPr>
          <a:xfrm>
            <a:off x="640080" y="3857066"/>
            <a:ext cx="10911535" cy="11941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4131386"/>
            <a:ext cx="10454335" cy="336803"/>
          </a:xfrm>
          <a:prstGeom prst="rect">
            <a:avLst/>
          </a:prstGeom>
          <a:noFill/>
        </p:spPr>
        <p:txBody>
          <a:bodyPr wrap="square" anchor="t" lIns="0" rIns="0" tIns="0" bIns="0">
            <a:spAutoFit/>
          </a:bodyPr>
          <a:lstStyle/>
          <a:p>
            <a:pPr algn="l"/>
            <a:r>
              <a:rPr sz="2200" b="1">
                <a:solidFill>
                  <a:srgbClr val="FF983D"/>
                </a:solidFill>
                <a:latin typeface="ITC Avant Garde Gothic"/>
              </a:rPr>
              <a:t>La señal de sobreajuste</a:t>
            </a:r>
          </a:p>
        </p:txBody>
      </p:sp>
      <p:sp>
        <p:nvSpPr>
          <p:cNvPr id="8" name="TextBox 7"/>
          <p:cNvSpPr txBox="1"/>
          <p:nvPr/>
        </p:nvSpPr>
        <p:spPr>
          <a:xfrm>
            <a:off x="868680" y="4559630"/>
            <a:ext cx="10454335" cy="400176"/>
          </a:xfrm>
          <a:prstGeom prst="rect">
            <a:avLst/>
          </a:prstGeom>
          <a:noFill/>
        </p:spPr>
        <p:txBody>
          <a:bodyPr wrap="square" anchor="t" lIns="0" rIns="0" tIns="0" bIns="0">
            <a:spAutoFit/>
          </a:bodyPr>
          <a:lstStyle/>
          <a:p>
            <a:pPr algn="l"/>
            <a:r>
              <a:rPr sz="1900" b="0">
                <a:solidFill>
                  <a:srgbClr val="C7C2EF"/>
                </a:solidFill>
                <a:latin typeface="ITC Avant Garde Gothic"/>
              </a:rPr>
              <a:t>El desempeño en entrenamiento mejora, pero el de validación empeora.</a:t>
            </a:r>
          </a:p>
        </p:txBody>
      </p:sp>
      <p:sp>
        <p:nvSpPr>
          <p:cNvPr id="9" name="TextBox 8"/>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Un ciclo con un solo peso</a:t>
            </a:r>
          </a:p>
        </p:txBody>
      </p:sp>
      <p:sp>
        <p:nvSpPr>
          <p:cNvPr id="3" name="TextBox 2"/>
          <p:cNvSpPr txBox="1"/>
          <p:nvPr/>
        </p:nvSpPr>
        <p:spPr>
          <a:xfrm>
            <a:off x="640080" y="960120"/>
            <a:ext cx="10911535" cy="642620"/>
          </a:xfrm>
          <a:prstGeom prst="rect">
            <a:avLst/>
          </a:prstGeom>
          <a:noFill/>
        </p:spPr>
        <p:txBody>
          <a:bodyPr wrap="square" anchor="t" lIns="0" rIns="0" tIns="0" bIns="0">
            <a:spAutoFit/>
          </a:bodyPr>
          <a:lstStyle/>
          <a:p>
            <a:pPr algn="l"/>
            <a:r>
              <a:rPr sz="4400" b="1">
                <a:solidFill>
                  <a:srgbClr val="C7C2EF"/>
                </a:solidFill>
                <a:latin typeface="ITC Avant Garde Gothic"/>
              </a:rPr>
              <a:t>Una red absurdamente pequeña</a:t>
            </a:r>
          </a:p>
        </p:txBody>
      </p:sp>
      <p:sp>
        <p:nvSpPr>
          <p:cNvPr id="4" name="TextBox 3"/>
          <p:cNvSpPr txBox="1"/>
          <p:nvPr/>
        </p:nvSpPr>
        <p:spPr>
          <a:xfrm>
            <a:off x="640080" y="1968500"/>
            <a:ext cx="10911535" cy="464820"/>
          </a:xfrm>
          <a:prstGeom prst="rect">
            <a:avLst/>
          </a:prstGeom>
          <a:noFill/>
        </p:spPr>
        <p:txBody>
          <a:bodyPr wrap="square" anchor="t" lIns="0" rIns="0" tIns="0" bIns="0">
            <a:spAutoFit/>
          </a:bodyPr>
          <a:lstStyle/>
          <a:p>
            <a:pPr algn="l"/>
            <a:r>
              <a:rPr sz="3000" b="1">
                <a:solidFill>
                  <a:srgbClr val="FF983D"/>
                </a:solidFill>
                <a:latin typeface="ITC Avant Garde Gothic"/>
              </a:rPr>
              <a:t>La red</a:t>
            </a:r>
          </a:p>
        </p:txBody>
      </p:sp>
      <p:sp>
        <p:nvSpPr>
          <p:cNvPr id="5" name="TextBox 4"/>
          <p:cNvSpPr txBox="1"/>
          <p:nvPr/>
        </p:nvSpPr>
        <p:spPr>
          <a:xfrm>
            <a:off x="640080" y="2616200"/>
            <a:ext cx="10911535" cy="743712"/>
          </a:xfrm>
          <a:prstGeom prst="rect">
            <a:avLst/>
          </a:prstGeom>
          <a:noFill/>
        </p:spPr>
        <p:txBody>
          <a:bodyPr wrap="square" anchor="t" lIns="0" rIns="0" tIns="0" bIns="0">
            <a:spAutoFit/>
          </a:bodyPr>
          <a:lstStyle/>
          <a:p>
            <a:pPr algn="l"/>
            <a:r>
              <a:rPr sz="2400" b="0">
                <a:solidFill>
                  <a:srgbClr val="C7C2EF"/>
                </a:solidFill>
                <a:latin typeface="ITC Avant Garde Gothic"/>
              </a:rPr>
              <a:t>Una sola neurona, con un solo peso y sin activación. Predicción = entrada × peso.</a:t>
            </a:r>
          </a:p>
        </p:txBody>
      </p:sp>
      <p:sp>
        <p:nvSpPr>
          <p:cNvPr id="6" name="TextBox 5"/>
          <p:cNvSpPr txBox="1"/>
          <p:nvPr/>
        </p:nvSpPr>
        <p:spPr>
          <a:xfrm>
            <a:off x="640080" y="3588512"/>
            <a:ext cx="10911535" cy="464820"/>
          </a:xfrm>
          <a:prstGeom prst="rect">
            <a:avLst/>
          </a:prstGeom>
          <a:noFill/>
        </p:spPr>
        <p:txBody>
          <a:bodyPr wrap="square" anchor="t" lIns="0" rIns="0" tIns="0" bIns="0">
            <a:spAutoFit/>
          </a:bodyPr>
          <a:lstStyle/>
          <a:p>
            <a:pPr algn="l"/>
            <a:r>
              <a:rPr sz="3000" b="1">
                <a:solidFill>
                  <a:srgbClr val="FF983D"/>
                </a:solidFill>
                <a:latin typeface="ITC Avant Garde Gothic"/>
              </a:rPr>
              <a:t>El caso</a:t>
            </a:r>
          </a:p>
        </p:txBody>
      </p:sp>
      <p:sp>
        <p:nvSpPr>
          <p:cNvPr id="7" name="TextBox 6"/>
          <p:cNvSpPr txBox="1"/>
          <p:nvPr/>
        </p:nvSpPr>
        <p:spPr>
          <a:xfrm>
            <a:off x="640080" y="4236212"/>
            <a:ext cx="10911535" cy="743712"/>
          </a:xfrm>
          <a:prstGeom prst="rect">
            <a:avLst/>
          </a:prstGeom>
          <a:noFill/>
        </p:spPr>
        <p:txBody>
          <a:bodyPr wrap="square" anchor="t" lIns="0" rIns="0" tIns="0" bIns="0">
            <a:spAutoFit/>
          </a:bodyPr>
          <a:lstStyle/>
          <a:p>
            <a:pPr algn="l"/>
            <a:r>
              <a:rPr sz="2400" b="0">
                <a:solidFill>
                  <a:srgbClr val="C7C2EF"/>
                </a:solidFill>
                <a:latin typeface="ITC Avant Garde Gothic"/>
              </a:rPr>
              <a:t>Entrada 3 y respuesta correcta 9. El peso ideal es 3, pero la red no lo sabe: arranca con 1.</a:t>
            </a:r>
          </a:p>
        </p:txBody>
      </p:sp>
      <p:sp>
        <p:nvSpPr>
          <p:cNvPr id="8" name="TextBox 7"/>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Primer ciclo</a:t>
            </a:r>
          </a:p>
        </p:txBody>
      </p:sp>
      <p:sp>
        <p:nvSpPr>
          <p:cNvPr id="3" name="TextBox 2"/>
          <p:cNvSpPr txBox="1"/>
          <p:nvPr/>
        </p:nvSpPr>
        <p:spPr>
          <a:xfrm>
            <a:off x="640080" y="960120"/>
            <a:ext cx="10911535" cy="449833"/>
          </a:xfrm>
          <a:prstGeom prst="rect">
            <a:avLst/>
          </a:prstGeom>
          <a:noFill/>
        </p:spPr>
        <p:txBody>
          <a:bodyPr wrap="square" anchor="t" lIns="0" rIns="0" tIns="0" bIns="0">
            <a:spAutoFit/>
          </a:bodyPr>
          <a:lstStyle/>
          <a:p>
            <a:pPr algn="l"/>
            <a:r>
              <a:rPr sz="3100" b="1">
                <a:solidFill>
                  <a:srgbClr val="C7C2EF"/>
                </a:solidFill>
                <a:latin typeface="ITC Avant Garde Gothic"/>
              </a:rPr>
              <a:t>Predicción, error y pérdida</a:t>
            </a:r>
          </a:p>
        </p:txBody>
      </p:sp>
      <p:sp>
        <p:nvSpPr>
          <p:cNvPr id="4" name="Rounded Rectangle 3"/>
          <p:cNvSpPr/>
          <p:nvPr/>
        </p:nvSpPr>
        <p:spPr>
          <a:xfrm>
            <a:off x="640080" y="1775714"/>
            <a:ext cx="1589989" cy="6019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86610"/>
            <a:ext cx="1132789" cy="236219"/>
          </a:xfrm>
          <a:prstGeom prst="rect">
            <a:avLst/>
          </a:prstGeom>
          <a:noFill/>
        </p:spPr>
        <p:txBody>
          <a:bodyPr wrap="square" anchor="t" lIns="0" rIns="0" tIns="0" bIns="0">
            <a:spAutoFit/>
          </a:bodyPr>
          <a:lstStyle/>
          <a:p>
            <a:pPr algn="l"/>
            <a:r>
              <a:rPr sz="1300" b="0">
                <a:solidFill>
                  <a:srgbClr val="C7C2EF"/>
                </a:solidFill>
                <a:latin typeface="ITC Avant Garde Gothic"/>
              </a:rPr>
              <a:t>Concepto</a:t>
            </a:r>
          </a:p>
        </p:txBody>
      </p:sp>
      <p:sp>
        <p:nvSpPr>
          <p:cNvPr id="7" name="Rounded Rectangle 6"/>
          <p:cNvSpPr/>
          <p:nvPr/>
        </p:nvSpPr>
        <p:spPr>
          <a:xfrm>
            <a:off x="2504389" y="1775714"/>
            <a:ext cx="1589989" cy="6019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32989"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32989" y="2086610"/>
            <a:ext cx="1132789" cy="236219"/>
          </a:xfrm>
          <a:prstGeom prst="rect">
            <a:avLst/>
          </a:prstGeom>
          <a:noFill/>
        </p:spPr>
        <p:txBody>
          <a:bodyPr wrap="square" anchor="t" lIns="0" rIns="0" tIns="0" bIns="0">
            <a:spAutoFit/>
          </a:bodyPr>
          <a:lstStyle/>
          <a:p>
            <a:pPr algn="l"/>
            <a:r>
              <a:rPr sz="1300" b="0">
                <a:solidFill>
                  <a:srgbClr val="C7C2EF"/>
                </a:solidFill>
                <a:latin typeface="ITC Avant Garde Gothic"/>
              </a:rPr>
              <a:t>Cuenta</a:t>
            </a:r>
          </a:p>
        </p:txBody>
      </p:sp>
      <p:sp>
        <p:nvSpPr>
          <p:cNvPr id="10" name="Rounded Rectangle 9"/>
          <p:cNvSpPr/>
          <p:nvPr/>
        </p:nvSpPr>
        <p:spPr>
          <a:xfrm>
            <a:off x="4368698" y="1775714"/>
            <a:ext cx="1589989" cy="6019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97298"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2086610"/>
            <a:ext cx="1132789" cy="236219"/>
          </a:xfrm>
          <a:prstGeom prst="rect">
            <a:avLst/>
          </a:prstGeom>
          <a:noFill/>
        </p:spPr>
        <p:txBody>
          <a:bodyPr wrap="square" anchor="t" lIns="0" rIns="0" tIns="0" bIns="0">
            <a:spAutoFit/>
          </a:bodyPr>
          <a:lstStyle/>
          <a:p>
            <a:pPr algn="l"/>
            <a:r>
              <a:rPr sz="1300" b="0">
                <a:solidFill>
                  <a:srgbClr val="C7C2EF"/>
                </a:solidFill>
                <a:latin typeface="ITC Avant Garde Gothic"/>
              </a:rPr>
              <a:t>Valor</a:t>
            </a:r>
          </a:p>
        </p:txBody>
      </p:sp>
      <p:sp>
        <p:nvSpPr>
          <p:cNvPr id="13" name="Rounded Rectangle 12"/>
          <p:cNvSpPr/>
          <p:nvPr/>
        </p:nvSpPr>
        <p:spPr>
          <a:xfrm>
            <a:off x="6233007" y="1775714"/>
            <a:ext cx="1589989" cy="6019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61607"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1607" y="2086610"/>
            <a:ext cx="1132789" cy="236219"/>
          </a:xfrm>
          <a:prstGeom prst="rect">
            <a:avLst/>
          </a:prstGeom>
          <a:noFill/>
        </p:spPr>
        <p:txBody>
          <a:bodyPr wrap="square" anchor="t" lIns="0" rIns="0" tIns="0" bIns="0">
            <a:spAutoFit/>
          </a:bodyPr>
          <a:lstStyle/>
          <a:p>
            <a:pPr algn="l"/>
            <a:r>
              <a:rPr sz="1300" b="0">
                <a:solidFill>
                  <a:srgbClr val="C7C2EF"/>
                </a:solidFill>
                <a:latin typeface="ITC Avant Garde Gothic"/>
              </a:rPr>
              <a:t>Predicción</a:t>
            </a:r>
          </a:p>
        </p:txBody>
      </p:sp>
      <p:sp>
        <p:nvSpPr>
          <p:cNvPr id="16" name="Rounded Rectangle 15"/>
          <p:cNvSpPr/>
          <p:nvPr/>
        </p:nvSpPr>
        <p:spPr>
          <a:xfrm>
            <a:off x="8097316" y="1775714"/>
            <a:ext cx="1589989" cy="6019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5916"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5916" y="2086610"/>
            <a:ext cx="1132789" cy="236219"/>
          </a:xfrm>
          <a:prstGeom prst="rect">
            <a:avLst/>
          </a:prstGeom>
          <a:noFill/>
        </p:spPr>
        <p:txBody>
          <a:bodyPr wrap="square" anchor="t" lIns="0" rIns="0" tIns="0" bIns="0">
            <a:spAutoFit/>
          </a:bodyPr>
          <a:lstStyle/>
          <a:p>
            <a:pPr algn="l"/>
            <a:r>
              <a:rPr sz="1300" b="0">
                <a:solidFill>
                  <a:srgbClr val="C7C2EF"/>
                </a:solidFill>
                <a:latin typeface="ITC Avant Garde Gothic"/>
              </a:rPr>
              <a:t>1 × 3</a:t>
            </a:r>
          </a:p>
        </p:txBody>
      </p:sp>
      <p:sp>
        <p:nvSpPr>
          <p:cNvPr id="19" name="Rounded Rectangle 18"/>
          <p:cNvSpPr/>
          <p:nvPr/>
        </p:nvSpPr>
        <p:spPr>
          <a:xfrm>
            <a:off x="9961625" y="1775714"/>
            <a:ext cx="1589989" cy="6019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190225"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190225" y="2086610"/>
            <a:ext cx="1132789" cy="236219"/>
          </a:xfrm>
          <a:prstGeom prst="rect">
            <a:avLst/>
          </a:prstGeom>
          <a:noFill/>
        </p:spPr>
        <p:txBody>
          <a:bodyPr wrap="square" anchor="t" lIns="0" rIns="0" tIns="0" bIns="0">
            <a:spAutoFit/>
          </a:bodyPr>
          <a:lstStyle/>
          <a:p>
            <a:pPr algn="l"/>
            <a:r>
              <a:rPr sz="1300" b="0">
                <a:solidFill>
                  <a:srgbClr val="C7C2EF"/>
                </a:solidFill>
                <a:latin typeface="ITC Avant Garde Gothic"/>
              </a:rPr>
              <a:t>3</a:t>
            </a:r>
          </a:p>
        </p:txBody>
      </p:sp>
      <p:sp>
        <p:nvSpPr>
          <p:cNvPr id="22" name="Rounded Rectangle 21"/>
          <p:cNvSpPr/>
          <p:nvPr/>
        </p:nvSpPr>
        <p:spPr>
          <a:xfrm>
            <a:off x="640080" y="2652014"/>
            <a:ext cx="1589989" cy="103784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68680" y="28166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2962910"/>
            <a:ext cx="1132789" cy="672084"/>
          </a:xfrm>
          <a:prstGeom prst="rect">
            <a:avLst/>
          </a:prstGeom>
          <a:noFill/>
        </p:spPr>
        <p:txBody>
          <a:bodyPr wrap="square" anchor="t" lIns="0" rIns="0" tIns="0" bIns="0">
            <a:spAutoFit/>
          </a:bodyPr>
          <a:lstStyle/>
          <a:p>
            <a:pPr algn="l"/>
            <a:r>
              <a:rPr sz="1300" b="0">
                <a:solidFill>
                  <a:srgbClr val="C7C2EF"/>
                </a:solidFill>
                <a:latin typeface="ITC Avant Garde Gothic"/>
              </a:rPr>
              <a:t>Respuesta correcta</a:t>
            </a:r>
          </a:p>
        </p:txBody>
      </p:sp>
      <p:sp>
        <p:nvSpPr>
          <p:cNvPr id="25" name="Rounded Rectangle 24"/>
          <p:cNvSpPr/>
          <p:nvPr/>
        </p:nvSpPr>
        <p:spPr>
          <a:xfrm>
            <a:off x="2504389" y="2652014"/>
            <a:ext cx="1589989" cy="103784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732989" y="28166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32989" y="2962910"/>
            <a:ext cx="1132789" cy="672084"/>
          </a:xfrm>
          <a:prstGeom prst="rect">
            <a:avLst/>
          </a:prstGeom>
          <a:noFill/>
        </p:spPr>
        <p:txBody>
          <a:bodyPr wrap="square" anchor="t" lIns="0" rIns="0" tIns="0" bIns="0">
            <a:spAutoFit/>
          </a:bodyPr>
          <a:lstStyle/>
          <a:p>
            <a:pPr algn="l"/>
            <a:r>
              <a:rPr sz="1300" b="0">
                <a:solidFill>
                  <a:srgbClr val="C7C2EF"/>
                </a:solidFill>
                <a:latin typeface="ITC Avant Garde Gothic"/>
              </a:rPr>
              <a:t>9</a:t>
            </a:r>
          </a:p>
        </p:txBody>
      </p:sp>
      <p:sp>
        <p:nvSpPr>
          <p:cNvPr id="28" name="Rounded Rectangle 27"/>
          <p:cNvSpPr/>
          <p:nvPr/>
        </p:nvSpPr>
        <p:spPr>
          <a:xfrm>
            <a:off x="4368698" y="2652014"/>
            <a:ext cx="1589989" cy="103784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97298" y="28166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97298" y="2962910"/>
            <a:ext cx="1132789" cy="672084"/>
          </a:xfrm>
          <a:prstGeom prst="rect">
            <a:avLst/>
          </a:prstGeom>
          <a:noFill/>
        </p:spPr>
        <p:txBody>
          <a:bodyPr wrap="square" anchor="t" lIns="0" rIns="0" tIns="0" bIns="0">
            <a:spAutoFit/>
          </a:bodyPr>
          <a:lstStyle/>
          <a:p>
            <a:pPr algn="l"/>
            <a:r>
              <a:rPr sz="1300" b="0">
                <a:solidFill>
                  <a:srgbClr val="C7C2EF"/>
                </a:solidFill>
                <a:latin typeface="ITC Avant Garde Gothic"/>
              </a:rPr>
              <a:t>Error</a:t>
            </a:r>
          </a:p>
        </p:txBody>
      </p:sp>
      <p:sp>
        <p:nvSpPr>
          <p:cNvPr id="31" name="Rounded Rectangle 30"/>
          <p:cNvSpPr/>
          <p:nvPr/>
        </p:nvSpPr>
        <p:spPr>
          <a:xfrm>
            <a:off x="6233007" y="2652014"/>
            <a:ext cx="1589989" cy="103784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61607" y="28166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61607" y="2962910"/>
            <a:ext cx="1132789" cy="672084"/>
          </a:xfrm>
          <a:prstGeom prst="rect">
            <a:avLst/>
          </a:prstGeom>
          <a:noFill/>
        </p:spPr>
        <p:txBody>
          <a:bodyPr wrap="square" anchor="t" lIns="0" rIns="0" tIns="0" bIns="0">
            <a:spAutoFit/>
          </a:bodyPr>
          <a:lstStyle/>
          <a:p>
            <a:pPr algn="l"/>
            <a:r>
              <a:rPr sz="1300" b="0">
                <a:solidFill>
                  <a:srgbClr val="C7C2EF"/>
                </a:solidFill>
                <a:latin typeface="ITC Avant Garde Gothic"/>
              </a:rPr>
              <a:t>9 − 3</a:t>
            </a:r>
          </a:p>
        </p:txBody>
      </p:sp>
      <p:sp>
        <p:nvSpPr>
          <p:cNvPr id="34" name="Rounded Rectangle 33"/>
          <p:cNvSpPr/>
          <p:nvPr/>
        </p:nvSpPr>
        <p:spPr>
          <a:xfrm>
            <a:off x="8097316" y="2652014"/>
            <a:ext cx="1589989" cy="103784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25916" y="28166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25916" y="2962910"/>
            <a:ext cx="1132789" cy="672084"/>
          </a:xfrm>
          <a:prstGeom prst="rect">
            <a:avLst/>
          </a:prstGeom>
          <a:noFill/>
        </p:spPr>
        <p:txBody>
          <a:bodyPr wrap="square" anchor="t" lIns="0" rIns="0" tIns="0" bIns="0">
            <a:spAutoFit/>
          </a:bodyPr>
          <a:lstStyle/>
          <a:p>
            <a:pPr algn="l"/>
            <a:r>
              <a:rPr sz="1300" b="0">
                <a:solidFill>
                  <a:srgbClr val="C7C2EF"/>
                </a:solidFill>
                <a:latin typeface="ITC Avant Garde Gothic"/>
              </a:rPr>
              <a:t>6</a:t>
            </a:r>
          </a:p>
        </p:txBody>
      </p:sp>
      <p:sp>
        <p:nvSpPr>
          <p:cNvPr id="37" name="Rounded Rectangle 36"/>
          <p:cNvSpPr/>
          <p:nvPr/>
        </p:nvSpPr>
        <p:spPr>
          <a:xfrm>
            <a:off x="9961625" y="2652014"/>
            <a:ext cx="1589989" cy="103784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90225" y="28166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190225" y="2962910"/>
            <a:ext cx="1132789" cy="672084"/>
          </a:xfrm>
          <a:prstGeom prst="rect">
            <a:avLst/>
          </a:prstGeom>
          <a:noFill/>
        </p:spPr>
        <p:txBody>
          <a:bodyPr wrap="square" anchor="t" lIns="0" rIns="0" tIns="0" bIns="0">
            <a:spAutoFit/>
          </a:bodyPr>
          <a:lstStyle/>
          <a:p>
            <a:pPr algn="l"/>
            <a:r>
              <a:rPr sz="1300" b="0">
                <a:solidFill>
                  <a:srgbClr val="C7C2EF"/>
                </a:solidFill>
                <a:latin typeface="ITC Avant Garde Gothic"/>
              </a:rPr>
              <a:t>Pérdida (error al cuadrado)</a:t>
            </a:r>
          </a:p>
        </p:txBody>
      </p:sp>
      <p:sp>
        <p:nvSpPr>
          <p:cNvPr id="40" name="Rounded Rectangle 39"/>
          <p:cNvSpPr/>
          <p:nvPr/>
        </p:nvSpPr>
        <p:spPr>
          <a:xfrm>
            <a:off x="640080" y="3964178"/>
            <a:ext cx="1589989" cy="6019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68680" y="412876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8680" y="4275074"/>
            <a:ext cx="1132789" cy="236219"/>
          </a:xfrm>
          <a:prstGeom prst="rect">
            <a:avLst/>
          </a:prstGeom>
          <a:noFill/>
        </p:spPr>
        <p:txBody>
          <a:bodyPr wrap="square" anchor="t" lIns="0" rIns="0" tIns="0" bIns="0">
            <a:spAutoFit/>
          </a:bodyPr>
          <a:lstStyle/>
          <a:p>
            <a:pPr algn="l"/>
            <a:r>
              <a:rPr sz="1300" b="0">
                <a:solidFill>
                  <a:srgbClr val="C7C2EF"/>
                </a:solidFill>
                <a:latin typeface="ITC Avant Garde Gothic"/>
              </a:rPr>
              <a:t>6 × 6</a:t>
            </a:r>
          </a:p>
        </p:txBody>
      </p:sp>
      <p:sp>
        <p:nvSpPr>
          <p:cNvPr id="43" name="Rounded Rectangle 42"/>
          <p:cNvSpPr/>
          <p:nvPr/>
        </p:nvSpPr>
        <p:spPr>
          <a:xfrm>
            <a:off x="2504389" y="3964178"/>
            <a:ext cx="1589989" cy="6019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732989" y="412876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732989" y="4275074"/>
            <a:ext cx="1132789" cy="236219"/>
          </a:xfrm>
          <a:prstGeom prst="rect">
            <a:avLst/>
          </a:prstGeom>
          <a:noFill/>
        </p:spPr>
        <p:txBody>
          <a:bodyPr wrap="square" anchor="t" lIns="0" rIns="0" tIns="0" bIns="0">
            <a:spAutoFit/>
          </a:bodyPr>
          <a:lstStyle/>
          <a:p>
            <a:pPr algn="l"/>
            <a:r>
              <a:rPr sz="1300" b="0">
                <a:solidFill>
                  <a:srgbClr val="C7C2EF"/>
                </a:solidFill>
                <a:latin typeface="ITC Avant Garde Gothic"/>
              </a:rPr>
              <a:t>36</a:t>
            </a:r>
          </a:p>
        </p:txBody>
      </p:sp>
      <p:sp>
        <p:nvSpPr>
          <p:cNvPr id="46" name="Rounded Rectangle 45"/>
          <p:cNvSpPr/>
          <p:nvPr/>
        </p:nvSpPr>
        <p:spPr>
          <a:xfrm>
            <a:off x="4368698" y="3964178"/>
            <a:ext cx="1589989" cy="6019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597298" y="412876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97298" y="4275074"/>
            <a:ext cx="1132789" cy="236219"/>
          </a:xfrm>
          <a:prstGeom prst="rect">
            <a:avLst/>
          </a:prstGeom>
          <a:noFill/>
        </p:spPr>
        <p:txBody>
          <a:bodyPr wrap="square" anchor="t" lIns="0" rIns="0" tIns="0" bIns="0">
            <a:spAutoFit/>
          </a:bodyPr>
          <a:lstStyle/>
          <a:p>
            <a:pPr algn="l"/>
            <a:r>
              <a:rPr sz="1300" b="0">
                <a:solidFill>
                  <a:srgbClr val="C7C2EF"/>
                </a:solidFill>
                <a:latin typeface="ITC Avant Garde Gothic"/>
              </a:rPr>
              <a:t>Gradiente</a:t>
            </a:r>
          </a:p>
        </p:txBody>
      </p:sp>
      <p:sp>
        <p:nvSpPr>
          <p:cNvPr id="49" name="Rounded Rectangle 48"/>
          <p:cNvSpPr/>
          <p:nvPr/>
        </p:nvSpPr>
        <p:spPr>
          <a:xfrm>
            <a:off x="6233007" y="3964178"/>
            <a:ext cx="1589989" cy="6019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461607" y="412876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61607" y="4275074"/>
            <a:ext cx="1132789" cy="236219"/>
          </a:xfrm>
          <a:prstGeom prst="rect">
            <a:avLst/>
          </a:prstGeom>
          <a:noFill/>
        </p:spPr>
        <p:txBody>
          <a:bodyPr wrap="square" anchor="t" lIns="0" rIns="0" tIns="0" bIns="0">
            <a:spAutoFit/>
          </a:bodyPr>
          <a:lstStyle/>
          <a:p>
            <a:pPr algn="l"/>
            <a:r>
              <a:rPr sz="1300" b="0">
                <a:solidFill>
                  <a:srgbClr val="C7C2EF"/>
                </a:solidFill>
                <a:latin typeface="ITC Avant Garde Gothic"/>
              </a:rPr>
              <a:t>−2 × 3 × 6</a:t>
            </a:r>
          </a:p>
        </p:txBody>
      </p:sp>
      <p:sp>
        <p:nvSpPr>
          <p:cNvPr id="52" name="Rounded Rectangle 51"/>
          <p:cNvSpPr/>
          <p:nvPr/>
        </p:nvSpPr>
        <p:spPr>
          <a:xfrm>
            <a:off x="8097316" y="3964178"/>
            <a:ext cx="1589989" cy="6019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325916" y="412876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325916" y="4275074"/>
            <a:ext cx="1132789" cy="236219"/>
          </a:xfrm>
          <a:prstGeom prst="rect">
            <a:avLst/>
          </a:prstGeom>
          <a:noFill/>
        </p:spPr>
        <p:txBody>
          <a:bodyPr wrap="square" anchor="t" lIns="0" rIns="0" tIns="0" bIns="0">
            <a:spAutoFit/>
          </a:bodyPr>
          <a:lstStyle/>
          <a:p>
            <a:pPr algn="l"/>
            <a:r>
              <a:rPr sz="1300" b="0">
                <a:solidFill>
                  <a:srgbClr val="C7C2EF"/>
                </a:solidFill>
                <a:latin typeface="ITC Avant Garde Gothic"/>
              </a:rPr>
              <a:t>−36</a:t>
            </a:r>
          </a:p>
        </p:txBody>
      </p:sp>
      <p:sp>
        <p:nvSpPr>
          <p:cNvPr id="55" name="TextBox 54"/>
          <p:cNvSpPr txBox="1"/>
          <p:nvPr/>
        </p:nvSpPr>
        <p:spPr>
          <a:xfrm>
            <a:off x="640080" y="4749038"/>
            <a:ext cx="10911535" cy="446227"/>
          </a:xfrm>
          <a:prstGeom prst="rect">
            <a:avLst/>
          </a:prstGeom>
          <a:noFill/>
        </p:spPr>
        <p:txBody>
          <a:bodyPr wrap="square" anchor="t" lIns="0" rIns="0" tIns="0" bIns="0">
            <a:spAutoFit/>
          </a:bodyPr>
          <a:lstStyle/>
          <a:p>
            <a:pPr algn="l"/>
            <a:r>
              <a:rPr sz="1400" b="0">
                <a:solidFill>
                  <a:srgbClr val="C7C2EF"/>
                </a:solidFill>
                <a:latin typeface="ITC Avant Garde Gothic"/>
              </a:rPr>
              <a:t>El signo negativo dice que subir el peso baja la pérdida; el tamaño, qué tan empinada está la pendiente.</a:t>
            </a:r>
          </a:p>
        </p:txBody>
      </p:sp>
      <p:sp>
        <p:nvSpPr>
          <p:cNvPr id="56" name="TextBox 55"/>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Moverse</a:t>
            </a:r>
          </a:p>
        </p:txBody>
      </p:sp>
      <p:sp>
        <p:nvSpPr>
          <p:cNvPr id="3" name="TextBox 2"/>
          <p:cNvSpPr txBox="1"/>
          <p:nvPr/>
        </p:nvSpPr>
        <p:spPr>
          <a:xfrm>
            <a:off x="640080" y="960120"/>
            <a:ext cx="10911535" cy="449833"/>
          </a:xfrm>
          <a:prstGeom prst="rect">
            <a:avLst/>
          </a:prstGeom>
          <a:noFill/>
        </p:spPr>
        <p:txBody>
          <a:bodyPr wrap="square" anchor="t" lIns="0" rIns="0" tIns="0" bIns="0">
            <a:spAutoFit/>
          </a:bodyPr>
          <a:lstStyle/>
          <a:p>
            <a:pPr algn="l"/>
            <a:r>
              <a:rPr sz="3100" b="1">
                <a:solidFill>
                  <a:srgbClr val="C7C2EF"/>
                </a:solidFill>
                <a:latin typeface="ITC Avant Garde Gothic"/>
              </a:rPr>
              <a:t>Peso nuevo = peso − gradiente × tasa</a:t>
            </a:r>
          </a:p>
        </p:txBody>
      </p:sp>
      <p:sp>
        <p:nvSpPr>
          <p:cNvPr id="4" name="Rounded Rectangle 3"/>
          <p:cNvSpPr/>
          <p:nvPr/>
        </p:nvSpPr>
        <p:spPr>
          <a:xfrm>
            <a:off x="640080" y="1775714"/>
            <a:ext cx="10911535" cy="69977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050034"/>
            <a:ext cx="10454335" cy="198120"/>
          </a:xfrm>
          <a:prstGeom prst="rect">
            <a:avLst/>
          </a:prstGeom>
          <a:noFill/>
        </p:spPr>
        <p:txBody>
          <a:bodyPr wrap="square" anchor="t" lIns="0" rIns="0" tIns="0" bIns="0">
            <a:spAutoFit/>
          </a:bodyPr>
          <a:lstStyle/>
          <a:p>
            <a:pPr algn="l"/>
            <a:r>
              <a:rPr sz="1300" b="1">
                <a:solidFill>
                  <a:srgbClr val="FF983D"/>
                </a:solidFill>
                <a:latin typeface="ITC Avant Garde Gothic"/>
              </a:rPr>
              <a:t>Gradiente</a:t>
            </a:r>
          </a:p>
        </p:txBody>
      </p:sp>
      <p:sp>
        <p:nvSpPr>
          <p:cNvPr id="6" name="TextBox 5"/>
          <p:cNvSpPr txBox="1"/>
          <p:nvPr/>
        </p:nvSpPr>
        <p:spPr>
          <a:xfrm>
            <a:off x="868680" y="2339594"/>
            <a:ext cx="10454335" cy="44449"/>
          </a:xfrm>
          <a:prstGeom prst="rect">
            <a:avLst/>
          </a:prstGeom>
          <a:noFill/>
        </p:spPr>
        <p:txBody>
          <a:bodyPr wrap="square" anchor="t" lIns="0" rIns="0" tIns="0" bIns="0">
            <a:spAutoFit/>
          </a:bodyPr>
          <a:lstStyle/>
          <a:p>
            <a:pPr algn="l"/>
            <a:r>
              <a:rPr sz="1100" b="0">
                <a:solidFill>
                  <a:srgbClr val="C7C2EF"/>
                </a:solidFill>
                <a:latin typeface="ITC Avant Garde Gothic"/>
              </a:rPr>
              <a:t>−36</a:t>
            </a:r>
          </a:p>
        </p:txBody>
      </p:sp>
      <p:sp>
        <p:nvSpPr>
          <p:cNvPr id="7" name="Rounded Rectangle 6"/>
          <p:cNvSpPr/>
          <p:nvPr/>
        </p:nvSpPr>
        <p:spPr>
          <a:xfrm>
            <a:off x="640080" y="2658364"/>
            <a:ext cx="10911535" cy="69977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932684"/>
            <a:ext cx="10454335" cy="198120"/>
          </a:xfrm>
          <a:prstGeom prst="rect">
            <a:avLst/>
          </a:prstGeom>
          <a:noFill/>
        </p:spPr>
        <p:txBody>
          <a:bodyPr wrap="square" anchor="t" lIns="0" rIns="0" tIns="0" bIns="0">
            <a:spAutoFit/>
          </a:bodyPr>
          <a:lstStyle/>
          <a:p>
            <a:pPr algn="l"/>
            <a:r>
              <a:rPr sz="1300" b="1">
                <a:solidFill>
                  <a:srgbClr val="FF983D"/>
                </a:solidFill>
                <a:latin typeface="ITC Avant Garde Gothic"/>
              </a:rPr>
              <a:t>Tasa de aprendizaje</a:t>
            </a:r>
          </a:p>
        </p:txBody>
      </p:sp>
      <p:sp>
        <p:nvSpPr>
          <p:cNvPr id="9" name="TextBox 8"/>
          <p:cNvSpPr txBox="1"/>
          <p:nvPr/>
        </p:nvSpPr>
        <p:spPr>
          <a:xfrm>
            <a:off x="868680" y="3222244"/>
            <a:ext cx="10454335" cy="44449"/>
          </a:xfrm>
          <a:prstGeom prst="rect">
            <a:avLst/>
          </a:prstGeom>
          <a:noFill/>
        </p:spPr>
        <p:txBody>
          <a:bodyPr wrap="square" anchor="t" lIns="0" rIns="0" tIns="0" bIns="0">
            <a:spAutoFit/>
          </a:bodyPr>
          <a:lstStyle/>
          <a:p>
            <a:pPr algn="l"/>
            <a:r>
              <a:rPr sz="1100" b="0">
                <a:solidFill>
                  <a:srgbClr val="C7C2EF"/>
                </a:solidFill>
                <a:latin typeface="ITC Avant Garde Gothic"/>
              </a:rPr>
              <a:t>0.05</a:t>
            </a:r>
          </a:p>
        </p:txBody>
      </p:sp>
      <p:sp>
        <p:nvSpPr>
          <p:cNvPr id="10" name="Rounded Rectangle 9"/>
          <p:cNvSpPr/>
          <p:nvPr/>
        </p:nvSpPr>
        <p:spPr>
          <a:xfrm>
            <a:off x="640080" y="3541014"/>
            <a:ext cx="10911535" cy="83693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815334"/>
            <a:ext cx="10454335" cy="198120"/>
          </a:xfrm>
          <a:prstGeom prst="rect">
            <a:avLst/>
          </a:prstGeom>
          <a:noFill/>
        </p:spPr>
        <p:txBody>
          <a:bodyPr wrap="square" anchor="t" lIns="0" rIns="0" tIns="0" bIns="0">
            <a:spAutoFit/>
          </a:bodyPr>
          <a:lstStyle/>
          <a:p>
            <a:pPr algn="l"/>
            <a:r>
              <a:rPr sz="1300" b="1">
                <a:solidFill>
                  <a:srgbClr val="FF983D"/>
                </a:solidFill>
                <a:latin typeface="ITC Avant Garde Gothic"/>
              </a:rPr>
              <a:t>Ajuste</a:t>
            </a:r>
          </a:p>
        </p:txBody>
      </p:sp>
      <p:sp>
        <p:nvSpPr>
          <p:cNvPr id="12" name="TextBox 11"/>
          <p:cNvSpPr txBox="1"/>
          <p:nvPr/>
        </p:nvSpPr>
        <p:spPr>
          <a:xfrm>
            <a:off x="868680" y="4104894"/>
            <a:ext cx="10454335" cy="181609"/>
          </a:xfrm>
          <a:prstGeom prst="rect">
            <a:avLst/>
          </a:prstGeom>
          <a:noFill/>
        </p:spPr>
        <p:txBody>
          <a:bodyPr wrap="square" anchor="t" lIns="0" rIns="0" tIns="0" bIns="0">
            <a:spAutoFit/>
          </a:bodyPr>
          <a:lstStyle/>
          <a:p>
            <a:pPr algn="l"/>
            <a:r>
              <a:rPr sz="1100" b="0">
                <a:solidFill>
                  <a:srgbClr val="C7C2EF"/>
                </a:solidFill>
                <a:latin typeface="ITC Avant Garde Gothic"/>
              </a:rPr>
              <a:t>−(−36) × 0.05 = +1.8</a:t>
            </a:r>
          </a:p>
        </p:txBody>
      </p:sp>
      <p:sp>
        <p:nvSpPr>
          <p:cNvPr id="13" name="Rounded Rectangle 12"/>
          <p:cNvSpPr/>
          <p:nvPr/>
        </p:nvSpPr>
        <p:spPr>
          <a:xfrm>
            <a:off x="640080" y="4560824"/>
            <a:ext cx="10911535" cy="83693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835144"/>
            <a:ext cx="10454335" cy="198120"/>
          </a:xfrm>
          <a:prstGeom prst="rect">
            <a:avLst/>
          </a:prstGeom>
          <a:noFill/>
        </p:spPr>
        <p:txBody>
          <a:bodyPr wrap="square" anchor="t" lIns="0" rIns="0" tIns="0" bIns="0">
            <a:spAutoFit/>
          </a:bodyPr>
          <a:lstStyle/>
          <a:p>
            <a:pPr algn="l"/>
            <a:r>
              <a:rPr sz="1300" b="1">
                <a:solidFill>
                  <a:srgbClr val="FF983D"/>
                </a:solidFill>
                <a:latin typeface="ITC Avant Garde Gothic"/>
              </a:rPr>
              <a:t>Peso nuevo</a:t>
            </a:r>
          </a:p>
        </p:txBody>
      </p:sp>
      <p:sp>
        <p:nvSpPr>
          <p:cNvPr id="15" name="TextBox 14"/>
          <p:cNvSpPr txBox="1"/>
          <p:nvPr/>
        </p:nvSpPr>
        <p:spPr>
          <a:xfrm>
            <a:off x="868680" y="5124704"/>
            <a:ext cx="10454335" cy="181609"/>
          </a:xfrm>
          <a:prstGeom prst="rect">
            <a:avLst/>
          </a:prstGeom>
          <a:noFill/>
        </p:spPr>
        <p:txBody>
          <a:bodyPr wrap="square" anchor="t" lIns="0" rIns="0" tIns="0" bIns="0">
            <a:spAutoFit/>
          </a:bodyPr>
          <a:lstStyle/>
          <a:p>
            <a:pPr algn="l"/>
            <a:r>
              <a:rPr sz="1100" b="0">
                <a:solidFill>
                  <a:srgbClr val="C7C2EF"/>
                </a:solidFill>
                <a:latin typeface="ITC Avant Garde Gothic"/>
              </a:rPr>
              <a:t>1 + 1.8 = 2.8</a:t>
            </a:r>
          </a:p>
        </p:txBody>
      </p:sp>
      <p:sp>
        <p:nvSpPr>
          <p:cNvPr id="16" name="TextBox 15"/>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Una tasa mal elegida: 0.5</a:t>
            </a:r>
          </a:p>
        </p:txBody>
      </p:sp>
      <p:sp>
        <p:nvSpPr>
          <p:cNvPr id="3" name="TextBox 2"/>
          <p:cNvSpPr txBox="1"/>
          <p:nvPr/>
        </p:nvSpPr>
        <p:spPr>
          <a:xfrm>
            <a:off x="640080" y="960120"/>
            <a:ext cx="10911535" cy="546227"/>
          </a:xfrm>
          <a:prstGeom prst="rect">
            <a:avLst/>
          </a:prstGeom>
          <a:noFill/>
        </p:spPr>
        <p:txBody>
          <a:bodyPr wrap="square" anchor="t" lIns="0" rIns="0" tIns="0" bIns="0">
            <a:spAutoFit/>
          </a:bodyPr>
          <a:lstStyle/>
          <a:p>
            <a:pPr algn="l"/>
            <a:r>
              <a:rPr sz="3700" b="1">
                <a:solidFill>
                  <a:srgbClr val="C7C2EF"/>
                </a:solidFill>
                <a:latin typeface="ITC Avant Garde Gothic"/>
              </a:rPr>
              <a:t>Diez veces mayor, y el peso se dispara</a:t>
            </a:r>
          </a:p>
        </p:txBody>
      </p:sp>
      <p:sp>
        <p:nvSpPr>
          <p:cNvPr id="4" name="TextBox 3"/>
          <p:cNvSpPr txBox="1"/>
          <p:nvPr/>
        </p:nvSpPr>
        <p:spPr>
          <a:xfrm>
            <a:off x="640080" y="1872106"/>
            <a:ext cx="10911535" cy="395097"/>
          </a:xfrm>
          <a:prstGeom prst="rect">
            <a:avLst/>
          </a:prstGeom>
          <a:noFill/>
        </p:spPr>
        <p:txBody>
          <a:bodyPr wrap="square" anchor="t" lIns="0" rIns="0" tIns="0" bIns="0">
            <a:spAutoFit/>
          </a:bodyPr>
          <a:lstStyle/>
          <a:p>
            <a:pPr algn="l"/>
            <a:r>
              <a:rPr sz="2600" b="1">
                <a:solidFill>
                  <a:srgbClr val="FF983D"/>
                </a:solidFill>
                <a:latin typeface="ITC Avant Garde Gothic"/>
              </a:rPr>
              <a:t>Primer ciclo</a:t>
            </a:r>
          </a:p>
        </p:txBody>
      </p:sp>
      <p:sp>
        <p:nvSpPr>
          <p:cNvPr id="5" name="TextBox 4"/>
          <p:cNvSpPr txBox="1"/>
          <p:nvPr/>
        </p:nvSpPr>
        <p:spPr>
          <a:xfrm>
            <a:off x="640080" y="2450084"/>
            <a:ext cx="10911535" cy="632155"/>
          </a:xfrm>
          <a:prstGeom prst="rect">
            <a:avLst/>
          </a:prstGeom>
          <a:noFill/>
        </p:spPr>
        <p:txBody>
          <a:bodyPr wrap="square" anchor="t" lIns="0" rIns="0" tIns="0" bIns="0">
            <a:spAutoFit/>
          </a:bodyPr>
          <a:lstStyle/>
          <a:p>
            <a:pPr algn="l"/>
            <a:r>
              <a:rPr sz="2000" b="0">
                <a:solidFill>
                  <a:srgbClr val="C7C2EF"/>
                </a:solidFill>
                <a:latin typeface="ITC Avant Garde Gothic"/>
              </a:rPr>
              <a:t>El peso pasa de 1 a 19. La predicción es 57 cuando la respuesta es 9: el error ahora es −48, mayor que el inicial.</a:t>
            </a:r>
          </a:p>
        </p:txBody>
      </p:sp>
      <p:sp>
        <p:nvSpPr>
          <p:cNvPr id="6" name="TextBox 5"/>
          <p:cNvSpPr txBox="1"/>
          <p:nvPr/>
        </p:nvSpPr>
        <p:spPr>
          <a:xfrm>
            <a:off x="640080" y="3310839"/>
            <a:ext cx="10911535" cy="395097"/>
          </a:xfrm>
          <a:prstGeom prst="rect">
            <a:avLst/>
          </a:prstGeom>
          <a:noFill/>
        </p:spPr>
        <p:txBody>
          <a:bodyPr wrap="square" anchor="t" lIns="0" rIns="0" tIns="0" bIns="0">
            <a:spAutoFit/>
          </a:bodyPr>
          <a:lstStyle/>
          <a:p>
            <a:pPr algn="l"/>
            <a:r>
              <a:rPr sz="2600" b="1">
                <a:solidFill>
                  <a:srgbClr val="FF983D"/>
                </a:solidFill>
                <a:latin typeface="ITC Avant Garde Gothic"/>
              </a:rPr>
              <a:t>Los siguientes</a:t>
            </a:r>
          </a:p>
        </p:txBody>
      </p:sp>
      <p:sp>
        <p:nvSpPr>
          <p:cNvPr id="7" name="TextBox 6"/>
          <p:cNvSpPr txBox="1"/>
          <p:nvPr/>
        </p:nvSpPr>
        <p:spPr>
          <a:xfrm>
            <a:off x="640080" y="3888816"/>
            <a:ext cx="10911535" cy="632155"/>
          </a:xfrm>
          <a:prstGeom prst="rect">
            <a:avLst/>
          </a:prstGeom>
          <a:noFill/>
        </p:spPr>
        <p:txBody>
          <a:bodyPr wrap="square" anchor="t" lIns="0" rIns="0" tIns="0" bIns="0">
            <a:spAutoFit/>
          </a:bodyPr>
          <a:lstStyle/>
          <a:p>
            <a:pPr algn="l"/>
            <a:r>
              <a:rPr sz="2000" b="0">
                <a:solidFill>
                  <a:srgbClr val="C7C2EF"/>
                </a:solidFill>
                <a:latin typeface="ITC Avant Garde Gothic"/>
              </a:rPr>
              <a:t>El ajuste sería todavía más brusco y en dirección contraria: el peso oscilaría con amplitud creciente. La pérdida explota.</a:t>
            </a:r>
          </a:p>
        </p:txBody>
      </p:sp>
      <p:sp>
        <p:nvSpPr>
          <p:cNvPr id="8" name="TextBox 7"/>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Un entrenamiento, de lado</a:t>
            </a:r>
          </a:p>
        </p:txBody>
      </p:sp>
      <p:sp>
        <p:nvSpPr>
          <p:cNvPr id="3" name="TextBox 2"/>
          <p:cNvSpPr txBox="1"/>
          <p:nvPr/>
        </p:nvSpPr>
        <p:spPr>
          <a:xfrm>
            <a:off x="640080" y="960120"/>
            <a:ext cx="10911535" cy="546227"/>
          </a:xfrm>
          <a:prstGeom prst="rect">
            <a:avLst/>
          </a:prstGeom>
          <a:noFill/>
        </p:spPr>
        <p:txBody>
          <a:bodyPr wrap="square" anchor="t" lIns="0" rIns="0" tIns="0" bIns="0">
            <a:spAutoFit/>
          </a:bodyPr>
          <a:lstStyle/>
          <a:p>
            <a:pPr algn="l"/>
            <a:r>
              <a:rPr sz="3700" b="1">
                <a:solidFill>
                  <a:srgbClr val="C7C2EF"/>
                </a:solidFill>
                <a:latin typeface="ITC Avant Garde Gothic"/>
              </a:rPr>
              <a:t>La pérdida baja y la validación sube</a:t>
            </a:r>
          </a:p>
        </p:txBody>
      </p:sp>
      <p:sp>
        <p:nvSpPr>
          <p:cNvPr id="4" name="Rounded Rectangle 3"/>
          <p:cNvSpPr/>
          <p:nvPr/>
        </p:nvSpPr>
        <p:spPr>
          <a:xfrm>
            <a:off x="640080" y="1872106"/>
            <a:ext cx="2522143" cy="200088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03669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183002"/>
            <a:ext cx="2064943" cy="1635124"/>
          </a:xfrm>
          <a:prstGeom prst="rect">
            <a:avLst/>
          </a:prstGeom>
          <a:noFill/>
        </p:spPr>
        <p:txBody>
          <a:bodyPr wrap="square" anchor="t" lIns="0" rIns="0" tIns="0" bIns="0">
            <a:spAutoFit/>
          </a:bodyPr>
          <a:lstStyle/>
          <a:p>
            <a:pPr algn="l"/>
            <a:r>
              <a:rPr sz="1900" b="0">
                <a:solidFill>
                  <a:srgbClr val="C7C2EF"/>
                </a:solidFill>
                <a:latin typeface="ITC Avant Garde Gothic"/>
              </a:rPr>
              <a:t>Pérdida de entrenamiento</a:t>
            </a:r>
          </a:p>
        </p:txBody>
      </p:sp>
      <p:sp>
        <p:nvSpPr>
          <p:cNvPr id="7" name="Rounded Rectangle 6"/>
          <p:cNvSpPr/>
          <p:nvPr/>
        </p:nvSpPr>
        <p:spPr>
          <a:xfrm>
            <a:off x="3436543" y="1872106"/>
            <a:ext cx="2522143" cy="200088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65143" y="203669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65143" y="2183002"/>
            <a:ext cx="2064943" cy="1635124"/>
          </a:xfrm>
          <a:prstGeom prst="rect">
            <a:avLst/>
          </a:prstGeom>
          <a:noFill/>
        </p:spPr>
        <p:txBody>
          <a:bodyPr wrap="square" anchor="t" lIns="0" rIns="0" tIns="0" bIns="0">
            <a:spAutoFit/>
          </a:bodyPr>
          <a:lstStyle/>
          <a:p>
            <a:pPr algn="l"/>
            <a:r>
              <a:rPr sz="1900" b="0">
                <a:solidFill>
                  <a:srgbClr val="C7C2EF"/>
                </a:solidFill>
                <a:latin typeface="ITC Avant Garde Gothic"/>
              </a:rPr>
              <a:t>Baja rápido y luego se aplana. Esquema, no datos reales.</a:t>
            </a:r>
          </a:p>
        </p:txBody>
      </p:sp>
      <p:sp>
        <p:nvSpPr>
          <p:cNvPr id="10" name="Rounded Rectangle 9"/>
          <p:cNvSpPr/>
          <p:nvPr/>
        </p:nvSpPr>
        <p:spPr>
          <a:xfrm>
            <a:off x="6233007" y="1872106"/>
            <a:ext cx="2522143" cy="200088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61607" y="203669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1607" y="2183002"/>
            <a:ext cx="2064943" cy="1635124"/>
          </a:xfrm>
          <a:prstGeom prst="rect">
            <a:avLst/>
          </a:prstGeom>
          <a:noFill/>
        </p:spPr>
        <p:txBody>
          <a:bodyPr wrap="square" anchor="t" lIns="0" rIns="0" tIns="0" bIns="0">
            <a:spAutoFit/>
          </a:bodyPr>
          <a:lstStyle/>
          <a:p>
            <a:pPr algn="l"/>
            <a:r>
              <a:rPr sz="1900" b="0">
                <a:solidFill>
                  <a:srgbClr val="C7C2EF"/>
                </a:solidFill>
                <a:latin typeface="ITC Avant Garde Gothic"/>
              </a:rPr>
              <a:t>Calidad en validación (AP50)</a:t>
            </a:r>
          </a:p>
        </p:txBody>
      </p:sp>
      <p:sp>
        <p:nvSpPr>
          <p:cNvPr id="13" name="Rounded Rectangle 12"/>
          <p:cNvSpPr/>
          <p:nvPr/>
        </p:nvSpPr>
        <p:spPr>
          <a:xfrm>
            <a:off x="9029471" y="1872106"/>
            <a:ext cx="2522143" cy="2000884"/>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258071" y="203669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58071" y="2183002"/>
            <a:ext cx="2064943" cy="1635124"/>
          </a:xfrm>
          <a:prstGeom prst="rect">
            <a:avLst/>
          </a:prstGeom>
          <a:noFill/>
        </p:spPr>
        <p:txBody>
          <a:bodyPr wrap="square" anchor="t" lIns="0" rIns="0" tIns="0" bIns="0">
            <a:spAutoFit/>
          </a:bodyPr>
          <a:lstStyle/>
          <a:p>
            <a:pPr algn="l"/>
            <a:r>
              <a:rPr sz="1900" b="0">
                <a:solidFill>
                  <a:srgbClr val="C7C2EF"/>
                </a:solidFill>
                <a:latin typeface="ITC Avant Garde Gothic"/>
              </a:rPr>
              <a:t>Sube y se estabiliza. Se guarda la copia con el mejor resultado.</a:t>
            </a:r>
          </a:p>
        </p:txBody>
      </p:sp>
      <p:sp>
        <p:nvSpPr>
          <p:cNvPr id="16" name="TextBox 15"/>
          <p:cNvSpPr txBox="1"/>
          <p:nvPr/>
        </p:nvSpPr>
        <p:spPr>
          <a:xfrm>
            <a:off x="640080" y="4055871"/>
            <a:ext cx="10911535" cy="632155"/>
          </a:xfrm>
          <a:prstGeom prst="rect">
            <a:avLst/>
          </a:prstGeom>
          <a:noFill/>
        </p:spPr>
        <p:txBody>
          <a:bodyPr wrap="square" anchor="t" lIns="0" rIns="0" tIns="0" bIns="0">
            <a:spAutoFit/>
          </a:bodyPr>
          <a:lstStyle/>
          <a:p>
            <a:pPr algn="l"/>
            <a:r>
              <a:rPr sz="2000" b="0">
                <a:solidFill>
                  <a:srgbClr val="C7C2EF"/>
                </a:solidFill>
                <a:latin typeface="ITC Avant Garde Gothic"/>
              </a:rPr>
              <a:t>Si la pérdida de entrenamiento sigue bajando pero la validación deja de mejorar, es sobreajuste: el modelo ya memoriza.</a:t>
            </a:r>
          </a:p>
        </p:txBody>
      </p:sp>
      <p:sp>
        <p:nvSpPr>
          <p:cNvPr id="17" name="TextBox 16"/>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La calidad en validación</a:t>
            </a:r>
          </a:p>
        </p:txBody>
      </p:sp>
      <p:sp>
        <p:nvSpPr>
          <p:cNvPr id="3" name="TextBox 2"/>
          <p:cNvSpPr txBox="1"/>
          <p:nvPr/>
        </p:nvSpPr>
        <p:spPr>
          <a:xfrm>
            <a:off x="640080" y="960120"/>
            <a:ext cx="10911535" cy="642620"/>
          </a:xfrm>
          <a:prstGeom prst="rect">
            <a:avLst/>
          </a:prstGeom>
          <a:noFill/>
        </p:spPr>
        <p:txBody>
          <a:bodyPr wrap="square" anchor="t" lIns="0" rIns="0" tIns="0" bIns="0">
            <a:spAutoFit/>
          </a:bodyPr>
          <a:lstStyle/>
          <a:p>
            <a:pPr algn="l"/>
            <a:r>
              <a:rPr sz="4400" b="1">
                <a:solidFill>
                  <a:srgbClr val="C7C2EF"/>
                </a:solidFill>
                <a:latin typeface="ITC Avant Garde Gothic"/>
              </a:rPr>
              <a:t>Es el AP50 del cuaderno</a:t>
            </a:r>
          </a:p>
        </p:txBody>
      </p:sp>
      <p:sp>
        <p:nvSpPr>
          <p:cNvPr id="4" name="Rounded Rectangle 3"/>
          <p:cNvSpPr/>
          <p:nvPr/>
        </p:nvSpPr>
        <p:spPr>
          <a:xfrm>
            <a:off x="640080" y="1968500"/>
            <a:ext cx="10911535" cy="130810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242819"/>
            <a:ext cx="10454335" cy="396240"/>
          </a:xfrm>
          <a:prstGeom prst="rect">
            <a:avLst/>
          </a:prstGeom>
          <a:noFill/>
        </p:spPr>
        <p:txBody>
          <a:bodyPr wrap="square" anchor="t" lIns="0" rIns="0" tIns="0" bIns="0">
            <a:spAutoFit/>
          </a:bodyPr>
          <a:lstStyle/>
          <a:p>
            <a:pPr algn="l"/>
            <a:r>
              <a:rPr sz="2600" b="1">
                <a:solidFill>
                  <a:srgbClr val="FF983D"/>
                </a:solidFill>
                <a:latin typeface="ITC Avant Garde Gothic"/>
              </a:rPr>
              <a:t>Qué es</a:t>
            </a:r>
          </a:p>
        </p:txBody>
      </p:sp>
      <p:sp>
        <p:nvSpPr>
          <p:cNvPr id="6" name="TextBox 5"/>
          <p:cNvSpPr txBox="1"/>
          <p:nvPr/>
        </p:nvSpPr>
        <p:spPr>
          <a:xfrm>
            <a:off x="868680" y="2730500"/>
            <a:ext cx="10454335" cy="454660"/>
          </a:xfrm>
          <a:prstGeom prst="rect">
            <a:avLst/>
          </a:prstGeom>
          <a:noFill/>
        </p:spPr>
        <p:txBody>
          <a:bodyPr wrap="square" anchor="t" lIns="0" rIns="0" tIns="0" bIns="0">
            <a:spAutoFit/>
          </a:bodyPr>
          <a:lstStyle/>
          <a:p>
            <a:pPr algn="l"/>
            <a:r>
              <a:rPr sz="2200" b="0">
                <a:solidFill>
                  <a:srgbClr val="C7C2EF"/>
                </a:solidFill>
                <a:latin typeface="ITC Avant Garde Gothic"/>
              </a:rPr>
              <a:t>Una medida de cero a uno: mientras más alto, mejor.</a:t>
            </a:r>
          </a:p>
        </p:txBody>
      </p:sp>
      <p:sp>
        <p:nvSpPr>
          <p:cNvPr id="7" name="TextBox 6"/>
          <p:cNvSpPr txBox="1"/>
          <p:nvPr/>
        </p:nvSpPr>
        <p:spPr>
          <a:xfrm>
            <a:off x="640080" y="3459480"/>
            <a:ext cx="10911535" cy="464820"/>
          </a:xfrm>
          <a:prstGeom prst="rect">
            <a:avLst/>
          </a:prstGeom>
          <a:noFill/>
        </p:spPr>
        <p:txBody>
          <a:bodyPr wrap="square" anchor="t" lIns="0" rIns="0" tIns="0" bIns="0">
            <a:spAutoFit/>
          </a:bodyPr>
          <a:lstStyle/>
          <a:p>
            <a:pPr algn="l"/>
            <a:r>
              <a:rPr sz="3000" b="1">
                <a:solidFill>
                  <a:srgbClr val="FF983D"/>
                </a:solidFill>
                <a:latin typeface="ITC Avant Garde Gothic"/>
              </a:rPr>
              <a:t>Por qué vale</a:t>
            </a:r>
          </a:p>
        </p:txBody>
      </p:sp>
      <p:sp>
        <p:nvSpPr>
          <p:cNvPr id="8" name="TextBox 7"/>
          <p:cNvSpPr txBox="1"/>
          <p:nvPr/>
        </p:nvSpPr>
        <p:spPr>
          <a:xfrm>
            <a:off x="640080" y="4107179"/>
            <a:ext cx="10911535" cy="743712"/>
          </a:xfrm>
          <a:prstGeom prst="rect">
            <a:avLst/>
          </a:prstGeom>
          <a:noFill/>
        </p:spPr>
        <p:txBody>
          <a:bodyPr wrap="square" anchor="t" lIns="0" rIns="0" tIns="0" bIns="0">
            <a:spAutoFit/>
          </a:bodyPr>
          <a:lstStyle/>
          <a:p>
            <a:pPr algn="l"/>
            <a:r>
              <a:rPr sz="2400" b="0">
                <a:solidFill>
                  <a:srgbClr val="C7C2EF"/>
                </a:solidFill>
                <a:latin typeface="ITC Avant Garde Gothic"/>
              </a:rPr>
              <a:t>Nadie la entrena: mide con honestidad lo que el modelo sabría hacer con imágenes que no usó para aprender.</a:t>
            </a:r>
          </a:p>
        </p:txBody>
      </p:sp>
      <p:sp>
        <p:nvSpPr>
          <p:cNvPr id="9" name="TextBox 8"/>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Un matiz de nuestro caso</a:t>
            </a:r>
          </a:p>
        </p:txBody>
      </p:sp>
      <p:sp>
        <p:nvSpPr>
          <p:cNvPr id="3" name="TextBox 2"/>
          <p:cNvSpPr txBox="1"/>
          <p:nvPr/>
        </p:nvSpPr>
        <p:spPr>
          <a:xfrm>
            <a:off x="640080" y="960120"/>
            <a:ext cx="10911535" cy="1092454"/>
          </a:xfrm>
          <a:prstGeom prst="rect">
            <a:avLst/>
          </a:prstGeom>
          <a:noFill/>
        </p:spPr>
        <p:txBody>
          <a:bodyPr wrap="square" anchor="t" lIns="0" rIns="0" tIns="0" bIns="0">
            <a:spAutoFit/>
          </a:bodyPr>
          <a:lstStyle/>
          <a:p>
            <a:pPr algn="l"/>
            <a:r>
              <a:rPr sz="3700" b="1">
                <a:solidFill>
                  <a:srgbClr val="C7C2EF"/>
                </a:solidFill>
                <a:latin typeface="ITC Avant Garde Gothic"/>
              </a:rPr>
              <a:t>Con pocas imágenes, la validación también es pequeña</a:t>
            </a:r>
          </a:p>
        </p:txBody>
      </p:sp>
      <p:sp>
        <p:nvSpPr>
          <p:cNvPr id="4" name="TextBox 3"/>
          <p:cNvSpPr txBox="1"/>
          <p:nvPr/>
        </p:nvSpPr>
        <p:spPr>
          <a:xfrm>
            <a:off x="640080" y="2418334"/>
            <a:ext cx="10911535" cy="395097"/>
          </a:xfrm>
          <a:prstGeom prst="rect">
            <a:avLst/>
          </a:prstGeom>
          <a:noFill/>
        </p:spPr>
        <p:txBody>
          <a:bodyPr wrap="square" anchor="t" lIns="0" rIns="0" tIns="0" bIns="0">
            <a:spAutoFit/>
          </a:bodyPr>
          <a:lstStyle/>
          <a:p>
            <a:pPr algn="l"/>
            <a:r>
              <a:rPr sz="2600" b="1">
                <a:solidFill>
                  <a:srgbClr val="FF983D"/>
                </a:solidFill>
                <a:latin typeface="ITC Avant Garde Gothic"/>
              </a:rPr>
              <a:t>El problema</a:t>
            </a:r>
          </a:p>
        </p:txBody>
      </p:sp>
      <p:sp>
        <p:nvSpPr>
          <p:cNvPr id="5" name="TextBox 4"/>
          <p:cNvSpPr txBox="1"/>
          <p:nvPr/>
        </p:nvSpPr>
        <p:spPr>
          <a:xfrm>
            <a:off x="640080" y="2996311"/>
            <a:ext cx="10911535" cy="632155"/>
          </a:xfrm>
          <a:prstGeom prst="rect">
            <a:avLst/>
          </a:prstGeom>
          <a:noFill/>
        </p:spPr>
        <p:txBody>
          <a:bodyPr wrap="square" anchor="t" lIns="0" rIns="0" tIns="0" bIns="0">
            <a:spAutoFit/>
          </a:bodyPr>
          <a:lstStyle/>
          <a:p>
            <a:pPr algn="l"/>
            <a:r>
              <a:rPr sz="2000" b="0">
                <a:solidFill>
                  <a:srgbClr val="C7C2EF"/>
                </a:solidFill>
                <a:latin typeface="ITC Avant Garde Gothic"/>
              </a:rPr>
              <a:t>Una medición hecha con unos pocos espermatozoides es inestable: puede subir o bajar mucho entre épocas por puro azar.</a:t>
            </a:r>
          </a:p>
        </p:txBody>
      </p:sp>
      <p:sp>
        <p:nvSpPr>
          <p:cNvPr id="6" name="TextBox 5"/>
          <p:cNvSpPr txBox="1"/>
          <p:nvPr/>
        </p:nvSpPr>
        <p:spPr>
          <a:xfrm>
            <a:off x="640080" y="3857066"/>
            <a:ext cx="10911535" cy="395097"/>
          </a:xfrm>
          <a:prstGeom prst="rect">
            <a:avLst/>
          </a:prstGeom>
          <a:noFill/>
        </p:spPr>
        <p:txBody>
          <a:bodyPr wrap="square" anchor="t" lIns="0" rIns="0" tIns="0" bIns="0">
            <a:spAutoFit/>
          </a:bodyPr>
          <a:lstStyle/>
          <a:p>
            <a:pPr algn="l"/>
            <a:r>
              <a:rPr sz="2600" b="1">
                <a:solidFill>
                  <a:srgbClr val="FF983D"/>
                </a:solidFill>
                <a:latin typeface="ITC Avant Garde Gothic"/>
              </a:rPr>
              <a:t>La precaución del cuaderno</a:t>
            </a:r>
          </a:p>
        </p:txBody>
      </p:sp>
      <p:sp>
        <p:nvSpPr>
          <p:cNvPr id="7" name="TextBox 6"/>
          <p:cNvSpPr txBox="1"/>
          <p:nvPr/>
        </p:nvSpPr>
        <p:spPr>
          <a:xfrm>
            <a:off x="640080" y="4435043"/>
            <a:ext cx="10911535" cy="632155"/>
          </a:xfrm>
          <a:prstGeom prst="rect">
            <a:avLst/>
          </a:prstGeom>
          <a:noFill/>
        </p:spPr>
        <p:txBody>
          <a:bodyPr wrap="square" anchor="t" lIns="0" rIns="0" tIns="0" bIns="0">
            <a:spAutoFit/>
          </a:bodyPr>
          <a:lstStyle/>
          <a:p>
            <a:pPr algn="l"/>
            <a:r>
              <a:rPr sz="2000" b="0">
                <a:solidFill>
                  <a:srgbClr val="C7C2EF"/>
                </a:solidFill>
                <a:latin typeface="ITC Avant Garde Gothic"/>
              </a:rPr>
              <a:t>Si la validación tiene menos de diez espermatozoides, no elige el mejor punto con ella y se queda con la última época.</a:t>
            </a:r>
          </a:p>
        </p:txBody>
      </p:sp>
      <p:sp>
        <p:nvSpPr>
          <p:cNvPr id="8" name="TextBox 7"/>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La semilla aleatoria</a:t>
            </a:r>
          </a:p>
        </p:txBody>
      </p:sp>
      <p:sp>
        <p:nvSpPr>
          <p:cNvPr id="3" name="TextBox 2"/>
          <p:cNvSpPr txBox="1"/>
          <p:nvPr/>
        </p:nvSpPr>
        <p:spPr>
          <a:xfrm>
            <a:off x="640080" y="960120"/>
            <a:ext cx="10911535" cy="1002487"/>
          </a:xfrm>
          <a:prstGeom prst="rect">
            <a:avLst/>
          </a:prstGeom>
          <a:noFill/>
        </p:spPr>
        <p:txBody>
          <a:bodyPr wrap="square" anchor="t" lIns="0" rIns="0" tIns="0" bIns="0">
            <a:spAutoFit/>
          </a:bodyPr>
          <a:lstStyle/>
          <a:p>
            <a:pPr algn="l"/>
            <a:r>
              <a:rPr sz="3400" b="1">
                <a:solidFill>
                  <a:srgbClr val="C7C2EF"/>
                </a:solidFill>
                <a:latin typeface="ITC Avant Garde Gothic"/>
              </a:rPr>
              <a:t>Para que el entrenamiento sea reproducible</a:t>
            </a:r>
          </a:p>
        </p:txBody>
      </p:sp>
      <p:sp>
        <p:nvSpPr>
          <p:cNvPr id="4" name="TextBox 3"/>
          <p:cNvSpPr txBox="1"/>
          <p:nvPr/>
        </p:nvSpPr>
        <p:spPr>
          <a:xfrm>
            <a:off x="640080" y="2328367"/>
            <a:ext cx="10911535" cy="362559"/>
          </a:xfrm>
          <a:prstGeom prst="rect">
            <a:avLst/>
          </a:prstGeom>
          <a:noFill/>
        </p:spPr>
        <p:txBody>
          <a:bodyPr wrap="square" anchor="t" lIns="0" rIns="0" tIns="0" bIns="0">
            <a:spAutoFit/>
          </a:bodyPr>
          <a:lstStyle/>
          <a:p>
            <a:pPr algn="l"/>
            <a:r>
              <a:rPr sz="2300" b="1">
                <a:solidFill>
                  <a:srgbClr val="FF983D"/>
                </a:solidFill>
                <a:latin typeface="ITC Avant Garde Gothic"/>
              </a:rPr>
              <a:t>Qué es aleatorio</a:t>
            </a:r>
          </a:p>
        </p:txBody>
      </p:sp>
      <p:sp>
        <p:nvSpPr>
          <p:cNvPr id="5" name="TextBox 4"/>
          <p:cNvSpPr txBox="1"/>
          <p:nvPr/>
        </p:nvSpPr>
        <p:spPr>
          <a:xfrm>
            <a:off x="640080" y="2873806"/>
            <a:ext cx="10911535" cy="580095"/>
          </a:xfrm>
          <a:prstGeom prst="rect">
            <a:avLst/>
          </a:prstGeom>
          <a:noFill/>
        </p:spPr>
        <p:txBody>
          <a:bodyPr wrap="square" anchor="t" lIns="0" rIns="0" tIns="0" bIns="0">
            <a:spAutoFit/>
          </a:bodyPr>
          <a:lstStyle/>
          <a:p>
            <a:pPr algn="l"/>
            <a:r>
              <a:rPr sz="1900" b="0">
                <a:solidFill>
                  <a:srgbClr val="C7C2EF"/>
                </a:solidFill>
                <a:latin typeface="ITC Avant Garde Gothic"/>
              </a:rPr>
              <a:t>Los recortes que se toman, el orden de los ejemplos y los valores iniciales de las capas nuevas.</a:t>
            </a:r>
          </a:p>
        </p:txBody>
      </p:sp>
      <p:sp>
        <p:nvSpPr>
          <p:cNvPr id="6" name="TextBox 5"/>
          <p:cNvSpPr txBox="1"/>
          <p:nvPr/>
        </p:nvSpPr>
        <p:spPr>
          <a:xfrm>
            <a:off x="640080" y="3682502"/>
            <a:ext cx="10911535" cy="362559"/>
          </a:xfrm>
          <a:prstGeom prst="rect">
            <a:avLst/>
          </a:prstGeom>
          <a:noFill/>
        </p:spPr>
        <p:txBody>
          <a:bodyPr wrap="square" anchor="t" lIns="0" rIns="0" tIns="0" bIns="0">
            <a:spAutoFit/>
          </a:bodyPr>
          <a:lstStyle/>
          <a:p>
            <a:pPr algn="l"/>
            <a:r>
              <a:rPr sz="2300" b="1">
                <a:solidFill>
                  <a:srgbClr val="FF983D"/>
                </a:solidFill>
                <a:latin typeface="ITC Avant Garde Gothic"/>
              </a:rPr>
              <a:t>Con una semilla fija</a:t>
            </a:r>
          </a:p>
        </p:txBody>
      </p:sp>
      <p:sp>
        <p:nvSpPr>
          <p:cNvPr id="7" name="TextBox 6"/>
          <p:cNvSpPr txBox="1"/>
          <p:nvPr/>
        </p:nvSpPr>
        <p:spPr>
          <a:xfrm>
            <a:off x="640080" y="4227941"/>
            <a:ext cx="10911535" cy="580095"/>
          </a:xfrm>
          <a:prstGeom prst="rect">
            <a:avLst/>
          </a:prstGeom>
          <a:noFill/>
        </p:spPr>
        <p:txBody>
          <a:bodyPr wrap="square" anchor="t" lIns="0" rIns="0" tIns="0" bIns="0">
            <a:spAutoFit/>
          </a:bodyPr>
          <a:lstStyle/>
          <a:p>
            <a:pPr algn="l"/>
            <a:r>
              <a:rPr sz="1900" b="0">
                <a:solidFill>
                  <a:srgbClr val="C7C2EF"/>
                </a:solidFill>
                <a:latin typeface="ITC Avant Garde Gothic"/>
              </a:rPr>
              <a:t>El generador produce siempre la misma secuencia: mismos datos y misma configuración dan el mismo modelo. La semilla se guarda en el archivo del modelo.</a:t>
            </a:r>
          </a:p>
        </p:txBody>
      </p:sp>
      <p:sp>
        <p:nvSpPr>
          <p:cNvPr id="8" name="TextBox 7"/>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Qué es una imagen para la computadora</a:t>
            </a:r>
          </a:p>
        </p:txBody>
      </p:sp>
      <p:sp>
        <p:nvSpPr>
          <p:cNvPr id="3" name="TextBox 2"/>
          <p:cNvSpPr txBox="1"/>
          <p:nvPr/>
        </p:nvSpPr>
        <p:spPr>
          <a:xfrm>
            <a:off x="640080" y="960120"/>
            <a:ext cx="10911535" cy="449833"/>
          </a:xfrm>
          <a:prstGeom prst="rect">
            <a:avLst/>
          </a:prstGeom>
          <a:noFill/>
        </p:spPr>
        <p:txBody>
          <a:bodyPr wrap="square" anchor="t" lIns="0" rIns="0" tIns="0" bIns="0">
            <a:spAutoFit/>
          </a:bodyPr>
          <a:lstStyle/>
          <a:p>
            <a:pPr algn="l"/>
            <a:r>
              <a:rPr sz="3100" b="1">
                <a:solidFill>
                  <a:srgbClr val="C7C2EF"/>
                </a:solidFill>
                <a:latin typeface="ITC Avant Garde Gothic"/>
              </a:rPr>
              <a:t>Una tabla de números</a:t>
            </a:r>
          </a:p>
        </p:txBody>
      </p:sp>
      <p:sp>
        <p:nvSpPr>
          <p:cNvPr id="4" name="Rounded Rectangle 3"/>
          <p:cNvSpPr/>
          <p:nvPr/>
        </p:nvSpPr>
        <p:spPr>
          <a:xfrm>
            <a:off x="640080" y="1775714"/>
            <a:ext cx="1243926"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86610"/>
            <a:ext cx="786726" cy="199897"/>
          </a:xfrm>
          <a:prstGeom prst="rect">
            <a:avLst/>
          </a:prstGeom>
          <a:noFill/>
        </p:spPr>
        <p:txBody>
          <a:bodyPr wrap="square" anchor="t" lIns="0" rIns="0" tIns="0" bIns="0">
            <a:spAutoFit/>
          </a:bodyPr>
          <a:lstStyle/>
          <a:p>
            <a:pPr algn="l"/>
            <a:r>
              <a:rPr sz="1100" b="0">
                <a:solidFill>
                  <a:srgbClr val="C7C2EF"/>
                </a:solidFill>
                <a:latin typeface="ITC Avant Garde Gothic"/>
              </a:rPr>
              <a:t>12</a:t>
            </a:r>
          </a:p>
        </p:txBody>
      </p:sp>
      <p:sp>
        <p:nvSpPr>
          <p:cNvPr id="7" name="Rounded Rectangle 6"/>
          <p:cNvSpPr/>
          <p:nvPr/>
        </p:nvSpPr>
        <p:spPr>
          <a:xfrm>
            <a:off x="2021166" y="1775714"/>
            <a:ext cx="1243926"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49766"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49766" y="2086610"/>
            <a:ext cx="786726" cy="199897"/>
          </a:xfrm>
          <a:prstGeom prst="rect">
            <a:avLst/>
          </a:prstGeom>
          <a:noFill/>
        </p:spPr>
        <p:txBody>
          <a:bodyPr wrap="square" anchor="t" lIns="0" rIns="0" tIns="0" bIns="0">
            <a:spAutoFit/>
          </a:bodyPr>
          <a:lstStyle/>
          <a:p>
            <a:pPr algn="l"/>
            <a:r>
              <a:rPr sz="1100" b="0">
                <a:solidFill>
                  <a:srgbClr val="C7C2EF"/>
                </a:solidFill>
                <a:latin typeface="ITC Avant Garde Gothic"/>
              </a:rPr>
              <a:t>10</a:t>
            </a:r>
          </a:p>
        </p:txBody>
      </p:sp>
      <p:sp>
        <p:nvSpPr>
          <p:cNvPr id="10" name="Rounded Rectangle 9"/>
          <p:cNvSpPr/>
          <p:nvPr/>
        </p:nvSpPr>
        <p:spPr>
          <a:xfrm>
            <a:off x="3402253" y="1775714"/>
            <a:ext cx="1243926"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30853"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30853" y="2086610"/>
            <a:ext cx="786726" cy="199897"/>
          </a:xfrm>
          <a:prstGeom prst="rect">
            <a:avLst/>
          </a:prstGeom>
          <a:noFill/>
        </p:spPr>
        <p:txBody>
          <a:bodyPr wrap="square" anchor="t" lIns="0" rIns="0" tIns="0" bIns="0">
            <a:spAutoFit/>
          </a:bodyPr>
          <a:lstStyle/>
          <a:p>
            <a:pPr algn="l"/>
            <a:r>
              <a:rPr sz="1100" b="0">
                <a:solidFill>
                  <a:srgbClr val="C7C2EF"/>
                </a:solidFill>
                <a:latin typeface="ITC Avant Garde Gothic"/>
              </a:rPr>
              <a:t>14</a:t>
            </a:r>
          </a:p>
        </p:txBody>
      </p:sp>
      <p:sp>
        <p:nvSpPr>
          <p:cNvPr id="13" name="Rounded Rectangle 12"/>
          <p:cNvSpPr/>
          <p:nvPr/>
        </p:nvSpPr>
        <p:spPr>
          <a:xfrm>
            <a:off x="4783340" y="1775714"/>
            <a:ext cx="1243926"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11940"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11940" y="2086610"/>
            <a:ext cx="786726" cy="199897"/>
          </a:xfrm>
          <a:prstGeom prst="rect">
            <a:avLst/>
          </a:prstGeom>
          <a:noFill/>
        </p:spPr>
        <p:txBody>
          <a:bodyPr wrap="square" anchor="t" lIns="0" rIns="0" tIns="0" bIns="0">
            <a:spAutoFit/>
          </a:bodyPr>
          <a:lstStyle/>
          <a:p>
            <a:pPr algn="l"/>
            <a:r>
              <a:rPr sz="1100" b="0">
                <a:solidFill>
                  <a:srgbClr val="C7C2EF"/>
                </a:solidFill>
                <a:latin typeface="ITC Avant Garde Gothic"/>
              </a:rPr>
              <a:t>13</a:t>
            </a:r>
          </a:p>
        </p:txBody>
      </p:sp>
      <p:sp>
        <p:nvSpPr>
          <p:cNvPr id="16" name="Rounded Rectangle 15"/>
          <p:cNvSpPr/>
          <p:nvPr/>
        </p:nvSpPr>
        <p:spPr>
          <a:xfrm>
            <a:off x="6164427" y="1775714"/>
            <a:ext cx="1243926"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93027"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93027" y="2086610"/>
            <a:ext cx="786726" cy="199897"/>
          </a:xfrm>
          <a:prstGeom prst="rect">
            <a:avLst/>
          </a:prstGeom>
          <a:noFill/>
        </p:spPr>
        <p:txBody>
          <a:bodyPr wrap="square" anchor="t" lIns="0" rIns="0" tIns="0" bIns="0">
            <a:spAutoFit/>
          </a:bodyPr>
          <a:lstStyle/>
          <a:p>
            <a:pPr algn="l"/>
            <a:r>
              <a:rPr sz="1100" b="0">
                <a:solidFill>
                  <a:srgbClr val="C7C2EF"/>
                </a:solidFill>
                <a:latin typeface="ITC Avant Garde Gothic"/>
              </a:rPr>
              <a:t>11</a:t>
            </a:r>
          </a:p>
        </p:txBody>
      </p:sp>
      <p:sp>
        <p:nvSpPr>
          <p:cNvPr id="19" name="Rounded Rectangle 18"/>
          <p:cNvSpPr/>
          <p:nvPr/>
        </p:nvSpPr>
        <p:spPr>
          <a:xfrm>
            <a:off x="7545514" y="1775714"/>
            <a:ext cx="1243926"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4114"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4114" y="2086610"/>
            <a:ext cx="786726" cy="199897"/>
          </a:xfrm>
          <a:prstGeom prst="rect">
            <a:avLst/>
          </a:prstGeom>
          <a:noFill/>
        </p:spPr>
        <p:txBody>
          <a:bodyPr wrap="square" anchor="t" lIns="0" rIns="0" tIns="0" bIns="0">
            <a:spAutoFit/>
          </a:bodyPr>
          <a:lstStyle/>
          <a:p>
            <a:pPr algn="l"/>
            <a:r>
              <a:rPr sz="1100" b="0">
                <a:solidFill>
                  <a:srgbClr val="C7C2EF"/>
                </a:solidFill>
                <a:latin typeface="ITC Avant Garde Gothic"/>
              </a:rPr>
              <a:t>11</a:t>
            </a:r>
          </a:p>
        </p:txBody>
      </p:sp>
      <p:sp>
        <p:nvSpPr>
          <p:cNvPr id="22" name="Rounded Rectangle 21"/>
          <p:cNvSpPr/>
          <p:nvPr/>
        </p:nvSpPr>
        <p:spPr>
          <a:xfrm>
            <a:off x="8926601" y="1775714"/>
            <a:ext cx="1243926"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55201"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55201" y="2086610"/>
            <a:ext cx="786726" cy="199897"/>
          </a:xfrm>
          <a:prstGeom prst="rect">
            <a:avLst/>
          </a:prstGeom>
          <a:noFill/>
        </p:spPr>
        <p:txBody>
          <a:bodyPr wrap="square" anchor="t" lIns="0" rIns="0" tIns="0" bIns="0">
            <a:spAutoFit/>
          </a:bodyPr>
          <a:lstStyle/>
          <a:p>
            <a:pPr algn="l"/>
            <a:r>
              <a:rPr sz="1100" b="0">
                <a:solidFill>
                  <a:srgbClr val="C7C2EF"/>
                </a:solidFill>
                <a:latin typeface="ITC Avant Garde Gothic"/>
              </a:rPr>
              <a:t>20</a:t>
            </a:r>
          </a:p>
        </p:txBody>
      </p:sp>
      <p:sp>
        <p:nvSpPr>
          <p:cNvPr id="25" name="Rounded Rectangle 24"/>
          <p:cNvSpPr/>
          <p:nvPr/>
        </p:nvSpPr>
        <p:spPr>
          <a:xfrm>
            <a:off x="10307688" y="1775714"/>
            <a:ext cx="1243926"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536288"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536288" y="2086610"/>
            <a:ext cx="786726" cy="199897"/>
          </a:xfrm>
          <a:prstGeom prst="rect">
            <a:avLst/>
          </a:prstGeom>
          <a:noFill/>
        </p:spPr>
        <p:txBody>
          <a:bodyPr wrap="square" anchor="t" lIns="0" rIns="0" tIns="0" bIns="0">
            <a:spAutoFit/>
          </a:bodyPr>
          <a:lstStyle/>
          <a:p>
            <a:pPr algn="l"/>
            <a:r>
              <a:rPr sz="1100" b="0">
                <a:solidFill>
                  <a:srgbClr val="C7C2EF"/>
                </a:solidFill>
                <a:latin typeface="ITC Avant Garde Gothic"/>
              </a:rPr>
              <a:t>90</a:t>
            </a:r>
          </a:p>
        </p:txBody>
      </p:sp>
      <p:sp>
        <p:nvSpPr>
          <p:cNvPr id="28" name="Rounded Rectangle 27"/>
          <p:cNvSpPr/>
          <p:nvPr/>
        </p:nvSpPr>
        <p:spPr>
          <a:xfrm>
            <a:off x="640080" y="2478532"/>
            <a:ext cx="1243926"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8680" y="264312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2789428"/>
            <a:ext cx="786726" cy="199897"/>
          </a:xfrm>
          <a:prstGeom prst="rect">
            <a:avLst/>
          </a:prstGeom>
          <a:noFill/>
        </p:spPr>
        <p:txBody>
          <a:bodyPr wrap="square" anchor="t" lIns="0" rIns="0" tIns="0" bIns="0">
            <a:spAutoFit/>
          </a:bodyPr>
          <a:lstStyle/>
          <a:p>
            <a:pPr algn="l"/>
            <a:r>
              <a:rPr sz="1100" b="0">
                <a:solidFill>
                  <a:srgbClr val="C7C2EF"/>
                </a:solidFill>
                <a:latin typeface="ITC Avant Garde Gothic"/>
              </a:rPr>
              <a:t>18</a:t>
            </a:r>
          </a:p>
        </p:txBody>
      </p:sp>
      <p:sp>
        <p:nvSpPr>
          <p:cNvPr id="31" name="Rounded Rectangle 30"/>
          <p:cNvSpPr/>
          <p:nvPr/>
        </p:nvSpPr>
        <p:spPr>
          <a:xfrm>
            <a:off x="2021166" y="2478532"/>
            <a:ext cx="1243926"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249766" y="264312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249766" y="2789428"/>
            <a:ext cx="786726" cy="199897"/>
          </a:xfrm>
          <a:prstGeom prst="rect">
            <a:avLst/>
          </a:prstGeom>
          <a:noFill/>
        </p:spPr>
        <p:txBody>
          <a:bodyPr wrap="square" anchor="t" lIns="0" rIns="0" tIns="0" bIns="0">
            <a:spAutoFit/>
          </a:bodyPr>
          <a:lstStyle/>
          <a:p>
            <a:pPr algn="l"/>
            <a:r>
              <a:rPr sz="1100" b="0">
                <a:solidFill>
                  <a:srgbClr val="C7C2EF"/>
                </a:solidFill>
                <a:latin typeface="ITC Avant Garde Gothic"/>
              </a:rPr>
              <a:t>12</a:t>
            </a:r>
          </a:p>
        </p:txBody>
      </p:sp>
      <p:sp>
        <p:nvSpPr>
          <p:cNvPr id="34" name="Rounded Rectangle 33"/>
          <p:cNvSpPr/>
          <p:nvPr/>
        </p:nvSpPr>
        <p:spPr>
          <a:xfrm>
            <a:off x="3402253" y="2478532"/>
            <a:ext cx="1243926"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30853" y="264312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30853" y="2789428"/>
            <a:ext cx="786726" cy="199897"/>
          </a:xfrm>
          <a:prstGeom prst="rect">
            <a:avLst/>
          </a:prstGeom>
          <a:noFill/>
        </p:spPr>
        <p:txBody>
          <a:bodyPr wrap="square" anchor="t" lIns="0" rIns="0" tIns="0" bIns="0">
            <a:spAutoFit/>
          </a:bodyPr>
          <a:lstStyle/>
          <a:p>
            <a:pPr algn="l"/>
            <a:r>
              <a:rPr sz="1100" b="0">
                <a:solidFill>
                  <a:srgbClr val="C7C2EF"/>
                </a:solidFill>
                <a:latin typeface="ITC Avant Garde Gothic"/>
              </a:rPr>
              <a:t>13</a:t>
            </a:r>
          </a:p>
        </p:txBody>
      </p:sp>
      <p:sp>
        <p:nvSpPr>
          <p:cNvPr id="37" name="Rounded Rectangle 36"/>
          <p:cNvSpPr/>
          <p:nvPr/>
        </p:nvSpPr>
        <p:spPr>
          <a:xfrm>
            <a:off x="4783340" y="2478532"/>
            <a:ext cx="1243926"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11940" y="264312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11940" y="2789428"/>
            <a:ext cx="786726" cy="199897"/>
          </a:xfrm>
          <a:prstGeom prst="rect">
            <a:avLst/>
          </a:prstGeom>
          <a:noFill/>
        </p:spPr>
        <p:txBody>
          <a:bodyPr wrap="square" anchor="t" lIns="0" rIns="0" tIns="0" bIns="0">
            <a:spAutoFit/>
          </a:bodyPr>
          <a:lstStyle/>
          <a:p>
            <a:pPr algn="l"/>
            <a:r>
              <a:rPr sz="1100" b="0">
                <a:solidFill>
                  <a:srgbClr val="C7C2EF"/>
                </a:solidFill>
                <a:latin typeface="ITC Avant Garde Gothic"/>
              </a:rPr>
              <a:t>140</a:t>
            </a:r>
          </a:p>
        </p:txBody>
      </p:sp>
      <p:sp>
        <p:nvSpPr>
          <p:cNvPr id="40" name="Rounded Rectangle 39"/>
          <p:cNvSpPr/>
          <p:nvPr/>
        </p:nvSpPr>
        <p:spPr>
          <a:xfrm>
            <a:off x="6164427" y="2478532"/>
            <a:ext cx="1243926"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93027" y="264312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93027" y="2789428"/>
            <a:ext cx="786726" cy="199897"/>
          </a:xfrm>
          <a:prstGeom prst="rect">
            <a:avLst/>
          </a:prstGeom>
          <a:noFill/>
        </p:spPr>
        <p:txBody>
          <a:bodyPr wrap="square" anchor="t" lIns="0" rIns="0" tIns="0" bIns="0">
            <a:spAutoFit/>
          </a:bodyPr>
          <a:lstStyle/>
          <a:p>
            <a:pPr algn="l"/>
            <a:r>
              <a:rPr sz="1100" b="0">
                <a:solidFill>
                  <a:srgbClr val="C7C2EF"/>
                </a:solidFill>
                <a:latin typeface="ITC Avant Garde Gothic"/>
              </a:rPr>
              <a:t>220</a:t>
            </a:r>
          </a:p>
        </p:txBody>
      </p:sp>
      <p:sp>
        <p:nvSpPr>
          <p:cNvPr id="43" name="Rounded Rectangle 42"/>
          <p:cNvSpPr/>
          <p:nvPr/>
        </p:nvSpPr>
        <p:spPr>
          <a:xfrm>
            <a:off x="7545514" y="2478532"/>
            <a:ext cx="1243926"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4114" y="264312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74114" y="2789428"/>
            <a:ext cx="786726" cy="199897"/>
          </a:xfrm>
          <a:prstGeom prst="rect">
            <a:avLst/>
          </a:prstGeom>
          <a:noFill/>
        </p:spPr>
        <p:txBody>
          <a:bodyPr wrap="square" anchor="t" lIns="0" rIns="0" tIns="0" bIns="0">
            <a:spAutoFit/>
          </a:bodyPr>
          <a:lstStyle/>
          <a:p>
            <a:pPr algn="l"/>
            <a:r>
              <a:rPr sz="1100" b="0">
                <a:solidFill>
                  <a:srgbClr val="C7C2EF"/>
                </a:solidFill>
                <a:latin typeface="ITC Avant Garde Gothic"/>
              </a:rPr>
              <a:t>160</a:t>
            </a:r>
          </a:p>
        </p:txBody>
      </p:sp>
      <p:sp>
        <p:nvSpPr>
          <p:cNvPr id="46" name="Rounded Rectangle 45"/>
          <p:cNvSpPr/>
          <p:nvPr/>
        </p:nvSpPr>
        <p:spPr>
          <a:xfrm>
            <a:off x="8926601" y="2478532"/>
            <a:ext cx="1243926"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155201" y="264312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55201" y="2789428"/>
            <a:ext cx="786726" cy="199897"/>
          </a:xfrm>
          <a:prstGeom prst="rect">
            <a:avLst/>
          </a:prstGeom>
          <a:noFill/>
        </p:spPr>
        <p:txBody>
          <a:bodyPr wrap="square" anchor="t" lIns="0" rIns="0" tIns="0" bIns="0">
            <a:spAutoFit/>
          </a:bodyPr>
          <a:lstStyle/>
          <a:p>
            <a:pPr algn="l"/>
            <a:r>
              <a:rPr sz="1100" b="0">
                <a:solidFill>
                  <a:srgbClr val="C7C2EF"/>
                </a:solidFill>
                <a:latin typeface="ITC Avant Garde Gothic"/>
              </a:rPr>
              <a:t>14</a:t>
            </a:r>
          </a:p>
        </p:txBody>
      </p:sp>
      <p:sp>
        <p:nvSpPr>
          <p:cNvPr id="49" name="Rounded Rectangle 48"/>
          <p:cNvSpPr/>
          <p:nvPr/>
        </p:nvSpPr>
        <p:spPr>
          <a:xfrm>
            <a:off x="10307688" y="2478532"/>
            <a:ext cx="1243926"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0536288" y="264312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36288" y="2789428"/>
            <a:ext cx="786726" cy="199897"/>
          </a:xfrm>
          <a:prstGeom prst="rect">
            <a:avLst/>
          </a:prstGeom>
          <a:noFill/>
        </p:spPr>
        <p:txBody>
          <a:bodyPr wrap="square" anchor="t" lIns="0" rIns="0" tIns="0" bIns="0">
            <a:spAutoFit/>
          </a:bodyPr>
          <a:lstStyle/>
          <a:p>
            <a:pPr algn="l"/>
            <a:r>
              <a:rPr sz="1100" b="0">
                <a:solidFill>
                  <a:srgbClr val="C7C2EF"/>
                </a:solidFill>
                <a:latin typeface="ITC Avant Garde Gothic"/>
              </a:rPr>
              <a:t>12</a:t>
            </a:r>
          </a:p>
        </p:txBody>
      </p:sp>
      <p:sp>
        <p:nvSpPr>
          <p:cNvPr id="52" name="Rounded Rectangle 51"/>
          <p:cNvSpPr/>
          <p:nvPr/>
        </p:nvSpPr>
        <p:spPr>
          <a:xfrm>
            <a:off x="640080" y="3181350"/>
            <a:ext cx="1243926"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68680" y="334594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68680" y="3492246"/>
            <a:ext cx="786726" cy="199897"/>
          </a:xfrm>
          <a:prstGeom prst="rect">
            <a:avLst/>
          </a:prstGeom>
          <a:noFill/>
        </p:spPr>
        <p:txBody>
          <a:bodyPr wrap="square" anchor="t" lIns="0" rIns="0" tIns="0" bIns="0">
            <a:spAutoFit/>
          </a:bodyPr>
          <a:lstStyle/>
          <a:p>
            <a:pPr algn="l"/>
            <a:r>
              <a:rPr sz="1100" b="0">
                <a:solidFill>
                  <a:srgbClr val="C7C2EF"/>
                </a:solidFill>
                <a:latin typeface="ITC Avant Garde Gothic"/>
              </a:rPr>
              <a:t>25</a:t>
            </a:r>
          </a:p>
        </p:txBody>
      </p:sp>
      <p:sp>
        <p:nvSpPr>
          <p:cNvPr id="55" name="Rounded Rectangle 54"/>
          <p:cNvSpPr/>
          <p:nvPr/>
        </p:nvSpPr>
        <p:spPr>
          <a:xfrm>
            <a:off x="2021166" y="3181350"/>
            <a:ext cx="1243926"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249766" y="334594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249766" y="3492246"/>
            <a:ext cx="786726" cy="199897"/>
          </a:xfrm>
          <a:prstGeom prst="rect">
            <a:avLst/>
          </a:prstGeom>
          <a:noFill/>
        </p:spPr>
        <p:txBody>
          <a:bodyPr wrap="square" anchor="t" lIns="0" rIns="0" tIns="0" bIns="0">
            <a:spAutoFit/>
          </a:bodyPr>
          <a:lstStyle/>
          <a:p>
            <a:pPr algn="l"/>
            <a:r>
              <a:rPr sz="1100" b="0">
                <a:solidFill>
                  <a:srgbClr val="C7C2EF"/>
                </a:solidFill>
                <a:latin typeface="ITC Avant Garde Gothic"/>
              </a:rPr>
              <a:t>150</a:t>
            </a:r>
          </a:p>
        </p:txBody>
      </p:sp>
      <p:sp>
        <p:nvSpPr>
          <p:cNvPr id="58" name="Rounded Rectangle 57"/>
          <p:cNvSpPr/>
          <p:nvPr/>
        </p:nvSpPr>
        <p:spPr>
          <a:xfrm>
            <a:off x="3402253" y="3181350"/>
            <a:ext cx="1243926"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3630853" y="334594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630853" y="3492246"/>
            <a:ext cx="786726" cy="199897"/>
          </a:xfrm>
          <a:prstGeom prst="rect">
            <a:avLst/>
          </a:prstGeom>
          <a:noFill/>
        </p:spPr>
        <p:txBody>
          <a:bodyPr wrap="square" anchor="t" lIns="0" rIns="0" tIns="0" bIns="0">
            <a:spAutoFit/>
          </a:bodyPr>
          <a:lstStyle/>
          <a:p>
            <a:pPr algn="l"/>
            <a:r>
              <a:rPr sz="1100" b="0">
                <a:solidFill>
                  <a:srgbClr val="C7C2EF"/>
                </a:solidFill>
                <a:latin typeface="ITC Avant Garde Gothic"/>
              </a:rPr>
              <a:t>30</a:t>
            </a:r>
          </a:p>
        </p:txBody>
      </p:sp>
      <p:sp>
        <p:nvSpPr>
          <p:cNvPr id="61" name="Rounded Rectangle 60"/>
          <p:cNvSpPr/>
          <p:nvPr/>
        </p:nvSpPr>
        <p:spPr>
          <a:xfrm>
            <a:off x="4783340" y="3181350"/>
            <a:ext cx="1243926"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5011940" y="334594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11940" y="3492246"/>
            <a:ext cx="786726" cy="199897"/>
          </a:xfrm>
          <a:prstGeom prst="rect">
            <a:avLst/>
          </a:prstGeom>
          <a:noFill/>
        </p:spPr>
        <p:txBody>
          <a:bodyPr wrap="square" anchor="t" lIns="0" rIns="0" tIns="0" bIns="0">
            <a:spAutoFit/>
          </a:bodyPr>
          <a:lstStyle/>
          <a:p>
            <a:pPr algn="l"/>
            <a:r>
              <a:rPr sz="1100" b="0">
                <a:solidFill>
                  <a:srgbClr val="C7C2EF"/>
                </a:solidFill>
                <a:latin typeface="ITC Avant Garde Gothic"/>
              </a:rPr>
              <a:t>11</a:t>
            </a:r>
          </a:p>
        </p:txBody>
      </p:sp>
      <p:sp>
        <p:nvSpPr>
          <p:cNvPr id="64" name="Rounded Rectangle 63"/>
          <p:cNvSpPr/>
          <p:nvPr/>
        </p:nvSpPr>
        <p:spPr>
          <a:xfrm>
            <a:off x="6164427" y="3181350"/>
            <a:ext cx="1243926"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393027" y="334594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393027" y="3492246"/>
            <a:ext cx="786726" cy="199897"/>
          </a:xfrm>
          <a:prstGeom prst="rect">
            <a:avLst/>
          </a:prstGeom>
          <a:noFill/>
        </p:spPr>
        <p:txBody>
          <a:bodyPr wrap="square" anchor="t" lIns="0" rIns="0" tIns="0" bIns="0">
            <a:spAutoFit/>
          </a:bodyPr>
          <a:lstStyle/>
          <a:p>
            <a:pPr algn="l"/>
            <a:r>
              <a:rPr sz="1100" b="0">
                <a:solidFill>
                  <a:srgbClr val="C7C2EF"/>
                </a:solidFill>
                <a:latin typeface="ITC Avant Garde Gothic"/>
              </a:rPr>
              <a:t>10</a:t>
            </a:r>
          </a:p>
        </p:txBody>
      </p:sp>
      <p:sp>
        <p:nvSpPr>
          <p:cNvPr id="67" name="Rounded Rectangle 66"/>
          <p:cNvSpPr/>
          <p:nvPr/>
        </p:nvSpPr>
        <p:spPr>
          <a:xfrm>
            <a:off x="7545514" y="3181350"/>
            <a:ext cx="1243926"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7774114" y="334594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774114" y="3492246"/>
            <a:ext cx="786726" cy="199897"/>
          </a:xfrm>
          <a:prstGeom prst="rect">
            <a:avLst/>
          </a:prstGeom>
          <a:noFill/>
        </p:spPr>
        <p:txBody>
          <a:bodyPr wrap="square" anchor="t" lIns="0" rIns="0" tIns="0" bIns="0">
            <a:spAutoFit/>
          </a:bodyPr>
          <a:lstStyle/>
          <a:p>
            <a:pPr algn="l"/>
            <a:r>
              <a:rPr sz="1100" b="0">
                <a:solidFill>
                  <a:srgbClr val="C7C2EF"/>
                </a:solidFill>
                <a:latin typeface="ITC Avant Garde Gothic"/>
              </a:rPr>
              <a:t>11</a:t>
            </a:r>
          </a:p>
        </p:txBody>
      </p:sp>
      <p:sp>
        <p:nvSpPr>
          <p:cNvPr id="70" name="Rounded Rectangle 69"/>
          <p:cNvSpPr/>
          <p:nvPr/>
        </p:nvSpPr>
        <p:spPr>
          <a:xfrm>
            <a:off x="8926601" y="3181350"/>
            <a:ext cx="1243926"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9155201" y="334594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155201" y="3492246"/>
            <a:ext cx="786726" cy="199897"/>
          </a:xfrm>
          <a:prstGeom prst="rect">
            <a:avLst/>
          </a:prstGeom>
          <a:noFill/>
        </p:spPr>
        <p:txBody>
          <a:bodyPr wrap="square" anchor="t" lIns="0" rIns="0" tIns="0" bIns="0">
            <a:spAutoFit/>
          </a:bodyPr>
          <a:lstStyle/>
          <a:p>
            <a:pPr algn="l"/>
            <a:r>
              <a:rPr sz="1100" b="0">
                <a:solidFill>
                  <a:srgbClr val="C7C2EF"/>
                </a:solidFill>
                <a:latin typeface="ITC Avant Garde Gothic"/>
              </a:rPr>
              <a:t>15</a:t>
            </a:r>
          </a:p>
        </p:txBody>
      </p:sp>
      <p:sp>
        <p:nvSpPr>
          <p:cNvPr id="73" name="Rounded Rectangle 72"/>
          <p:cNvSpPr/>
          <p:nvPr/>
        </p:nvSpPr>
        <p:spPr>
          <a:xfrm>
            <a:off x="10307688" y="3181350"/>
            <a:ext cx="1243926"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0536288" y="334594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536288" y="3492246"/>
            <a:ext cx="786726" cy="199897"/>
          </a:xfrm>
          <a:prstGeom prst="rect">
            <a:avLst/>
          </a:prstGeom>
          <a:noFill/>
        </p:spPr>
        <p:txBody>
          <a:bodyPr wrap="square" anchor="t" lIns="0" rIns="0" tIns="0" bIns="0">
            <a:spAutoFit/>
          </a:bodyPr>
          <a:lstStyle/>
          <a:p>
            <a:pPr algn="l"/>
            <a:r>
              <a:rPr sz="1100" b="0">
                <a:solidFill>
                  <a:srgbClr val="C7C2EF"/>
                </a:solidFill>
                <a:latin typeface="ITC Avant Garde Gothic"/>
              </a:rPr>
              <a:t>12</a:t>
            </a:r>
          </a:p>
        </p:txBody>
      </p:sp>
      <p:sp>
        <p:nvSpPr>
          <p:cNvPr id="76" name="Rounded Rectangle 75"/>
          <p:cNvSpPr/>
          <p:nvPr/>
        </p:nvSpPr>
        <p:spPr>
          <a:xfrm>
            <a:off x="640080" y="3884168"/>
            <a:ext cx="1243926" cy="183692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68680" y="404876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68680" y="4195064"/>
            <a:ext cx="786726" cy="1471168"/>
          </a:xfrm>
          <a:prstGeom prst="rect">
            <a:avLst/>
          </a:prstGeom>
          <a:noFill/>
        </p:spPr>
        <p:txBody>
          <a:bodyPr wrap="square" anchor="t" lIns="0" rIns="0" tIns="0" bIns="0">
            <a:spAutoFit/>
          </a:bodyPr>
          <a:lstStyle/>
          <a:p>
            <a:pPr algn="l"/>
            <a:r>
              <a:rPr sz="1100" b="0">
                <a:solidFill>
                  <a:srgbClr val="C7C2EF"/>
                </a:solidFill>
                <a:latin typeface="ITC Avant Garde Gothic"/>
              </a:rPr>
              <a:t>10</a:t>
            </a:r>
          </a:p>
        </p:txBody>
      </p:sp>
      <p:sp>
        <p:nvSpPr>
          <p:cNvPr id="79" name="Rounded Rectangle 78"/>
          <p:cNvSpPr/>
          <p:nvPr/>
        </p:nvSpPr>
        <p:spPr>
          <a:xfrm>
            <a:off x="2021166" y="3884168"/>
            <a:ext cx="1243926" cy="183692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2249766" y="404876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249766" y="4195064"/>
            <a:ext cx="786726" cy="1471168"/>
          </a:xfrm>
          <a:prstGeom prst="rect">
            <a:avLst/>
          </a:prstGeom>
          <a:noFill/>
        </p:spPr>
        <p:txBody>
          <a:bodyPr wrap="square" anchor="t" lIns="0" rIns="0" tIns="0" bIns="0">
            <a:spAutoFit/>
          </a:bodyPr>
          <a:lstStyle/>
          <a:p>
            <a:pPr algn="l"/>
            <a:r>
              <a:rPr sz="1100" b="0">
                <a:solidFill>
                  <a:srgbClr val="C7C2EF"/>
                </a:solidFill>
                <a:latin typeface="ITC Avant Garde Gothic"/>
              </a:rPr>
              <a:t>Cada cuadrito es un píxel: un número de 0 a 255 por canal de color.</a:t>
            </a:r>
          </a:p>
        </p:txBody>
      </p:sp>
      <p:sp>
        <p:nvSpPr>
          <p:cNvPr id="82" name="Rounded Rectangle 81"/>
          <p:cNvSpPr/>
          <p:nvPr/>
        </p:nvSpPr>
        <p:spPr>
          <a:xfrm>
            <a:off x="3402253" y="3884168"/>
            <a:ext cx="1243926" cy="183692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3630853" y="404876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3630853" y="4195064"/>
            <a:ext cx="786726" cy="1471168"/>
          </a:xfrm>
          <a:prstGeom prst="rect">
            <a:avLst/>
          </a:prstGeom>
          <a:noFill/>
        </p:spPr>
        <p:txBody>
          <a:bodyPr wrap="square" anchor="t" lIns="0" rIns="0" tIns="0" bIns="0">
            <a:spAutoFit/>
          </a:bodyPr>
          <a:lstStyle/>
          <a:p>
            <a:pPr algn="l"/>
            <a:r>
              <a:rPr sz="1100" b="0">
                <a:solidFill>
                  <a:srgbClr val="C7C2EF"/>
                </a:solidFill>
                <a:latin typeface="ITC Avant Garde Gothic"/>
              </a:rPr>
              <a:t>Una foto de 1792 × 1374 píxeles son más de siete millones de números.</a:t>
            </a:r>
          </a:p>
        </p:txBody>
      </p:sp>
      <p:sp>
        <p:nvSpPr>
          <p:cNvPr id="85" name="TextBox 84"/>
          <p:cNvSpPr txBox="1"/>
          <p:nvPr/>
        </p:nvSpPr>
        <p:spPr>
          <a:xfrm>
            <a:off x="640080" y="5903976"/>
            <a:ext cx="10911535" cy="185928"/>
          </a:xfrm>
          <a:prstGeom prst="rect">
            <a:avLst/>
          </a:prstGeom>
          <a:noFill/>
        </p:spPr>
        <p:txBody>
          <a:bodyPr wrap="square" anchor="t" lIns="0" rIns="0" tIns="0" bIns="0">
            <a:spAutoFit/>
          </a:bodyPr>
          <a:lstStyle/>
          <a:p>
            <a:pPr algn="l"/>
            <a:r>
              <a:rPr sz="1200" b="0">
                <a:solidFill>
                  <a:srgbClr val="C7C2EF"/>
                </a:solidFill>
                <a:latin typeface="ITC Avant Garde Gothic"/>
              </a:rPr>
              <a:t>No hay células, colas ni fondo: solo valores en una cuadrícula. Valores ilustrativos.</a:t>
            </a:r>
          </a:p>
        </p:txBody>
      </p:sp>
      <p:sp>
        <p:nvSpPr>
          <p:cNvPr id="86" name="TextBox 85"/>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Un problema menos evidente</a:t>
            </a:r>
          </a:p>
        </p:txBody>
      </p:sp>
      <p:sp>
        <p:nvSpPr>
          <p:cNvPr id="3" name="TextBox 2"/>
          <p:cNvSpPr txBox="1"/>
          <p:nvPr/>
        </p:nvSpPr>
        <p:spPr>
          <a:xfrm>
            <a:off x="640080" y="960120"/>
            <a:ext cx="10911535" cy="1002487"/>
          </a:xfrm>
          <a:prstGeom prst="rect">
            <a:avLst/>
          </a:prstGeom>
          <a:noFill/>
        </p:spPr>
        <p:txBody>
          <a:bodyPr wrap="square" anchor="t" lIns="0" rIns="0" tIns="0" bIns="0">
            <a:spAutoFit/>
          </a:bodyPr>
          <a:lstStyle/>
          <a:p>
            <a:pPr algn="l"/>
            <a:r>
              <a:rPr sz="3400" b="1">
                <a:solidFill>
                  <a:srgbClr val="C7C2EF"/>
                </a:solidFill>
                <a:latin typeface="ITC Avant Garde Gothic"/>
              </a:rPr>
              <a:t>La conexión total ignora la estructura de la imagen</a:t>
            </a:r>
          </a:p>
        </p:txBody>
      </p:sp>
      <p:sp>
        <p:nvSpPr>
          <p:cNvPr id="4" name="TextBox 3"/>
          <p:cNvSpPr txBox="1"/>
          <p:nvPr/>
        </p:nvSpPr>
        <p:spPr>
          <a:xfrm>
            <a:off x="640080" y="2328367"/>
            <a:ext cx="10911535" cy="362559"/>
          </a:xfrm>
          <a:prstGeom prst="rect">
            <a:avLst/>
          </a:prstGeom>
          <a:noFill/>
        </p:spPr>
        <p:txBody>
          <a:bodyPr wrap="square" anchor="t" lIns="0" rIns="0" tIns="0" bIns="0">
            <a:spAutoFit/>
          </a:bodyPr>
          <a:lstStyle/>
          <a:p>
            <a:pPr algn="l"/>
            <a:r>
              <a:rPr sz="2300" b="1">
                <a:solidFill>
                  <a:srgbClr val="FF983D"/>
                </a:solidFill>
                <a:latin typeface="ITC Avant Garde Gothic"/>
              </a:rPr>
              <a:t>Los patrones son locales</a:t>
            </a:r>
          </a:p>
        </p:txBody>
      </p:sp>
      <p:sp>
        <p:nvSpPr>
          <p:cNvPr id="5" name="TextBox 4"/>
          <p:cNvSpPr txBox="1"/>
          <p:nvPr/>
        </p:nvSpPr>
        <p:spPr>
          <a:xfrm>
            <a:off x="640080" y="2873806"/>
            <a:ext cx="10911535" cy="580095"/>
          </a:xfrm>
          <a:prstGeom prst="rect">
            <a:avLst/>
          </a:prstGeom>
          <a:noFill/>
        </p:spPr>
        <p:txBody>
          <a:bodyPr wrap="square" anchor="t" lIns="0" rIns="0" tIns="0" bIns="0">
            <a:spAutoFit/>
          </a:bodyPr>
          <a:lstStyle/>
          <a:p>
            <a:pPr algn="l"/>
            <a:r>
              <a:rPr sz="1900" b="0">
                <a:solidFill>
                  <a:srgbClr val="C7C2EF"/>
                </a:solidFill>
                <a:latin typeface="ITC Avant Garde Gothic"/>
              </a:rPr>
              <a:t>Un píxel se relaciona con sus vecinos: un borde, una mancha o una línea son patrones de unos pocos píxeles contiguos.</a:t>
            </a:r>
          </a:p>
        </p:txBody>
      </p:sp>
      <p:sp>
        <p:nvSpPr>
          <p:cNvPr id="6" name="TextBox 5"/>
          <p:cNvSpPr txBox="1"/>
          <p:nvPr/>
        </p:nvSpPr>
        <p:spPr>
          <a:xfrm>
            <a:off x="640080" y="3682502"/>
            <a:ext cx="10911535" cy="362559"/>
          </a:xfrm>
          <a:prstGeom prst="rect">
            <a:avLst/>
          </a:prstGeom>
          <a:noFill/>
        </p:spPr>
        <p:txBody>
          <a:bodyPr wrap="square" anchor="t" lIns="0" rIns="0" tIns="0" bIns="0">
            <a:spAutoFit/>
          </a:bodyPr>
          <a:lstStyle/>
          <a:p>
            <a:pPr algn="l"/>
            <a:r>
              <a:rPr sz="2300" b="1">
                <a:solidFill>
                  <a:srgbClr val="FF983D"/>
                </a:solidFill>
                <a:latin typeface="ITC Avant Garde Gothic"/>
              </a:rPr>
              <a:t>Y pueden aparecer en cualquier lugar</a:t>
            </a:r>
          </a:p>
        </p:txBody>
      </p:sp>
      <p:sp>
        <p:nvSpPr>
          <p:cNvPr id="7" name="TextBox 6"/>
          <p:cNvSpPr txBox="1"/>
          <p:nvPr/>
        </p:nvSpPr>
        <p:spPr>
          <a:xfrm>
            <a:off x="640080" y="4227941"/>
            <a:ext cx="10911535" cy="870143"/>
          </a:xfrm>
          <a:prstGeom prst="rect">
            <a:avLst/>
          </a:prstGeom>
          <a:noFill/>
        </p:spPr>
        <p:txBody>
          <a:bodyPr wrap="square" anchor="t" lIns="0" rIns="0" tIns="0" bIns="0">
            <a:spAutoFit/>
          </a:bodyPr>
          <a:lstStyle/>
          <a:p>
            <a:pPr algn="l"/>
            <a:r>
              <a:rPr sz="1900" b="0">
                <a:solidFill>
                  <a:srgbClr val="C7C2EF"/>
                </a:solidFill>
                <a:latin typeface="ITC Avant Garde Gothic"/>
              </a:rPr>
              <a:t>Una red que aprendiera un borde en la esquina superior izquierda tendría que aprenderlo de nuevo en la inferior derecha, con otros pesos. Un desperdicio.</a:t>
            </a:r>
          </a:p>
        </p:txBody>
      </p:sp>
      <p:sp>
        <p:nvSpPr>
          <p:cNvPr id="8" name="TextBox 7"/>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Un filtro de tres por tres</a:t>
            </a:r>
          </a:p>
        </p:txBody>
      </p:sp>
      <p:sp>
        <p:nvSpPr>
          <p:cNvPr id="3" name="TextBox 2"/>
          <p:cNvSpPr txBox="1"/>
          <p:nvPr/>
        </p:nvSpPr>
        <p:spPr>
          <a:xfrm>
            <a:off x="640080" y="960120"/>
            <a:ext cx="10911535" cy="449833"/>
          </a:xfrm>
          <a:prstGeom prst="rect">
            <a:avLst/>
          </a:prstGeom>
          <a:noFill/>
        </p:spPr>
        <p:txBody>
          <a:bodyPr wrap="square" anchor="t" lIns="0" rIns="0" tIns="0" bIns="0">
            <a:spAutoFit/>
          </a:bodyPr>
          <a:lstStyle/>
          <a:p>
            <a:pPr algn="l"/>
            <a:r>
              <a:rPr sz="3100" b="1">
                <a:solidFill>
                  <a:srgbClr val="C7C2EF"/>
                </a:solidFill>
                <a:latin typeface="ITC Avant Garde Gothic"/>
              </a:rPr>
              <a:t>Nueve pesos que recorren la imagen</a:t>
            </a:r>
          </a:p>
        </p:txBody>
      </p:sp>
      <p:sp>
        <p:nvSpPr>
          <p:cNvPr id="4" name="Rounded Rectangle 3"/>
          <p:cNvSpPr/>
          <p:nvPr/>
        </p:nvSpPr>
        <p:spPr>
          <a:xfrm>
            <a:off x="640080" y="1775714"/>
            <a:ext cx="10911535" cy="83693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050034"/>
            <a:ext cx="10454335" cy="198120"/>
          </a:xfrm>
          <a:prstGeom prst="rect">
            <a:avLst/>
          </a:prstGeom>
          <a:noFill/>
        </p:spPr>
        <p:txBody>
          <a:bodyPr wrap="square" anchor="t" lIns="0" rIns="0" tIns="0" bIns="0">
            <a:spAutoFit/>
          </a:bodyPr>
          <a:lstStyle/>
          <a:p>
            <a:pPr algn="l"/>
            <a:r>
              <a:rPr sz="1300" b="1">
                <a:solidFill>
                  <a:srgbClr val="FF983D"/>
                </a:solidFill>
                <a:latin typeface="ITC Avant Garde Gothic"/>
              </a:rPr>
              <a:t>Colocarlo</a:t>
            </a:r>
          </a:p>
        </p:txBody>
      </p:sp>
      <p:sp>
        <p:nvSpPr>
          <p:cNvPr id="6" name="TextBox 5"/>
          <p:cNvSpPr txBox="1"/>
          <p:nvPr/>
        </p:nvSpPr>
        <p:spPr>
          <a:xfrm>
            <a:off x="868680" y="2339594"/>
            <a:ext cx="10454335" cy="181609"/>
          </a:xfrm>
          <a:prstGeom prst="rect">
            <a:avLst/>
          </a:prstGeom>
          <a:noFill/>
        </p:spPr>
        <p:txBody>
          <a:bodyPr wrap="square" anchor="t" lIns="0" rIns="0" tIns="0" bIns="0">
            <a:spAutoFit/>
          </a:bodyPr>
          <a:lstStyle/>
          <a:p>
            <a:pPr algn="l"/>
            <a:r>
              <a:rPr sz="1100" b="0">
                <a:solidFill>
                  <a:srgbClr val="C7C2EF"/>
                </a:solidFill>
                <a:latin typeface="ITC Avant Garde Gothic"/>
              </a:rPr>
              <a:t>Sobre la esquina superior izquierda.</a:t>
            </a:r>
          </a:p>
        </p:txBody>
      </p:sp>
      <p:sp>
        <p:nvSpPr>
          <p:cNvPr id="7" name="Rounded Rectangle 6"/>
          <p:cNvSpPr/>
          <p:nvPr/>
        </p:nvSpPr>
        <p:spPr>
          <a:xfrm>
            <a:off x="640080" y="2795524"/>
            <a:ext cx="10911535" cy="83693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069844"/>
            <a:ext cx="10454335" cy="198120"/>
          </a:xfrm>
          <a:prstGeom prst="rect">
            <a:avLst/>
          </a:prstGeom>
          <a:noFill/>
        </p:spPr>
        <p:txBody>
          <a:bodyPr wrap="square" anchor="t" lIns="0" rIns="0" tIns="0" bIns="0">
            <a:spAutoFit/>
          </a:bodyPr>
          <a:lstStyle/>
          <a:p>
            <a:pPr algn="l"/>
            <a:r>
              <a:rPr sz="1300" b="1">
                <a:solidFill>
                  <a:srgbClr val="FF983D"/>
                </a:solidFill>
                <a:latin typeface="ITC Avant Garde Gothic"/>
              </a:rPr>
              <a:t>Multiplicar y sumar</a:t>
            </a:r>
          </a:p>
        </p:txBody>
      </p:sp>
      <p:sp>
        <p:nvSpPr>
          <p:cNvPr id="9" name="TextBox 8"/>
          <p:cNvSpPr txBox="1"/>
          <p:nvPr/>
        </p:nvSpPr>
        <p:spPr>
          <a:xfrm>
            <a:off x="868680" y="3359404"/>
            <a:ext cx="10454335" cy="181609"/>
          </a:xfrm>
          <a:prstGeom prst="rect">
            <a:avLst/>
          </a:prstGeom>
          <a:noFill/>
        </p:spPr>
        <p:txBody>
          <a:bodyPr wrap="square" anchor="t" lIns="0" rIns="0" tIns="0" bIns="0">
            <a:spAutoFit/>
          </a:bodyPr>
          <a:lstStyle/>
          <a:p>
            <a:pPr algn="l"/>
            <a:r>
              <a:rPr sz="1100" b="0">
                <a:solidFill>
                  <a:srgbClr val="C7C2EF"/>
                </a:solidFill>
                <a:latin typeface="ITC Avant Garde Gothic"/>
              </a:rPr>
              <a:t>Cada uno de los nueve píxeles por su peso.</a:t>
            </a:r>
          </a:p>
        </p:txBody>
      </p:sp>
      <p:sp>
        <p:nvSpPr>
          <p:cNvPr id="10" name="Rounded Rectangle 9"/>
          <p:cNvSpPr/>
          <p:nvPr/>
        </p:nvSpPr>
        <p:spPr>
          <a:xfrm>
            <a:off x="640080" y="3815334"/>
            <a:ext cx="10911535" cy="83693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089654"/>
            <a:ext cx="10454335" cy="198120"/>
          </a:xfrm>
          <a:prstGeom prst="rect">
            <a:avLst/>
          </a:prstGeom>
          <a:noFill/>
        </p:spPr>
        <p:txBody>
          <a:bodyPr wrap="square" anchor="t" lIns="0" rIns="0" tIns="0" bIns="0">
            <a:spAutoFit/>
          </a:bodyPr>
          <a:lstStyle/>
          <a:p>
            <a:pPr algn="l"/>
            <a:r>
              <a:rPr sz="1300" b="1">
                <a:solidFill>
                  <a:srgbClr val="FF983D"/>
                </a:solidFill>
                <a:latin typeface="ITC Avant Garde Gothic"/>
              </a:rPr>
              <a:t>Anotar el número</a:t>
            </a:r>
          </a:p>
        </p:txBody>
      </p:sp>
      <p:sp>
        <p:nvSpPr>
          <p:cNvPr id="12" name="TextBox 11"/>
          <p:cNvSpPr txBox="1"/>
          <p:nvPr/>
        </p:nvSpPr>
        <p:spPr>
          <a:xfrm>
            <a:off x="868680" y="4379214"/>
            <a:ext cx="10454335" cy="181609"/>
          </a:xfrm>
          <a:prstGeom prst="rect">
            <a:avLst/>
          </a:prstGeom>
          <a:noFill/>
        </p:spPr>
        <p:txBody>
          <a:bodyPr wrap="square" anchor="t" lIns="0" rIns="0" tIns="0" bIns="0">
            <a:spAutoFit/>
          </a:bodyPr>
          <a:lstStyle/>
          <a:p>
            <a:pPr algn="l"/>
            <a:r>
              <a:rPr sz="1100" b="0">
                <a:solidFill>
                  <a:srgbClr val="C7C2EF"/>
                </a:solidFill>
                <a:latin typeface="ITC Avant Garde Gothic"/>
              </a:rPr>
              <a:t>Y mover el filtro un píxel a la derecha.</a:t>
            </a:r>
          </a:p>
        </p:txBody>
      </p:sp>
      <p:sp>
        <p:nvSpPr>
          <p:cNvPr id="13" name="Rounded Rectangle 12"/>
          <p:cNvSpPr/>
          <p:nvPr/>
        </p:nvSpPr>
        <p:spPr>
          <a:xfrm>
            <a:off x="640080" y="4835144"/>
            <a:ext cx="10911535" cy="83693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5109464"/>
            <a:ext cx="10454335" cy="198120"/>
          </a:xfrm>
          <a:prstGeom prst="rect">
            <a:avLst/>
          </a:prstGeom>
          <a:noFill/>
        </p:spPr>
        <p:txBody>
          <a:bodyPr wrap="square" anchor="t" lIns="0" rIns="0" tIns="0" bIns="0">
            <a:spAutoFit/>
          </a:bodyPr>
          <a:lstStyle/>
          <a:p>
            <a:pPr algn="l"/>
            <a:r>
              <a:rPr sz="1300" b="1">
                <a:solidFill>
                  <a:srgbClr val="FF983D"/>
                </a:solidFill>
                <a:latin typeface="ITC Avant Garde Gothic"/>
              </a:rPr>
              <a:t>Repetir</a:t>
            </a:r>
          </a:p>
        </p:txBody>
      </p:sp>
      <p:sp>
        <p:nvSpPr>
          <p:cNvPr id="15" name="TextBox 14"/>
          <p:cNvSpPr txBox="1"/>
          <p:nvPr/>
        </p:nvSpPr>
        <p:spPr>
          <a:xfrm>
            <a:off x="868680" y="5399024"/>
            <a:ext cx="10454335" cy="181609"/>
          </a:xfrm>
          <a:prstGeom prst="rect">
            <a:avLst/>
          </a:prstGeom>
          <a:noFill/>
        </p:spPr>
        <p:txBody>
          <a:bodyPr wrap="square" anchor="t" lIns="0" rIns="0" tIns="0" bIns="0">
            <a:spAutoFit/>
          </a:bodyPr>
          <a:lstStyle/>
          <a:p>
            <a:pPr algn="l"/>
            <a:r>
              <a:rPr sz="1100" b="0">
                <a:solidFill>
                  <a:srgbClr val="C7C2EF"/>
                </a:solidFill>
                <a:latin typeface="ITC Avant Garde Gothic"/>
              </a:rPr>
              <a:t>Al terminar la fila, bajar una y seguir.</a:t>
            </a:r>
          </a:p>
        </p:txBody>
      </p:sp>
      <p:sp>
        <p:nvSpPr>
          <p:cNvPr id="16" name="TextBox 15"/>
          <p:cNvSpPr txBox="1"/>
          <p:nvPr/>
        </p:nvSpPr>
        <p:spPr>
          <a:xfrm>
            <a:off x="640080" y="5854954"/>
            <a:ext cx="10911535" cy="185928"/>
          </a:xfrm>
          <a:prstGeom prst="rect">
            <a:avLst/>
          </a:prstGeom>
          <a:noFill/>
        </p:spPr>
        <p:txBody>
          <a:bodyPr wrap="square" anchor="t" lIns="0" rIns="0" tIns="0" bIns="0">
            <a:spAutoFit/>
          </a:bodyPr>
          <a:lstStyle/>
          <a:p>
            <a:pPr algn="l"/>
            <a:r>
              <a:rPr sz="1200" b="0">
                <a:solidFill>
                  <a:srgbClr val="C7C2EF"/>
                </a:solidFill>
                <a:latin typeface="ITC Avant Garde Gothic"/>
              </a:rPr>
              <a:t>El resultado es el mapa de características: cada valor dice cuánto se parecía la zona a lo que busca el filtro.</a:t>
            </a:r>
          </a:p>
        </p:txBody>
      </p:sp>
      <p:sp>
        <p:nvSpPr>
          <p:cNvPr id="17" name="TextBox 16"/>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Lo más importante</a:t>
            </a:r>
          </a:p>
        </p:txBody>
      </p:sp>
      <p:sp>
        <p:nvSpPr>
          <p:cNvPr id="3" name="TextBox 2"/>
          <p:cNvSpPr txBox="1"/>
          <p:nvPr/>
        </p:nvSpPr>
        <p:spPr>
          <a:xfrm>
            <a:off x="640080" y="960120"/>
            <a:ext cx="10911535" cy="501243"/>
          </a:xfrm>
          <a:prstGeom prst="rect">
            <a:avLst/>
          </a:prstGeom>
          <a:noFill/>
        </p:spPr>
        <p:txBody>
          <a:bodyPr wrap="square" anchor="t" lIns="0" rIns="0" tIns="0" bIns="0">
            <a:spAutoFit/>
          </a:bodyPr>
          <a:lstStyle/>
          <a:p>
            <a:pPr algn="l"/>
            <a:r>
              <a:rPr sz="3400" b="1">
                <a:solidFill>
                  <a:srgbClr val="C7C2EF"/>
                </a:solidFill>
                <a:latin typeface="ITC Avant Garde Gothic"/>
              </a:rPr>
              <a:t>De dónde salen los pesos de los filtros</a:t>
            </a:r>
          </a:p>
        </p:txBody>
      </p:sp>
      <p:sp>
        <p:nvSpPr>
          <p:cNvPr id="4" name="TextBox 3"/>
          <p:cNvSpPr txBox="1"/>
          <p:nvPr/>
        </p:nvSpPr>
        <p:spPr>
          <a:xfrm>
            <a:off x="640080" y="1827123"/>
            <a:ext cx="10911535" cy="362559"/>
          </a:xfrm>
          <a:prstGeom prst="rect">
            <a:avLst/>
          </a:prstGeom>
          <a:noFill/>
        </p:spPr>
        <p:txBody>
          <a:bodyPr wrap="square" anchor="t" lIns="0" rIns="0" tIns="0" bIns="0">
            <a:spAutoFit/>
          </a:bodyPr>
          <a:lstStyle/>
          <a:p>
            <a:pPr algn="l"/>
            <a:r>
              <a:rPr sz="2300" b="1">
                <a:solidFill>
                  <a:srgbClr val="FF983D"/>
                </a:solidFill>
                <a:latin typeface="ITC Avant Garde Gothic"/>
              </a:rPr>
              <a:t>Antes</a:t>
            </a:r>
          </a:p>
        </p:txBody>
      </p:sp>
      <p:sp>
        <p:nvSpPr>
          <p:cNvPr id="5" name="TextBox 4"/>
          <p:cNvSpPr txBox="1"/>
          <p:nvPr/>
        </p:nvSpPr>
        <p:spPr>
          <a:xfrm>
            <a:off x="640080" y="2372563"/>
            <a:ext cx="10911535" cy="580095"/>
          </a:xfrm>
          <a:prstGeom prst="rect">
            <a:avLst/>
          </a:prstGeom>
          <a:noFill/>
        </p:spPr>
        <p:txBody>
          <a:bodyPr wrap="square" anchor="t" lIns="0" rIns="0" tIns="0" bIns="0">
            <a:spAutoFit/>
          </a:bodyPr>
          <a:lstStyle/>
          <a:p>
            <a:pPr algn="l"/>
            <a:r>
              <a:rPr sz="1900" b="0">
                <a:solidFill>
                  <a:srgbClr val="C7C2EF"/>
                </a:solidFill>
                <a:latin typeface="ITC Avant Garde Gothic"/>
              </a:rPr>
              <a:t>En el procesamiento de imágenes clásico, una persona diseñaba los filtros a mano: los hay famosos para bordes, suavizado o realce de contornos.</a:t>
            </a:r>
          </a:p>
        </p:txBody>
      </p:sp>
      <p:sp>
        <p:nvSpPr>
          <p:cNvPr id="6" name="TextBox 5"/>
          <p:cNvSpPr txBox="1"/>
          <p:nvPr/>
        </p:nvSpPr>
        <p:spPr>
          <a:xfrm>
            <a:off x="640080" y="3181258"/>
            <a:ext cx="10911535" cy="362559"/>
          </a:xfrm>
          <a:prstGeom prst="rect">
            <a:avLst/>
          </a:prstGeom>
          <a:noFill/>
        </p:spPr>
        <p:txBody>
          <a:bodyPr wrap="square" anchor="t" lIns="0" rIns="0" tIns="0" bIns="0">
            <a:spAutoFit/>
          </a:bodyPr>
          <a:lstStyle/>
          <a:p>
            <a:pPr algn="l"/>
            <a:r>
              <a:rPr sz="2300" b="1">
                <a:solidFill>
                  <a:srgbClr val="FF983D"/>
                </a:solidFill>
                <a:latin typeface="ITC Avant Garde Gothic"/>
              </a:rPr>
              <a:t>En una red convolucional</a:t>
            </a:r>
          </a:p>
        </p:txBody>
      </p:sp>
      <p:sp>
        <p:nvSpPr>
          <p:cNvPr id="7" name="TextBox 6"/>
          <p:cNvSpPr txBox="1"/>
          <p:nvPr/>
        </p:nvSpPr>
        <p:spPr>
          <a:xfrm>
            <a:off x="640080" y="3726698"/>
            <a:ext cx="10911535" cy="870143"/>
          </a:xfrm>
          <a:prstGeom prst="rect">
            <a:avLst/>
          </a:prstGeom>
          <a:noFill/>
        </p:spPr>
        <p:txBody>
          <a:bodyPr wrap="square" anchor="t" lIns="0" rIns="0" tIns="0" bIns="0">
            <a:spAutoFit/>
          </a:bodyPr>
          <a:lstStyle/>
          <a:p>
            <a:pPr algn="l"/>
            <a:r>
              <a:rPr sz="1900" b="0">
                <a:solidFill>
                  <a:srgbClr val="C7C2EF"/>
                </a:solidFill>
                <a:latin typeface="ITC Avant Garde Gothic"/>
              </a:rPr>
              <a:t>Nadie los diseña: se aprenden durante el entrenamiento. La red empieza con filtros aleatorios y los ajusta hasta que detectan los patrones útiles para la tarea.</a:t>
            </a:r>
          </a:p>
        </p:txBody>
      </p:sp>
      <p:sp>
        <p:nvSpPr>
          <p:cNvPr id="8" name="TextBox 7"/>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Dos operaciones más</a:t>
            </a:r>
          </a:p>
        </p:txBody>
      </p:sp>
      <p:sp>
        <p:nvSpPr>
          <p:cNvPr id="3" name="TextBox 2"/>
          <p:cNvSpPr txBox="1"/>
          <p:nvPr/>
        </p:nvSpPr>
        <p:spPr>
          <a:xfrm>
            <a:off x="640080" y="960120"/>
            <a:ext cx="10911535" cy="591210"/>
          </a:xfrm>
          <a:prstGeom prst="rect">
            <a:avLst/>
          </a:prstGeom>
          <a:noFill/>
        </p:spPr>
        <p:txBody>
          <a:bodyPr wrap="square" anchor="t" lIns="0" rIns="0" tIns="0" bIns="0">
            <a:spAutoFit/>
          </a:bodyPr>
          <a:lstStyle/>
          <a:p>
            <a:pPr algn="l"/>
            <a:r>
              <a:rPr sz="4000" b="1">
                <a:solidFill>
                  <a:srgbClr val="C7C2EF"/>
                </a:solidFill>
                <a:latin typeface="ITC Avant Garde Gothic"/>
              </a:rPr>
              <a:t>Activación y reducción</a:t>
            </a:r>
          </a:p>
        </p:txBody>
      </p:sp>
      <p:sp>
        <p:nvSpPr>
          <p:cNvPr id="4" name="Rounded Rectangle 3"/>
          <p:cNvSpPr/>
          <p:nvPr/>
        </p:nvSpPr>
        <p:spPr>
          <a:xfrm>
            <a:off x="640080" y="1917090"/>
            <a:ext cx="10911535" cy="124734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191410"/>
            <a:ext cx="10454335" cy="364540"/>
          </a:xfrm>
          <a:prstGeom prst="rect">
            <a:avLst/>
          </a:prstGeom>
          <a:noFill/>
        </p:spPr>
        <p:txBody>
          <a:bodyPr wrap="square" anchor="t" lIns="0" rIns="0" tIns="0" bIns="0">
            <a:spAutoFit/>
          </a:bodyPr>
          <a:lstStyle/>
          <a:p>
            <a:pPr algn="l"/>
            <a:r>
              <a:rPr sz="2400" b="1">
                <a:solidFill>
                  <a:srgbClr val="FF983D"/>
                </a:solidFill>
                <a:latin typeface="ITC Avant Garde Gothic"/>
              </a:rPr>
              <a:t>Activación</a:t>
            </a:r>
          </a:p>
        </p:txBody>
      </p:sp>
      <p:sp>
        <p:nvSpPr>
          <p:cNvPr id="6" name="TextBox 5"/>
          <p:cNvSpPr txBox="1"/>
          <p:nvPr/>
        </p:nvSpPr>
        <p:spPr>
          <a:xfrm>
            <a:off x="868680" y="2647391"/>
            <a:ext cx="10454335" cy="425602"/>
          </a:xfrm>
          <a:prstGeom prst="rect">
            <a:avLst/>
          </a:prstGeom>
          <a:noFill/>
        </p:spPr>
        <p:txBody>
          <a:bodyPr wrap="square" anchor="t" lIns="0" rIns="0" tIns="0" bIns="0">
            <a:spAutoFit/>
          </a:bodyPr>
          <a:lstStyle/>
          <a:p>
            <a:pPr algn="l"/>
            <a:r>
              <a:rPr sz="2000" b="0">
                <a:solidFill>
                  <a:srgbClr val="C7C2EF"/>
                </a:solidFill>
                <a:latin typeface="ITC Avant Garde Gothic"/>
              </a:rPr>
              <a:t>Ya vista: tras cada convolución se apagan los valores negativos.</a:t>
            </a:r>
          </a:p>
        </p:txBody>
      </p:sp>
      <p:sp>
        <p:nvSpPr>
          <p:cNvPr id="7" name="TextBox 6"/>
          <p:cNvSpPr txBox="1"/>
          <p:nvPr/>
        </p:nvSpPr>
        <p:spPr>
          <a:xfrm>
            <a:off x="640080" y="3347313"/>
            <a:ext cx="10911535" cy="427634"/>
          </a:xfrm>
          <a:prstGeom prst="rect">
            <a:avLst/>
          </a:prstGeom>
          <a:noFill/>
        </p:spPr>
        <p:txBody>
          <a:bodyPr wrap="square" anchor="t" lIns="0" rIns="0" tIns="0" bIns="0">
            <a:spAutoFit/>
          </a:bodyPr>
          <a:lstStyle/>
          <a:p>
            <a:pPr algn="l"/>
            <a:r>
              <a:rPr sz="2800" b="1">
                <a:solidFill>
                  <a:srgbClr val="FF983D"/>
                </a:solidFill>
                <a:latin typeface="ITC Avant Garde Gothic"/>
              </a:rPr>
              <a:t>Reducción (pooling)</a:t>
            </a:r>
          </a:p>
        </p:txBody>
      </p:sp>
      <p:sp>
        <p:nvSpPr>
          <p:cNvPr id="8" name="TextBox 7"/>
          <p:cNvSpPr txBox="1"/>
          <p:nvPr/>
        </p:nvSpPr>
        <p:spPr>
          <a:xfrm>
            <a:off x="640080" y="3957828"/>
            <a:ext cx="10911535" cy="1026322"/>
          </a:xfrm>
          <a:prstGeom prst="rect">
            <a:avLst/>
          </a:prstGeom>
          <a:noFill/>
        </p:spPr>
        <p:txBody>
          <a:bodyPr wrap="square" anchor="t" lIns="0" rIns="0" tIns="0" bIns="0">
            <a:spAutoFit/>
          </a:bodyPr>
          <a:lstStyle/>
          <a:p>
            <a:pPr algn="l"/>
            <a:r>
              <a:rPr sz="2200" b="0">
                <a:solidFill>
                  <a:srgbClr val="C7C2EF"/>
                </a:solidFill>
                <a:latin typeface="ITC Avant Garde Gothic"/>
              </a:rPr>
              <a:t>Resume cada región pequeña del mapa en un solo número, por ejemplo el máximo de cada cuadro de dos por dos. El mapa se reduce a la mitad en ancho y en alto.</a:t>
            </a:r>
          </a:p>
        </p:txBody>
      </p:sp>
      <p:sp>
        <p:nvSpPr>
          <p:cNvPr id="9" name="TextBox 8"/>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Una convolución hecha a mano</a:t>
            </a:r>
          </a:p>
        </p:txBody>
      </p:sp>
      <p:sp>
        <p:nvSpPr>
          <p:cNvPr id="3" name="TextBox 2"/>
          <p:cNvSpPr txBox="1"/>
          <p:nvPr/>
        </p:nvSpPr>
        <p:spPr>
          <a:xfrm>
            <a:off x="640080" y="960120"/>
            <a:ext cx="10911535" cy="449833"/>
          </a:xfrm>
          <a:prstGeom prst="rect">
            <a:avLst/>
          </a:prstGeom>
          <a:noFill/>
        </p:spPr>
        <p:txBody>
          <a:bodyPr wrap="square" anchor="t" lIns="0" rIns="0" tIns="0" bIns="0">
            <a:spAutoFit/>
          </a:bodyPr>
          <a:lstStyle/>
          <a:p>
            <a:pPr algn="l"/>
            <a:r>
              <a:rPr sz="3100" b="1">
                <a:solidFill>
                  <a:srgbClr val="C7C2EF"/>
                </a:solidFill>
                <a:latin typeface="ITC Avant Garde Gothic"/>
              </a:rPr>
              <a:t>Un pedazo de imagen y un filtro</a:t>
            </a:r>
          </a:p>
        </p:txBody>
      </p:sp>
      <p:sp>
        <p:nvSpPr>
          <p:cNvPr id="4" name="Rounded Rectangle 3"/>
          <p:cNvSpPr/>
          <p:nvPr/>
        </p:nvSpPr>
        <p:spPr>
          <a:xfrm>
            <a:off x="640080" y="1775714"/>
            <a:ext cx="1243926" cy="98336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86610"/>
            <a:ext cx="786726" cy="617601"/>
          </a:xfrm>
          <a:prstGeom prst="rect">
            <a:avLst/>
          </a:prstGeom>
          <a:noFill/>
        </p:spPr>
        <p:txBody>
          <a:bodyPr wrap="square" anchor="t" lIns="0" rIns="0" tIns="0" bIns="0">
            <a:spAutoFit/>
          </a:bodyPr>
          <a:lstStyle/>
          <a:p>
            <a:pPr algn="l"/>
            <a:r>
              <a:rPr sz="1200" b="0">
                <a:solidFill>
                  <a:srgbClr val="C7C2EF"/>
                </a:solidFill>
                <a:latin typeface="ITC Avant Garde Gothic"/>
              </a:rPr>
              <a:t>Imagen en grises, 3 × 3</a:t>
            </a:r>
          </a:p>
        </p:txBody>
      </p:sp>
      <p:sp>
        <p:nvSpPr>
          <p:cNvPr id="7" name="Rounded Rectangle 6"/>
          <p:cNvSpPr/>
          <p:nvPr/>
        </p:nvSpPr>
        <p:spPr>
          <a:xfrm>
            <a:off x="2021166" y="1775714"/>
            <a:ext cx="1243926" cy="98336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49766"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49766" y="2086610"/>
            <a:ext cx="786726" cy="617601"/>
          </a:xfrm>
          <a:prstGeom prst="rect">
            <a:avLst/>
          </a:prstGeom>
          <a:noFill/>
        </p:spPr>
        <p:txBody>
          <a:bodyPr wrap="square" anchor="t" lIns="0" rIns="0" tIns="0" bIns="0">
            <a:spAutoFit/>
          </a:bodyPr>
          <a:lstStyle/>
          <a:p>
            <a:pPr algn="l"/>
            <a:r>
              <a:rPr sz="1200" b="0">
                <a:solidFill>
                  <a:srgbClr val="C7C2EF"/>
                </a:solidFill>
                <a:latin typeface="ITC Avant Garde Gothic"/>
              </a:rPr>
              <a:t>10</a:t>
            </a:r>
          </a:p>
        </p:txBody>
      </p:sp>
      <p:sp>
        <p:nvSpPr>
          <p:cNvPr id="10" name="Rounded Rectangle 9"/>
          <p:cNvSpPr/>
          <p:nvPr/>
        </p:nvSpPr>
        <p:spPr>
          <a:xfrm>
            <a:off x="3402253" y="1775714"/>
            <a:ext cx="1243926" cy="98336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30853"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30853" y="2086610"/>
            <a:ext cx="786726" cy="617601"/>
          </a:xfrm>
          <a:prstGeom prst="rect">
            <a:avLst/>
          </a:prstGeom>
          <a:noFill/>
        </p:spPr>
        <p:txBody>
          <a:bodyPr wrap="square" anchor="t" lIns="0" rIns="0" tIns="0" bIns="0">
            <a:spAutoFit/>
          </a:bodyPr>
          <a:lstStyle/>
          <a:p>
            <a:pPr algn="l"/>
            <a:r>
              <a:rPr sz="1200" b="0">
                <a:solidFill>
                  <a:srgbClr val="C7C2EF"/>
                </a:solidFill>
                <a:latin typeface="ITC Avant Garde Gothic"/>
              </a:rPr>
              <a:t>10</a:t>
            </a:r>
          </a:p>
        </p:txBody>
      </p:sp>
      <p:sp>
        <p:nvSpPr>
          <p:cNvPr id="13" name="Rounded Rectangle 12"/>
          <p:cNvSpPr/>
          <p:nvPr/>
        </p:nvSpPr>
        <p:spPr>
          <a:xfrm>
            <a:off x="4783340" y="1775714"/>
            <a:ext cx="1243926" cy="98336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11940"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11940" y="2086610"/>
            <a:ext cx="786726" cy="617601"/>
          </a:xfrm>
          <a:prstGeom prst="rect">
            <a:avLst/>
          </a:prstGeom>
          <a:noFill/>
        </p:spPr>
        <p:txBody>
          <a:bodyPr wrap="square" anchor="t" lIns="0" rIns="0" tIns="0" bIns="0">
            <a:spAutoFit/>
          </a:bodyPr>
          <a:lstStyle/>
          <a:p>
            <a:pPr algn="l"/>
            <a:r>
              <a:rPr sz="1200" b="0">
                <a:solidFill>
                  <a:srgbClr val="C7C2EF"/>
                </a:solidFill>
                <a:latin typeface="ITC Avant Garde Gothic"/>
              </a:rPr>
              <a:t>200</a:t>
            </a:r>
          </a:p>
        </p:txBody>
      </p:sp>
      <p:sp>
        <p:nvSpPr>
          <p:cNvPr id="16" name="Rounded Rectangle 15"/>
          <p:cNvSpPr/>
          <p:nvPr/>
        </p:nvSpPr>
        <p:spPr>
          <a:xfrm>
            <a:off x="6164427" y="1775714"/>
            <a:ext cx="1243926" cy="98336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93027"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93027" y="2086610"/>
            <a:ext cx="786726" cy="617601"/>
          </a:xfrm>
          <a:prstGeom prst="rect">
            <a:avLst/>
          </a:prstGeom>
          <a:noFill/>
        </p:spPr>
        <p:txBody>
          <a:bodyPr wrap="square" anchor="t" lIns="0" rIns="0" tIns="0" bIns="0">
            <a:spAutoFit/>
          </a:bodyPr>
          <a:lstStyle/>
          <a:p>
            <a:pPr algn="l"/>
            <a:r>
              <a:rPr sz="1200" b="0">
                <a:solidFill>
                  <a:srgbClr val="C7C2EF"/>
                </a:solidFill>
                <a:latin typeface="ITC Avant Garde Gothic"/>
              </a:rPr>
              <a:t>10</a:t>
            </a:r>
          </a:p>
        </p:txBody>
      </p:sp>
      <p:sp>
        <p:nvSpPr>
          <p:cNvPr id="19" name="Rounded Rectangle 18"/>
          <p:cNvSpPr/>
          <p:nvPr/>
        </p:nvSpPr>
        <p:spPr>
          <a:xfrm>
            <a:off x="7545514" y="1775714"/>
            <a:ext cx="1243926" cy="98336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4114"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4114" y="2086610"/>
            <a:ext cx="786726" cy="617601"/>
          </a:xfrm>
          <a:prstGeom prst="rect">
            <a:avLst/>
          </a:prstGeom>
          <a:noFill/>
        </p:spPr>
        <p:txBody>
          <a:bodyPr wrap="square" anchor="t" lIns="0" rIns="0" tIns="0" bIns="0">
            <a:spAutoFit/>
          </a:bodyPr>
          <a:lstStyle/>
          <a:p>
            <a:pPr algn="l"/>
            <a:r>
              <a:rPr sz="1200" b="0">
                <a:solidFill>
                  <a:srgbClr val="C7C2EF"/>
                </a:solidFill>
                <a:latin typeface="ITC Avant Garde Gothic"/>
              </a:rPr>
              <a:t>10</a:t>
            </a:r>
          </a:p>
        </p:txBody>
      </p:sp>
      <p:sp>
        <p:nvSpPr>
          <p:cNvPr id="22" name="Rounded Rectangle 21"/>
          <p:cNvSpPr/>
          <p:nvPr/>
        </p:nvSpPr>
        <p:spPr>
          <a:xfrm>
            <a:off x="8926601" y="1775714"/>
            <a:ext cx="1243926" cy="98336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55201"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55201" y="2086610"/>
            <a:ext cx="786726" cy="617601"/>
          </a:xfrm>
          <a:prstGeom prst="rect">
            <a:avLst/>
          </a:prstGeom>
          <a:noFill/>
        </p:spPr>
        <p:txBody>
          <a:bodyPr wrap="square" anchor="t" lIns="0" rIns="0" tIns="0" bIns="0">
            <a:spAutoFit/>
          </a:bodyPr>
          <a:lstStyle/>
          <a:p>
            <a:pPr algn="l"/>
            <a:r>
              <a:rPr sz="1200" b="0">
                <a:solidFill>
                  <a:srgbClr val="C7C2EF"/>
                </a:solidFill>
                <a:latin typeface="ITC Avant Garde Gothic"/>
              </a:rPr>
              <a:t>200</a:t>
            </a:r>
          </a:p>
        </p:txBody>
      </p:sp>
      <p:sp>
        <p:nvSpPr>
          <p:cNvPr id="25" name="Rounded Rectangle 24"/>
          <p:cNvSpPr/>
          <p:nvPr/>
        </p:nvSpPr>
        <p:spPr>
          <a:xfrm>
            <a:off x="10307688" y="1775714"/>
            <a:ext cx="1243926" cy="98336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536288"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536288" y="2086610"/>
            <a:ext cx="786726" cy="617601"/>
          </a:xfrm>
          <a:prstGeom prst="rect">
            <a:avLst/>
          </a:prstGeom>
          <a:noFill/>
        </p:spPr>
        <p:txBody>
          <a:bodyPr wrap="square" anchor="t" lIns="0" rIns="0" tIns="0" bIns="0">
            <a:spAutoFit/>
          </a:bodyPr>
          <a:lstStyle/>
          <a:p>
            <a:pPr algn="l"/>
            <a:r>
              <a:rPr sz="1200" b="0">
                <a:solidFill>
                  <a:srgbClr val="C7C2EF"/>
                </a:solidFill>
                <a:latin typeface="ITC Avant Garde Gothic"/>
              </a:rPr>
              <a:t>10</a:t>
            </a:r>
          </a:p>
        </p:txBody>
      </p:sp>
      <p:sp>
        <p:nvSpPr>
          <p:cNvPr id="28" name="Rounded Rectangle 27"/>
          <p:cNvSpPr/>
          <p:nvPr/>
        </p:nvSpPr>
        <p:spPr>
          <a:xfrm>
            <a:off x="640080" y="2896235"/>
            <a:ext cx="1243926" cy="78359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8680" y="3060827"/>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3207131"/>
            <a:ext cx="786726" cy="417830"/>
          </a:xfrm>
          <a:prstGeom prst="rect">
            <a:avLst/>
          </a:prstGeom>
          <a:noFill/>
        </p:spPr>
        <p:txBody>
          <a:bodyPr wrap="square" anchor="t" lIns="0" rIns="0" tIns="0" bIns="0">
            <a:spAutoFit/>
          </a:bodyPr>
          <a:lstStyle/>
          <a:p>
            <a:pPr algn="l"/>
            <a:r>
              <a:rPr sz="1200" b="0">
                <a:solidFill>
                  <a:srgbClr val="C7C2EF"/>
                </a:solidFill>
                <a:latin typeface="ITC Avant Garde Gothic"/>
              </a:rPr>
              <a:t>10</a:t>
            </a:r>
          </a:p>
        </p:txBody>
      </p:sp>
      <p:sp>
        <p:nvSpPr>
          <p:cNvPr id="31" name="Rounded Rectangle 30"/>
          <p:cNvSpPr/>
          <p:nvPr/>
        </p:nvSpPr>
        <p:spPr>
          <a:xfrm>
            <a:off x="2021166" y="2896235"/>
            <a:ext cx="1243926" cy="78359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249766" y="3060827"/>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249766" y="3207131"/>
            <a:ext cx="786726" cy="417830"/>
          </a:xfrm>
          <a:prstGeom prst="rect">
            <a:avLst/>
          </a:prstGeom>
          <a:noFill/>
        </p:spPr>
        <p:txBody>
          <a:bodyPr wrap="square" anchor="t" lIns="0" rIns="0" tIns="0" bIns="0">
            <a:spAutoFit/>
          </a:bodyPr>
          <a:lstStyle/>
          <a:p>
            <a:pPr algn="l"/>
            <a:r>
              <a:rPr sz="1200" b="0">
                <a:solidFill>
                  <a:srgbClr val="C7C2EF"/>
                </a:solidFill>
                <a:latin typeface="ITC Avant Garde Gothic"/>
              </a:rPr>
              <a:t>200</a:t>
            </a:r>
          </a:p>
        </p:txBody>
      </p:sp>
      <p:sp>
        <p:nvSpPr>
          <p:cNvPr id="34" name="Rounded Rectangle 33"/>
          <p:cNvSpPr/>
          <p:nvPr/>
        </p:nvSpPr>
        <p:spPr>
          <a:xfrm>
            <a:off x="3402253" y="2896235"/>
            <a:ext cx="1243926" cy="78359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30853" y="3060827"/>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30853" y="3207131"/>
            <a:ext cx="786726" cy="417830"/>
          </a:xfrm>
          <a:prstGeom prst="rect">
            <a:avLst/>
          </a:prstGeom>
          <a:noFill/>
        </p:spPr>
        <p:txBody>
          <a:bodyPr wrap="square" anchor="t" lIns="0" rIns="0" tIns="0" bIns="0">
            <a:spAutoFit/>
          </a:bodyPr>
          <a:lstStyle/>
          <a:p>
            <a:pPr algn="l"/>
            <a:r>
              <a:rPr sz="1200" b="0">
                <a:solidFill>
                  <a:srgbClr val="C7C2EF"/>
                </a:solidFill>
                <a:latin typeface="ITC Avant Garde Gothic"/>
              </a:rPr>
              <a:t>Filtro, 3 × 3</a:t>
            </a:r>
          </a:p>
        </p:txBody>
      </p:sp>
      <p:sp>
        <p:nvSpPr>
          <p:cNvPr id="37" name="Rounded Rectangle 36"/>
          <p:cNvSpPr/>
          <p:nvPr/>
        </p:nvSpPr>
        <p:spPr>
          <a:xfrm>
            <a:off x="4783340" y="2896235"/>
            <a:ext cx="1243926" cy="78359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11940" y="3060827"/>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11940" y="3207131"/>
            <a:ext cx="786726" cy="417830"/>
          </a:xfrm>
          <a:prstGeom prst="rect">
            <a:avLst/>
          </a:prstGeom>
          <a:noFill/>
        </p:spPr>
        <p:txBody>
          <a:bodyPr wrap="square" anchor="t" lIns="0" rIns="0" tIns="0" bIns="0">
            <a:spAutoFit/>
          </a:bodyPr>
          <a:lstStyle/>
          <a:p>
            <a:pPr algn="l"/>
            <a:r>
              <a:rPr sz="1200" b="0">
                <a:solidFill>
                  <a:srgbClr val="C7C2EF"/>
                </a:solidFill>
                <a:latin typeface="ITC Avant Garde Gothic"/>
              </a:rPr>
              <a:t>−1</a:t>
            </a:r>
          </a:p>
        </p:txBody>
      </p:sp>
      <p:sp>
        <p:nvSpPr>
          <p:cNvPr id="40" name="Rounded Rectangle 39"/>
          <p:cNvSpPr/>
          <p:nvPr/>
        </p:nvSpPr>
        <p:spPr>
          <a:xfrm>
            <a:off x="6164427" y="2896235"/>
            <a:ext cx="1243926" cy="78359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93027" y="3060827"/>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93027" y="3207131"/>
            <a:ext cx="786726" cy="417830"/>
          </a:xfrm>
          <a:prstGeom prst="rect">
            <a:avLst/>
          </a:prstGeom>
          <a:noFill/>
        </p:spPr>
        <p:txBody>
          <a:bodyPr wrap="square" anchor="t" lIns="0" rIns="0" tIns="0" bIns="0">
            <a:spAutoFit/>
          </a:bodyPr>
          <a:lstStyle/>
          <a:p>
            <a:pPr algn="l"/>
            <a:r>
              <a:rPr sz="1200" b="0">
                <a:solidFill>
                  <a:srgbClr val="C7C2EF"/>
                </a:solidFill>
                <a:latin typeface="ITC Avant Garde Gothic"/>
              </a:rPr>
              <a:t>0</a:t>
            </a:r>
          </a:p>
        </p:txBody>
      </p:sp>
      <p:sp>
        <p:nvSpPr>
          <p:cNvPr id="43" name="Rounded Rectangle 42"/>
          <p:cNvSpPr/>
          <p:nvPr/>
        </p:nvSpPr>
        <p:spPr>
          <a:xfrm>
            <a:off x="7545514" y="2896235"/>
            <a:ext cx="1243926" cy="78359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4114" y="3060827"/>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74114" y="3207131"/>
            <a:ext cx="786726" cy="417830"/>
          </a:xfrm>
          <a:prstGeom prst="rect">
            <a:avLst/>
          </a:prstGeom>
          <a:noFill/>
        </p:spPr>
        <p:txBody>
          <a:bodyPr wrap="square" anchor="t" lIns="0" rIns="0" tIns="0" bIns="0">
            <a:spAutoFit/>
          </a:bodyPr>
          <a:lstStyle/>
          <a:p>
            <a:pPr algn="l"/>
            <a:r>
              <a:rPr sz="1200" b="0">
                <a:solidFill>
                  <a:srgbClr val="C7C2EF"/>
                </a:solidFill>
                <a:latin typeface="ITC Avant Garde Gothic"/>
              </a:rPr>
              <a:t>1</a:t>
            </a:r>
          </a:p>
        </p:txBody>
      </p:sp>
      <p:sp>
        <p:nvSpPr>
          <p:cNvPr id="46" name="Rounded Rectangle 45"/>
          <p:cNvSpPr/>
          <p:nvPr/>
        </p:nvSpPr>
        <p:spPr>
          <a:xfrm>
            <a:off x="8926601" y="2896235"/>
            <a:ext cx="1243926" cy="78359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155201" y="3060827"/>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55201" y="3207131"/>
            <a:ext cx="786726" cy="417830"/>
          </a:xfrm>
          <a:prstGeom prst="rect">
            <a:avLst/>
          </a:prstGeom>
          <a:noFill/>
        </p:spPr>
        <p:txBody>
          <a:bodyPr wrap="square" anchor="t" lIns="0" rIns="0" tIns="0" bIns="0">
            <a:spAutoFit/>
          </a:bodyPr>
          <a:lstStyle/>
          <a:p>
            <a:pPr algn="l"/>
            <a:r>
              <a:rPr sz="1200" b="0">
                <a:solidFill>
                  <a:srgbClr val="C7C2EF"/>
                </a:solidFill>
                <a:latin typeface="ITC Avant Garde Gothic"/>
              </a:rPr>
              <a:t>−1</a:t>
            </a:r>
          </a:p>
        </p:txBody>
      </p:sp>
      <p:sp>
        <p:nvSpPr>
          <p:cNvPr id="49" name="Rounded Rectangle 48"/>
          <p:cNvSpPr/>
          <p:nvPr/>
        </p:nvSpPr>
        <p:spPr>
          <a:xfrm>
            <a:off x="10307688" y="2896235"/>
            <a:ext cx="1243926" cy="78359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0536288" y="3060827"/>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36288" y="3207131"/>
            <a:ext cx="786726" cy="417830"/>
          </a:xfrm>
          <a:prstGeom prst="rect">
            <a:avLst/>
          </a:prstGeom>
          <a:noFill/>
        </p:spPr>
        <p:txBody>
          <a:bodyPr wrap="square" anchor="t" lIns="0" rIns="0" tIns="0" bIns="0">
            <a:spAutoFit/>
          </a:bodyPr>
          <a:lstStyle/>
          <a:p>
            <a:pPr algn="l"/>
            <a:r>
              <a:rPr sz="1200" b="0">
                <a:solidFill>
                  <a:srgbClr val="C7C2EF"/>
                </a:solidFill>
                <a:latin typeface="ITC Avant Garde Gothic"/>
              </a:rPr>
              <a:t>0</a:t>
            </a:r>
          </a:p>
        </p:txBody>
      </p:sp>
      <p:sp>
        <p:nvSpPr>
          <p:cNvPr id="52" name="Rounded Rectangle 51"/>
          <p:cNvSpPr/>
          <p:nvPr/>
        </p:nvSpPr>
        <p:spPr>
          <a:xfrm>
            <a:off x="640080" y="3816985"/>
            <a:ext cx="1243926" cy="58381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68680" y="3981577"/>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68680" y="4127881"/>
            <a:ext cx="786726" cy="218058"/>
          </a:xfrm>
          <a:prstGeom prst="rect">
            <a:avLst/>
          </a:prstGeom>
          <a:noFill/>
        </p:spPr>
        <p:txBody>
          <a:bodyPr wrap="square" anchor="t" lIns="0" rIns="0" tIns="0" bIns="0">
            <a:spAutoFit/>
          </a:bodyPr>
          <a:lstStyle/>
          <a:p>
            <a:pPr algn="l"/>
            <a:r>
              <a:rPr sz="1200" b="0">
                <a:solidFill>
                  <a:srgbClr val="C7C2EF"/>
                </a:solidFill>
                <a:latin typeface="ITC Avant Garde Gothic"/>
              </a:rPr>
              <a:t>1</a:t>
            </a:r>
          </a:p>
        </p:txBody>
      </p:sp>
      <p:sp>
        <p:nvSpPr>
          <p:cNvPr id="55" name="Rounded Rectangle 54"/>
          <p:cNvSpPr/>
          <p:nvPr/>
        </p:nvSpPr>
        <p:spPr>
          <a:xfrm>
            <a:off x="2021166" y="3816985"/>
            <a:ext cx="1243926" cy="58381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249766" y="3981577"/>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249766" y="4127881"/>
            <a:ext cx="786726" cy="218058"/>
          </a:xfrm>
          <a:prstGeom prst="rect">
            <a:avLst/>
          </a:prstGeom>
          <a:noFill/>
        </p:spPr>
        <p:txBody>
          <a:bodyPr wrap="square" anchor="t" lIns="0" rIns="0" tIns="0" bIns="0">
            <a:spAutoFit/>
          </a:bodyPr>
          <a:lstStyle/>
          <a:p>
            <a:pPr algn="l"/>
            <a:r>
              <a:rPr sz="1200" b="0">
                <a:solidFill>
                  <a:srgbClr val="C7C2EF"/>
                </a:solidFill>
                <a:latin typeface="ITC Avant Garde Gothic"/>
              </a:rPr>
              <a:t>−1</a:t>
            </a:r>
          </a:p>
        </p:txBody>
      </p:sp>
      <p:sp>
        <p:nvSpPr>
          <p:cNvPr id="58" name="Rounded Rectangle 57"/>
          <p:cNvSpPr/>
          <p:nvPr/>
        </p:nvSpPr>
        <p:spPr>
          <a:xfrm>
            <a:off x="3402253" y="3816985"/>
            <a:ext cx="1243926" cy="58381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3630853" y="3981577"/>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630853" y="4127881"/>
            <a:ext cx="786726" cy="218058"/>
          </a:xfrm>
          <a:prstGeom prst="rect">
            <a:avLst/>
          </a:prstGeom>
          <a:noFill/>
        </p:spPr>
        <p:txBody>
          <a:bodyPr wrap="square" anchor="t" lIns="0" rIns="0" tIns="0" bIns="0">
            <a:spAutoFit/>
          </a:bodyPr>
          <a:lstStyle/>
          <a:p>
            <a:pPr algn="l"/>
            <a:r>
              <a:rPr sz="1200" b="0">
                <a:solidFill>
                  <a:srgbClr val="C7C2EF"/>
                </a:solidFill>
                <a:latin typeface="ITC Avant Garde Gothic"/>
              </a:rPr>
              <a:t>0</a:t>
            </a:r>
          </a:p>
        </p:txBody>
      </p:sp>
      <p:sp>
        <p:nvSpPr>
          <p:cNvPr id="61" name="Rounded Rectangle 60"/>
          <p:cNvSpPr/>
          <p:nvPr/>
        </p:nvSpPr>
        <p:spPr>
          <a:xfrm>
            <a:off x="4783340" y="3816985"/>
            <a:ext cx="1243926" cy="58381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5011940" y="3981577"/>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11940" y="4127881"/>
            <a:ext cx="786726" cy="218058"/>
          </a:xfrm>
          <a:prstGeom prst="rect">
            <a:avLst/>
          </a:prstGeom>
          <a:noFill/>
        </p:spPr>
        <p:txBody>
          <a:bodyPr wrap="square" anchor="t" lIns="0" rIns="0" tIns="0" bIns="0">
            <a:spAutoFit/>
          </a:bodyPr>
          <a:lstStyle/>
          <a:p>
            <a:pPr algn="l"/>
            <a:r>
              <a:rPr sz="1200" b="0">
                <a:solidFill>
                  <a:srgbClr val="C7C2EF"/>
                </a:solidFill>
                <a:latin typeface="ITC Avant Garde Gothic"/>
              </a:rPr>
              <a:t>1</a:t>
            </a:r>
          </a:p>
        </p:txBody>
      </p:sp>
      <p:sp>
        <p:nvSpPr>
          <p:cNvPr id="64" name="TextBox 63"/>
          <p:cNvSpPr txBox="1"/>
          <p:nvPr/>
        </p:nvSpPr>
        <p:spPr>
          <a:xfrm>
            <a:off x="640080" y="4583684"/>
            <a:ext cx="10911535" cy="204520"/>
          </a:xfrm>
          <a:prstGeom prst="rect">
            <a:avLst/>
          </a:prstGeom>
          <a:noFill/>
        </p:spPr>
        <p:txBody>
          <a:bodyPr wrap="square" anchor="t" lIns="0" rIns="0" tIns="0" bIns="0">
            <a:spAutoFit/>
          </a:bodyPr>
          <a:lstStyle/>
          <a:p>
            <a:pPr algn="l"/>
            <a:r>
              <a:rPr sz="1300" b="0">
                <a:solidFill>
                  <a:srgbClr val="C7C2EF"/>
                </a:solidFill>
                <a:latin typeface="ITC Avant Garde Gothic"/>
              </a:rPr>
              <a:t>Una zona oscura a la izquierda y una franja brillante a la derecha: un borde vertical de oscuro a brillante.</a:t>
            </a:r>
          </a:p>
        </p:txBody>
      </p:sp>
      <p:sp>
        <p:nvSpPr>
          <p:cNvPr id="65" name="TextBox 64"/>
          <p:cNvSpPr txBox="1"/>
          <p:nvPr/>
        </p:nvSpPr>
        <p:spPr>
          <a:xfrm>
            <a:off x="640080" y="5016804"/>
            <a:ext cx="10911535" cy="204520"/>
          </a:xfrm>
          <a:prstGeom prst="rect">
            <a:avLst/>
          </a:prstGeom>
          <a:noFill/>
        </p:spPr>
        <p:txBody>
          <a:bodyPr wrap="square" anchor="t" lIns="0" rIns="0" tIns="0" bIns="0">
            <a:spAutoFit/>
          </a:bodyPr>
          <a:lstStyle/>
          <a:p>
            <a:pPr algn="l"/>
            <a:r>
              <a:rPr sz="1300" b="0">
                <a:solidFill>
                  <a:srgbClr val="C7C2EF"/>
                </a:solidFill>
                <a:latin typeface="ITC Avant Garde Gothic"/>
              </a:rPr>
              <a:t>El filtro resta lo que hay a la izquierda, suma lo que hay a la derecha y no le importa el centro.</a:t>
            </a:r>
          </a:p>
        </p:txBody>
      </p:sp>
      <p:sp>
        <p:nvSpPr>
          <p:cNvPr id="66" name="TextBox 65"/>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Una convolución a mano</a:t>
            </a:r>
          </a:p>
        </p:txBody>
      </p:sp>
      <p:sp>
        <p:nvSpPr>
          <p:cNvPr id="3" name="TextBox 2"/>
          <p:cNvSpPr txBox="1"/>
          <p:nvPr/>
        </p:nvSpPr>
        <p:spPr>
          <a:xfrm>
            <a:off x="640080" y="960120"/>
            <a:ext cx="10911535" cy="449833"/>
          </a:xfrm>
          <a:prstGeom prst="rect">
            <a:avLst/>
          </a:prstGeom>
          <a:noFill/>
        </p:spPr>
        <p:txBody>
          <a:bodyPr wrap="square" anchor="t" lIns="0" rIns="0" tIns="0" bIns="0">
            <a:spAutoFit/>
          </a:bodyPr>
          <a:lstStyle/>
          <a:p>
            <a:pPr algn="l"/>
            <a:r>
              <a:rPr sz="3100" b="1">
                <a:solidFill>
                  <a:srgbClr val="C7C2EF"/>
                </a:solidFill>
                <a:latin typeface="ITC Avant Garde Gothic"/>
              </a:rPr>
              <a:t>Un filtro que busca bordes</a:t>
            </a:r>
          </a:p>
        </p:txBody>
      </p:sp>
      <p:sp>
        <p:nvSpPr>
          <p:cNvPr id="4" name="Rounded Rectangle 3"/>
          <p:cNvSpPr/>
          <p:nvPr/>
        </p:nvSpPr>
        <p:spPr>
          <a:xfrm>
            <a:off x="640080" y="1775714"/>
            <a:ext cx="1243926" cy="7142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86610"/>
            <a:ext cx="786726" cy="348487"/>
          </a:xfrm>
          <a:prstGeom prst="rect">
            <a:avLst/>
          </a:prstGeom>
          <a:noFill/>
        </p:spPr>
        <p:txBody>
          <a:bodyPr wrap="square" anchor="t" lIns="0" rIns="0" tIns="0" bIns="0">
            <a:spAutoFit/>
          </a:bodyPr>
          <a:lstStyle/>
          <a:p>
            <a:pPr algn="l"/>
            <a:r>
              <a:rPr sz="1000" b="0">
                <a:solidFill>
                  <a:srgbClr val="C7C2EF"/>
                </a:solidFill>
                <a:latin typeface="ITC Avant Garde Gothic"/>
              </a:rPr>
              <a:t>Pedazo de imagen</a:t>
            </a:r>
          </a:p>
        </p:txBody>
      </p:sp>
      <p:sp>
        <p:nvSpPr>
          <p:cNvPr id="7" name="Rounded Rectangle 6"/>
          <p:cNvSpPr/>
          <p:nvPr/>
        </p:nvSpPr>
        <p:spPr>
          <a:xfrm>
            <a:off x="2021166" y="1775714"/>
            <a:ext cx="1243926" cy="7142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49766"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49766" y="2086610"/>
            <a:ext cx="786726" cy="348487"/>
          </a:xfrm>
          <a:prstGeom prst="rect">
            <a:avLst/>
          </a:prstGeom>
          <a:noFill/>
        </p:spPr>
        <p:txBody>
          <a:bodyPr wrap="square" anchor="t" lIns="0" rIns="0" tIns="0" bIns="0">
            <a:spAutoFit/>
          </a:bodyPr>
          <a:lstStyle/>
          <a:p>
            <a:pPr algn="l"/>
            <a:r>
              <a:rPr sz="1000" b="0">
                <a:solidFill>
                  <a:srgbClr val="C7C2EF"/>
                </a:solidFill>
                <a:latin typeface="ITC Avant Garde Gothic"/>
              </a:rPr>
              <a:t>10</a:t>
            </a:r>
          </a:p>
        </p:txBody>
      </p:sp>
      <p:sp>
        <p:nvSpPr>
          <p:cNvPr id="10" name="Rounded Rectangle 9"/>
          <p:cNvSpPr/>
          <p:nvPr/>
        </p:nvSpPr>
        <p:spPr>
          <a:xfrm>
            <a:off x="3402253" y="1775714"/>
            <a:ext cx="1243926" cy="7142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30853"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30853" y="2086610"/>
            <a:ext cx="786726" cy="348487"/>
          </a:xfrm>
          <a:prstGeom prst="rect">
            <a:avLst/>
          </a:prstGeom>
          <a:noFill/>
        </p:spPr>
        <p:txBody>
          <a:bodyPr wrap="square" anchor="t" lIns="0" rIns="0" tIns="0" bIns="0">
            <a:spAutoFit/>
          </a:bodyPr>
          <a:lstStyle/>
          <a:p>
            <a:pPr algn="l"/>
            <a:r>
              <a:rPr sz="1000" b="0">
                <a:solidFill>
                  <a:srgbClr val="C7C2EF"/>
                </a:solidFill>
                <a:latin typeface="ITC Avant Garde Gothic"/>
              </a:rPr>
              <a:t>10</a:t>
            </a:r>
          </a:p>
        </p:txBody>
      </p:sp>
      <p:sp>
        <p:nvSpPr>
          <p:cNvPr id="13" name="Rounded Rectangle 12"/>
          <p:cNvSpPr/>
          <p:nvPr/>
        </p:nvSpPr>
        <p:spPr>
          <a:xfrm>
            <a:off x="4783340" y="1775714"/>
            <a:ext cx="1243926" cy="7142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11940"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11940" y="2086610"/>
            <a:ext cx="786726" cy="348487"/>
          </a:xfrm>
          <a:prstGeom prst="rect">
            <a:avLst/>
          </a:prstGeom>
          <a:noFill/>
        </p:spPr>
        <p:txBody>
          <a:bodyPr wrap="square" anchor="t" lIns="0" rIns="0" tIns="0" bIns="0">
            <a:spAutoFit/>
          </a:bodyPr>
          <a:lstStyle/>
          <a:p>
            <a:pPr algn="l"/>
            <a:r>
              <a:rPr sz="1000" b="0">
                <a:solidFill>
                  <a:srgbClr val="C7C2EF"/>
                </a:solidFill>
                <a:latin typeface="ITC Avant Garde Gothic"/>
              </a:rPr>
              <a:t>200</a:t>
            </a:r>
          </a:p>
        </p:txBody>
      </p:sp>
      <p:sp>
        <p:nvSpPr>
          <p:cNvPr id="16" name="Rounded Rectangle 15"/>
          <p:cNvSpPr/>
          <p:nvPr/>
        </p:nvSpPr>
        <p:spPr>
          <a:xfrm>
            <a:off x="6164427" y="1775714"/>
            <a:ext cx="1243926" cy="7142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93027"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93027" y="2086610"/>
            <a:ext cx="786726" cy="348487"/>
          </a:xfrm>
          <a:prstGeom prst="rect">
            <a:avLst/>
          </a:prstGeom>
          <a:noFill/>
        </p:spPr>
        <p:txBody>
          <a:bodyPr wrap="square" anchor="t" lIns="0" rIns="0" tIns="0" bIns="0">
            <a:spAutoFit/>
          </a:bodyPr>
          <a:lstStyle/>
          <a:p>
            <a:pPr algn="l"/>
            <a:r>
              <a:rPr sz="1000" b="0">
                <a:solidFill>
                  <a:srgbClr val="C7C2EF"/>
                </a:solidFill>
                <a:latin typeface="ITC Avant Garde Gothic"/>
              </a:rPr>
              <a:t>10</a:t>
            </a:r>
          </a:p>
        </p:txBody>
      </p:sp>
      <p:sp>
        <p:nvSpPr>
          <p:cNvPr id="19" name="Rounded Rectangle 18"/>
          <p:cNvSpPr/>
          <p:nvPr/>
        </p:nvSpPr>
        <p:spPr>
          <a:xfrm>
            <a:off x="7545514" y="1775714"/>
            <a:ext cx="1243926" cy="7142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4114"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4114" y="2086610"/>
            <a:ext cx="786726" cy="348487"/>
          </a:xfrm>
          <a:prstGeom prst="rect">
            <a:avLst/>
          </a:prstGeom>
          <a:noFill/>
        </p:spPr>
        <p:txBody>
          <a:bodyPr wrap="square" anchor="t" lIns="0" rIns="0" tIns="0" bIns="0">
            <a:spAutoFit/>
          </a:bodyPr>
          <a:lstStyle/>
          <a:p>
            <a:pPr algn="l"/>
            <a:r>
              <a:rPr sz="1000" b="0">
                <a:solidFill>
                  <a:srgbClr val="C7C2EF"/>
                </a:solidFill>
                <a:latin typeface="ITC Avant Garde Gothic"/>
              </a:rPr>
              <a:t>10</a:t>
            </a:r>
          </a:p>
        </p:txBody>
      </p:sp>
      <p:sp>
        <p:nvSpPr>
          <p:cNvPr id="22" name="Rounded Rectangle 21"/>
          <p:cNvSpPr/>
          <p:nvPr/>
        </p:nvSpPr>
        <p:spPr>
          <a:xfrm>
            <a:off x="8926601" y="1775714"/>
            <a:ext cx="1243926" cy="7142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55201"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55201" y="2086610"/>
            <a:ext cx="786726" cy="348487"/>
          </a:xfrm>
          <a:prstGeom prst="rect">
            <a:avLst/>
          </a:prstGeom>
          <a:noFill/>
        </p:spPr>
        <p:txBody>
          <a:bodyPr wrap="square" anchor="t" lIns="0" rIns="0" tIns="0" bIns="0">
            <a:spAutoFit/>
          </a:bodyPr>
          <a:lstStyle/>
          <a:p>
            <a:pPr algn="l"/>
            <a:r>
              <a:rPr sz="1000" b="0">
                <a:solidFill>
                  <a:srgbClr val="C7C2EF"/>
                </a:solidFill>
                <a:latin typeface="ITC Avant Garde Gothic"/>
              </a:rPr>
              <a:t>200</a:t>
            </a:r>
          </a:p>
        </p:txBody>
      </p:sp>
      <p:sp>
        <p:nvSpPr>
          <p:cNvPr id="25" name="Rounded Rectangle 24"/>
          <p:cNvSpPr/>
          <p:nvPr/>
        </p:nvSpPr>
        <p:spPr>
          <a:xfrm>
            <a:off x="10307688" y="1775714"/>
            <a:ext cx="1243926" cy="7142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536288"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536288" y="2086610"/>
            <a:ext cx="786726" cy="348487"/>
          </a:xfrm>
          <a:prstGeom prst="rect">
            <a:avLst/>
          </a:prstGeom>
          <a:noFill/>
        </p:spPr>
        <p:txBody>
          <a:bodyPr wrap="square" anchor="t" lIns="0" rIns="0" tIns="0" bIns="0">
            <a:spAutoFit/>
          </a:bodyPr>
          <a:lstStyle/>
          <a:p>
            <a:pPr algn="l"/>
            <a:r>
              <a:rPr sz="1000" b="0">
                <a:solidFill>
                  <a:srgbClr val="C7C2EF"/>
                </a:solidFill>
                <a:latin typeface="ITC Avant Garde Gothic"/>
              </a:rPr>
              <a:t>10</a:t>
            </a:r>
          </a:p>
        </p:txBody>
      </p:sp>
      <p:sp>
        <p:nvSpPr>
          <p:cNvPr id="28" name="Rounded Rectangle 27"/>
          <p:cNvSpPr/>
          <p:nvPr/>
        </p:nvSpPr>
        <p:spPr>
          <a:xfrm>
            <a:off x="640080" y="2627122"/>
            <a:ext cx="1243926" cy="5491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8680" y="279171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2938018"/>
            <a:ext cx="786726" cy="183387"/>
          </a:xfrm>
          <a:prstGeom prst="rect">
            <a:avLst/>
          </a:prstGeom>
          <a:noFill/>
        </p:spPr>
        <p:txBody>
          <a:bodyPr wrap="square" anchor="t" lIns="0" rIns="0" tIns="0" bIns="0">
            <a:spAutoFit/>
          </a:bodyPr>
          <a:lstStyle/>
          <a:p>
            <a:pPr algn="l"/>
            <a:r>
              <a:rPr sz="1000" b="0">
                <a:solidFill>
                  <a:srgbClr val="C7C2EF"/>
                </a:solidFill>
                <a:latin typeface="ITC Avant Garde Gothic"/>
              </a:rPr>
              <a:t>10</a:t>
            </a:r>
          </a:p>
        </p:txBody>
      </p:sp>
      <p:sp>
        <p:nvSpPr>
          <p:cNvPr id="31" name="Rounded Rectangle 30"/>
          <p:cNvSpPr/>
          <p:nvPr/>
        </p:nvSpPr>
        <p:spPr>
          <a:xfrm>
            <a:off x="2021166" y="2627122"/>
            <a:ext cx="1243926" cy="5491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249766" y="279171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249766" y="2938018"/>
            <a:ext cx="786726" cy="183387"/>
          </a:xfrm>
          <a:prstGeom prst="rect">
            <a:avLst/>
          </a:prstGeom>
          <a:noFill/>
        </p:spPr>
        <p:txBody>
          <a:bodyPr wrap="square" anchor="t" lIns="0" rIns="0" tIns="0" bIns="0">
            <a:spAutoFit/>
          </a:bodyPr>
          <a:lstStyle/>
          <a:p>
            <a:pPr algn="l"/>
            <a:r>
              <a:rPr sz="1000" b="0">
                <a:solidFill>
                  <a:srgbClr val="C7C2EF"/>
                </a:solidFill>
                <a:latin typeface="ITC Avant Garde Gothic"/>
              </a:rPr>
              <a:t>200</a:t>
            </a:r>
          </a:p>
        </p:txBody>
      </p:sp>
      <p:sp>
        <p:nvSpPr>
          <p:cNvPr id="34" name="Rounded Rectangle 33"/>
          <p:cNvSpPr/>
          <p:nvPr/>
        </p:nvSpPr>
        <p:spPr>
          <a:xfrm>
            <a:off x="3402253" y="2627122"/>
            <a:ext cx="1243926" cy="5491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30853" y="279171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30853" y="2938018"/>
            <a:ext cx="786726" cy="183387"/>
          </a:xfrm>
          <a:prstGeom prst="rect">
            <a:avLst/>
          </a:prstGeom>
          <a:noFill/>
        </p:spPr>
        <p:txBody>
          <a:bodyPr wrap="square" anchor="t" lIns="0" rIns="0" tIns="0" bIns="0">
            <a:spAutoFit/>
          </a:bodyPr>
          <a:lstStyle/>
          <a:p>
            <a:pPr algn="l"/>
            <a:r>
              <a:rPr sz="1000" b="0">
                <a:solidFill>
                  <a:srgbClr val="C7C2EF"/>
                </a:solidFill>
                <a:latin typeface="ITC Avant Garde Gothic"/>
              </a:rPr>
              <a:t>×</a:t>
            </a:r>
          </a:p>
        </p:txBody>
      </p:sp>
      <p:sp>
        <p:nvSpPr>
          <p:cNvPr id="37" name="Rounded Rectangle 36"/>
          <p:cNvSpPr/>
          <p:nvPr/>
        </p:nvSpPr>
        <p:spPr>
          <a:xfrm>
            <a:off x="4783340" y="2627122"/>
            <a:ext cx="1243926" cy="5491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11940" y="279171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11940" y="2938018"/>
            <a:ext cx="786726" cy="183387"/>
          </a:xfrm>
          <a:prstGeom prst="rect">
            <a:avLst/>
          </a:prstGeom>
          <a:noFill/>
        </p:spPr>
        <p:txBody>
          <a:bodyPr wrap="square" anchor="t" lIns="0" rIns="0" tIns="0" bIns="0">
            <a:spAutoFit/>
          </a:bodyPr>
          <a:lstStyle/>
          <a:p>
            <a:pPr algn="l"/>
            <a:r>
              <a:rPr sz="1000" b="0">
                <a:solidFill>
                  <a:srgbClr val="C7C2EF"/>
                </a:solidFill>
                <a:latin typeface="ITC Avant Garde Gothic"/>
              </a:rPr>
              <a:t>Filtro</a:t>
            </a:r>
          </a:p>
        </p:txBody>
      </p:sp>
      <p:sp>
        <p:nvSpPr>
          <p:cNvPr id="40" name="Rounded Rectangle 39"/>
          <p:cNvSpPr/>
          <p:nvPr/>
        </p:nvSpPr>
        <p:spPr>
          <a:xfrm>
            <a:off x="6164427" y="2627122"/>
            <a:ext cx="1243926" cy="5491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93027" y="279171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93027" y="2938018"/>
            <a:ext cx="786726" cy="183387"/>
          </a:xfrm>
          <a:prstGeom prst="rect">
            <a:avLst/>
          </a:prstGeom>
          <a:noFill/>
        </p:spPr>
        <p:txBody>
          <a:bodyPr wrap="square" anchor="t" lIns="0" rIns="0" tIns="0" bIns="0">
            <a:spAutoFit/>
          </a:bodyPr>
          <a:lstStyle/>
          <a:p>
            <a:pPr algn="l"/>
            <a:r>
              <a:rPr sz="1000" b="0">
                <a:solidFill>
                  <a:srgbClr val="C7C2EF"/>
                </a:solidFill>
                <a:latin typeface="ITC Avant Garde Gothic"/>
              </a:rPr>
              <a:t>−1</a:t>
            </a:r>
          </a:p>
        </p:txBody>
      </p:sp>
      <p:sp>
        <p:nvSpPr>
          <p:cNvPr id="43" name="Rounded Rectangle 42"/>
          <p:cNvSpPr/>
          <p:nvPr/>
        </p:nvSpPr>
        <p:spPr>
          <a:xfrm>
            <a:off x="7545514" y="2627122"/>
            <a:ext cx="1243926" cy="5491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4114" y="279171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74114" y="2938018"/>
            <a:ext cx="786726" cy="183387"/>
          </a:xfrm>
          <a:prstGeom prst="rect">
            <a:avLst/>
          </a:prstGeom>
          <a:noFill/>
        </p:spPr>
        <p:txBody>
          <a:bodyPr wrap="square" anchor="t" lIns="0" rIns="0" tIns="0" bIns="0">
            <a:spAutoFit/>
          </a:bodyPr>
          <a:lstStyle/>
          <a:p>
            <a:pPr algn="l"/>
            <a:r>
              <a:rPr sz="1000" b="0">
                <a:solidFill>
                  <a:srgbClr val="C7C2EF"/>
                </a:solidFill>
                <a:latin typeface="ITC Avant Garde Gothic"/>
              </a:rPr>
              <a:t>0</a:t>
            </a:r>
          </a:p>
        </p:txBody>
      </p:sp>
      <p:sp>
        <p:nvSpPr>
          <p:cNvPr id="46" name="Rounded Rectangle 45"/>
          <p:cNvSpPr/>
          <p:nvPr/>
        </p:nvSpPr>
        <p:spPr>
          <a:xfrm>
            <a:off x="8926601" y="2627122"/>
            <a:ext cx="1243926" cy="5491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155201" y="279171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55201" y="2938018"/>
            <a:ext cx="786726" cy="183387"/>
          </a:xfrm>
          <a:prstGeom prst="rect">
            <a:avLst/>
          </a:prstGeom>
          <a:noFill/>
        </p:spPr>
        <p:txBody>
          <a:bodyPr wrap="square" anchor="t" lIns="0" rIns="0" tIns="0" bIns="0">
            <a:spAutoFit/>
          </a:bodyPr>
          <a:lstStyle/>
          <a:p>
            <a:pPr algn="l"/>
            <a:r>
              <a:rPr sz="1000" b="0">
                <a:solidFill>
                  <a:srgbClr val="C7C2EF"/>
                </a:solidFill>
                <a:latin typeface="ITC Avant Garde Gothic"/>
              </a:rPr>
              <a:t>1</a:t>
            </a:r>
          </a:p>
        </p:txBody>
      </p:sp>
      <p:sp>
        <p:nvSpPr>
          <p:cNvPr id="49" name="Rounded Rectangle 48"/>
          <p:cNvSpPr/>
          <p:nvPr/>
        </p:nvSpPr>
        <p:spPr>
          <a:xfrm>
            <a:off x="10307688" y="2627122"/>
            <a:ext cx="1243926" cy="5491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0536288" y="279171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36288" y="2938018"/>
            <a:ext cx="786726" cy="183387"/>
          </a:xfrm>
          <a:prstGeom prst="rect">
            <a:avLst/>
          </a:prstGeom>
          <a:noFill/>
        </p:spPr>
        <p:txBody>
          <a:bodyPr wrap="square" anchor="t" lIns="0" rIns="0" tIns="0" bIns="0">
            <a:spAutoFit/>
          </a:bodyPr>
          <a:lstStyle/>
          <a:p>
            <a:pPr algn="l"/>
            <a:r>
              <a:rPr sz="1000" b="0">
                <a:solidFill>
                  <a:srgbClr val="C7C2EF"/>
                </a:solidFill>
                <a:latin typeface="ITC Avant Garde Gothic"/>
              </a:rPr>
              <a:t>−1</a:t>
            </a:r>
          </a:p>
        </p:txBody>
      </p:sp>
      <p:sp>
        <p:nvSpPr>
          <p:cNvPr id="52" name="Rounded Rectangle 51"/>
          <p:cNvSpPr/>
          <p:nvPr/>
        </p:nvSpPr>
        <p:spPr>
          <a:xfrm>
            <a:off x="640080" y="3313430"/>
            <a:ext cx="1243926" cy="8793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68680" y="347802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68680" y="3624326"/>
            <a:ext cx="786726" cy="513588"/>
          </a:xfrm>
          <a:prstGeom prst="rect">
            <a:avLst/>
          </a:prstGeom>
          <a:noFill/>
        </p:spPr>
        <p:txBody>
          <a:bodyPr wrap="square" anchor="t" lIns="0" rIns="0" tIns="0" bIns="0">
            <a:spAutoFit/>
          </a:bodyPr>
          <a:lstStyle/>
          <a:p>
            <a:pPr algn="l"/>
            <a:r>
              <a:rPr sz="1000" b="0">
                <a:solidFill>
                  <a:srgbClr val="C7C2EF"/>
                </a:solidFill>
                <a:latin typeface="ITC Avant Garde Gothic"/>
              </a:rPr>
              <a:t>0</a:t>
            </a:r>
          </a:p>
        </p:txBody>
      </p:sp>
      <p:sp>
        <p:nvSpPr>
          <p:cNvPr id="55" name="Rounded Rectangle 54"/>
          <p:cNvSpPr/>
          <p:nvPr/>
        </p:nvSpPr>
        <p:spPr>
          <a:xfrm>
            <a:off x="2021166" y="3313430"/>
            <a:ext cx="1243926" cy="8793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249766" y="347802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249766" y="3624326"/>
            <a:ext cx="786726" cy="513588"/>
          </a:xfrm>
          <a:prstGeom prst="rect">
            <a:avLst/>
          </a:prstGeom>
          <a:noFill/>
        </p:spPr>
        <p:txBody>
          <a:bodyPr wrap="square" anchor="t" lIns="0" rIns="0" tIns="0" bIns="0">
            <a:spAutoFit/>
          </a:bodyPr>
          <a:lstStyle/>
          <a:p>
            <a:pPr algn="l"/>
            <a:r>
              <a:rPr sz="1000" b="0">
                <a:solidFill>
                  <a:srgbClr val="C7C2EF"/>
                </a:solidFill>
                <a:latin typeface="ITC Avant Garde Gothic"/>
              </a:rPr>
              <a:t>1</a:t>
            </a:r>
          </a:p>
        </p:txBody>
      </p:sp>
      <p:sp>
        <p:nvSpPr>
          <p:cNvPr id="58" name="Rounded Rectangle 57"/>
          <p:cNvSpPr/>
          <p:nvPr/>
        </p:nvSpPr>
        <p:spPr>
          <a:xfrm>
            <a:off x="3402253" y="3313430"/>
            <a:ext cx="1243926" cy="8793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3630853" y="347802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630853" y="3624326"/>
            <a:ext cx="786726" cy="513588"/>
          </a:xfrm>
          <a:prstGeom prst="rect">
            <a:avLst/>
          </a:prstGeom>
          <a:noFill/>
        </p:spPr>
        <p:txBody>
          <a:bodyPr wrap="square" anchor="t" lIns="0" rIns="0" tIns="0" bIns="0">
            <a:spAutoFit/>
          </a:bodyPr>
          <a:lstStyle/>
          <a:p>
            <a:pPr algn="l"/>
            <a:r>
              <a:rPr sz="1000" b="0">
                <a:solidFill>
                  <a:srgbClr val="C7C2EF"/>
                </a:solidFill>
                <a:latin typeface="ITC Avant Garde Gothic"/>
              </a:rPr>
              <a:t>−1</a:t>
            </a:r>
          </a:p>
        </p:txBody>
      </p:sp>
      <p:sp>
        <p:nvSpPr>
          <p:cNvPr id="61" name="Rounded Rectangle 60"/>
          <p:cNvSpPr/>
          <p:nvPr/>
        </p:nvSpPr>
        <p:spPr>
          <a:xfrm>
            <a:off x="4783340" y="3313430"/>
            <a:ext cx="1243926" cy="8793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5011940" y="347802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11940" y="3624326"/>
            <a:ext cx="786726" cy="513588"/>
          </a:xfrm>
          <a:prstGeom prst="rect">
            <a:avLst/>
          </a:prstGeom>
          <a:noFill/>
        </p:spPr>
        <p:txBody>
          <a:bodyPr wrap="square" anchor="t" lIns="0" rIns="0" tIns="0" bIns="0">
            <a:spAutoFit/>
          </a:bodyPr>
          <a:lstStyle/>
          <a:p>
            <a:pPr algn="l"/>
            <a:r>
              <a:rPr sz="1000" b="0">
                <a:solidFill>
                  <a:srgbClr val="C7C2EF"/>
                </a:solidFill>
                <a:latin typeface="ITC Avant Garde Gothic"/>
              </a:rPr>
              <a:t>0</a:t>
            </a:r>
          </a:p>
        </p:txBody>
      </p:sp>
      <p:sp>
        <p:nvSpPr>
          <p:cNvPr id="64" name="Rounded Rectangle 63"/>
          <p:cNvSpPr/>
          <p:nvPr/>
        </p:nvSpPr>
        <p:spPr>
          <a:xfrm>
            <a:off x="6164427" y="3313430"/>
            <a:ext cx="1243926" cy="8793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393027" y="347802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393027" y="3624326"/>
            <a:ext cx="786726" cy="513588"/>
          </a:xfrm>
          <a:prstGeom prst="rect">
            <a:avLst/>
          </a:prstGeom>
          <a:noFill/>
        </p:spPr>
        <p:txBody>
          <a:bodyPr wrap="square" anchor="t" lIns="0" rIns="0" tIns="0" bIns="0">
            <a:spAutoFit/>
          </a:bodyPr>
          <a:lstStyle/>
          <a:p>
            <a:pPr algn="l"/>
            <a:r>
              <a:rPr sz="1000" b="0">
                <a:solidFill>
                  <a:srgbClr val="C7C2EF"/>
                </a:solidFill>
                <a:latin typeface="ITC Avant Garde Gothic"/>
              </a:rPr>
              <a:t>1</a:t>
            </a:r>
          </a:p>
        </p:txBody>
      </p:sp>
      <p:sp>
        <p:nvSpPr>
          <p:cNvPr id="67" name="Rounded Rectangle 66"/>
          <p:cNvSpPr/>
          <p:nvPr/>
        </p:nvSpPr>
        <p:spPr>
          <a:xfrm>
            <a:off x="7545514" y="3313430"/>
            <a:ext cx="1243926" cy="8793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7774114" y="347802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774114" y="3624326"/>
            <a:ext cx="786726" cy="513588"/>
          </a:xfrm>
          <a:prstGeom prst="rect">
            <a:avLst/>
          </a:prstGeom>
          <a:noFill/>
        </p:spPr>
        <p:txBody>
          <a:bodyPr wrap="square" anchor="t" lIns="0" rIns="0" tIns="0" bIns="0">
            <a:spAutoFit/>
          </a:bodyPr>
          <a:lstStyle/>
          <a:p>
            <a:pPr algn="l"/>
            <a:r>
              <a:rPr sz="1000" b="0">
                <a:solidFill>
                  <a:srgbClr val="C7C2EF"/>
                </a:solidFill>
                <a:latin typeface="ITC Avant Garde Gothic"/>
              </a:rPr>
              <a:t>=</a:t>
            </a:r>
          </a:p>
        </p:txBody>
      </p:sp>
      <p:sp>
        <p:nvSpPr>
          <p:cNvPr id="70" name="Rounded Rectangle 69"/>
          <p:cNvSpPr/>
          <p:nvPr/>
        </p:nvSpPr>
        <p:spPr>
          <a:xfrm>
            <a:off x="8926601" y="3313430"/>
            <a:ext cx="1243926" cy="8793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9155201" y="347802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155201" y="3624326"/>
            <a:ext cx="786726" cy="513588"/>
          </a:xfrm>
          <a:prstGeom prst="rect">
            <a:avLst/>
          </a:prstGeom>
          <a:noFill/>
        </p:spPr>
        <p:txBody>
          <a:bodyPr wrap="square" anchor="t" lIns="0" rIns="0" tIns="0" bIns="0">
            <a:spAutoFit/>
          </a:bodyPr>
          <a:lstStyle/>
          <a:p>
            <a:pPr algn="l"/>
            <a:r>
              <a:rPr sz="1000" b="0">
                <a:solidFill>
                  <a:srgbClr val="C7C2EF"/>
                </a:solidFill>
                <a:latin typeface="ITC Avant Garde Gothic"/>
              </a:rPr>
              <a:t>Por fila: −10 + 0 + 200</a:t>
            </a:r>
          </a:p>
        </p:txBody>
      </p:sp>
      <p:sp>
        <p:nvSpPr>
          <p:cNvPr id="73" name="Rounded Rectangle 72"/>
          <p:cNvSpPr/>
          <p:nvPr/>
        </p:nvSpPr>
        <p:spPr>
          <a:xfrm>
            <a:off x="10307688" y="3313430"/>
            <a:ext cx="1243926" cy="87934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0536288" y="347802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536288" y="3624326"/>
            <a:ext cx="786726" cy="513588"/>
          </a:xfrm>
          <a:prstGeom prst="rect">
            <a:avLst/>
          </a:prstGeom>
          <a:noFill/>
        </p:spPr>
        <p:txBody>
          <a:bodyPr wrap="square" anchor="t" lIns="0" rIns="0" tIns="0" bIns="0">
            <a:spAutoFit/>
          </a:bodyPr>
          <a:lstStyle/>
          <a:p>
            <a:pPr algn="l"/>
            <a:r>
              <a:rPr sz="1000" b="0">
                <a:solidFill>
                  <a:srgbClr val="C7C2EF"/>
                </a:solidFill>
                <a:latin typeface="ITC Avant Garde Gothic"/>
              </a:rPr>
              <a:t>570</a:t>
            </a:r>
          </a:p>
        </p:txBody>
      </p:sp>
      <p:sp>
        <p:nvSpPr>
          <p:cNvPr id="76" name="Rounded Rectangle 75"/>
          <p:cNvSpPr/>
          <p:nvPr/>
        </p:nvSpPr>
        <p:spPr>
          <a:xfrm>
            <a:off x="640080" y="4329938"/>
            <a:ext cx="1243926" cy="1374647"/>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68680" y="449453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68680" y="4640834"/>
            <a:ext cx="786726" cy="1008887"/>
          </a:xfrm>
          <a:prstGeom prst="rect">
            <a:avLst/>
          </a:prstGeom>
          <a:noFill/>
        </p:spPr>
        <p:txBody>
          <a:bodyPr wrap="square" anchor="t" lIns="0" rIns="0" tIns="0" bIns="0">
            <a:spAutoFit/>
          </a:bodyPr>
          <a:lstStyle/>
          <a:p>
            <a:pPr algn="l"/>
            <a:r>
              <a:rPr sz="1000" b="0">
                <a:solidFill>
                  <a:srgbClr val="C7C2EF"/>
                </a:solidFill>
                <a:latin typeface="ITC Avant Garde Gothic"/>
              </a:rPr>
              <a:t>190 por cada una de las 3 filas</a:t>
            </a:r>
          </a:p>
        </p:txBody>
      </p:sp>
      <p:sp>
        <p:nvSpPr>
          <p:cNvPr id="79" name="Rounded Rectangle 78"/>
          <p:cNvSpPr/>
          <p:nvPr/>
        </p:nvSpPr>
        <p:spPr>
          <a:xfrm>
            <a:off x="2021166" y="4329938"/>
            <a:ext cx="1243926" cy="1374647"/>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2249766" y="449453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249766" y="4640834"/>
            <a:ext cx="786726" cy="1008887"/>
          </a:xfrm>
          <a:prstGeom prst="rect">
            <a:avLst/>
          </a:prstGeom>
          <a:noFill/>
        </p:spPr>
        <p:txBody>
          <a:bodyPr wrap="square" anchor="t" lIns="0" rIns="0" tIns="0" bIns="0">
            <a:spAutoFit/>
          </a:bodyPr>
          <a:lstStyle/>
          <a:p>
            <a:pPr algn="l"/>
            <a:r>
              <a:rPr sz="1000" b="0">
                <a:solidFill>
                  <a:srgbClr val="C7C2EF"/>
                </a:solidFill>
                <a:latin typeface="ITC Avant Garde Gothic"/>
              </a:rPr>
              <a:t>Zona uniforme: 0. No hay borde.</a:t>
            </a:r>
          </a:p>
        </p:txBody>
      </p:sp>
      <p:sp>
        <p:nvSpPr>
          <p:cNvPr id="82" name="Rounded Rectangle 81"/>
          <p:cNvSpPr/>
          <p:nvPr/>
        </p:nvSpPr>
        <p:spPr>
          <a:xfrm>
            <a:off x="3402253" y="4329938"/>
            <a:ext cx="1243926" cy="1374647"/>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3630853" y="449453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3630853" y="4640834"/>
            <a:ext cx="786726" cy="1008887"/>
          </a:xfrm>
          <a:prstGeom prst="rect">
            <a:avLst/>
          </a:prstGeom>
          <a:noFill/>
        </p:spPr>
        <p:txBody>
          <a:bodyPr wrap="square" anchor="t" lIns="0" rIns="0" tIns="0" bIns="0">
            <a:spAutoFit/>
          </a:bodyPr>
          <a:lstStyle/>
          <a:p>
            <a:pPr algn="l"/>
            <a:r>
              <a:rPr sz="1000" b="0">
                <a:solidFill>
                  <a:srgbClr val="C7C2EF"/>
                </a:solidFill>
                <a:latin typeface="ITC Avant Garde Gothic"/>
              </a:rPr>
              <a:t>Borde invertido: −570, la activación lo apaga y queda 0.</a:t>
            </a:r>
          </a:p>
        </p:txBody>
      </p:sp>
      <p:sp>
        <p:nvSpPr>
          <p:cNvPr id="85" name="TextBox 84"/>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Otras posiciones del filtro</a:t>
            </a:r>
          </a:p>
        </p:txBody>
      </p:sp>
      <p:sp>
        <p:nvSpPr>
          <p:cNvPr id="3" name="TextBox 2"/>
          <p:cNvSpPr txBox="1"/>
          <p:nvPr/>
        </p:nvSpPr>
        <p:spPr>
          <a:xfrm>
            <a:off x="640080" y="960120"/>
            <a:ext cx="10911535" cy="642620"/>
          </a:xfrm>
          <a:prstGeom prst="rect">
            <a:avLst/>
          </a:prstGeom>
          <a:noFill/>
        </p:spPr>
        <p:txBody>
          <a:bodyPr wrap="square" anchor="t" lIns="0" rIns="0" tIns="0" bIns="0">
            <a:spAutoFit/>
          </a:bodyPr>
          <a:lstStyle/>
          <a:p>
            <a:pPr algn="l"/>
            <a:r>
              <a:rPr sz="4400" b="1">
                <a:solidFill>
                  <a:srgbClr val="C7C2EF"/>
                </a:solidFill>
                <a:latin typeface="ITC Avant Garde Gothic"/>
              </a:rPr>
              <a:t>Una zona uniforme da cero</a:t>
            </a:r>
          </a:p>
        </p:txBody>
      </p:sp>
      <p:sp>
        <p:nvSpPr>
          <p:cNvPr id="4" name="TextBox 3"/>
          <p:cNvSpPr txBox="1"/>
          <p:nvPr/>
        </p:nvSpPr>
        <p:spPr>
          <a:xfrm>
            <a:off x="640080" y="1968500"/>
            <a:ext cx="10911535" cy="464820"/>
          </a:xfrm>
          <a:prstGeom prst="rect">
            <a:avLst/>
          </a:prstGeom>
          <a:noFill/>
        </p:spPr>
        <p:txBody>
          <a:bodyPr wrap="square" anchor="t" lIns="0" rIns="0" tIns="0" bIns="0">
            <a:spAutoFit/>
          </a:bodyPr>
          <a:lstStyle/>
          <a:p>
            <a:pPr algn="l"/>
            <a:r>
              <a:rPr sz="3000" b="1">
                <a:solidFill>
                  <a:srgbClr val="FF983D"/>
                </a:solidFill>
                <a:latin typeface="ITC Avant Garde Gothic"/>
              </a:rPr>
              <a:t>Nueve píxeles de 10</a:t>
            </a:r>
          </a:p>
        </p:txBody>
      </p:sp>
      <p:sp>
        <p:nvSpPr>
          <p:cNvPr id="5" name="TextBox 4"/>
          <p:cNvSpPr txBox="1"/>
          <p:nvPr/>
        </p:nvSpPr>
        <p:spPr>
          <a:xfrm>
            <a:off x="640080" y="2616200"/>
            <a:ext cx="10911535" cy="743712"/>
          </a:xfrm>
          <a:prstGeom prst="rect">
            <a:avLst/>
          </a:prstGeom>
          <a:noFill/>
        </p:spPr>
        <p:txBody>
          <a:bodyPr wrap="square" anchor="t" lIns="0" rIns="0" tIns="0" bIns="0">
            <a:spAutoFit/>
          </a:bodyPr>
          <a:lstStyle/>
          <a:p>
            <a:pPr algn="l"/>
            <a:r>
              <a:rPr sz="2400" b="0">
                <a:solidFill>
                  <a:srgbClr val="C7C2EF"/>
                </a:solidFill>
                <a:latin typeface="ITC Avant Garde Gothic"/>
              </a:rPr>
              <a:t>Menos 10, cero y 10 suman cero en cada fila: el filtro dice «aquí no hay ningún borde».</a:t>
            </a:r>
          </a:p>
        </p:txBody>
      </p:sp>
      <p:sp>
        <p:nvSpPr>
          <p:cNvPr id="6" name="TextBox 5"/>
          <p:cNvSpPr txBox="1"/>
          <p:nvPr/>
        </p:nvSpPr>
        <p:spPr>
          <a:xfrm>
            <a:off x="640080" y="3588512"/>
            <a:ext cx="10911535" cy="464820"/>
          </a:xfrm>
          <a:prstGeom prst="rect">
            <a:avLst/>
          </a:prstGeom>
          <a:noFill/>
        </p:spPr>
        <p:txBody>
          <a:bodyPr wrap="square" anchor="t" lIns="0" rIns="0" tIns="0" bIns="0">
            <a:spAutoFit/>
          </a:bodyPr>
          <a:lstStyle/>
          <a:p>
            <a:pPr algn="l"/>
            <a:r>
              <a:rPr sz="3000" b="1">
                <a:solidFill>
                  <a:srgbClr val="FF983D"/>
                </a:solidFill>
                <a:latin typeface="ITC Avant Garde Gothic"/>
              </a:rPr>
              <a:t>Detecta el cambio, no el nivel</a:t>
            </a:r>
          </a:p>
        </p:txBody>
      </p:sp>
      <p:sp>
        <p:nvSpPr>
          <p:cNvPr id="7" name="TextBox 6"/>
          <p:cNvSpPr txBox="1"/>
          <p:nvPr/>
        </p:nvSpPr>
        <p:spPr>
          <a:xfrm>
            <a:off x="640080" y="4236212"/>
            <a:ext cx="10911535" cy="743712"/>
          </a:xfrm>
          <a:prstGeom prst="rect">
            <a:avLst/>
          </a:prstGeom>
          <a:noFill/>
        </p:spPr>
        <p:txBody>
          <a:bodyPr wrap="square" anchor="t" lIns="0" rIns="0" tIns="0" bIns="0">
            <a:spAutoFit/>
          </a:bodyPr>
          <a:lstStyle/>
          <a:p>
            <a:pPr algn="l"/>
            <a:r>
              <a:rPr sz="2400" b="0">
                <a:solidFill>
                  <a:srgbClr val="C7C2EF"/>
                </a:solidFill>
                <a:latin typeface="ITC Avant Garde Gothic"/>
              </a:rPr>
              <a:t>Con nueve píxeles de 200 también daría cero, por brillante que sea la zona.</a:t>
            </a:r>
          </a:p>
        </p:txBody>
      </p:sp>
      <p:sp>
        <p:nvSpPr>
          <p:cNvPr id="8" name="TextBox 7"/>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La imagen completa</a:t>
            </a:r>
          </a:p>
        </p:txBody>
      </p:sp>
      <p:sp>
        <p:nvSpPr>
          <p:cNvPr id="3" name="TextBox 2"/>
          <p:cNvSpPr txBox="1"/>
          <p:nvPr/>
        </p:nvSpPr>
        <p:spPr>
          <a:xfrm>
            <a:off x="640080" y="960120"/>
            <a:ext cx="10911535" cy="501243"/>
          </a:xfrm>
          <a:prstGeom prst="rect">
            <a:avLst/>
          </a:prstGeom>
          <a:noFill/>
        </p:spPr>
        <p:txBody>
          <a:bodyPr wrap="square" anchor="t" lIns="0" rIns="0" tIns="0" bIns="0">
            <a:spAutoFit/>
          </a:bodyPr>
          <a:lstStyle/>
          <a:p>
            <a:pPr algn="l"/>
            <a:r>
              <a:rPr sz="3400" b="1">
                <a:solidFill>
                  <a:srgbClr val="C7C2EF"/>
                </a:solidFill>
                <a:latin typeface="ITC Avant Garde Gothic"/>
              </a:rPr>
              <a:t>Siempre los mismos nueve pesos</a:t>
            </a:r>
          </a:p>
        </p:txBody>
      </p:sp>
      <p:sp>
        <p:nvSpPr>
          <p:cNvPr id="4" name="Rounded Rectangle 3"/>
          <p:cNvSpPr/>
          <p:nvPr/>
        </p:nvSpPr>
        <p:spPr>
          <a:xfrm>
            <a:off x="640080" y="1827123"/>
            <a:ext cx="10911535" cy="66735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99171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138019"/>
            <a:ext cx="10454335" cy="301599"/>
          </a:xfrm>
          <a:prstGeom prst="rect">
            <a:avLst/>
          </a:prstGeom>
          <a:noFill/>
        </p:spPr>
        <p:txBody>
          <a:bodyPr wrap="square" anchor="t" lIns="0" rIns="0" tIns="0" bIns="0">
            <a:spAutoFit/>
          </a:bodyPr>
          <a:lstStyle/>
          <a:p>
            <a:pPr algn="l"/>
            <a:r>
              <a:rPr sz="1700" b="0">
                <a:solidFill>
                  <a:srgbClr val="C7C2EF"/>
                </a:solidFill>
                <a:latin typeface="ITC Avant Garde Gothic"/>
              </a:rPr>
              <a:t>5 × 5</a:t>
            </a:r>
          </a:p>
        </p:txBody>
      </p:sp>
      <p:sp>
        <p:nvSpPr>
          <p:cNvPr id="7" name="TextBox 6"/>
          <p:cNvSpPr txBox="1"/>
          <p:nvPr/>
        </p:nvSpPr>
        <p:spPr>
          <a:xfrm>
            <a:off x="640080" y="2677363"/>
            <a:ext cx="10911535" cy="580095"/>
          </a:xfrm>
          <a:prstGeom prst="rect">
            <a:avLst/>
          </a:prstGeom>
          <a:noFill/>
        </p:spPr>
        <p:txBody>
          <a:bodyPr wrap="square" anchor="t" lIns="0" rIns="0" tIns="0" bIns="0">
            <a:spAutoFit/>
          </a:bodyPr>
          <a:lstStyle/>
          <a:p>
            <a:pPr algn="l"/>
            <a:r>
              <a:rPr sz="1900" b="0">
                <a:solidFill>
                  <a:srgbClr val="C7C2EF"/>
                </a:solidFill>
                <a:latin typeface="ITC Avant Garde Gothic"/>
              </a:rPr>
              <a:t>una imagen pequeña: el filtro cabe en 3 posiciones a lo ancho y 3 a lo alto, y sale un mapa de 3 × 3</a:t>
            </a:r>
          </a:p>
        </p:txBody>
      </p:sp>
      <p:sp>
        <p:nvSpPr>
          <p:cNvPr id="8" name="Rounded Rectangle 7"/>
          <p:cNvSpPr/>
          <p:nvPr/>
        </p:nvSpPr>
        <p:spPr>
          <a:xfrm>
            <a:off x="640080" y="3486058"/>
            <a:ext cx="10911535" cy="66735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8680" y="365065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796954"/>
            <a:ext cx="10454335" cy="301599"/>
          </a:xfrm>
          <a:prstGeom prst="rect">
            <a:avLst/>
          </a:prstGeom>
          <a:noFill/>
        </p:spPr>
        <p:txBody>
          <a:bodyPr wrap="square" anchor="t" lIns="0" rIns="0" tIns="0" bIns="0">
            <a:spAutoFit/>
          </a:bodyPr>
          <a:lstStyle/>
          <a:p>
            <a:pPr algn="l"/>
            <a:r>
              <a:rPr sz="1700" b="0">
                <a:solidFill>
                  <a:srgbClr val="C7C2EF"/>
                </a:solidFill>
                <a:latin typeface="ITC Avant Garde Gothic"/>
              </a:rPr>
              <a:t>&gt; 2 millones</a:t>
            </a:r>
          </a:p>
        </p:txBody>
      </p:sp>
      <p:sp>
        <p:nvSpPr>
          <p:cNvPr id="11" name="TextBox 10"/>
          <p:cNvSpPr txBox="1"/>
          <p:nvPr/>
        </p:nvSpPr>
        <p:spPr>
          <a:xfrm>
            <a:off x="640080" y="4336298"/>
            <a:ext cx="10911535" cy="580095"/>
          </a:xfrm>
          <a:prstGeom prst="rect">
            <a:avLst/>
          </a:prstGeom>
          <a:noFill/>
        </p:spPr>
        <p:txBody>
          <a:bodyPr wrap="square" anchor="t" lIns="0" rIns="0" tIns="0" bIns="0">
            <a:spAutoFit/>
          </a:bodyPr>
          <a:lstStyle/>
          <a:p>
            <a:pPr algn="l"/>
            <a:r>
              <a:rPr sz="1900" b="0">
                <a:solidFill>
                  <a:srgbClr val="C7C2EF"/>
                </a:solidFill>
                <a:latin typeface="ITC Avant Garde Gothic"/>
              </a:rPr>
              <a:t>de valores en el mapa de una foto de 1792 × 1374, cada uno con las mismas nueve multiplicaciones</a:t>
            </a:r>
          </a:p>
        </p:txBody>
      </p:sp>
      <p:sp>
        <p:nvSpPr>
          <p:cNvPr id="12" name="TextBox 11"/>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La imagen a color</a:t>
            </a:r>
          </a:p>
        </p:txBody>
      </p:sp>
      <p:sp>
        <p:nvSpPr>
          <p:cNvPr id="3" name="TextBox 2"/>
          <p:cNvSpPr txBox="1"/>
          <p:nvPr/>
        </p:nvSpPr>
        <p:spPr>
          <a:xfrm>
            <a:off x="640080" y="960120"/>
            <a:ext cx="10911535" cy="546227"/>
          </a:xfrm>
          <a:prstGeom prst="rect">
            <a:avLst/>
          </a:prstGeom>
          <a:noFill/>
        </p:spPr>
        <p:txBody>
          <a:bodyPr wrap="square" anchor="t" lIns="0" rIns="0" tIns="0" bIns="0">
            <a:spAutoFit/>
          </a:bodyPr>
          <a:lstStyle/>
          <a:p>
            <a:pPr algn="l"/>
            <a:r>
              <a:rPr sz="3700" b="1">
                <a:solidFill>
                  <a:srgbClr val="C7C2EF"/>
                </a:solidFill>
                <a:latin typeface="ITC Avant Garde Gothic"/>
              </a:rPr>
              <a:t>El filtro también tiene profundidad</a:t>
            </a:r>
          </a:p>
        </p:txBody>
      </p:sp>
      <p:sp>
        <p:nvSpPr>
          <p:cNvPr id="4" name="TextBox 3"/>
          <p:cNvSpPr txBox="1"/>
          <p:nvPr/>
        </p:nvSpPr>
        <p:spPr>
          <a:xfrm>
            <a:off x="640080" y="1872106"/>
            <a:ext cx="10911535" cy="395097"/>
          </a:xfrm>
          <a:prstGeom prst="rect">
            <a:avLst/>
          </a:prstGeom>
          <a:noFill/>
        </p:spPr>
        <p:txBody>
          <a:bodyPr wrap="square" anchor="t" lIns="0" rIns="0" tIns="0" bIns="0">
            <a:spAutoFit/>
          </a:bodyPr>
          <a:lstStyle/>
          <a:p>
            <a:pPr algn="l"/>
            <a:r>
              <a:rPr sz="2600" b="1">
                <a:solidFill>
                  <a:srgbClr val="FF983D"/>
                </a:solidFill>
                <a:latin typeface="ITC Avant Garde Gothic"/>
              </a:rPr>
              <a:t>Tres canales</a:t>
            </a:r>
          </a:p>
        </p:txBody>
      </p:sp>
      <p:sp>
        <p:nvSpPr>
          <p:cNvPr id="5" name="TextBox 4"/>
          <p:cNvSpPr txBox="1"/>
          <p:nvPr/>
        </p:nvSpPr>
        <p:spPr>
          <a:xfrm>
            <a:off x="640080" y="2450084"/>
            <a:ext cx="10911535" cy="948232"/>
          </a:xfrm>
          <a:prstGeom prst="rect">
            <a:avLst/>
          </a:prstGeom>
          <a:noFill/>
        </p:spPr>
        <p:txBody>
          <a:bodyPr wrap="square" anchor="t" lIns="0" rIns="0" tIns="0" bIns="0">
            <a:spAutoFit/>
          </a:bodyPr>
          <a:lstStyle/>
          <a:p>
            <a:pPr algn="l"/>
            <a:r>
              <a:rPr sz="2000" b="0">
                <a:solidFill>
                  <a:srgbClr val="C7C2EF"/>
                </a:solidFill>
                <a:latin typeface="ITC Avant Garde Gothic"/>
              </a:rPr>
              <a:t>Rojo, verde y azul: tres filtros de tres por tres, uno por canal, cuyos resultados se suman. Así un filtro puede mirar combinaciones entre canales.</a:t>
            </a:r>
          </a:p>
        </p:txBody>
      </p:sp>
      <p:sp>
        <p:nvSpPr>
          <p:cNvPr id="6" name="TextBox 5"/>
          <p:cNvSpPr txBox="1"/>
          <p:nvPr/>
        </p:nvSpPr>
        <p:spPr>
          <a:xfrm>
            <a:off x="640080" y="3626916"/>
            <a:ext cx="10911535" cy="395097"/>
          </a:xfrm>
          <a:prstGeom prst="rect">
            <a:avLst/>
          </a:prstGeom>
          <a:noFill/>
        </p:spPr>
        <p:txBody>
          <a:bodyPr wrap="square" anchor="t" lIns="0" rIns="0" tIns="0" bIns="0">
            <a:spAutoFit/>
          </a:bodyPr>
          <a:lstStyle/>
          <a:p>
            <a:pPr algn="l"/>
            <a:r>
              <a:rPr sz="2600" b="1">
                <a:solidFill>
                  <a:srgbClr val="FF983D"/>
                </a:solidFill>
                <a:latin typeface="ITC Avant Garde Gothic"/>
              </a:rPr>
              <a:t>En capas más profundas</a:t>
            </a:r>
          </a:p>
        </p:txBody>
      </p:sp>
      <p:sp>
        <p:nvSpPr>
          <p:cNvPr id="7" name="TextBox 6"/>
          <p:cNvSpPr txBox="1"/>
          <p:nvPr/>
        </p:nvSpPr>
        <p:spPr>
          <a:xfrm>
            <a:off x="640080" y="4204893"/>
            <a:ext cx="10911535" cy="632155"/>
          </a:xfrm>
          <a:prstGeom prst="rect">
            <a:avLst/>
          </a:prstGeom>
          <a:noFill/>
        </p:spPr>
        <p:txBody>
          <a:bodyPr wrap="square" anchor="t" lIns="0" rIns="0" tIns="0" bIns="0">
            <a:spAutoFit/>
          </a:bodyPr>
          <a:lstStyle/>
          <a:p>
            <a:pPr algn="l"/>
            <a:r>
              <a:rPr sz="2000" b="0">
                <a:solidFill>
                  <a:srgbClr val="C7C2EF"/>
                </a:solidFill>
                <a:latin typeface="ITC Avant Garde Gothic"/>
              </a:rPr>
              <a:t>La entrada ya no son tres canales sino los 64, o los cientos, mapas de la capa anterior; cada filtro tiene tantos canales como mapas reciba.</a:t>
            </a:r>
          </a:p>
        </p:txBody>
      </p:sp>
      <p:sp>
        <p:nvSpPr>
          <p:cNvPr id="8" name="TextBox 7"/>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Jerarquía de características</a:t>
            </a:r>
          </a:p>
        </p:txBody>
      </p:sp>
      <p:sp>
        <p:nvSpPr>
          <p:cNvPr id="3" name="TextBox 2"/>
          <p:cNvSpPr txBox="1"/>
          <p:nvPr/>
        </p:nvSpPr>
        <p:spPr>
          <a:xfrm>
            <a:off x="640080" y="960120"/>
            <a:ext cx="10911535" cy="449833"/>
          </a:xfrm>
          <a:prstGeom prst="rect">
            <a:avLst/>
          </a:prstGeom>
          <a:noFill/>
        </p:spPr>
        <p:txBody>
          <a:bodyPr wrap="square" anchor="t" lIns="0" rIns="0" tIns="0" bIns="0">
            <a:spAutoFit/>
          </a:bodyPr>
          <a:lstStyle/>
          <a:p>
            <a:pPr algn="l"/>
            <a:r>
              <a:rPr sz="3100" b="1">
                <a:solidFill>
                  <a:srgbClr val="C7C2EF"/>
                </a:solidFill>
                <a:latin typeface="ITC Avant Garde Gothic"/>
              </a:rPr>
              <a:t>De los bordes a las formas completas</a:t>
            </a:r>
          </a:p>
        </p:txBody>
      </p:sp>
      <p:sp>
        <p:nvSpPr>
          <p:cNvPr id="4" name="TextBox 3"/>
          <p:cNvSpPr txBox="1"/>
          <p:nvPr/>
        </p:nvSpPr>
        <p:spPr>
          <a:xfrm>
            <a:off x="640080" y="1775714"/>
            <a:ext cx="10911535" cy="232410"/>
          </a:xfrm>
          <a:prstGeom prst="rect">
            <a:avLst/>
          </a:prstGeom>
          <a:noFill/>
        </p:spPr>
        <p:txBody>
          <a:bodyPr wrap="square" anchor="t" lIns="0" rIns="0" tIns="0" bIns="0">
            <a:spAutoFit/>
          </a:bodyPr>
          <a:lstStyle/>
          <a:p>
            <a:pPr algn="l"/>
            <a:r>
              <a:rPr sz="1500" b="1">
                <a:solidFill>
                  <a:srgbClr val="FF983D"/>
                </a:solidFill>
                <a:latin typeface="ITC Avant Garde Gothic"/>
              </a:rPr>
              <a:t>Capas iniciales</a:t>
            </a:r>
          </a:p>
        </p:txBody>
      </p:sp>
      <p:sp>
        <p:nvSpPr>
          <p:cNvPr id="5" name="Rounded Rectangle 4"/>
          <p:cNvSpPr/>
          <p:nvPr/>
        </p:nvSpPr>
        <p:spPr>
          <a:xfrm>
            <a:off x="640080" y="2191004"/>
            <a:ext cx="2522143" cy="74726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68680" y="235559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501900"/>
            <a:ext cx="2064943" cy="381508"/>
          </a:xfrm>
          <a:prstGeom prst="rect">
            <a:avLst/>
          </a:prstGeom>
          <a:noFill/>
        </p:spPr>
        <p:txBody>
          <a:bodyPr wrap="square" anchor="t" lIns="0" rIns="0" tIns="0" bIns="0">
            <a:spAutoFit/>
          </a:bodyPr>
          <a:lstStyle/>
          <a:p>
            <a:pPr algn="l"/>
            <a:r>
              <a:rPr sz="1100" b="0">
                <a:solidFill>
                  <a:srgbClr val="C7C2EF"/>
                </a:solidFill>
                <a:latin typeface="ITC Avant Garde Gothic"/>
              </a:rPr>
              <a:t>Bordes en varias direcciones</a:t>
            </a:r>
          </a:p>
        </p:txBody>
      </p:sp>
      <p:sp>
        <p:nvSpPr>
          <p:cNvPr id="8" name="Rounded Rectangle 7"/>
          <p:cNvSpPr/>
          <p:nvPr/>
        </p:nvSpPr>
        <p:spPr>
          <a:xfrm>
            <a:off x="3436543" y="2191004"/>
            <a:ext cx="2522143" cy="74726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65143" y="235559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65143" y="2501900"/>
            <a:ext cx="2064943" cy="381508"/>
          </a:xfrm>
          <a:prstGeom prst="rect">
            <a:avLst/>
          </a:prstGeom>
          <a:noFill/>
        </p:spPr>
        <p:txBody>
          <a:bodyPr wrap="square" anchor="t" lIns="0" rIns="0" tIns="0" bIns="0">
            <a:spAutoFit/>
          </a:bodyPr>
          <a:lstStyle/>
          <a:p>
            <a:pPr algn="l"/>
            <a:r>
              <a:rPr sz="1100" b="0">
                <a:solidFill>
                  <a:srgbClr val="C7C2EF"/>
                </a:solidFill>
                <a:latin typeface="ITC Avant Garde Gothic"/>
              </a:rPr>
              <a:t>Cambios de brillo</a:t>
            </a:r>
          </a:p>
        </p:txBody>
      </p:sp>
      <p:sp>
        <p:nvSpPr>
          <p:cNvPr id="11" name="Rounded Rectangle 10"/>
          <p:cNvSpPr/>
          <p:nvPr/>
        </p:nvSpPr>
        <p:spPr>
          <a:xfrm>
            <a:off x="6233007" y="2191004"/>
            <a:ext cx="2522143" cy="74726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61607" y="235559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1607" y="2501900"/>
            <a:ext cx="2064943" cy="381508"/>
          </a:xfrm>
          <a:prstGeom prst="rect">
            <a:avLst/>
          </a:prstGeom>
          <a:noFill/>
        </p:spPr>
        <p:txBody>
          <a:bodyPr wrap="square" anchor="t" lIns="0" rIns="0" tIns="0" bIns="0">
            <a:spAutoFit/>
          </a:bodyPr>
          <a:lstStyle/>
          <a:p>
            <a:pPr algn="l"/>
            <a:r>
              <a:rPr sz="1100" b="0">
                <a:solidFill>
                  <a:srgbClr val="C7C2EF"/>
                </a:solidFill>
                <a:latin typeface="ITC Avant Garde Gothic"/>
              </a:rPr>
              <a:t>Manchas pequeñas</a:t>
            </a:r>
          </a:p>
        </p:txBody>
      </p:sp>
      <p:sp>
        <p:nvSpPr>
          <p:cNvPr id="14" name="Rounded Rectangle 13"/>
          <p:cNvSpPr/>
          <p:nvPr/>
        </p:nvSpPr>
        <p:spPr>
          <a:xfrm>
            <a:off x="9029471" y="2191004"/>
            <a:ext cx="2522143" cy="74726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258071" y="235559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58071" y="2501900"/>
            <a:ext cx="2064943" cy="381508"/>
          </a:xfrm>
          <a:prstGeom prst="rect">
            <a:avLst/>
          </a:prstGeom>
          <a:noFill/>
        </p:spPr>
        <p:txBody>
          <a:bodyPr wrap="square" anchor="t" lIns="0" rIns="0" tIns="0" bIns="0">
            <a:spAutoFit/>
          </a:bodyPr>
          <a:lstStyle/>
          <a:p>
            <a:pPr algn="l"/>
            <a:r>
              <a:rPr sz="1100" b="0">
                <a:solidFill>
                  <a:srgbClr val="C7C2EF"/>
                </a:solidFill>
                <a:latin typeface="ITC Avant Garde Gothic"/>
              </a:rPr>
              <a:t>Valen para cualquier imagen del mundo.</a:t>
            </a:r>
          </a:p>
        </p:txBody>
      </p:sp>
      <p:sp>
        <p:nvSpPr>
          <p:cNvPr id="17" name="TextBox 16"/>
          <p:cNvSpPr txBox="1"/>
          <p:nvPr/>
        </p:nvSpPr>
        <p:spPr>
          <a:xfrm>
            <a:off x="640080" y="3121152"/>
            <a:ext cx="10911535" cy="232410"/>
          </a:xfrm>
          <a:prstGeom prst="rect">
            <a:avLst/>
          </a:prstGeom>
          <a:noFill/>
        </p:spPr>
        <p:txBody>
          <a:bodyPr wrap="square" anchor="t" lIns="0" rIns="0" tIns="0" bIns="0">
            <a:spAutoFit/>
          </a:bodyPr>
          <a:lstStyle/>
          <a:p>
            <a:pPr algn="l"/>
            <a:r>
              <a:rPr sz="1500" b="1">
                <a:solidFill>
                  <a:srgbClr val="FF983D"/>
                </a:solidFill>
                <a:latin typeface="ITC Avant Garde Gothic"/>
              </a:rPr>
              <a:t>Capas intermedias</a:t>
            </a:r>
          </a:p>
        </p:txBody>
      </p:sp>
      <p:sp>
        <p:nvSpPr>
          <p:cNvPr id="18" name="Rounded Rectangle 17"/>
          <p:cNvSpPr/>
          <p:nvPr/>
        </p:nvSpPr>
        <p:spPr>
          <a:xfrm>
            <a:off x="640080" y="3536442"/>
            <a:ext cx="2522143" cy="74726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68680" y="370103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847338"/>
            <a:ext cx="2064943" cy="381508"/>
          </a:xfrm>
          <a:prstGeom prst="rect">
            <a:avLst/>
          </a:prstGeom>
          <a:noFill/>
        </p:spPr>
        <p:txBody>
          <a:bodyPr wrap="square" anchor="t" lIns="0" rIns="0" tIns="0" bIns="0">
            <a:spAutoFit/>
          </a:bodyPr>
          <a:lstStyle/>
          <a:p>
            <a:pPr algn="l"/>
            <a:r>
              <a:rPr sz="1100" b="0">
                <a:solidFill>
                  <a:srgbClr val="C7C2EF"/>
                </a:solidFill>
                <a:latin typeface="ITC Avant Garde Gothic"/>
              </a:rPr>
              <a:t>Curvas y esquinas</a:t>
            </a:r>
          </a:p>
        </p:txBody>
      </p:sp>
      <p:sp>
        <p:nvSpPr>
          <p:cNvPr id="21" name="Rounded Rectangle 20"/>
          <p:cNvSpPr/>
          <p:nvPr/>
        </p:nvSpPr>
        <p:spPr>
          <a:xfrm>
            <a:off x="3436543" y="3536442"/>
            <a:ext cx="2522143" cy="74726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65143" y="370103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65143" y="3847338"/>
            <a:ext cx="2064943" cy="381508"/>
          </a:xfrm>
          <a:prstGeom prst="rect">
            <a:avLst/>
          </a:prstGeom>
          <a:noFill/>
        </p:spPr>
        <p:txBody>
          <a:bodyPr wrap="square" anchor="t" lIns="0" rIns="0" tIns="0" bIns="0">
            <a:spAutoFit/>
          </a:bodyPr>
          <a:lstStyle/>
          <a:p>
            <a:pPr algn="l"/>
            <a:r>
              <a:rPr sz="1100" b="0">
                <a:solidFill>
                  <a:srgbClr val="C7C2EF"/>
                </a:solidFill>
                <a:latin typeface="ITC Avant Garde Gothic"/>
              </a:rPr>
              <a:t>Texturas</a:t>
            </a:r>
          </a:p>
        </p:txBody>
      </p:sp>
      <p:sp>
        <p:nvSpPr>
          <p:cNvPr id="24" name="Rounded Rectangle 23"/>
          <p:cNvSpPr/>
          <p:nvPr/>
        </p:nvSpPr>
        <p:spPr>
          <a:xfrm>
            <a:off x="6233007" y="3536442"/>
            <a:ext cx="2522143" cy="74726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61607" y="370103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61607" y="3847338"/>
            <a:ext cx="2064943" cy="381508"/>
          </a:xfrm>
          <a:prstGeom prst="rect">
            <a:avLst/>
          </a:prstGeom>
          <a:noFill/>
        </p:spPr>
        <p:txBody>
          <a:bodyPr wrap="square" anchor="t" lIns="0" rIns="0" tIns="0" bIns="0">
            <a:spAutoFit/>
          </a:bodyPr>
          <a:lstStyle/>
          <a:p>
            <a:pPr algn="l"/>
            <a:r>
              <a:rPr sz="1100" b="0">
                <a:solidFill>
                  <a:srgbClr val="C7C2EF"/>
                </a:solidFill>
                <a:latin typeface="ITC Avant Garde Gothic"/>
              </a:rPr>
              <a:t>Formas alargadas</a:t>
            </a:r>
          </a:p>
        </p:txBody>
      </p:sp>
      <p:sp>
        <p:nvSpPr>
          <p:cNvPr id="27" name="Rounded Rectangle 26"/>
          <p:cNvSpPr/>
          <p:nvPr/>
        </p:nvSpPr>
        <p:spPr>
          <a:xfrm>
            <a:off x="9029471" y="3536442"/>
            <a:ext cx="2522143" cy="74726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258071" y="370103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58071" y="3847338"/>
            <a:ext cx="2064943" cy="381508"/>
          </a:xfrm>
          <a:prstGeom prst="rect">
            <a:avLst/>
          </a:prstGeom>
          <a:noFill/>
        </p:spPr>
        <p:txBody>
          <a:bodyPr wrap="square" anchor="t" lIns="0" rIns="0" tIns="0" bIns="0">
            <a:spAutoFit/>
          </a:bodyPr>
          <a:lstStyle/>
          <a:p>
            <a:pPr algn="l"/>
            <a:r>
              <a:rPr sz="1100" b="0">
                <a:solidFill>
                  <a:srgbClr val="C7C2EF"/>
                </a:solidFill>
                <a:latin typeface="ITC Avant Garde Gothic"/>
              </a:rPr>
              <a:t>Combinaciones todavía genéricas.</a:t>
            </a:r>
          </a:p>
        </p:txBody>
      </p:sp>
      <p:sp>
        <p:nvSpPr>
          <p:cNvPr id="30" name="TextBox 29"/>
          <p:cNvSpPr txBox="1"/>
          <p:nvPr/>
        </p:nvSpPr>
        <p:spPr>
          <a:xfrm>
            <a:off x="640080" y="4466590"/>
            <a:ext cx="10911535" cy="232410"/>
          </a:xfrm>
          <a:prstGeom prst="rect">
            <a:avLst/>
          </a:prstGeom>
          <a:noFill/>
        </p:spPr>
        <p:txBody>
          <a:bodyPr wrap="square" anchor="t" lIns="0" rIns="0" tIns="0" bIns="0">
            <a:spAutoFit/>
          </a:bodyPr>
          <a:lstStyle/>
          <a:p>
            <a:pPr algn="l"/>
            <a:r>
              <a:rPr sz="1500" b="1">
                <a:solidFill>
                  <a:srgbClr val="FF983D"/>
                </a:solidFill>
                <a:latin typeface="ITC Avant Garde Gothic"/>
              </a:rPr>
              <a:t>Capas profundas</a:t>
            </a:r>
          </a:p>
        </p:txBody>
      </p:sp>
      <p:sp>
        <p:nvSpPr>
          <p:cNvPr id="31" name="Rounded Rectangle 30"/>
          <p:cNvSpPr/>
          <p:nvPr/>
        </p:nvSpPr>
        <p:spPr>
          <a:xfrm>
            <a:off x="640080" y="4881880"/>
            <a:ext cx="3454298"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68680" y="504647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8680" y="5192776"/>
            <a:ext cx="2997098" cy="199897"/>
          </a:xfrm>
          <a:prstGeom prst="rect">
            <a:avLst/>
          </a:prstGeom>
          <a:noFill/>
        </p:spPr>
        <p:txBody>
          <a:bodyPr wrap="square" anchor="t" lIns="0" rIns="0" tIns="0" bIns="0">
            <a:spAutoFit/>
          </a:bodyPr>
          <a:lstStyle/>
          <a:p>
            <a:pPr algn="l"/>
            <a:r>
              <a:rPr sz="1100" b="0">
                <a:solidFill>
                  <a:srgbClr val="C7C2EF"/>
                </a:solidFill>
                <a:latin typeface="ITC Avant Garde Gothic"/>
              </a:rPr>
              <a:t>Formas completas</a:t>
            </a:r>
          </a:p>
        </p:txBody>
      </p:sp>
      <p:sp>
        <p:nvSpPr>
          <p:cNvPr id="34" name="Rounded Rectangle 33"/>
          <p:cNvSpPr/>
          <p:nvPr/>
        </p:nvSpPr>
        <p:spPr>
          <a:xfrm>
            <a:off x="4368698" y="4881880"/>
            <a:ext cx="3454298"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597298" y="504647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97298" y="5192776"/>
            <a:ext cx="2997098" cy="199897"/>
          </a:xfrm>
          <a:prstGeom prst="rect">
            <a:avLst/>
          </a:prstGeom>
          <a:noFill/>
        </p:spPr>
        <p:txBody>
          <a:bodyPr wrap="square" anchor="t" lIns="0" rIns="0" tIns="0" bIns="0">
            <a:spAutoFit/>
          </a:bodyPr>
          <a:lstStyle/>
          <a:p>
            <a:pPr algn="l"/>
            <a:r>
              <a:rPr sz="1100" b="0">
                <a:solidFill>
                  <a:srgbClr val="C7C2EF"/>
                </a:solidFill>
                <a:latin typeface="ITC Avant Garde Gothic"/>
              </a:rPr>
              <a:t>Propias de la tarea</a:t>
            </a:r>
          </a:p>
        </p:txBody>
      </p:sp>
      <p:sp>
        <p:nvSpPr>
          <p:cNvPr id="37" name="Rounded Rectangle 36"/>
          <p:cNvSpPr/>
          <p:nvPr/>
        </p:nvSpPr>
        <p:spPr>
          <a:xfrm>
            <a:off x="8097316" y="4881880"/>
            <a:ext cx="3454298"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325916" y="504647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25916" y="5192776"/>
            <a:ext cx="2997098" cy="199897"/>
          </a:xfrm>
          <a:prstGeom prst="rect">
            <a:avLst/>
          </a:prstGeom>
          <a:noFill/>
        </p:spPr>
        <p:txBody>
          <a:bodyPr wrap="square" anchor="t" lIns="0" rIns="0" tIns="0" bIns="0">
            <a:spAutoFit/>
          </a:bodyPr>
          <a:lstStyle/>
          <a:p>
            <a:pPr algn="l"/>
            <a:r>
              <a:rPr sz="1100" b="0">
                <a:solidFill>
                  <a:srgbClr val="C7C2EF"/>
                </a:solidFill>
                <a:latin typeface="ITC Avant Garde Gothic"/>
              </a:rPr>
              <a:t>Aquí vive lo específico.</a:t>
            </a:r>
          </a:p>
        </p:txBody>
      </p:sp>
      <p:sp>
        <p:nvSpPr>
          <p:cNvPr id="40" name="TextBox 39"/>
          <p:cNvSpPr txBox="1"/>
          <p:nvPr/>
        </p:nvSpPr>
        <p:spPr>
          <a:xfrm>
            <a:off x="640080" y="5630418"/>
            <a:ext cx="10911535" cy="185928"/>
          </a:xfrm>
          <a:prstGeom prst="rect">
            <a:avLst/>
          </a:prstGeom>
          <a:noFill/>
        </p:spPr>
        <p:txBody>
          <a:bodyPr wrap="square" anchor="t" lIns="0" rIns="0" tIns="0" bIns="0">
            <a:spAutoFit/>
          </a:bodyPr>
          <a:lstStyle/>
          <a:p>
            <a:pPr algn="l"/>
            <a:r>
              <a:rPr sz="1200" b="0">
                <a:solidFill>
                  <a:srgbClr val="C7C2EF"/>
                </a:solidFill>
                <a:latin typeface="ITC Avant Garde Gothic"/>
              </a:rPr>
              <a:t>Por eso se puede reutilizar una red ya entrenada: solo hay que volver a aprender las últimas capas.</a:t>
            </a:r>
          </a:p>
        </p:txBody>
      </p:sp>
      <p:sp>
        <p:nvSpPr>
          <p:cNvPr id="41" name="TextBox 40"/>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Una organización conocida</a:t>
            </a:r>
          </a:p>
        </p:txBody>
      </p:sp>
      <p:sp>
        <p:nvSpPr>
          <p:cNvPr id="3" name="TextBox 2"/>
          <p:cNvSpPr txBox="1"/>
          <p:nvPr/>
        </p:nvSpPr>
        <p:spPr>
          <a:xfrm>
            <a:off x="640080" y="960120"/>
            <a:ext cx="10911535" cy="967435"/>
          </a:xfrm>
          <a:prstGeom prst="rect">
            <a:avLst/>
          </a:prstGeom>
          <a:noFill/>
        </p:spPr>
        <p:txBody>
          <a:bodyPr wrap="square" anchor="t" lIns="0" rIns="0" tIns="0" bIns="0">
            <a:spAutoFit/>
          </a:bodyPr>
          <a:lstStyle/>
          <a:p>
            <a:pPr algn="l"/>
            <a:r>
              <a:rPr sz="3300" b="1">
                <a:solidFill>
                  <a:srgbClr val="C7C2EF"/>
                </a:solidFill>
                <a:latin typeface="ITC Avant Garde Gothic"/>
              </a:rPr>
              <a:t>Primero bordes y contrastes, luego formas, por último objetos y significado</a:t>
            </a:r>
          </a:p>
        </p:txBody>
      </p:sp>
      <p:sp>
        <p:nvSpPr>
          <p:cNvPr id="4" name="TextBox 3"/>
          <p:cNvSpPr txBox="1"/>
          <p:nvPr/>
        </p:nvSpPr>
        <p:spPr>
          <a:xfrm>
            <a:off x="640080" y="2293315"/>
            <a:ext cx="10911535" cy="427634"/>
          </a:xfrm>
          <a:prstGeom prst="rect">
            <a:avLst/>
          </a:prstGeom>
          <a:noFill/>
        </p:spPr>
        <p:txBody>
          <a:bodyPr wrap="square" anchor="t" lIns="0" rIns="0" tIns="0" bIns="0">
            <a:spAutoFit/>
          </a:bodyPr>
          <a:lstStyle/>
          <a:p>
            <a:pPr algn="l"/>
            <a:r>
              <a:rPr sz="2800" b="1">
                <a:solidFill>
                  <a:srgbClr val="FF983D"/>
                </a:solidFill>
                <a:latin typeface="ITC Avant Garde Gothic"/>
              </a:rPr>
              <a:t>Recuerda cómo describimos la percepción</a:t>
            </a:r>
          </a:p>
        </p:txBody>
      </p:sp>
      <p:sp>
        <p:nvSpPr>
          <p:cNvPr id="5" name="TextBox 4"/>
          <p:cNvSpPr txBox="1"/>
          <p:nvPr/>
        </p:nvSpPr>
        <p:spPr>
          <a:xfrm>
            <a:off x="640080" y="2903829"/>
            <a:ext cx="10911535" cy="684215"/>
          </a:xfrm>
          <a:prstGeom prst="rect">
            <a:avLst/>
          </a:prstGeom>
          <a:noFill/>
        </p:spPr>
        <p:txBody>
          <a:bodyPr wrap="square" anchor="t" lIns="0" rIns="0" tIns="0" bIns="0">
            <a:spAutoFit/>
          </a:bodyPr>
          <a:lstStyle/>
          <a:p>
            <a:pPr algn="l"/>
            <a:r>
              <a:rPr sz="2200" b="0">
                <a:solidFill>
                  <a:srgbClr val="C7C2EF"/>
                </a:solidFill>
                <a:latin typeface="ITC Avant Garde Gothic"/>
              </a:rPr>
              <a:t>Las primeras redes convolucionales se inspiraron en estudios de la corteza visual.</a:t>
            </a:r>
          </a:p>
        </p:txBody>
      </p:sp>
      <p:sp>
        <p:nvSpPr>
          <p:cNvPr id="6" name="Rounded Rectangle 5"/>
          <p:cNvSpPr/>
          <p:nvPr/>
        </p:nvSpPr>
        <p:spPr>
          <a:xfrm>
            <a:off x="640080" y="3816644"/>
            <a:ext cx="10911535" cy="124734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4090964"/>
            <a:ext cx="10454335" cy="364540"/>
          </a:xfrm>
          <a:prstGeom prst="rect">
            <a:avLst/>
          </a:prstGeom>
          <a:noFill/>
        </p:spPr>
        <p:txBody>
          <a:bodyPr wrap="square" anchor="t" lIns="0" rIns="0" tIns="0" bIns="0">
            <a:spAutoFit/>
          </a:bodyPr>
          <a:lstStyle/>
          <a:p>
            <a:pPr algn="l"/>
            <a:r>
              <a:rPr sz="2400" b="1">
                <a:solidFill>
                  <a:srgbClr val="FF983D"/>
                </a:solidFill>
                <a:latin typeface="ITC Avant Garde Gothic"/>
              </a:rPr>
              <a:t>La cautela de siempre</a:t>
            </a:r>
          </a:p>
        </p:txBody>
      </p:sp>
      <p:sp>
        <p:nvSpPr>
          <p:cNvPr id="8" name="TextBox 7"/>
          <p:cNvSpPr txBox="1"/>
          <p:nvPr/>
        </p:nvSpPr>
        <p:spPr>
          <a:xfrm>
            <a:off x="868680" y="4546945"/>
            <a:ext cx="10454335" cy="425602"/>
          </a:xfrm>
          <a:prstGeom prst="rect">
            <a:avLst/>
          </a:prstGeom>
          <a:noFill/>
        </p:spPr>
        <p:txBody>
          <a:bodyPr wrap="square" anchor="t" lIns="0" rIns="0" tIns="0" bIns="0">
            <a:spAutoFit/>
          </a:bodyPr>
          <a:lstStyle/>
          <a:p>
            <a:pPr algn="l"/>
            <a:r>
              <a:rPr sz="2000" b="0">
                <a:solidFill>
                  <a:srgbClr val="C7C2EF"/>
                </a:solidFill>
                <a:latin typeface="ITC Avant Garde Gothic"/>
              </a:rPr>
              <a:t>Es una inspiración útil, no una equivalencia.</a:t>
            </a:r>
          </a:p>
        </p:txBody>
      </p:sp>
      <p:sp>
        <p:nvSpPr>
          <p:cNvPr id="9" name="TextBox 8"/>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Los tipos de resultado</a:t>
            </a:r>
          </a:p>
        </p:txBody>
      </p:sp>
      <p:sp>
        <p:nvSpPr>
          <p:cNvPr id="3" name="TextBox 2"/>
          <p:cNvSpPr txBox="1"/>
          <p:nvPr/>
        </p:nvSpPr>
        <p:spPr>
          <a:xfrm>
            <a:off x="640080" y="960120"/>
            <a:ext cx="10911535" cy="449833"/>
          </a:xfrm>
          <a:prstGeom prst="rect">
            <a:avLst/>
          </a:prstGeom>
          <a:noFill/>
        </p:spPr>
        <p:txBody>
          <a:bodyPr wrap="square" anchor="t" lIns="0" rIns="0" tIns="0" bIns="0">
            <a:spAutoFit/>
          </a:bodyPr>
          <a:lstStyle/>
          <a:p>
            <a:pPr algn="l"/>
            <a:r>
              <a:rPr sz="3100" b="1">
                <a:solidFill>
                  <a:srgbClr val="C7C2EF"/>
                </a:solidFill>
                <a:latin typeface="ITC Avant Garde Gothic"/>
              </a:rPr>
              <a:t>No todas las redes devuelven lo mismo</a:t>
            </a:r>
          </a:p>
        </p:txBody>
      </p:sp>
      <p:sp>
        <p:nvSpPr>
          <p:cNvPr id="4" name="Rounded Rectangle 3"/>
          <p:cNvSpPr/>
          <p:nvPr/>
        </p:nvSpPr>
        <p:spPr>
          <a:xfrm>
            <a:off x="640080" y="1775714"/>
            <a:ext cx="10911535" cy="83693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050034"/>
            <a:ext cx="10454335" cy="198120"/>
          </a:xfrm>
          <a:prstGeom prst="rect">
            <a:avLst/>
          </a:prstGeom>
          <a:noFill/>
        </p:spPr>
        <p:txBody>
          <a:bodyPr wrap="square" anchor="t" lIns="0" rIns="0" tIns="0" bIns="0">
            <a:spAutoFit/>
          </a:bodyPr>
          <a:lstStyle/>
          <a:p>
            <a:pPr algn="l"/>
            <a:r>
              <a:rPr sz="1300" b="1">
                <a:solidFill>
                  <a:srgbClr val="FF983D"/>
                </a:solidFill>
                <a:latin typeface="ITC Avant Garde Gothic"/>
              </a:rPr>
              <a:t>Clasificación</a:t>
            </a:r>
          </a:p>
        </p:txBody>
      </p:sp>
      <p:sp>
        <p:nvSpPr>
          <p:cNvPr id="6" name="TextBox 5"/>
          <p:cNvSpPr txBox="1"/>
          <p:nvPr/>
        </p:nvSpPr>
        <p:spPr>
          <a:xfrm>
            <a:off x="868680" y="2339594"/>
            <a:ext cx="10454335" cy="181609"/>
          </a:xfrm>
          <a:prstGeom prst="rect">
            <a:avLst/>
          </a:prstGeom>
          <a:noFill/>
        </p:spPr>
        <p:txBody>
          <a:bodyPr wrap="square" anchor="t" lIns="0" rIns="0" tIns="0" bIns="0">
            <a:spAutoFit/>
          </a:bodyPr>
          <a:lstStyle/>
          <a:p>
            <a:pPr algn="l"/>
            <a:r>
              <a:rPr sz="1100" b="0">
                <a:solidFill>
                  <a:srgbClr val="C7C2EF"/>
                </a:solidFill>
                <a:latin typeface="ITC Avant Garde Gothic"/>
              </a:rPr>
              <a:t>¿Qué es esta imagen?</a:t>
            </a:r>
          </a:p>
        </p:txBody>
      </p:sp>
      <p:sp>
        <p:nvSpPr>
          <p:cNvPr id="7" name="Rounded Rectangle 6"/>
          <p:cNvSpPr/>
          <p:nvPr/>
        </p:nvSpPr>
        <p:spPr>
          <a:xfrm>
            <a:off x="640080" y="2795524"/>
            <a:ext cx="10911535" cy="83693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069844"/>
            <a:ext cx="10454335" cy="198120"/>
          </a:xfrm>
          <a:prstGeom prst="rect">
            <a:avLst/>
          </a:prstGeom>
          <a:noFill/>
        </p:spPr>
        <p:txBody>
          <a:bodyPr wrap="square" anchor="t" lIns="0" rIns="0" tIns="0" bIns="0">
            <a:spAutoFit/>
          </a:bodyPr>
          <a:lstStyle/>
          <a:p>
            <a:pPr algn="l"/>
            <a:r>
              <a:rPr sz="1300" b="1">
                <a:solidFill>
                  <a:srgbClr val="FF983D"/>
                </a:solidFill>
                <a:latin typeface="ITC Avant Garde Gothic"/>
              </a:rPr>
              <a:t>Detección</a:t>
            </a:r>
          </a:p>
        </p:txBody>
      </p:sp>
      <p:sp>
        <p:nvSpPr>
          <p:cNvPr id="9" name="TextBox 8"/>
          <p:cNvSpPr txBox="1"/>
          <p:nvPr/>
        </p:nvSpPr>
        <p:spPr>
          <a:xfrm>
            <a:off x="868680" y="3359404"/>
            <a:ext cx="10454335" cy="181609"/>
          </a:xfrm>
          <a:prstGeom prst="rect">
            <a:avLst/>
          </a:prstGeom>
          <a:noFill/>
        </p:spPr>
        <p:txBody>
          <a:bodyPr wrap="square" anchor="t" lIns="0" rIns="0" tIns="0" bIns="0">
            <a:spAutoFit/>
          </a:bodyPr>
          <a:lstStyle/>
          <a:p>
            <a:pPr algn="l"/>
            <a:r>
              <a:rPr sz="1100" b="0">
                <a:solidFill>
                  <a:srgbClr val="C7C2EF"/>
                </a:solidFill>
                <a:latin typeface="ITC Avant Garde Gothic"/>
              </a:rPr>
              <a:t>¿Qué objetos hay y dónde?</a:t>
            </a:r>
          </a:p>
        </p:txBody>
      </p:sp>
      <p:sp>
        <p:nvSpPr>
          <p:cNvPr id="10" name="Rounded Rectangle 9"/>
          <p:cNvSpPr/>
          <p:nvPr/>
        </p:nvSpPr>
        <p:spPr>
          <a:xfrm>
            <a:off x="640080" y="3815334"/>
            <a:ext cx="10911535" cy="83693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089654"/>
            <a:ext cx="10454335" cy="198120"/>
          </a:xfrm>
          <a:prstGeom prst="rect">
            <a:avLst/>
          </a:prstGeom>
          <a:noFill/>
        </p:spPr>
        <p:txBody>
          <a:bodyPr wrap="square" anchor="t" lIns="0" rIns="0" tIns="0" bIns="0">
            <a:spAutoFit/>
          </a:bodyPr>
          <a:lstStyle/>
          <a:p>
            <a:pPr algn="l"/>
            <a:r>
              <a:rPr sz="1300" b="1">
                <a:solidFill>
                  <a:srgbClr val="FF983D"/>
                </a:solidFill>
                <a:latin typeface="ITC Avant Garde Gothic"/>
              </a:rPr>
              <a:t>Segmentación semántica</a:t>
            </a:r>
          </a:p>
        </p:txBody>
      </p:sp>
      <p:sp>
        <p:nvSpPr>
          <p:cNvPr id="12" name="TextBox 11"/>
          <p:cNvSpPr txBox="1"/>
          <p:nvPr/>
        </p:nvSpPr>
        <p:spPr>
          <a:xfrm>
            <a:off x="868680" y="4379214"/>
            <a:ext cx="10454335" cy="181609"/>
          </a:xfrm>
          <a:prstGeom prst="rect">
            <a:avLst/>
          </a:prstGeom>
          <a:noFill/>
        </p:spPr>
        <p:txBody>
          <a:bodyPr wrap="square" anchor="t" lIns="0" rIns="0" tIns="0" bIns="0">
            <a:spAutoFit/>
          </a:bodyPr>
          <a:lstStyle/>
          <a:p>
            <a:pPr algn="l"/>
            <a:r>
              <a:rPr sz="1100" b="0">
                <a:solidFill>
                  <a:srgbClr val="C7C2EF"/>
                </a:solidFill>
                <a:latin typeface="ITC Avant Garde Gothic"/>
              </a:rPr>
              <a:t>¿Qué es cada píxel?</a:t>
            </a:r>
          </a:p>
        </p:txBody>
      </p:sp>
      <p:sp>
        <p:nvSpPr>
          <p:cNvPr id="13" name="Rounded Rectangle 12"/>
          <p:cNvSpPr/>
          <p:nvPr/>
        </p:nvSpPr>
        <p:spPr>
          <a:xfrm>
            <a:off x="640080" y="4835144"/>
            <a:ext cx="10911535" cy="83693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5109464"/>
            <a:ext cx="10454335" cy="198120"/>
          </a:xfrm>
          <a:prstGeom prst="rect">
            <a:avLst/>
          </a:prstGeom>
          <a:noFill/>
        </p:spPr>
        <p:txBody>
          <a:bodyPr wrap="square" anchor="t" lIns="0" rIns="0" tIns="0" bIns="0">
            <a:spAutoFit/>
          </a:bodyPr>
          <a:lstStyle/>
          <a:p>
            <a:pPr algn="l"/>
            <a:r>
              <a:rPr sz="1300" b="1">
                <a:solidFill>
                  <a:srgbClr val="FF983D"/>
                </a:solidFill>
                <a:latin typeface="ITC Avant Garde Gothic"/>
              </a:rPr>
              <a:t>Segmentación por instancias</a:t>
            </a:r>
          </a:p>
        </p:txBody>
      </p:sp>
      <p:sp>
        <p:nvSpPr>
          <p:cNvPr id="15" name="TextBox 14"/>
          <p:cNvSpPr txBox="1"/>
          <p:nvPr/>
        </p:nvSpPr>
        <p:spPr>
          <a:xfrm>
            <a:off x="868680" y="5399024"/>
            <a:ext cx="10454335" cy="181609"/>
          </a:xfrm>
          <a:prstGeom prst="rect">
            <a:avLst/>
          </a:prstGeom>
          <a:noFill/>
        </p:spPr>
        <p:txBody>
          <a:bodyPr wrap="square" anchor="t" lIns="0" rIns="0" tIns="0" bIns="0">
            <a:spAutoFit/>
          </a:bodyPr>
          <a:lstStyle/>
          <a:p>
            <a:pPr algn="l"/>
            <a:r>
              <a:rPr sz="1100" b="0">
                <a:solidFill>
                  <a:srgbClr val="C7C2EF"/>
                </a:solidFill>
                <a:latin typeface="ITC Avant Garde Gothic"/>
              </a:rPr>
              <a:t>¿Cuántos objetos hay y cuál es la forma exacta de cada uno?</a:t>
            </a:r>
          </a:p>
        </p:txBody>
      </p:sp>
      <p:sp>
        <p:nvSpPr>
          <p:cNvPr id="16" name="TextBox 15"/>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Tipos de resultado</a:t>
            </a:r>
          </a:p>
        </p:txBody>
      </p:sp>
      <p:sp>
        <p:nvSpPr>
          <p:cNvPr id="3" name="TextBox 2"/>
          <p:cNvSpPr txBox="1"/>
          <p:nvPr/>
        </p:nvSpPr>
        <p:spPr>
          <a:xfrm>
            <a:off x="640080" y="960120"/>
            <a:ext cx="10911535" cy="591210"/>
          </a:xfrm>
          <a:prstGeom prst="rect">
            <a:avLst/>
          </a:prstGeom>
          <a:noFill/>
        </p:spPr>
        <p:txBody>
          <a:bodyPr wrap="square" anchor="t" lIns="0" rIns="0" tIns="0" bIns="0">
            <a:spAutoFit/>
          </a:bodyPr>
          <a:lstStyle/>
          <a:p>
            <a:pPr algn="l"/>
            <a:r>
              <a:rPr sz="4000" b="1">
                <a:solidFill>
                  <a:srgbClr val="C7C2EF"/>
                </a:solidFill>
                <a:latin typeface="ITC Avant Garde Gothic"/>
              </a:rPr>
              <a:t>Detección de objetos</a:t>
            </a:r>
          </a:p>
        </p:txBody>
      </p:sp>
      <p:sp>
        <p:nvSpPr>
          <p:cNvPr id="4" name="Rounded Rectangle 3"/>
          <p:cNvSpPr/>
          <p:nvPr/>
        </p:nvSpPr>
        <p:spPr>
          <a:xfrm>
            <a:off x="640080" y="1917090"/>
            <a:ext cx="3454298" cy="179384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08168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227986"/>
            <a:ext cx="2997098" cy="1428089"/>
          </a:xfrm>
          <a:prstGeom prst="rect">
            <a:avLst/>
          </a:prstGeom>
          <a:noFill/>
        </p:spPr>
        <p:txBody>
          <a:bodyPr wrap="square" anchor="t" lIns="0" rIns="0" tIns="0" bIns="0">
            <a:spAutoFit/>
          </a:bodyPr>
          <a:lstStyle/>
          <a:p>
            <a:pPr algn="l"/>
            <a:r>
              <a:rPr sz="2000" b="0">
                <a:solidFill>
                  <a:srgbClr val="C7C2EF"/>
                </a:solidFill>
                <a:latin typeface="ITC Avant Garde Gothic"/>
              </a:rPr>
              <a:t>Un rectángulo por objeto, con su clase</a:t>
            </a:r>
          </a:p>
        </p:txBody>
      </p:sp>
      <p:sp>
        <p:nvSpPr>
          <p:cNvPr id="7" name="Rounded Rectangle 6"/>
          <p:cNvSpPr/>
          <p:nvPr/>
        </p:nvSpPr>
        <p:spPr>
          <a:xfrm>
            <a:off x="4368698" y="1917090"/>
            <a:ext cx="3454298" cy="179384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97298" y="208168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7298" y="2227986"/>
            <a:ext cx="2997098" cy="1428089"/>
          </a:xfrm>
          <a:prstGeom prst="rect">
            <a:avLst/>
          </a:prstGeom>
          <a:noFill/>
        </p:spPr>
        <p:txBody>
          <a:bodyPr wrap="square" anchor="t" lIns="0" rIns="0" tIns="0" bIns="0">
            <a:spAutoFit/>
          </a:bodyPr>
          <a:lstStyle/>
          <a:p>
            <a:pPr algn="l"/>
            <a:r>
              <a:rPr sz="2000" b="0">
                <a:solidFill>
                  <a:srgbClr val="C7C2EF"/>
                </a:solidFill>
                <a:latin typeface="ITC Avant Garde Gothic"/>
              </a:rPr>
              <a:t>Con 140 espermatozoides devuelve 140 rectángulos: ya se puede contar.</a:t>
            </a:r>
          </a:p>
        </p:txBody>
      </p:sp>
      <p:sp>
        <p:nvSpPr>
          <p:cNvPr id="10" name="Rounded Rectangle 9"/>
          <p:cNvSpPr/>
          <p:nvPr/>
        </p:nvSpPr>
        <p:spPr>
          <a:xfrm>
            <a:off x="8097316" y="1917090"/>
            <a:ext cx="3454298" cy="1793849"/>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25916" y="208168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5916" y="2227986"/>
            <a:ext cx="2997098" cy="1428089"/>
          </a:xfrm>
          <a:prstGeom prst="rect">
            <a:avLst/>
          </a:prstGeom>
          <a:noFill/>
        </p:spPr>
        <p:txBody>
          <a:bodyPr wrap="square" anchor="t" lIns="0" rIns="0" tIns="0" bIns="0">
            <a:spAutoFit/>
          </a:bodyPr>
          <a:lstStyle/>
          <a:p>
            <a:pPr algn="l"/>
            <a:r>
              <a:rPr sz="2000" b="0">
                <a:solidFill>
                  <a:srgbClr val="C7C2EF"/>
                </a:solidFill>
                <a:latin typeface="ITC Avant Garde Gothic"/>
              </a:rPr>
              <a:t>Pero es una aproximación muy gruesa</a:t>
            </a:r>
          </a:p>
        </p:txBody>
      </p:sp>
      <p:sp>
        <p:nvSpPr>
          <p:cNvPr id="13" name="TextBox 12"/>
          <p:cNvSpPr txBox="1"/>
          <p:nvPr/>
        </p:nvSpPr>
        <p:spPr>
          <a:xfrm>
            <a:off x="640080" y="3893820"/>
            <a:ext cx="10911535" cy="684215"/>
          </a:xfrm>
          <a:prstGeom prst="rect">
            <a:avLst/>
          </a:prstGeom>
          <a:noFill/>
        </p:spPr>
        <p:txBody>
          <a:bodyPr wrap="square" anchor="t" lIns="0" rIns="0" tIns="0" bIns="0">
            <a:spAutoFit/>
          </a:bodyPr>
          <a:lstStyle/>
          <a:p>
            <a:pPr algn="l"/>
            <a:r>
              <a:rPr sz="2200" b="0">
                <a:solidFill>
                  <a:srgbClr val="C7C2EF"/>
                </a:solidFill>
                <a:latin typeface="ITC Avant Garde Gothic"/>
              </a:rPr>
              <a:t>Un rectángulo incluye mucho fondo y no sirve para medir área o largo; dos células encimadas dan rectángulos que se solapan.</a:t>
            </a:r>
          </a:p>
        </p:txBody>
      </p:sp>
      <p:sp>
        <p:nvSpPr>
          <p:cNvPr id="14" name="TextBox 13"/>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Tipos de resultado</a:t>
            </a:r>
          </a:p>
        </p:txBody>
      </p:sp>
      <p:sp>
        <p:nvSpPr>
          <p:cNvPr id="3" name="TextBox 2"/>
          <p:cNvSpPr txBox="1"/>
          <p:nvPr/>
        </p:nvSpPr>
        <p:spPr>
          <a:xfrm>
            <a:off x="640080" y="960120"/>
            <a:ext cx="10911535" cy="642620"/>
          </a:xfrm>
          <a:prstGeom prst="rect">
            <a:avLst/>
          </a:prstGeom>
          <a:noFill/>
        </p:spPr>
        <p:txBody>
          <a:bodyPr wrap="square" anchor="t" lIns="0" rIns="0" tIns="0" bIns="0">
            <a:spAutoFit/>
          </a:bodyPr>
          <a:lstStyle/>
          <a:p>
            <a:pPr algn="l"/>
            <a:r>
              <a:rPr sz="4400" b="1">
                <a:solidFill>
                  <a:srgbClr val="C7C2EF"/>
                </a:solidFill>
                <a:latin typeface="ITC Avant Garde Gothic"/>
              </a:rPr>
              <a:t>Segmentación por instancias</a:t>
            </a:r>
          </a:p>
        </p:txBody>
      </p:sp>
      <p:sp>
        <p:nvSpPr>
          <p:cNvPr id="4" name="Rounded Rectangle 3"/>
          <p:cNvSpPr/>
          <p:nvPr/>
        </p:nvSpPr>
        <p:spPr>
          <a:xfrm>
            <a:off x="640080" y="1968500"/>
            <a:ext cx="10911535" cy="82042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13309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279396"/>
            <a:ext cx="10454335" cy="454660"/>
          </a:xfrm>
          <a:prstGeom prst="rect">
            <a:avLst/>
          </a:prstGeom>
          <a:noFill/>
        </p:spPr>
        <p:txBody>
          <a:bodyPr wrap="square" anchor="t" lIns="0" rIns="0" tIns="0" bIns="0">
            <a:spAutoFit/>
          </a:bodyPr>
          <a:lstStyle/>
          <a:p>
            <a:pPr algn="l"/>
            <a:r>
              <a:rPr sz="2200" b="0">
                <a:solidFill>
                  <a:srgbClr val="C7C2EF"/>
                </a:solidFill>
                <a:latin typeface="ITC Avant Garde Gothic"/>
              </a:rPr>
              <a:t>Cada objeto individual, con su contorno exacto</a:t>
            </a:r>
          </a:p>
        </p:txBody>
      </p:sp>
      <p:sp>
        <p:nvSpPr>
          <p:cNvPr id="7" name="TextBox 6"/>
          <p:cNvSpPr txBox="1"/>
          <p:nvPr/>
        </p:nvSpPr>
        <p:spPr>
          <a:xfrm>
            <a:off x="640080" y="2971800"/>
            <a:ext cx="10911535" cy="743712"/>
          </a:xfrm>
          <a:prstGeom prst="rect">
            <a:avLst/>
          </a:prstGeom>
          <a:noFill/>
        </p:spPr>
        <p:txBody>
          <a:bodyPr wrap="square" anchor="t" lIns="0" rIns="0" tIns="0" bIns="0">
            <a:spAutoFit/>
          </a:bodyPr>
          <a:lstStyle/>
          <a:p>
            <a:pPr algn="l"/>
            <a:r>
              <a:rPr sz="2400" b="0">
                <a:solidFill>
                  <a:srgbClr val="C7C2EF"/>
                </a:solidFill>
                <a:latin typeface="ITC Avant Garde Gothic"/>
              </a:rPr>
              <a:t>Dos células que se tocan quedan como dos objetos, cada uno con su máscara.</a:t>
            </a:r>
          </a:p>
        </p:txBody>
      </p:sp>
      <p:sp>
        <p:nvSpPr>
          <p:cNvPr id="8" name="Rounded Rectangle 7"/>
          <p:cNvSpPr/>
          <p:nvPr/>
        </p:nvSpPr>
        <p:spPr>
          <a:xfrm>
            <a:off x="640080" y="3944112"/>
            <a:ext cx="5318607" cy="118364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8680" y="410870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255008"/>
            <a:ext cx="4861407" cy="817880"/>
          </a:xfrm>
          <a:prstGeom prst="rect">
            <a:avLst/>
          </a:prstGeom>
          <a:noFill/>
        </p:spPr>
        <p:txBody>
          <a:bodyPr wrap="square" anchor="t" lIns="0" rIns="0" tIns="0" bIns="0">
            <a:spAutoFit/>
          </a:bodyPr>
          <a:lstStyle/>
          <a:p>
            <a:pPr algn="l"/>
            <a:r>
              <a:rPr sz="2200" b="0">
                <a:solidFill>
                  <a:srgbClr val="C7C2EF"/>
                </a:solidFill>
                <a:latin typeface="ITC Avant Garde Gothic"/>
              </a:rPr>
              <a:t>Permite contar, medir el área y el largo</a:t>
            </a:r>
          </a:p>
        </p:txBody>
      </p:sp>
      <p:sp>
        <p:nvSpPr>
          <p:cNvPr id="11" name="Rounded Rectangle 10"/>
          <p:cNvSpPr/>
          <p:nvPr/>
        </p:nvSpPr>
        <p:spPr>
          <a:xfrm>
            <a:off x="6233007" y="3944112"/>
            <a:ext cx="5318607" cy="118364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61607" y="410870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1607" y="4255008"/>
            <a:ext cx="4861407" cy="817880"/>
          </a:xfrm>
          <a:prstGeom prst="rect">
            <a:avLst/>
          </a:prstGeom>
          <a:noFill/>
        </p:spPr>
        <p:txBody>
          <a:bodyPr wrap="square" anchor="t" lIns="0" rIns="0" tIns="0" bIns="0">
            <a:spAutoFit/>
          </a:bodyPr>
          <a:lstStyle/>
          <a:p>
            <a:pPr algn="l"/>
            <a:r>
              <a:rPr sz="2200" b="0">
                <a:solidFill>
                  <a:srgbClr val="C7C2EF"/>
                </a:solidFill>
                <a:latin typeface="ITC Avant Garde Gothic"/>
              </a:rPr>
              <a:t>Por eso es la que usa este proyecto.</a:t>
            </a:r>
          </a:p>
        </p:txBody>
      </p:sp>
      <p:sp>
        <p:nvSpPr>
          <p:cNvPr id="14" name="TextBox 13"/>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El problema de partida</a:t>
            </a:r>
          </a:p>
        </p:txBody>
      </p:sp>
      <p:sp>
        <p:nvSpPr>
          <p:cNvPr id="3" name="TextBox 2"/>
          <p:cNvSpPr txBox="1"/>
          <p:nvPr/>
        </p:nvSpPr>
        <p:spPr>
          <a:xfrm>
            <a:off x="640080" y="960120"/>
            <a:ext cx="10911535" cy="449833"/>
          </a:xfrm>
          <a:prstGeom prst="rect">
            <a:avLst/>
          </a:prstGeom>
          <a:noFill/>
        </p:spPr>
        <p:txBody>
          <a:bodyPr wrap="square" anchor="t" lIns="0" rIns="0" tIns="0" bIns="0">
            <a:spAutoFit/>
          </a:bodyPr>
          <a:lstStyle/>
          <a:p>
            <a:pPr algn="l"/>
            <a:r>
              <a:rPr sz="3100" b="1">
                <a:solidFill>
                  <a:srgbClr val="C7C2EF"/>
                </a:solidFill>
                <a:latin typeface="ITC Avant Garde Gothic"/>
              </a:rPr>
              <a:t>Pocas fotografías etiquetadas y una red enorme</a:t>
            </a:r>
          </a:p>
        </p:txBody>
      </p:sp>
      <p:sp>
        <p:nvSpPr>
          <p:cNvPr id="4" name="Rounded Rectangle 3"/>
          <p:cNvSpPr/>
          <p:nvPr/>
        </p:nvSpPr>
        <p:spPr>
          <a:xfrm>
            <a:off x="640080" y="1775714"/>
            <a:ext cx="10911535" cy="62377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86610"/>
            <a:ext cx="10454335" cy="258013"/>
          </a:xfrm>
          <a:prstGeom prst="rect">
            <a:avLst/>
          </a:prstGeom>
          <a:noFill/>
        </p:spPr>
        <p:txBody>
          <a:bodyPr wrap="square" anchor="t" lIns="0" rIns="0" tIns="0" bIns="0">
            <a:spAutoFit/>
          </a:bodyPr>
          <a:lstStyle/>
          <a:p>
            <a:pPr algn="l"/>
            <a:r>
              <a:rPr sz="1500" b="0">
                <a:solidFill>
                  <a:srgbClr val="C7C2EF"/>
                </a:solidFill>
                <a:latin typeface="ITC Avant Garde Gothic"/>
              </a:rPr>
              <a:t>4 + 4</a:t>
            </a:r>
          </a:p>
        </p:txBody>
      </p:sp>
      <p:sp>
        <p:nvSpPr>
          <p:cNvPr id="7" name="TextBox 6"/>
          <p:cNvSpPr txBox="1"/>
          <p:nvPr/>
        </p:nvSpPr>
        <p:spPr>
          <a:xfrm>
            <a:off x="640080" y="2582367"/>
            <a:ext cx="10911535" cy="245424"/>
          </a:xfrm>
          <a:prstGeom prst="rect">
            <a:avLst/>
          </a:prstGeom>
          <a:noFill/>
        </p:spPr>
        <p:txBody>
          <a:bodyPr wrap="square" anchor="t" lIns="0" rIns="0" tIns="0" bIns="0">
            <a:spAutoFit/>
          </a:bodyPr>
          <a:lstStyle/>
          <a:p>
            <a:pPr algn="l"/>
            <a:r>
              <a:rPr sz="1600" b="0">
                <a:solidFill>
                  <a:srgbClr val="C7C2EF"/>
                </a:solidFill>
                <a:latin typeface="ITC Avant Garde Gothic"/>
              </a:rPr>
              <a:t>fotografías etiquetadas: cuatro de fluorescencia y cuatro de fondo claro</a:t>
            </a:r>
          </a:p>
        </p:txBody>
      </p:sp>
      <p:sp>
        <p:nvSpPr>
          <p:cNvPr id="8" name="Rounded Rectangle 7"/>
          <p:cNvSpPr/>
          <p:nvPr/>
        </p:nvSpPr>
        <p:spPr>
          <a:xfrm>
            <a:off x="640080" y="3056392"/>
            <a:ext cx="2522143" cy="110322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8680" y="322098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367288"/>
            <a:ext cx="2064943" cy="737463"/>
          </a:xfrm>
          <a:prstGeom prst="rect">
            <a:avLst/>
          </a:prstGeom>
          <a:noFill/>
        </p:spPr>
        <p:txBody>
          <a:bodyPr wrap="square" anchor="t" lIns="0" rIns="0" tIns="0" bIns="0">
            <a:spAutoFit/>
          </a:bodyPr>
          <a:lstStyle/>
          <a:p>
            <a:pPr algn="l"/>
            <a:r>
              <a:rPr sz="1500" b="0">
                <a:solidFill>
                  <a:srgbClr val="C7C2EF"/>
                </a:solidFill>
                <a:latin typeface="ITC Avant Garde Gothic"/>
              </a:rPr>
              <a:t>Cientos</a:t>
            </a:r>
          </a:p>
        </p:txBody>
      </p:sp>
      <p:sp>
        <p:nvSpPr>
          <p:cNvPr id="11" name="Rounded Rectangle 10"/>
          <p:cNvSpPr/>
          <p:nvPr/>
        </p:nvSpPr>
        <p:spPr>
          <a:xfrm>
            <a:off x="3436543" y="3056392"/>
            <a:ext cx="2522143" cy="110322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65143" y="322098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65143" y="3367288"/>
            <a:ext cx="2064943" cy="737463"/>
          </a:xfrm>
          <a:prstGeom prst="rect">
            <a:avLst/>
          </a:prstGeom>
          <a:noFill/>
        </p:spPr>
        <p:txBody>
          <a:bodyPr wrap="square" anchor="t" lIns="0" rIns="0" tIns="0" bIns="0">
            <a:spAutoFit/>
          </a:bodyPr>
          <a:lstStyle/>
          <a:p>
            <a:pPr algn="l"/>
            <a:r>
              <a:rPr sz="1500" b="0">
                <a:solidFill>
                  <a:srgbClr val="C7C2EF"/>
                </a:solidFill>
                <a:latin typeface="ITC Avant Garde Gothic"/>
              </a:rPr>
              <a:t>de espermatozoides marcados en total</a:t>
            </a:r>
          </a:p>
        </p:txBody>
      </p:sp>
      <p:sp>
        <p:nvSpPr>
          <p:cNvPr id="14" name="Rounded Rectangle 13"/>
          <p:cNvSpPr/>
          <p:nvPr/>
        </p:nvSpPr>
        <p:spPr>
          <a:xfrm>
            <a:off x="6233007" y="3056392"/>
            <a:ext cx="2522143" cy="110322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61607" y="322098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1607" y="3367288"/>
            <a:ext cx="2064943" cy="737463"/>
          </a:xfrm>
          <a:prstGeom prst="rect">
            <a:avLst/>
          </a:prstGeom>
          <a:noFill/>
        </p:spPr>
        <p:txBody>
          <a:bodyPr wrap="square" anchor="t" lIns="0" rIns="0" tIns="0" bIns="0">
            <a:spAutoFit/>
          </a:bodyPr>
          <a:lstStyle/>
          <a:p>
            <a:pPr algn="l"/>
            <a:r>
              <a:rPr sz="1500" b="0">
                <a:solidFill>
                  <a:srgbClr val="C7C2EF"/>
                </a:solidFill>
                <a:latin typeface="ITC Avant Garde Gothic"/>
              </a:rPr>
              <a:t>Millones</a:t>
            </a:r>
          </a:p>
        </p:txBody>
      </p:sp>
      <p:sp>
        <p:nvSpPr>
          <p:cNvPr id="17" name="Rounded Rectangle 16"/>
          <p:cNvSpPr/>
          <p:nvPr/>
        </p:nvSpPr>
        <p:spPr>
          <a:xfrm>
            <a:off x="9029471" y="3056392"/>
            <a:ext cx="2522143" cy="110322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258071" y="322098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58071" y="3367288"/>
            <a:ext cx="2064943" cy="737463"/>
          </a:xfrm>
          <a:prstGeom prst="rect">
            <a:avLst/>
          </a:prstGeom>
          <a:noFill/>
        </p:spPr>
        <p:txBody>
          <a:bodyPr wrap="square" anchor="t" lIns="0" rIns="0" tIns="0" bIns="0">
            <a:spAutoFit/>
          </a:bodyPr>
          <a:lstStyle/>
          <a:p>
            <a:pPr algn="l"/>
            <a:r>
              <a:rPr sz="1500" b="0">
                <a:solidFill>
                  <a:srgbClr val="C7C2EF"/>
                </a:solidFill>
                <a:latin typeface="ITC Avant Garde Gothic"/>
              </a:rPr>
              <a:t>de pesos que ajustar (decenas de millones)</a:t>
            </a:r>
          </a:p>
        </p:txBody>
      </p:sp>
      <p:sp>
        <p:nvSpPr>
          <p:cNvPr id="20" name="TextBox 19"/>
          <p:cNvSpPr txBox="1"/>
          <p:nvPr/>
        </p:nvSpPr>
        <p:spPr>
          <a:xfrm>
            <a:off x="640080" y="4342495"/>
            <a:ext cx="10911535" cy="245424"/>
          </a:xfrm>
          <a:prstGeom prst="rect">
            <a:avLst/>
          </a:prstGeom>
          <a:noFill/>
        </p:spPr>
        <p:txBody>
          <a:bodyPr wrap="square" anchor="t" lIns="0" rIns="0" tIns="0" bIns="0">
            <a:spAutoFit/>
          </a:bodyPr>
          <a:lstStyle/>
          <a:p>
            <a:pPr algn="l"/>
            <a:r>
              <a:rPr sz="1600" b="0">
                <a:solidFill>
                  <a:srgbClr val="C7C2EF"/>
                </a:solidFill>
                <a:latin typeface="ITC Avant Garde Gothic"/>
              </a:rPr>
              <a:t>Entrenar desde cero con tan pocos ejemplos es la receta casi segura del sobreajuste.</a:t>
            </a:r>
          </a:p>
        </p:txBody>
      </p:sp>
      <p:sp>
        <p:nvSpPr>
          <p:cNvPr id="21" name="TextBox 20"/>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Una analogía</a:t>
            </a:r>
          </a:p>
        </p:txBody>
      </p:sp>
      <p:sp>
        <p:nvSpPr>
          <p:cNvPr id="3" name="TextBox 2"/>
          <p:cNvSpPr txBox="1"/>
          <p:nvPr/>
        </p:nvSpPr>
        <p:spPr>
          <a:xfrm>
            <a:off x="640080" y="960120"/>
            <a:ext cx="10911535" cy="899667"/>
          </a:xfrm>
          <a:prstGeom prst="rect">
            <a:avLst/>
          </a:prstGeom>
          <a:noFill/>
        </p:spPr>
        <p:txBody>
          <a:bodyPr wrap="square" anchor="t" lIns="0" rIns="0" tIns="0" bIns="0">
            <a:spAutoFit/>
          </a:bodyPr>
          <a:lstStyle/>
          <a:p>
            <a:pPr algn="l"/>
            <a:r>
              <a:rPr sz="3100" b="1">
                <a:solidFill>
                  <a:srgbClr val="C7C2EF"/>
                </a:solidFill>
                <a:latin typeface="ITC Avant Garde Gothic"/>
              </a:rPr>
              <a:t>Quien aprendió guitarra y quiere aprender ukulele</a:t>
            </a:r>
          </a:p>
        </p:txBody>
      </p:sp>
      <p:sp>
        <p:nvSpPr>
          <p:cNvPr id="4" name="TextBox 3"/>
          <p:cNvSpPr txBox="1"/>
          <p:nvPr/>
        </p:nvSpPr>
        <p:spPr>
          <a:xfrm>
            <a:off x="640080" y="2225548"/>
            <a:ext cx="10911535" cy="255650"/>
          </a:xfrm>
          <a:prstGeom prst="rect">
            <a:avLst/>
          </a:prstGeom>
          <a:noFill/>
        </p:spPr>
        <p:txBody>
          <a:bodyPr wrap="square" anchor="t" lIns="0" rIns="0" tIns="0" bIns="0">
            <a:spAutoFit/>
          </a:bodyPr>
          <a:lstStyle/>
          <a:p>
            <a:pPr algn="l"/>
            <a:r>
              <a:rPr sz="1600" b="1">
                <a:solidFill>
                  <a:srgbClr val="FF983D"/>
                </a:solidFill>
                <a:latin typeface="ITC Avant Garde Gothic"/>
              </a:rPr>
              <a:t>Ya sabe</a:t>
            </a:r>
          </a:p>
        </p:txBody>
      </p:sp>
      <p:sp>
        <p:nvSpPr>
          <p:cNvPr id="5" name="Rounded Rectangle 4"/>
          <p:cNvSpPr/>
          <p:nvPr/>
        </p:nvSpPr>
        <p:spPr>
          <a:xfrm>
            <a:off x="640080" y="2664079"/>
            <a:ext cx="2522143" cy="78359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68680" y="2828671"/>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974975"/>
            <a:ext cx="2064943" cy="417830"/>
          </a:xfrm>
          <a:prstGeom prst="rect">
            <a:avLst/>
          </a:prstGeom>
          <a:noFill/>
        </p:spPr>
        <p:txBody>
          <a:bodyPr wrap="square" anchor="t" lIns="0" rIns="0" tIns="0" bIns="0">
            <a:spAutoFit/>
          </a:bodyPr>
          <a:lstStyle/>
          <a:p>
            <a:pPr algn="l"/>
            <a:r>
              <a:rPr sz="1200" b="0">
                <a:solidFill>
                  <a:srgbClr val="C7C2EF"/>
                </a:solidFill>
                <a:latin typeface="ITC Avant Garde Gothic"/>
              </a:rPr>
              <a:t>Leer partituras</a:t>
            </a:r>
          </a:p>
        </p:txBody>
      </p:sp>
      <p:sp>
        <p:nvSpPr>
          <p:cNvPr id="8" name="Rounded Rectangle 7"/>
          <p:cNvSpPr/>
          <p:nvPr/>
        </p:nvSpPr>
        <p:spPr>
          <a:xfrm>
            <a:off x="3436543" y="2664079"/>
            <a:ext cx="2522143" cy="78359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65143" y="2828671"/>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65143" y="2974975"/>
            <a:ext cx="2064943" cy="417830"/>
          </a:xfrm>
          <a:prstGeom prst="rect">
            <a:avLst/>
          </a:prstGeom>
          <a:noFill/>
        </p:spPr>
        <p:txBody>
          <a:bodyPr wrap="square" anchor="t" lIns="0" rIns="0" tIns="0" bIns="0">
            <a:spAutoFit/>
          </a:bodyPr>
          <a:lstStyle/>
          <a:p>
            <a:pPr algn="l"/>
            <a:r>
              <a:rPr sz="1200" b="0">
                <a:solidFill>
                  <a:srgbClr val="C7C2EF"/>
                </a:solidFill>
                <a:latin typeface="ITC Avant Garde Gothic"/>
              </a:rPr>
              <a:t>Tiene el oído entrenado</a:t>
            </a:r>
          </a:p>
        </p:txBody>
      </p:sp>
      <p:sp>
        <p:nvSpPr>
          <p:cNvPr id="11" name="Rounded Rectangle 10"/>
          <p:cNvSpPr/>
          <p:nvPr/>
        </p:nvSpPr>
        <p:spPr>
          <a:xfrm>
            <a:off x="6233007" y="2664079"/>
            <a:ext cx="2522143" cy="78359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61607" y="2828671"/>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1607" y="2974975"/>
            <a:ext cx="2064943" cy="417830"/>
          </a:xfrm>
          <a:prstGeom prst="rect">
            <a:avLst/>
          </a:prstGeom>
          <a:noFill/>
        </p:spPr>
        <p:txBody>
          <a:bodyPr wrap="square" anchor="t" lIns="0" rIns="0" tIns="0" bIns="0">
            <a:spAutoFit/>
          </a:bodyPr>
          <a:lstStyle/>
          <a:p>
            <a:pPr algn="l"/>
            <a:r>
              <a:rPr sz="1200" b="0">
                <a:solidFill>
                  <a:srgbClr val="C7C2EF"/>
                </a:solidFill>
                <a:latin typeface="ITC Avant Garde Gothic"/>
              </a:rPr>
              <a:t>Colocar los dedos en un mástil</a:t>
            </a:r>
          </a:p>
        </p:txBody>
      </p:sp>
      <p:sp>
        <p:nvSpPr>
          <p:cNvPr id="14" name="Rounded Rectangle 13"/>
          <p:cNvSpPr/>
          <p:nvPr/>
        </p:nvSpPr>
        <p:spPr>
          <a:xfrm>
            <a:off x="9029471" y="2664079"/>
            <a:ext cx="2522143" cy="78359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258071" y="2828671"/>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58071" y="2974975"/>
            <a:ext cx="2064943" cy="417830"/>
          </a:xfrm>
          <a:prstGeom prst="rect">
            <a:avLst/>
          </a:prstGeom>
          <a:noFill/>
        </p:spPr>
        <p:txBody>
          <a:bodyPr wrap="square" anchor="t" lIns="0" rIns="0" tIns="0" bIns="0">
            <a:spAutoFit/>
          </a:bodyPr>
          <a:lstStyle/>
          <a:p>
            <a:pPr algn="l"/>
            <a:r>
              <a:rPr sz="1200" b="0">
                <a:solidFill>
                  <a:srgbClr val="C7C2EF"/>
                </a:solidFill>
                <a:latin typeface="ITC Avant Garde Gothic"/>
              </a:rPr>
              <a:t>Domina el ritmo</a:t>
            </a:r>
          </a:p>
        </p:txBody>
      </p:sp>
      <p:sp>
        <p:nvSpPr>
          <p:cNvPr id="17" name="TextBox 16"/>
          <p:cNvSpPr txBox="1"/>
          <p:nvPr/>
        </p:nvSpPr>
        <p:spPr>
          <a:xfrm>
            <a:off x="640080" y="3630549"/>
            <a:ext cx="10911535" cy="255650"/>
          </a:xfrm>
          <a:prstGeom prst="rect">
            <a:avLst/>
          </a:prstGeom>
          <a:noFill/>
        </p:spPr>
        <p:txBody>
          <a:bodyPr wrap="square" anchor="t" lIns="0" rIns="0" tIns="0" bIns="0">
            <a:spAutoFit/>
          </a:bodyPr>
          <a:lstStyle/>
          <a:p>
            <a:pPr algn="l"/>
            <a:r>
              <a:rPr sz="1600" b="1">
                <a:solidFill>
                  <a:srgbClr val="FF983D"/>
                </a:solidFill>
                <a:latin typeface="ITC Avant Garde Gothic"/>
              </a:rPr>
              <a:t>Le falta lo específico</a:t>
            </a:r>
          </a:p>
        </p:txBody>
      </p:sp>
      <p:sp>
        <p:nvSpPr>
          <p:cNvPr id="18" name="Rounded Rectangle 17"/>
          <p:cNvSpPr/>
          <p:nvPr/>
        </p:nvSpPr>
        <p:spPr>
          <a:xfrm>
            <a:off x="640080" y="4069080"/>
            <a:ext cx="2522143" cy="1183132"/>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68680" y="423367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379976"/>
            <a:ext cx="2064943" cy="817372"/>
          </a:xfrm>
          <a:prstGeom prst="rect">
            <a:avLst/>
          </a:prstGeom>
          <a:noFill/>
        </p:spPr>
        <p:txBody>
          <a:bodyPr wrap="square" anchor="t" lIns="0" rIns="0" tIns="0" bIns="0">
            <a:spAutoFit/>
          </a:bodyPr>
          <a:lstStyle/>
          <a:p>
            <a:pPr algn="l"/>
            <a:r>
              <a:rPr sz="1200" b="0">
                <a:solidFill>
                  <a:srgbClr val="C7C2EF"/>
                </a:solidFill>
                <a:latin typeface="ITC Avant Garde Gothic"/>
              </a:rPr>
              <a:t>La afinación distinta</a:t>
            </a:r>
          </a:p>
        </p:txBody>
      </p:sp>
      <p:sp>
        <p:nvSpPr>
          <p:cNvPr id="21" name="Rounded Rectangle 20"/>
          <p:cNvSpPr/>
          <p:nvPr/>
        </p:nvSpPr>
        <p:spPr>
          <a:xfrm>
            <a:off x="3436543" y="4069080"/>
            <a:ext cx="2522143" cy="1183132"/>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65143" y="423367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65143" y="4379976"/>
            <a:ext cx="2064943" cy="817372"/>
          </a:xfrm>
          <a:prstGeom prst="rect">
            <a:avLst/>
          </a:prstGeom>
          <a:noFill/>
        </p:spPr>
        <p:txBody>
          <a:bodyPr wrap="square" anchor="t" lIns="0" rIns="0" tIns="0" bIns="0">
            <a:spAutoFit/>
          </a:bodyPr>
          <a:lstStyle/>
          <a:p>
            <a:pPr algn="l"/>
            <a:r>
              <a:rPr sz="1200" b="0">
                <a:solidFill>
                  <a:srgbClr val="C7C2EF"/>
                </a:solidFill>
                <a:latin typeface="ITC Avant Garde Gothic"/>
              </a:rPr>
              <a:t>Menos cuerdas</a:t>
            </a:r>
          </a:p>
        </p:txBody>
      </p:sp>
      <p:sp>
        <p:nvSpPr>
          <p:cNvPr id="24" name="Rounded Rectangle 23"/>
          <p:cNvSpPr/>
          <p:nvPr/>
        </p:nvSpPr>
        <p:spPr>
          <a:xfrm>
            <a:off x="6233007" y="4069080"/>
            <a:ext cx="2522143" cy="1183132"/>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61607" y="423367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61607" y="4379976"/>
            <a:ext cx="2064943" cy="817372"/>
          </a:xfrm>
          <a:prstGeom prst="rect">
            <a:avLst/>
          </a:prstGeom>
          <a:noFill/>
        </p:spPr>
        <p:txBody>
          <a:bodyPr wrap="square" anchor="t" lIns="0" rIns="0" tIns="0" bIns="0">
            <a:spAutoFit/>
          </a:bodyPr>
          <a:lstStyle/>
          <a:p>
            <a:pPr algn="l"/>
            <a:r>
              <a:rPr sz="1200" b="0">
                <a:solidFill>
                  <a:srgbClr val="C7C2EF"/>
                </a:solidFill>
                <a:latin typeface="ITC Avant Garde Gothic"/>
              </a:rPr>
              <a:t>Otro tamaño de trastes</a:t>
            </a:r>
          </a:p>
        </p:txBody>
      </p:sp>
      <p:sp>
        <p:nvSpPr>
          <p:cNvPr id="27" name="Rounded Rectangle 26"/>
          <p:cNvSpPr/>
          <p:nvPr/>
        </p:nvSpPr>
        <p:spPr>
          <a:xfrm>
            <a:off x="9029471" y="4069080"/>
            <a:ext cx="2522143" cy="1183132"/>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258071" y="423367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58071" y="4379976"/>
            <a:ext cx="2064943" cy="817372"/>
          </a:xfrm>
          <a:prstGeom prst="rect">
            <a:avLst/>
          </a:prstGeom>
          <a:noFill/>
        </p:spPr>
        <p:txBody>
          <a:bodyPr wrap="square" anchor="t" lIns="0" rIns="0" tIns="0" bIns="0">
            <a:spAutoFit/>
          </a:bodyPr>
          <a:lstStyle/>
          <a:p>
            <a:pPr algn="l"/>
            <a:r>
              <a:rPr sz="1200" b="0">
                <a:solidFill>
                  <a:srgbClr val="C7C2EF"/>
                </a:solidFill>
                <a:latin typeface="ITC Avant Garde Gothic"/>
              </a:rPr>
              <a:t>En unas semanas toca bien, en vez de los años que le tomó la guitarra.</a:t>
            </a:r>
          </a:p>
        </p:txBody>
      </p:sp>
      <p:sp>
        <p:nvSpPr>
          <p:cNvPr id="30" name="TextBox 29"/>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La red de partida</a:t>
            </a:r>
          </a:p>
        </p:txBody>
      </p:sp>
      <p:sp>
        <p:nvSpPr>
          <p:cNvPr id="3" name="TextBox 2"/>
          <p:cNvSpPr txBox="1"/>
          <p:nvPr/>
        </p:nvSpPr>
        <p:spPr>
          <a:xfrm>
            <a:off x="640080" y="960120"/>
            <a:ext cx="10911535" cy="546227"/>
          </a:xfrm>
          <a:prstGeom prst="rect">
            <a:avLst/>
          </a:prstGeom>
          <a:noFill/>
        </p:spPr>
        <p:txBody>
          <a:bodyPr wrap="square" anchor="t" lIns="0" rIns="0" tIns="0" bIns="0">
            <a:spAutoFit/>
          </a:bodyPr>
          <a:lstStyle/>
          <a:p>
            <a:pPr algn="l"/>
            <a:r>
              <a:rPr sz="3700" b="1">
                <a:solidFill>
                  <a:srgbClr val="C7C2EF"/>
                </a:solidFill>
                <a:latin typeface="ITC Avant Garde Gothic"/>
              </a:rPr>
              <a:t>Una Mask R-CNN preentrenada con COCO</a:t>
            </a:r>
          </a:p>
        </p:txBody>
      </p:sp>
      <p:sp>
        <p:nvSpPr>
          <p:cNvPr id="4" name="Rounded Rectangle 3"/>
          <p:cNvSpPr/>
          <p:nvPr/>
        </p:nvSpPr>
        <p:spPr>
          <a:xfrm>
            <a:off x="640080" y="1872106"/>
            <a:ext cx="3454298" cy="765936"/>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03669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183002"/>
            <a:ext cx="2997098" cy="400176"/>
          </a:xfrm>
          <a:prstGeom prst="rect">
            <a:avLst/>
          </a:prstGeom>
          <a:noFill/>
        </p:spPr>
        <p:txBody>
          <a:bodyPr wrap="square" anchor="t" lIns="0" rIns="0" tIns="0" bIns="0">
            <a:spAutoFit/>
          </a:bodyPr>
          <a:lstStyle/>
          <a:p>
            <a:pPr algn="l"/>
            <a:r>
              <a:rPr sz="1900" b="0">
                <a:solidFill>
                  <a:srgbClr val="C7C2EF"/>
                </a:solidFill>
                <a:latin typeface="ITC Avant Garde Gothic"/>
              </a:rPr>
              <a:t>300 mil</a:t>
            </a:r>
          </a:p>
        </p:txBody>
      </p:sp>
      <p:sp>
        <p:nvSpPr>
          <p:cNvPr id="7" name="Rounded Rectangle 6"/>
          <p:cNvSpPr/>
          <p:nvPr/>
        </p:nvSpPr>
        <p:spPr>
          <a:xfrm>
            <a:off x="4368698" y="1872106"/>
            <a:ext cx="3454298" cy="765936"/>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97298" y="203669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7298" y="2183002"/>
            <a:ext cx="2997098" cy="400176"/>
          </a:xfrm>
          <a:prstGeom prst="rect">
            <a:avLst/>
          </a:prstGeom>
          <a:noFill/>
        </p:spPr>
        <p:txBody>
          <a:bodyPr wrap="square" anchor="t" lIns="0" rIns="0" tIns="0" bIns="0">
            <a:spAutoFit/>
          </a:bodyPr>
          <a:lstStyle/>
          <a:p>
            <a:pPr algn="l"/>
            <a:r>
              <a:rPr sz="1900" b="0">
                <a:solidFill>
                  <a:srgbClr val="C7C2EF"/>
                </a:solidFill>
                <a:latin typeface="ITC Avant Garde Gothic"/>
              </a:rPr>
              <a:t>fotografías, más de</a:t>
            </a:r>
          </a:p>
        </p:txBody>
      </p:sp>
      <p:sp>
        <p:nvSpPr>
          <p:cNvPr id="10" name="Rounded Rectangle 9"/>
          <p:cNvSpPr/>
          <p:nvPr/>
        </p:nvSpPr>
        <p:spPr>
          <a:xfrm>
            <a:off x="8097316" y="1872106"/>
            <a:ext cx="3454298" cy="765936"/>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25916" y="203669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5916" y="2183002"/>
            <a:ext cx="2997098" cy="400176"/>
          </a:xfrm>
          <a:prstGeom prst="rect">
            <a:avLst/>
          </a:prstGeom>
          <a:noFill/>
        </p:spPr>
        <p:txBody>
          <a:bodyPr wrap="square" anchor="t" lIns="0" rIns="0" tIns="0" bIns="0">
            <a:spAutoFit/>
          </a:bodyPr>
          <a:lstStyle/>
          <a:p>
            <a:pPr algn="l"/>
            <a:r>
              <a:rPr sz="1900" b="0">
                <a:solidFill>
                  <a:srgbClr val="C7C2EF"/>
                </a:solidFill>
                <a:latin typeface="ITC Avant Garde Gothic"/>
              </a:rPr>
              <a:t>1 millón</a:t>
            </a:r>
          </a:p>
        </p:txBody>
      </p:sp>
      <p:sp>
        <p:nvSpPr>
          <p:cNvPr id="13" name="Rounded Rectangle 12"/>
          <p:cNvSpPr/>
          <p:nvPr/>
        </p:nvSpPr>
        <p:spPr>
          <a:xfrm>
            <a:off x="640080" y="2912363"/>
            <a:ext cx="3454298" cy="107467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68680" y="307695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223259"/>
            <a:ext cx="2997098" cy="708913"/>
          </a:xfrm>
          <a:prstGeom prst="rect">
            <a:avLst/>
          </a:prstGeom>
          <a:noFill/>
        </p:spPr>
        <p:txBody>
          <a:bodyPr wrap="square" anchor="t" lIns="0" rIns="0" tIns="0" bIns="0">
            <a:spAutoFit/>
          </a:bodyPr>
          <a:lstStyle/>
          <a:p>
            <a:pPr algn="l"/>
            <a:r>
              <a:rPr sz="1900" b="0">
                <a:solidFill>
                  <a:srgbClr val="C7C2EF"/>
                </a:solidFill>
                <a:latin typeface="ITC Avant Garde Gothic"/>
              </a:rPr>
              <a:t>de objetos anotados, más de</a:t>
            </a:r>
          </a:p>
        </p:txBody>
      </p:sp>
      <p:sp>
        <p:nvSpPr>
          <p:cNvPr id="16" name="Rounded Rectangle 15"/>
          <p:cNvSpPr/>
          <p:nvPr/>
        </p:nvSpPr>
        <p:spPr>
          <a:xfrm>
            <a:off x="4368698" y="2912363"/>
            <a:ext cx="3454298" cy="107467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97298" y="307695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97298" y="3223259"/>
            <a:ext cx="2997098" cy="708913"/>
          </a:xfrm>
          <a:prstGeom prst="rect">
            <a:avLst/>
          </a:prstGeom>
          <a:noFill/>
        </p:spPr>
        <p:txBody>
          <a:bodyPr wrap="square" anchor="t" lIns="0" rIns="0" tIns="0" bIns="0">
            <a:spAutoFit/>
          </a:bodyPr>
          <a:lstStyle/>
          <a:p>
            <a:pPr algn="l"/>
            <a:r>
              <a:rPr sz="1900" b="0">
                <a:solidFill>
                  <a:srgbClr val="C7C2EF"/>
                </a:solidFill>
                <a:latin typeface="ITC Avant Garde Gothic"/>
              </a:rPr>
              <a:t>80</a:t>
            </a:r>
          </a:p>
        </p:txBody>
      </p:sp>
      <p:sp>
        <p:nvSpPr>
          <p:cNvPr id="19" name="Rounded Rectangle 18"/>
          <p:cNvSpPr/>
          <p:nvPr/>
        </p:nvSpPr>
        <p:spPr>
          <a:xfrm>
            <a:off x="8097316" y="2912363"/>
            <a:ext cx="3454298" cy="107467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25916" y="307695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5916" y="3223259"/>
            <a:ext cx="2997098" cy="708913"/>
          </a:xfrm>
          <a:prstGeom prst="rect">
            <a:avLst/>
          </a:prstGeom>
          <a:noFill/>
        </p:spPr>
        <p:txBody>
          <a:bodyPr wrap="square" anchor="t" lIns="0" rIns="0" tIns="0" bIns="0">
            <a:spAutoFit/>
          </a:bodyPr>
          <a:lstStyle/>
          <a:p>
            <a:pPr algn="l"/>
            <a:r>
              <a:rPr sz="1900" b="0">
                <a:solidFill>
                  <a:srgbClr val="C7C2EF"/>
                </a:solidFill>
                <a:latin typeface="ITC Avant Garde Gothic"/>
              </a:rPr>
              <a:t>categorías cotidianas</a:t>
            </a:r>
          </a:p>
        </p:txBody>
      </p:sp>
      <p:sp>
        <p:nvSpPr>
          <p:cNvPr id="22" name="TextBox 21"/>
          <p:cNvSpPr txBox="1"/>
          <p:nvPr/>
        </p:nvSpPr>
        <p:spPr>
          <a:xfrm>
            <a:off x="640080" y="4169917"/>
            <a:ext cx="10911535" cy="632155"/>
          </a:xfrm>
          <a:prstGeom prst="rect">
            <a:avLst/>
          </a:prstGeom>
          <a:noFill/>
        </p:spPr>
        <p:txBody>
          <a:bodyPr wrap="square" anchor="t" lIns="0" rIns="0" tIns="0" bIns="0">
            <a:spAutoFit/>
          </a:bodyPr>
          <a:lstStyle/>
          <a:p>
            <a:pPr algn="l"/>
            <a:r>
              <a:rPr sz="2000" b="0">
                <a:solidFill>
                  <a:srgbClr val="C7C2EF"/>
                </a:solidFill>
                <a:latin typeface="ITC Avant Garde Gothic"/>
              </a:rPr>
              <a:t>Ninguna categoría se parece a un espermatozoide, y la red sirve: se aprovecha la capacidad de ver bordes, formas y contornos.</a:t>
            </a:r>
          </a:p>
        </p:txBody>
      </p:sp>
      <p:sp>
        <p:nvSpPr>
          <p:cNvPr id="23" name="TextBox 22"/>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Pasos uno y dos</a:t>
            </a:r>
          </a:p>
        </p:txBody>
      </p:sp>
      <p:sp>
        <p:nvSpPr>
          <p:cNvPr id="3" name="TextBox 2"/>
          <p:cNvSpPr txBox="1"/>
          <p:nvPr/>
        </p:nvSpPr>
        <p:spPr>
          <a:xfrm>
            <a:off x="640080" y="960120"/>
            <a:ext cx="10911535" cy="462686"/>
          </a:xfrm>
          <a:prstGeom prst="rect">
            <a:avLst/>
          </a:prstGeom>
          <a:noFill/>
        </p:spPr>
        <p:txBody>
          <a:bodyPr wrap="square" anchor="t" lIns="0" rIns="0" tIns="0" bIns="0">
            <a:spAutoFit/>
          </a:bodyPr>
          <a:lstStyle/>
          <a:p>
            <a:pPr algn="l"/>
            <a:r>
              <a:rPr sz="3200" b="1">
                <a:solidFill>
                  <a:srgbClr val="C7C2EF"/>
                </a:solidFill>
                <a:latin typeface="ITC Avant Garde Gothic"/>
              </a:rPr>
              <a:t>Cargar la red y reemplazar la última parte</a:t>
            </a:r>
          </a:p>
        </p:txBody>
      </p:sp>
      <p:sp>
        <p:nvSpPr>
          <p:cNvPr id="4" name="TextBox 3"/>
          <p:cNvSpPr txBox="1"/>
          <p:nvPr/>
        </p:nvSpPr>
        <p:spPr>
          <a:xfrm>
            <a:off x="640080" y="1788566"/>
            <a:ext cx="10911535" cy="334670"/>
          </a:xfrm>
          <a:prstGeom prst="rect">
            <a:avLst/>
          </a:prstGeom>
          <a:noFill/>
        </p:spPr>
        <p:txBody>
          <a:bodyPr wrap="square" anchor="t" lIns="0" rIns="0" tIns="0" bIns="0">
            <a:spAutoFit/>
          </a:bodyPr>
          <a:lstStyle/>
          <a:p>
            <a:pPr algn="l"/>
            <a:r>
              <a:rPr sz="2200" b="1">
                <a:solidFill>
                  <a:srgbClr val="FF983D"/>
                </a:solidFill>
                <a:latin typeface="ITC Avant Garde Gothic"/>
              </a:rPr>
              <a:t>Paso uno</a:t>
            </a:r>
          </a:p>
        </p:txBody>
      </p:sp>
      <p:sp>
        <p:nvSpPr>
          <p:cNvPr id="5" name="TextBox 4"/>
          <p:cNvSpPr txBox="1"/>
          <p:nvPr/>
        </p:nvSpPr>
        <p:spPr>
          <a:xfrm>
            <a:off x="640080" y="2306116"/>
            <a:ext cx="10911535" cy="803208"/>
          </a:xfrm>
          <a:prstGeom prst="rect">
            <a:avLst/>
          </a:prstGeom>
          <a:noFill/>
        </p:spPr>
        <p:txBody>
          <a:bodyPr wrap="square" anchor="t" lIns="0" rIns="0" tIns="0" bIns="0">
            <a:spAutoFit/>
          </a:bodyPr>
          <a:lstStyle/>
          <a:p>
            <a:pPr algn="l"/>
            <a:r>
              <a:rPr sz="1700" b="0">
                <a:solidFill>
                  <a:srgbClr val="C7C2EF"/>
                </a:solidFill>
                <a:latin typeface="ITC Avant Garde Gothic"/>
              </a:rPr>
              <a:t>Se carga la red con los pesos del preentrenamiento: se empieza con todos los pesos ya ajustados, no con valores aleatorios. Esta red ya sabe segmentar objetos cotidianos.</a:t>
            </a:r>
          </a:p>
        </p:txBody>
      </p:sp>
      <p:sp>
        <p:nvSpPr>
          <p:cNvPr id="6" name="TextBox 5"/>
          <p:cNvSpPr txBox="1"/>
          <p:nvPr/>
        </p:nvSpPr>
        <p:spPr>
          <a:xfrm>
            <a:off x="640080" y="3337925"/>
            <a:ext cx="10911535" cy="334670"/>
          </a:xfrm>
          <a:prstGeom prst="rect">
            <a:avLst/>
          </a:prstGeom>
          <a:noFill/>
        </p:spPr>
        <p:txBody>
          <a:bodyPr wrap="square" anchor="t" lIns="0" rIns="0" tIns="0" bIns="0">
            <a:spAutoFit/>
          </a:bodyPr>
          <a:lstStyle/>
          <a:p>
            <a:pPr algn="l"/>
            <a:r>
              <a:rPr sz="2200" b="1">
                <a:solidFill>
                  <a:srgbClr val="FF983D"/>
                </a:solidFill>
                <a:latin typeface="ITC Avant Garde Gothic"/>
              </a:rPr>
              <a:t>Paso dos</a:t>
            </a:r>
          </a:p>
        </p:txBody>
      </p:sp>
      <p:sp>
        <p:nvSpPr>
          <p:cNvPr id="7" name="TextBox 6"/>
          <p:cNvSpPr txBox="1"/>
          <p:nvPr/>
        </p:nvSpPr>
        <p:spPr>
          <a:xfrm>
            <a:off x="640080" y="3855476"/>
            <a:ext cx="10911535" cy="803208"/>
          </a:xfrm>
          <a:prstGeom prst="rect">
            <a:avLst/>
          </a:prstGeom>
          <a:noFill/>
        </p:spPr>
        <p:txBody>
          <a:bodyPr wrap="square" anchor="t" lIns="0" rIns="0" tIns="0" bIns="0">
            <a:spAutoFit/>
          </a:bodyPr>
          <a:lstStyle/>
          <a:p>
            <a:pPr algn="l"/>
            <a:r>
              <a:rPr sz="1700" b="0">
                <a:solidFill>
                  <a:srgbClr val="C7C2EF"/>
                </a:solidFill>
                <a:latin typeface="ITC Avant Garde Gothic"/>
              </a:rPr>
              <a:t>La original responde entre ochenta categorías; la nuestra solo distingue fondo y espermatozoide. Se sustituyen las capas finales por otras nuevas, con pesos aleatorios, para una clase: la parte más específica.</a:t>
            </a:r>
          </a:p>
        </p:txBody>
      </p:sp>
      <p:sp>
        <p:nvSpPr>
          <p:cNvPr id="8" name="TextBox 7"/>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Paso tres</a:t>
            </a:r>
          </a:p>
        </p:txBody>
      </p:sp>
      <p:sp>
        <p:nvSpPr>
          <p:cNvPr id="3" name="TextBox 2"/>
          <p:cNvSpPr txBox="1"/>
          <p:nvPr/>
        </p:nvSpPr>
        <p:spPr>
          <a:xfrm>
            <a:off x="640080" y="960120"/>
            <a:ext cx="10911535" cy="501243"/>
          </a:xfrm>
          <a:prstGeom prst="rect">
            <a:avLst/>
          </a:prstGeom>
          <a:noFill/>
        </p:spPr>
        <p:txBody>
          <a:bodyPr wrap="square" anchor="t" lIns="0" rIns="0" tIns="0" bIns="0">
            <a:spAutoFit/>
          </a:bodyPr>
          <a:lstStyle/>
          <a:p>
            <a:pPr algn="l"/>
            <a:r>
              <a:rPr sz="3400" b="1">
                <a:solidFill>
                  <a:srgbClr val="C7C2EF"/>
                </a:solidFill>
                <a:latin typeface="ITC Avant Garde Gothic"/>
              </a:rPr>
              <a:t>Cuánto de la red puede ajustarse</a:t>
            </a:r>
          </a:p>
        </p:txBody>
      </p:sp>
      <p:sp>
        <p:nvSpPr>
          <p:cNvPr id="4" name="Rounded Rectangle 3"/>
          <p:cNvSpPr/>
          <p:nvPr/>
        </p:nvSpPr>
        <p:spPr>
          <a:xfrm>
            <a:off x="640080" y="1827123"/>
            <a:ext cx="2522143" cy="654655"/>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99171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138019"/>
            <a:ext cx="2064943" cy="288895"/>
          </a:xfrm>
          <a:prstGeom prst="rect">
            <a:avLst/>
          </a:prstGeom>
          <a:noFill/>
        </p:spPr>
        <p:txBody>
          <a:bodyPr wrap="square" anchor="t" lIns="0" rIns="0" tIns="0" bIns="0">
            <a:spAutoFit/>
          </a:bodyPr>
          <a:lstStyle/>
          <a:p>
            <a:pPr algn="l"/>
            <a:r>
              <a:rPr sz="1600" b="0">
                <a:solidFill>
                  <a:srgbClr val="C7C2EF"/>
                </a:solidFill>
                <a:latin typeface="ITC Avant Garde Gothic"/>
              </a:rPr>
              <a:t>Capa 1</a:t>
            </a:r>
          </a:p>
        </p:txBody>
      </p:sp>
      <p:sp>
        <p:nvSpPr>
          <p:cNvPr id="7" name="Rounded Rectangle 6"/>
          <p:cNvSpPr/>
          <p:nvPr/>
        </p:nvSpPr>
        <p:spPr>
          <a:xfrm>
            <a:off x="3436543" y="1827123"/>
            <a:ext cx="2522143" cy="654655"/>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65143" y="199171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65143" y="2138019"/>
            <a:ext cx="2064943" cy="288895"/>
          </a:xfrm>
          <a:prstGeom prst="rect">
            <a:avLst/>
          </a:prstGeom>
          <a:noFill/>
        </p:spPr>
        <p:txBody>
          <a:bodyPr wrap="square" anchor="t" lIns="0" rIns="0" tIns="0" bIns="0">
            <a:spAutoFit/>
          </a:bodyPr>
          <a:lstStyle/>
          <a:p>
            <a:pPr algn="l"/>
            <a:r>
              <a:rPr sz="1600" b="0">
                <a:solidFill>
                  <a:srgbClr val="C7C2EF"/>
                </a:solidFill>
                <a:latin typeface="ITC Avant Garde Gothic"/>
              </a:rPr>
              <a:t>Capa 2</a:t>
            </a:r>
          </a:p>
        </p:txBody>
      </p:sp>
      <p:sp>
        <p:nvSpPr>
          <p:cNvPr id="10" name="Rounded Rectangle 9"/>
          <p:cNvSpPr/>
          <p:nvPr/>
        </p:nvSpPr>
        <p:spPr>
          <a:xfrm>
            <a:off x="6233007" y="1827123"/>
            <a:ext cx="2522143" cy="654655"/>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61607" y="199171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1607" y="2138019"/>
            <a:ext cx="2064943" cy="288895"/>
          </a:xfrm>
          <a:prstGeom prst="rect">
            <a:avLst/>
          </a:prstGeom>
          <a:noFill/>
        </p:spPr>
        <p:txBody>
          <a:bodyPr wrap="square" anchor="t" lIns="0" rIns="0" tIns="0" bIns="0">
            <a:spAutoFit/>
          </a:bodyPr>
          <a:lstStyle/>
          <a:p>
            <a:pPr algn="l"/>
            <a:r>
              <a:rPr sz="1600" b="0">
                <a:solidFill>
                  <a:srgbClr val="C7C2EF"/>
                </a:solidFill>
                <a:latin typeface="ITC Avant Garde Gothic"/>
              </a:rPr>
              <a:t>Capa 3</a:t>
            </a:r>
          </a:p>
        </p:txBody>
      </p:sp>
      <p:sp>
        <p:nvSpPr>
          <p:cNvPr id="13" name="Rounded Rectangle 12"/>
          <p:cNvSpPr/>
          <p:nvPr/>
        </p:nvSpPr>
        <p:spPr>
          <a:xfrm>
            <a:off x="9029471" y="1827123"/>
            <a:ext cx="2522143" cy="654655"/>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258071" y="1991715"/>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58071" y="2138019"/>
            <a:ext cx="2064943" cy="288895"/>
          </a:xfrm>
          <a:prstGeom prst="rect">
            <a:avLst/>
          </a:prstGeom>
          <a:noFill/>
        </p:spPr>
        <p:txBody>
          <a:bodyPr wrap="square" anchor="t" lIns="0" rIns="0" tIns="0" bIns="0">
            <a:spAutoFit/>
          </a:bodyPr>
          <a:lstStyle/>
          <a:p>
            <a:pPr algn="l"/>
            <a:r>
              <a:rPr sz="1600" b="0">
                <a:solidFill>
                  <a:srgbClr val="C7C2EF"/>
                </a:solidFill>
                <a:latin typeface="ITC Avant Garde Gothic"/>
              </a:rPr>
              <a:t>Capa 4</a:t>
            </a:r>
          </a:p>
        </p:txBody>
      </p:sp>
      <p:sp>
        <p:nvSpPr>
          <p:cNvPr id="16" name="Rounded Rectangle 15"/>
          <p:cNvSpPr/>
          <p:nvPr/>
        </p:nvSpPr>
        <p:spPr>
          <a:xfrm>
            <a:off x="640080" y="2756099"/>
            <a:ext cx="2522143" cy="654655"/>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68680" y="2920691"/>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066995"/>
            <a:ext cx="2064943" cy="288895"/>
          </a:xfrm>
          <a:prstGeom prst="rect">
            <a:avLst/>
          </a:prstGeom>
          <a:noFill/>
        </p:spPr>
        <p:txBody>
          <a:bodyPr wrap="square" anchor="t" lIns="0" rIns="0" tIns="0" bIns="0">
            <a:spAutoFit/>
          </a:bodyPr>
          <a:lstStyle/>
          <a:p>
            <a:pPr algn="l"/>
            <a:r>
              <a:rPr sz="1600" b="0">
                <a:solidFill>
                  <a:srgbClr val="C7C2EF"/>
                </a:solidFill>
                <a:latin typeface="ITC Avant Garde Gothic"/>
              </a:rPr>
              <a:t>Capa 5</a:t>
            </a:r>
          </a:p>
        </p:txBody>
      </p:sp>
      <p:sp>
        <p:nvSpPr>
          <p:cNvPr id="19" name="Rounded Rectangle 18"/>
          <p:cNvSpPr/>
          <p:nvPr/>
        </p:nvSpPr>
        <p:spPr>
          <a:xfrm>
            <a:off x="3436543" y="2756099"/>
            <a:ext cx="2522143" cy="654655"/>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5143" y="2920691"/>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65143" y="3066995"/>
            <a:ext cx="2064943" cy="288895"/>
          </a:xfrm>
          <a:prstGeom prst="rect">
            <a:avLst/>
          </a:prstGeom>
          <a:noFill/>
        </p:spPr>
        <p:txBody>
          <a:bodyPr wrap="square" anchor="t" lIns="0" rIns="0" tIns="0" bIns="0">
            <a:spAutoFit/>
          </a:bodyPr>
          <a:lstStyle/>
          <a:p>
            <a:pPr algn="l"/>
            <a:r>
              <a:rPr sz="1600" b="0">
                <a:solidFill>
                  <a:srgbClr val="C7C2EF"/>
                </a:solidFill>
                <a:latin typeface="ITC Avant Garde Gothic"/>
              </a:rPr>
              <a:t>Capa 6</a:t>
            </a:r>
          </a:p>
        </p:txBody>
      </p:sp>
      <p:sp>
        <p:nvSpPr>
          <p:cNvPr id="22" name="Rounded Rectangle 21"/>
          <p:cNvSpPr/>
          <p:nvPr/>
        </p:nvSpPr>
        <p:spPr>
          <a:xfrm>
            <a:off x="6233007" y="2756099"/>
            <a:ext cx="2522143" cy="654655"/>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61607" y="2920691"/>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61607" y="3066995"/>
            <a:ext cx="2064943" cy="288895"/>
          </a:xfrm>
          <a:prstGeom prst="rect">
            <a:avLst/>
          </a:prstGeom>
          <a:noFill/>
        </p:spPr>
        <p:txBody>
          <a:bodyPr wrap="square" anchor="t" lIns="0" rIns="0" tIns="0" bIns="0">
            <a:spAutoFit/>
          </a:bodyPr>
          <a:lstStyle/>
          <a:p>
            <a:pPr algn="l"/>
            <a:r>
              <a:rPr sz="1600" b="0">
                <a:solidFill>
                  <a:srgbClr val="C7C2EF"/>
                </a:solidFill>
                <a:latin typeface="ITC Avant Garde Gothic"/>
              </a:rPr>
              <a:t>Nueva</a:t>
            </a:r>
          </a:p>
        </p:txBody>
      </p:sp>
      <p:sp>
        <p:nvSpPr>
          <p:cNvPr id="25" name="Rounded Rectangle 24"/>
          <p:cNvSpPr/>
          <p:nvPr/>
        </p:nvSpPr>
        <p:spPr>
          <a:xfrm>
            <a:off x="9029471" y="2756099"/>
            <a:ext cx="2522143" cy="654655"/>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58071" y="2920691"/>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58071" y="3066995"/>
            <a:ext cx="2064943" cy="288895"/>
          </a:xfrm>
          <a:prstGeom prst="rect">
            <a:avLst/>
          </a:prstGeom>
          <a:noFill/>
        </p:spPr>
        <p:txBody>
          <a:bodyPr wrap="square" anchor="t" lIns="0" rIns="0" tIns="0" bIns="0">
            <a:spAutoFit/>
          </a:bodyPr>
          <a:lstStyle/>
          <a:p>
            <a:pPr algn="l"/>
            <a:r>
              <a:rPr sz="1600" b="0">
                <a:solidFill>
                  <a:srgbClr val="C7C2EF"/>
                </a:solidFill>
                <a:latin typeface="ITC Avant Garde Gothic"/>
              </a:rPr>
              <a:t>Nueva</a:t>
            </a:r>
          </a:p>
        </p:txBody>
      </p:sp>
      <p:sp>
        <p:nvSpPr>
          <p:cNvPr id="28" name="Rounded Rectangle 27"/>
          <p:cNvSpPr/>
          <p:nvPr/>
        </p:nvSpPr>
        <p:spPr>
          <a:xfrm>
            <a:off x="640080" y="3685074"/>
            <a:ext cx="2522143" cy="146647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8680" y="384966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3995970"/>
            <a:ext cx="2064943" cy="1100718"/>
          </a:xfrm>
          <a:prstGeom prst="rect">
            <a:avLst/>
          </a:prstGeom>
          <a:noFill/>
        </p:spPr>
        <p:txBody>
          <a:bodyPr wrap="square" anchor="t" lIns="0" rIns="0" tIns="0" bIns="0">
            <a:spAutoFit/>
          </a:bodyPr>
          <a:lstStyle/>
          <a:p>
            <a:pPr algn="l"/>
            <a:r>
              <a:rPr sz="1600" b="0">
                <a:solidFill>
                  <a:srgbClr val="C7C2EF"/>
                </a:solidFill>
                <a:latin typeface="ITC Avant Garde Gothic"/>
              </a:rPr>
              <a:t>Fijas: las primeras, las más generales.</a:t>
            </a:r>
          </a:p>
        </p:txBody>
      </p:sp>
      <p:sp>
        <p:nvSpPr>
          <p:cNvPr id="31" name="Rounded Rectangle 30"/>
          <p:cNvSpPr/>
          <p:nvPr/>
        </p:nvSpPr>
        <p:spPr>
          <a:xfrm>
            <a:off x="3436543" y="3685074"/>
            <a:ext cx="2522143" cy="146647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65143" y="384966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65143" y="3995970"/>
            <a:ext cx="2064943" cy="1100718"/>
          </a:xfrm>
          <a:prstGeom prst="rect">
            <a:avLst/>
          </a:prstGeom>
          <a:noFill/>
        </p:spPr>
        <p:txBody>
          <a:bodyPr wrap="square" anchor="t" lIns="0" rIns="0" tIns="0" bIns="0">
            <a:spAutoFit/>
          </a:bodyPr>
          <a:lstStyle/>
          <a:p>
            <a:pPr algn="l"/>
            <a:r>
              <a:rPr sz="1600" b="0">
                <a:solidFill>
                  <a:srgbClr val="C7C2EF"/>
                </a:solidFill>
                <a:latin typeface="ITC Avant Garde Gothic"/>
              </a:rPr>
              <a:t>Libres: las más profundas del bloque que extrae características.</a:t>
            </a:r>
          </a:p>
        </p:txBody>
      </p:sp>
      <p:sp>
        <p:nvSpPr>
          <p:cNvPr id="34" name="Rounded Rectangle 33"/>
          <p:cNvSpPr/>
          <p:nvPr/>
        </p:nvSpPr>
        <p:spPr>
          <a:xfrm>
            <a:off x="6233007" y="3685074"/>
            <a:ext cx="2522143" cy="146647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61607" y="384966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61607" y="3995970"/>
            <a:ext cx="2064943" cy="1100718"/>
          </a:xfrm>
          <a:prstGeom prst="rect">
            <a:avLst/>
          </a:prstGeom>
          <a:noFill/>
        </p:spPr>
        <p:txBody>
          <a:bodyPr wrap="square" anchor="t" lIns="0" rIns="0" tIns="0" bIns="0">
            <a:spAutoFit/>
          </a:bodyPr>
          <a:lstStyle/>
          <a:p>
            <a:pPr algn="l"/>
            <a:r>
              <a:rPr sz="1600" b="0">
                <a:solidFill>
                  <a:srgbClr val="C7C2EF"/>
                </a:solidFill>
                <a:latin typeface="ITC Avant Garde Gothic"/>
              </a:rPr>
              <a:t>Nuevas: las finales, desde cero.</a:t>
            </a:r>
          </a:p>
        </p:txBody>
      </p:sp>
      <p:sp>
        <p:nvSpPr>
          <p:cNvPr id="37" name="Rounded Rectangle 36"/>
          <p:cNvSpPr/>
          <p:nvPr/>
        </p:nvSpPr>
        <p:spPr>
          <a:xfrm>
            <a:off x="9029471" y="3685074"/>
            <a:ext cx="2522143" cy="146647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258071" y="384966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258071" y="3995970"/>
            <a:ext cx="2064943" cy="1100718"/>
          </a:xfrm>
          <a:prstGeom prst="rect">
            <a:avLst/>
          </a:prstGeom>
          <a:noFill/>
        </p:spPr>
        <p:txBody>
          <a:bodyPr wrap="square" anchor="t" lIns="0" rIns="0" tIns="0" bIns="0">
            <a:spAutoFit/>
          </a:bodyPr>
          <a:lstStyle/>
          <a:p>
            <a:pPr algn="l"/>
            <a:r>
              <a:rPr sz="1600" b="0">
                <a:solidFill>
                  <a:srgbClr val="C7C2EF"/>
                </a:solidFill>
                <a:latin typeface="ITC Avant Garde Gothic"/>
              </a:rPr>
              <a:t>Esquema: no muestra el número real de capas.</a:t>
            </a:r>
          </a:p>
        </p:txBody>
      </p:sp>
      <p:sp>
        <p:nvSpPr>
          <p:cNvPr id="40" name="TextBox 39"/>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El resultado</a:t>
            </a:r>
          </a:p>
        </p:txBody>
      </p:sp>
      <p:sp>
        <p:nvSpPr>
          <p:cNvPr id="3" name="TextBox 2"/>
          <p:cNvSpPr txBox="1"/>
          <p:nvPr/>
        </p:nvSpPr>
        <p:spPr>
          <a:xfrm>
            <a:off x="640080" y="960120"/>
            <a:ext cx="10911535" cy="1285240"/>
          </a:xfrm>
          <a:prstGeom prst="rect">
            <a:avLst/>
          </a:prstGeom>
          <a:noFill/>
        </p:spPr>
        <p:txBody>
          <a:bodyPr wrap="square" anchor="t" lIns="0" rIns="0" tIns="0" bIns="0">
            <a:spAutoFit/>
          </a:bodyPr>
          <a:lstStyle/>
          <a:p>
            <a:pPr algn="l"/>
            <a:r>
              <a:rPr sz="4400" b="1">
                <a:solidFill>
                  <a:srgbClr val="C7C2EF"/>
                </a:solidFill>
                <a:latin typeface="ITC Avant Garde Gothic"/>
              </a:rPr>
              <a:t>Un modelo útil con ocho fotografías en total</a:t>
            </a:r>
          </a:p>
        </p:txBody>
      </p:sp>
      <p:sp>
        <p:nvSpPr>
          <p:cNvPr id="4" name="Rounded Rectangle 3"/>
          <p:cNvSpPr/>
          <p:nvPr/>
        </p:nvSpPr>
        <p:spPr>
          <a:xfrm>
            <a:off x="640080" y="2611119"/>
            <a:ext cx="10911535" cy="82042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77571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922015"/>
            <a:ext cx="10454335" cy="454660"/>
          </a:xfrm>
          <a:prstGeom prst="rect">
            <a:avLst/>
          </a:prstGeom>
          <a:noFill/>
        </p:spPr>
        <p:txBody>
          <a:bodyPr wrap="square" anchor="t" lIns="0" rIns="0" tIns="0" bIns="0">
            <a:spAutoFit/>
          </a:bodyPr>
          <a:lstStyle/>
          <a:p>
            <a:pPr algn="l"/>
            <a:r>
              <a:rPr sz="2200" b="0">
                <a:solidFill>
                  <a:srgbClr val="C7C2EF"/>
                </a:solidFill>
                <a:latin typeface="ITC Avant Garde Gothic"/>
              </a:rPr>
              <a:t>Sin la transferencia, esas ocho no alcanzarían ni de lejos.</a:t>
            </a:r>
          </a:p>
        </p:txBody>
      </p:sp>
      <p:sp>
        <p:nvSpPr>
          <p:cNvPr id="7" name="TextBox 6"/>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Si mañana se quisiera detectar otro tipo de célula</a:t>
            </a:r>
          </a:p>
        </p:txBody>
      </p:sp>
      <p:sp>
        <p:nvSpPr>
          <p:cNvPr id="3" name="TextBox 2"/>
          <p:cNvSpPr txBox="1"/>
          <p:nvPr/>
        </p:nvSpPr>
        <p:spPr>
          <a:xfrm>
            <a:off x="640080" y="960120"/>
            <a:ext cx="10911535" cy="642620"/>
          </a:xfrm>
          <a:prstGeom prst="rect">
            <a:avLst/>
          </a:prstGeom>
          <a:noFill/>
        </p:spPr>
        <p:txBody>
          <a:bodyPr wrap="square" anchor="t" lIns="0" rIns="0" tIns="0" bIns="0">
            <a:spAutoFit/>
          </a:bodyPr>
          <a:lstStyle/>
          <a:p>
            <a:pPr algn="l"/>
            <a:r>
              <a:rPr sz="4400" b="1">
                <a:solidFill>
                  <a:srgbClr val="C7C2EF"/>
                </a:solidFill>
                <a:latin typeface="ITC Avant Garde Gothic"/>
              </a:rPr>
              <a:t>No habría que empezar de cero</a:t>
            </a:r>
          </a:p>
        </p:txBody>
      </p:sp>
      <p:sp>
        <p:nvSpPr>
          <p:cNvPr id="4" name="Rounded Rectangle 3"/>
          <p:cNvSpPr/>
          <p:nvPr/>
        </p:nvSpPr>
        <p:spPr>
          <a:xfrm>
            <a:off x="640080" y="1968500"/>
            <a:ext cx="10911535" cy="118364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13309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279396"/>
            <a:ext cx="10454335" cy="817880"/>
          </a:xfrm>
          <a:prstGeom prst="rect">
            <a:avLst/>
          </a:prstGeom>
          <a:noFill/>
        </p:spPr>
        <p:txBody>
          <a:bodyPr wrap="square" anchor="t" lIns="0" rIns="0" tIns="0" bIns="0">
            <a:spAutoFit/>
          </a:bodyPr>
          <a:lstStyle/>
          <a:p>
            <a:pPr algn="l"/>
            <a:r>
              <a:rPr sz="2200" b="0">
                <a:solidFill>
                  <a:srgbClr val="C7C2EF"/>
                </a:solidFill>
                <a:latin typeface="ITC Avant Garde Gothic"/>
              </a:rPr>
              <a:t>Se afina la red que ya existe con ejemplos anotados del nuevo tipo.</a:t>
            </a:r>
          </a:p>
        </p:txBody>
      </p:sp>
      <p:sp>
        <p:nvSpPr>
          <p:cNvPr id="7" name="TextBox 6"/>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Qué recibe la red</a:t>
            </a:r>
          </a:p>
        </p:txBody>
      </p:sp>
      <p:sp>
        <p:nvSpPr>
          <p:cNvPr id="3" name="TextBox 2"/>
          <p:cNvSpPr txBox="1"/>
          <p:nvPr/>
        </p:nvSpPr>
        <p:spPr>
          <a:xfrm>
            <a:off x="640080" y="960120"/>
            <a:ext cx="10911535" cy="591210"/>
          </a:xfrm>
          <a:prstGeom prst="rect">
            <a:avLst/>
          </a:prstGeom>
          <a:noFill/>
        </p:spPr>
        <p:txBody>
          <a:bodyPr wrap="square" anchor="t" lIns="0" rIns="0" tIns="0" bIns="0">
            <a:spAutoFit/>
          </a:bodyPr>
          <a:lstStyle/>
          <a:p>
            <a:pPr algn="l"/>
            <a:r>
              <a:rPr sz="4000" b="1">
                <a:solidFill>
                  <a:srgbClr val="C7C2EF"/>
                </a:solidFill>
                <a:latin typeface="ITC Avant Garde Gothic"/>
              </a:rPr>
              <a:t>La red no ve colores</a:t>
            </a:r>
          </a:p>
        </p:txBody>
      </p:sp>
      <p:sp>
        <p:nvSpPr>
          <p:cNvPr id="4" name="TextBox 3"/>
          <p:cNvSpPr txBox="1"/>
          <p:nvPr/>
        </p:nvSpPr>
        <p:spPr>
          <a:xfrm>
            <a:off x="640080" y="1917090"/>
            <a:ext cx="10911535" cy="427634"/>
          </a:xfrm>
          <a:prstGeom prst="rect">
            <a:avLst/>
          </a:prstGeom>
          <a:noFill/>
        </p:spPr>
        <p:txBody>
          <a:bodyPr wrap="square" anchor="t" lIns="0" rIns="0" tIns="0" bIns="0">
            <a:spAutoFit/>
          </a:bodyPr>
          <a:lstStyle/>
          <a:p>
            <a:pPr algn="l"/>
            <a:r>
              <a:rPr sz="2800" b="1">
                <a:solidFill>
                  <a:srgbClr val="FF983D"/>
                </a:solidFill>
                <a:latin typeface="ITC Avant Garde Gothic"/>
              </a:rPr>
              <a:t>Un solo canal de brillo</a:t>
            </a:r>
          </a:p>
        </p:txBody>
      </p:sp>
      <p:sp>
        <p:nvSpPr>
          <p:cNvPr id="5" name="TextBox 4"/>
          <p:cNvSpPr txBox="1"/>
          <p:nvPr/>
        </p:nvSpPr>
        <p:spPr>
          <a:xfrm>
            <a:off x="640080" y="2527604"/>
            <a:ext cx="10911535" cy="1026322"/>
          </a:xfrm>
          <a:prstGeom prst="rect">
            <a:avLst/>
          </a:prstGeom>
          <a:noFill/>
        </p:spPr>
        <p:txBody>
          <a:bodyPr wrap="square" anchor="t" lIns="0" rIns="0" tIns="0" bIns="0">
            <a:spAutoFit/>
          </a:bodyPr>
          <a:lstStyle/>
          <a:p>
            <a:pPr algn="l"/>
            <a:r>
              <a:rPr sz="2200" b="0">
                <a:solidFill>
                  <a:srgbClr val="C7C2EF"/>
                </a:solidFill>
                <a:latin typeface="ITC Avant Garde Gothic"/>
              </a:rPr>
              <a:t>El cuaderno convierte cada fotografía a un solo canal: el valor más alto entre rojo, verde y azul de cada píxel. La red detecta formas por contraste.</a:t>
            </a:r>
          </a:p>
        </p:txBody>
      </p:sp>
      <p:sp>
        <p:nvSpPr>
          <p:cNvPr id="6" name="TextBox 5"/>
          <p:cNvSpPr txBox="1"/>
          <p:nvPr/>
        </p:nvSpPr>
        <p:spPr>
          <a:xfrm>
            <a:off x="640080" y="3782527"/>
            <a:ext cx="10911535" cy="427634"/>
          </a:xfrm>
          <a:prstGeom prst="rect">
            <a:avLst/>
          </a:prstGeom>
          <a:noFill/>
        </p:spPr>
        <p:txBody>
          <a:bodyPr wrap="square" anchor="t" lIns="0" rIns="0" tIns="0" bIns="0">
            <a:spAutoFit/>
          </a:bodyPr>
          <a:lstStyle/>
          <a:p>
            <a:pPr algn="l"/>
            <a:r>
              <a:rPr sz="2800" b="1">
                <a:solidFill>
                  <a:srgbClr val="FF983D"/>
                </a:solidFill>
                <a:latin typeface="ITC Avant Garde Gothic"/>
              </a:rPr>
              <a:t>El sitio hace lo mismo</a:t>
            </a:r>
          </a:p>
        </p:txBody>
      </p:sp>
      <p:sp>
        <p:nvSpPr>
          <p:cNvPr id="7" name="TextBox 6"/>
          <p:cNvSpPr txBox="1"/>
          <p:nvPr/>
        </p:nvSpPr>
        <p:spPr>
          <a:xfrm>
            <a:off x="640080" y="4393041"/>
            <a:ext cx="10911535" cy="684215"/>
          </a:xfrm>
          <a:prstGeom prst="rect">
            <a:avLst/>
          </a:prstGeom>
          <a:noFill/>
        </p:spPr>
        <p:txBody>
          <a:bodyPr wrap="square" anchor="t" lIns="0" rIns="0" tIns="0" bIns="0">
            <a:spAutoFit/>
          </a:bodyPr>
          <a:lstStyle/>
          <a:p>
            <a:pPr algn="l"/>
            <a:r>
              <a:rPr sz="2200" b="0">
                <a:solidFill>
                  <a:srgbClr val="C7C2EF"/>
                </a:solidFill>
                <a:latin typeface="ITC Avant Garde Gothic"/>
              </a:rPr>
              <a:t>Al analizar una fotografía, para que la preparación sea idéntica a la del entrenamiento.</a:t>
            </a:r>
          </a:p>
        </p:txBody>
      </p:sp>
      <p:sp>
        <p:nvSpPr>
          <p:cNvPr id="8" name="TextBox 7"/>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Qué recibe la red</a:t>
            </a:r>
          </a:p>
        </p:txBody>
      </p:sp>
      <p:sp>
        <p:nvSpPr>
          <p:cNvPr id="3" name="TextBox 2"/>
          <p:cNvSpPr txBox="1"/>
          <p:nvPr/>
        </p:nvSpPr>
        <p:spPr>
          <a:xfrm>
            <a:off x="640080" y="960120"/>
            <a:ext cx="10911535" cy="382358"/>
          </a:xfrm>
          <a:prstGeom prst="rect">
            <a:avLst/>
          </a:prstGeom>
          <a:noFill/>
        </p:spPr>
        <p:txBody>
          <a:bodyPr wrap="square" anchor="t" lIns="0" rIns="0" tIns="0" bIns="0">
            <a:spAutoFit/>
          </a:bodyPr>
          <a:lstStyle/>
          <a:p>
            <a:pPr algn="l"/>
            <a:r>
              <a:rPr sz="2600" b="1">
                <a:solidFill>
                  <a:srgbClr val="C7C2EF"/>
                </a:solidFill>
                <a:latin typeface="ITC Avant Garde Gothic"/>
              </a:rPr>
              <a:t>Solo brillo, y variaciones al azar</a:t>
            </a:r>
          </a:p>
        </p:txBody>
      </p:sp>
      <p:sp>
        <p:nvSpPr>
          <p:cNvPr id="4" name="Rounded Rectangle 3"/>
          <p:cNvSpPr/>
          <p:nvPr/>
        </p:nvSpPr>
        <p:spPr>
          <a:xfrm>
            <a:off x="640080" y="1708238"/>
            <a:ext cx="3454298" cy="819912"/>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87283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19134"/>
            <a:ext cx="2997098" cy="454152"/>
          </a:xfrm>
          <a:prstGeom prst="rect">
            <a:avLst/>
          </a:prstGeom>
          <a:noFill/>
        </p:spPr>
        <p:txBody>
          <a:bodyPr wrap="square" anchor="t" lIns="0" rIns="0" tIns="0" bIns="0">
            <a:spAutoFit/>
          </a:bodyPr>
          <a:lstStyle/>
          <a:p>
            <a:pPr algn="l"/>
            <a:r>
              <a:rPr sz="1300" b="0">
                <a:solidFill>
                  <a:srgbClr val="C7C2EF"/>
                </a:solidFill>
                <a:latin typeface="ITC Avant Garde Gothic"/>
              </a:rPr>
              <a:t>Giros de 90°</a:t>
            </a:r>
          </a:p>
        </p:txBody>
      </p:sp>
      <p:sp>
        <p:nvSpPr>
          <p:cNvPr id="7" name="Rounded Rectangle 6"/>
          <p:cNvSpPr/>
          <p:nvPr/>
        </p:nvSpPr>
        <p:spPr>
          <a:xfrm>
            <a:off x="4368698" y="1708238"/>
            <a:ext cx="3454298" cy="819912"/>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97298" y="187283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7298" y="2019134"/>
            <a:ext cx="2997098" cy="454152"/>
          </a:xfrm>
          <a:prstGeom prst="rect">
            <a:avLst/>
          </a:prstGeom>
          <a:noFill/>
        </p:spPr>
        <p:txBody>
          <a:bodyPr wrap="square" anchor="t" lIns="0" rIns="0" tIns="0" bIns="0">
            <a:spAutoFit/>
          </a:bodyPr>
          <a:lstStyle/>
          <a:p>
            <a:pPr algn="l"/>
            <a:r>
              <a:rPr sz="1300" b="0">
                <a:solidFill>
                  <a:srgbClr val="C7C2EF"/>
                </a:solidFill>
                <a:latin typeface="ITC Avant Garde Gothic"/>
              </a:rPr>
              <a:t>Volteos</a:t>
            </a:r>
          </a:p>
        </p:txBody>
      </p:sp>
      <p:sp>
        <p:nvSpPr>
          <p:cNvPr id="10" name="Rounded Rectangle 9"/>
          <p:cNvSpPr/>
          <p:nvPr/>
        </p:nvSpPr>
        <p:spPr>
          <a:xfrm>
            <a:off x="8097316" y="1708238"/>
            <a:ext cx="3454298" cy="819912"/>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25916" y="187283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5916" y="2019134"/>
            <a:ext cx="2997098" cy="454152"/>
          </a:xfrm>
          <a:prstGeom prst="rect">
            <a:avLst/>
          </a:prstGeom>
          <a:noFill/>
        </p:spPr>
        <p:txBody>
          <a:bodyPr wrap="square" anchor="t" lIns="0" rIns="0" tIns="0" bIns="0">
            <a:spAutoFit/>
          </a:bodyPr>
          <a:lstStyle/>
          <a:p>
            <a:pPr algn="l"/>
            <a:r>
              <a:rPr sz="1300" b="0">
                <a:solidFill>
                  <a:srgbClr val="C7C2EF"/>
                </a:solidFill>
                <a:latin typeface="ITC Avant Garde Gothic"/>
              </a:rPr>
              <a:t>Acercar o alejar, de 80 % a 125 %</a:t>
            </a:r>
          </a:p>
        </p:txBody>
      </p:sp>
      <p:sp>
        <p:nvSpPr>
          <p:cNvPr id="13" name="Rounded Rectangle 12"/>
          <p:cNvSpPr/>
          <p:nvPr/>
        </p:nvSpPr>
        <p:spPr>
          <a:xfrm>
            <a:off x="640080" y="2802470"/>
            <a:ext cx="3454298" cy="6019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68680" y="296706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113366"/>
            <a:ext cx="2997098" cy="236219"/>
          </a:xfrm>
          <a:prstGeom prst="rect">
            <a:avLst/>
          </a:prstGeom>
          <a:noFill/>
        </p:spPr>
        <p:txBody>
          <a:bodyPr wrap="square" anchor="t" lIns="0" rIns="0" tIns="0" bIns="0">
            <a:spAutoFit/>
          </a:bodyPr>
          <a:lstStyle/>
          <a:p>
            <a:pPr algn="l"/>
            <a:r>
              <a:rPr sz="1300" b="0">
                <a:solidFill>
                  <a:srgbClr val="C7C2EF"/>
                </a:solidFill>
                <a:latin typeface="ITC Avant Garde Gothic"/>
              </a:rPr>
              <a:t>Más o menos brillo</a:t>
            </a:r>
          </a:p>
        </p:txBody>
      </p:sp>
      <p:sp>
        <p:nvSpPr>
          <p:cNvPr id="16" name="Rounded Rectangle 15"/>
          <p:cNvSpPr/>
          <p:nvPr/>
        </p:nvSpPr>
        <p:spPr>
          <a:xfrm>
            <a:off x="4368698" y="2802470"/>
            <a:ext cx="3454298" cy="6019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97298" y="296706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97298" y="3113366"/>
            <a:ext cx="2997098" cy="236219"/>
          </a:xfrm>
          <a:prstGeom prst="rect">
            <a:avLst/>
          </a:prstGeom>
          <a:noFill/>
        </p:spPr>
        <p:txBody>
          <a:bodyPr wrap="square" anchor="t" lIns="0" rIns="0" tIns="0" bIns="0">
            <a:spAutoFit/>
          </a:bodyPr>
          <a:lstStyle/>
          <a:p>
            <a:pPr algn="l"/>
            <a:r>
              <a:rPr sz="1300" b="0">
                <a:solidFill>
                  <a:srgbClr val="C7C2EF"/>
                </a:solidFill>
                <a:latin typeface="ITC Avant Garde Gothic"/>
              </a:rPr>
              <a:t>Más o menos contraste</a:t>
            </a:r>
          </a:p>
        </p:txBody>
      </p:sp>
      <p:sp>
        <p:nvSpPr>
          <p:cNvPr id="19" name="Rounded Rectangle 18"/>
          <p:cNvSpPr/>
          <p:nvPr/>
        </p:nvSpPr>
        <p:spPr>
          <a:xfrm>
            <a:off x="8097316" y="2802470"/>
            <a:ext cx="3454298" cy="6019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25916" y="296706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5916" y="3113366"/>
            <a:ext cx="2997098" cy="236219"/>
          </a:xfrm>
          <a:prstGeom prst="rect">
            <a:avLst/>
          </a:prstGeom>
          <a:noFill/>
        </p:spPr>
        <p:txBody>
          <a:bodyPr wrap="square" anchor="t" lIns="0" rIns="0" tIns="0" bIns="0">
            <a:spAutoFit/>
          </a:bodyPr>
          <a:lstStyle/>
          <a:p>
            <a:pPr algn="l"/>
            <a:r>
              <a:rPr sz="1300" b="0">
                <a:solidFill>
                  <a:srgbClr val="C7C2EF"/>
                </a:solidFill>
                <a:latin typeface="ITC Avant Garde Gothic"/>
              </a:rPr>
              <a:t>Un poco de ruido</a:t>
            </a:r>
          </a:p>
        </p:txBody>
      </p:sp>
      <p:sp>
        <p:nvSpPr>
          <p:cNvPr id="22" name="TextBox 21"/>
          <p:cNvSpPr txBox="1"/>
          <p:nvPr/>
        </p:nvSpPr>
        <p:spPr>
          <a:xfrm>
            <a:off x="640080" y="3587330"/>
            <a:ext cx="10911535" cy="446227"/>
          </a:xfrm>
          <a:prstGeom prst="rect">
            <a:avLst/>
          </a:prstGeom>
          <a:noFill/>
        </p:spPr>
        <p:txBody>
          <a:bodyPr wrap="square" anchor="t" lIns="0" rIns="0" tIns="0" bIns="0">
            <a:spAutoFit/>
          </a:bodyPr>
          <a:lstStyle/>
          <a:p>
            <a:pPr algn="l"/>
            <a:r>
              <a:rPr sz="1400" b="0">
                <a:solidFill>
                  <a:srgbClr val="C7C2EF"/>
                </a:solidFill>
                <a:latin typeface="ITC Avant Garde Gothic"/>
              </a:rPr>
              <a:t>Un espermatozoide girado, algo más grande o en una imagen más oscura sigue siendo un espermatozoide. El modelo aprende lo que no cambia.</a:t>
            </a:r>
          </a:p>
        </p:txBody>
      </p:sp>
      <p:sp>
        <p:nvSpPr>
          <p:cNvPr id="23" name="TextBox 22"/>
          <p:cNvSpPr txBox="1"/>
          <p:nvPr/>
        </p:nvSpPr>
        <p:spPr>
          <a:xfrm>
            <a:off x="640080" y="4262158"/>
            <a:ext cx="10911535" cy="446227"/>
          </a:xfrm>
          <a:prstGeom prst="rect">
            <a:avLst/>
          </a:prstGeom>
          <a:noFill/>
        </p:spPr>
        <p:txBody>
          <a:bodyPr wrap="square" anchor="t" lIns="0" rIns="0" tIns="0" bIns="0">
            <a:spAutoFit/>
          </a:bodyPr>
          <a:lstStyle/>
          <a:p>
            <a:pPr algn="l"/>
            <a:r>
              <a:rPr sz="1400" b="0">
                <a:solidFill>
                  <a:srgbClr val="C7C2EF"/>
                </a:solidFill>
                <a:latin typeface="ITC Avant Garde Gothic"/>
              </a:rPr>
              <a:t>La red ve un solo canal de brillo: el valor más alto de rojo, verde y azul en cada píxel. El sitio hace la misma preparación.</a:t>
            </a:r>
          </a:p>
        </p:txBody>
      </p:sp>
      <p:sp>
        <p:nvSpPr>
          <p:cNvPr id="24" name="TextBox 23"/>
          <p:cNvSpPr txBox="1"/>
          <p:nvPr/>
        </p:nvSpPr>
        <p:spPr>
          <a:xfrm>
            <a:off x="640080" y="4936985"/>
            <a:ext cx="10911535" cy="223113"/>
          </a:xfrm>
          <a:prstGeom prst="rect">
            <a:avLst/>
          </a:prstGeom>
          <a:noFill/>
        </p:spPr>
        <p:txBody>
          <a:bodyPr wrap="square" anchor="t" lIns="0" rIns="0" tIns="0" bIns="0">
            <a:spAutoFit/>
          </a:bodyPr>
          <a:lstStyle/>
          <a:p>
            <a:pPr algn="l"/>
            <a:r>
              <a:rPr sz="1400" b="0">
                <a:solidFill>
                  <a:srgbClr val="C7C2EF"/>
                </a:solidFill>
                <a:latin typeface="ITC Avant Garde Gothic"/>
              </a:rPr>
              <a:t>Límite: el aumento varía las imágenes que existen, pero no inventa situaciones nuevas.</a:t>
            </a:r>
          </a:p>
        </p:txBody>
      </p:sp>
      <p:sp>
        <p:nvSpPr>
          <p:cNvPr id="25" name="TextBox 24"/>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Un límite del aumento de datos</a:t>
            </a:r>
          </a:p>
        </p:txBody>
      </p:sp>
      <p:sp>
        <p:nvSpPr>
          <p:cNvPr id="3" name="TextBox 2"/>
          <p:cNvSpPr txBox="1"/>
          <p:nvPr/>
        </p:nvSpPr>
        <p:spPr>
          <a:xfrm>
            <a:off x="640080" y="960120"/>
            <a:ext cx="10911535" cy="642620"/>
          </a:xfrm>
          <a:prstGeom prst="rect">
            <a:avLst/>
          </a:prstGeom>
          <a:noFill/>
        </p:spPr>
        <p:txBody>
          <a:bodyPr wrap="square" anchor="t" lIns="0" rIns="0" tIns="0" bIns="0">
            <a:spAutoFit/>
          </a:bodyPr>
          <a:lstStyle/>
          <a:p>
            <a:pPr algn="l"/>
            <a:r>
              <a:rPr sz="4400" b="1">
                <a:solidFill>
                  <a:srgbClr val="C7C2EF"/>
                </a:solidFill>
                <a:latin typeface="ITC Avant Garde Gothic"/>
              </a:rPr>
              <a:t>No inventa situaciones nuevas</a:t>
            </a:r>
          </a:p>
        </p:txBody>
      </p:sp>
      <p:sp>
        <p:nvSpPr>
          <p:cNvPr id="4" name="Rounded Rectangle 3"/>
          <p:cNvSpPr/>
          <p:nvPr/>
        </p:nvSpPr>
        <p:spPr>
          <a:xfrm>
            <a:off x="640080" y="1968500"/>
            <a:ext cx="10911535" cy="130810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242819"/>
            <a:ext cx="10454335" cy="396240"/>
          </a:xfrm>
          <a:prstGeom prst="rect">
            <a:avLst/>
          </a:prstGeom>
          <a:noFill/>
        </p:spPr>
        <p:txBody>
          <a:bodyPr wrap="square" anchor="t" lIns="0" rIns="0" tIns="0" bIns="0">
            <a:spAutoFit/>
          </a:bodyPr>
          <a:lstStyle/>
          <a:p>
            <a:pPr algn="l"/>
            <a:r>
              <a:rPr sz="2600" b="1">
                <a:solidFill>
                  <a:srgbClr val="FF983D"/>
                </a:solidFill>
                <a:latin typeface="ITC Avant Garde Gothic"/>
              </a:rPr>
              <a:t>Qué hace</a:t>
            </a:r>
          </a:p>
        </p:txBody>
      </p:sp>
      <p:sp>
        <p:nvSpPr>
          <p:cNvPr id="6" name="TextBox 5"/>
          <p:cNvSpPr txBox="1"/>
          <p:nvPr/>
        </p:nvSpPr>
        <p:spPr>
          <a:xfrm>
            <a:off x="868680" y="2730500"/>
            <a:ext cx="10454335" cy="454660"/>
          </a:xfrm>
          <a:prstGeom prst="rect">
            <a:avLst/>
          </a:prstGeom>
          <a:noFill/>
        </p:spPr>
        <p:txBody>
          <a:bodyPr wrap="square" anchor="t" lIns="0" rIns="0" tIns="0" bIns="0">
            <a:spAutoFit/>
          </a:bodyPr>
          <a:lstStyle/>
          <a:p>
            <a:pPr algn="l"/>
            <a:r>
              <a:rPr sz="2200" b="0">
                <a:solidFill>
                  <a:srgbClr val="C7C2EF"/>
                </a:solidFill>
                <a:latin typeface="ITC Avant Garde Gothic"/>
              </a:rPr>
              <a:t>Genera variaciones de las imágenes que existen.</a:t>
            </a:r>
          </a:p>
        </p:txBody>
      </p:sp>
      <p:sp>
        <p:nvSpPr>
          <p:cNvPr id="7" name="TextBox 6"/>
          <p:cNvSpPr txBox="1"/>
          <p:nvPr/>
        </p:nvSpPr>
        <p:spPr>
          <a:xfrm>
            <a:off x="640080" y="3459480"/>
            <a:ext cx="10911535" cy="464820"/>
          </a:xfrm>
          <a:prstGeom prst="rect">
            <a:avLst/>
          </a:prstGeom>
          <a:noFill/>
        </p:spPr>
        <p:txBody>
          <a:bodyPr wrap="square" anchor="t" lIns="0" rIns="0" tIns="0" bIns="0">
            <a:spAutoFit/>
          </a:bodyPr>
          <a:lstStyle/>
          <a:p>
            <a:pPr algn="l"/>
            <a:r>
              <a:rPr sz="3000" b="1">
                <a:solidFill>
                  <a:srgbClr val="FF983D"/>
                </a:solidFill>
                <a:latin typeface="ITC Avant Garde Gothic"/>
              </a:rPr>
              <a:t>Qué no hace</a:t>
            </a:r>
          </a:p>
        </p:txBody>
      </p:sp>
      <p:sp>
        <p:nvSpPr>
          <p:cNvPr id="8" name="TextBox 7"/>
          <p:cNvSpPr txBox="1"/>
          <p:nvPr/>
        </p:nvSpPr>
        <p:spPr>
          <a:xfrm>
            <a:off x="640080" y="4107179"/>
            <a:ext cx="10911535" cy="1115568"/>
          </a:xfrm>
          <a:prstGeom prst="rect">
            <a:avLst/>
          </a:prstGeom>
          <a:noFill/>
        </p:spPr>
        <p:txBody>
          <a:bodyPr wrap="square" anchor="t" lIns="0" rIns="0" tIns="0" bIns="0">
            <a:spAutoFit/>
          </a:bodyPr>
          <a:lstStyle/>
          <a:p>
            <a:pPr algn="l"/>
            <a:r>
              <a:rPr sz="2400" b="0">
                <a:solidFill>
                  <a:srgbClr val="C7C2EF"/>
                </a:solidFill>
                <a:latin typeface="ITC Avant Garde Gothic"/>
              </a:rPr>
              <a:t>Si en ninguna fotografía hay cierto tipo de aglomeración, ninguna rotación va a producirlo. Ayuda mucho, pero no reemplaza a las imágenes nuevas.</a:t>
            </a:r>
          </a:p>
        </p:txBody>
      </p:sp>
      <p:sp>
        <p:nvSpPr>
          <p:cNvPr id="9" name="TextBox 8"/>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Cómo se reparten las tareas</a:t>
            </a:r>
          </a:p>
        </p:txBody>
      </p:sp>
      <p:sp>
        <p:nvSpPr>
          <p:cNvPr id="3" name="TextBox 2"/>
          <p:cNvSpPr txBox="1"/>
          <p:nvPr/>
        </p:nvSpPr>
        <p:spPr>
          <a:xfrm>
            <a:off x="640080" y="960120"/>
            <a:ext cx="10911535" cy="449833"/>
          </a:xfrm>
          <a:prstGeom prst="rect">
            <a:avLst/>
          </a:prstGeom>
          <a:noFill/>
        </p:spPr>
        <p:txBody>
          <a:bodyPr wrap="square" anchor="t" lIns="0" rIns="0" tIns="0" bIns="0">
            <a:spAutoFit/>
          </a:bodyPr>
          <a:lstStyle/>
          <a:p>
            <a:pPr algn="l"/>
            <a:r>
              <a:rPr sz="3100" b="1">
                <a:solidFill>
                  <a:srgbClr val="C7C2EF"/>
                </a:solidFill>
                <a:latin typeface="ITC Avant Garde Gothic"/>
              </a:rPr>
              <a:t>De la imagen al archivo de resultados</a:t>
            </a:r>
          </a:p>
        </p:txBody>
      </p:sp>
      <p:sp>
        <p:nvSpPr>
          <p:cNvPr id="4" name="TextBox 3"/>
          <p:cNvSpPr txBox="1"/>
          <p:nvPr/>
        </p:nvSpPr>
        <p:spPr>
          <a:xfrm>
            <a:off x="640080" y="1775714"/>
            <a:ext cx="10911535" cy="232410"/>
          </a:xfrm>
          <a:prstGeom prst="rect">
            <a:avLst/>
          </a:prstGeom>
          <a:noFill/>
        </p:spPr>
        <p:txBody>
          <a:bodyPr wrap="square" anchor="t" lIns="0" rIns="0" tIns="0" bIns="0">
            <a:spAutoFit/>
          </a:bodyPr>
          <a:lstStyle/>
          <a:p>
            <a:pPr algn="l"/>
            <a:r>
              <a:rPr sz="1500" b="1">
                <a:solidFill>
                  <a:srgbClr val="FF983D"/>
                </a:solidFill>
                <a:latin typeface="ITC Avant Garde Gothic"/>
              </a:rPr>
              <a:t>Imagen</a:t>
            </a:r>
          </a:p>
        </p:txBody>
      </p:sp>
      <p:sp>
        <p:nvSpPr>
          <p:cNvPr id="5" name="Rounded Rectangle 4"/>
          <p:cNvSpPr/>
          <p:nvPr/>
        </p:nvSpPr>
        <p:spPr>
          <a:xfrm>
            <a:off x="640080" y="2191004"/>
            <a:ext cx="10911535" cy="83693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465324"/>
            <a:ext cx="10454335" cy="198120"/>
          </a:xfrm>
          <a:prstGeom prst="rect">
            <a:avLst/>
          </a:prstGeom>
          <a:noFill/>
        </p:spPr>
        <p:txBody>
          <a:bodyPr wrap="square" anchor="t" lIns="0" rIns="0" tIns="0" bIns="0">
            <a:spAutoFit/>
          </a:bodyPr>
          <a:lstStyle/>
          <a:p>
            <a:pPr algn="l"/>
            <a:r>
              <a:rPr sz="1300" b="1">
                <a:solidFill>
                  <a:srgbClr val="FF983D"/>
                </a:solidFill>
                <a:latin typeface="ITC Avant Garde Gothic"/>
              </a:rPr>
              <a:t>Red neuronal</a:t>
            </a:r>
          </a:p>
        </p:txBody>
      </p:sp>
      <p:sp>
        <p:nvSpPr>
          <p:cNvPr id="7" name="TextBox 6"/>
          <p:cNvSpPr txBox="1"/>
          <p:nvPr/>
        </p:nvSpPr>
        <p:spPr>
          <a:xfrm>
            <a:off x="868680" y="2754884"/>
            <a:ext cx="10454335" cy="181609"/>
          </a:xfrm>
          <a:prstGeom prst="rect">
            <a:avLst/>
          </a:prstGeom>
          <a:noFill/>
        </p:spPr>
        <p:txBody>
          <a:bodyPr wrap="square" anchor="t" lIns="0" rIns="0" tIns="0" bIns="0">
            <a:spAutoFit/>
          </a:bodyPr>
          <a:lstStyle/>
          <a:p>
            <a:pPr algn="l"/>
            <a:r>
              <a:rPr sz="1100" b="0">
                <a:solidFill>
                  <a:srgbClr val="C7C2EF"/>
                </a:solidFill>
                <a:latin typeface="ITC Avant Garde Gothic"/>
              </a:rPr>
              <a:t>Contornos.</a:t>
            </a:r>
          </a:p>
        </p:txBody>
      </p:sp>
      <p:sp>
        <p:nvSpPr>
          <p:cNvPr id="8" name="Rounded Rectangle 7"/>
          <p:cNvSpPr/>
          <p:nvPr/>
        </p:nvSpPr>
        <p:spPr>
          <a:xfrm>
            <a:off x="640080" y="3210814"/>
            <a:ext cx="10911535" cy="83693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485134"/>
            <a:ext cx="10454335" cy="198120"/>
          </a:xfrm>
          <a:prstGeom prst="rect">
            <a:avLst/>
          </a:prstGeom>
          <a:noFill/>
        </p:spPr>
        <p:txBody>
          <a:bodyPr wrap="square" anchor="t" lIns="0" rIns="0" tIns="0" bIns="0">
            <a:spAutoFit/>
          </a:bodyPr>
          <a:lstStyle/>
          <a:p>
            <a:pPr algn="l"/>
            <a:r>
              <a:rPr sz="1300" b="1">
                <a:solidFill>
                  <a:srgbClr val="FF983D"/>
                </a:solidFill>
                <a:latin typeface="ITC Avant Garde Gothic"/>
              </a:rPr>
              <a:t>Medición con código</a:t>
            </a:r>
          </a:p>
        </p:txBody>
      </p:sp>
      <p:sp>
        <p:nvSpPr>
          <p:cNvPr id="10" name="TextBox 9"/>
          <p:cNvSpPr txBox="1"/>
          <p:nvPr/>
        </p:nvSpPr>
        <p:spPr>
          <a:xfrm>
            <a:off x="868680" y="3774693"/>
            <a:ext cx="10454335" cy="181609"/>
          </a:xfrm>
          <a:prstGeom prst="rect">
            <a:avLst/>
          </a:prstGeom>
          <a:noFill/>
        </p:spPr>
        <p:txBody>
          <a:bodyPr wrap="square" anchor="t" lIns="0" rIns="0" tIns="0" bIns="0">
            <a:spAutoFit/>
          </a:bodyPr>
          <a:lstStyle/>
          <a:p>
            <a:pPr algn="l"/>
            <a:r>
              <a:rPr sz="1100" b="0">
                <a:solidFill>
                  <a:srgbClr val="C7C2EF"/>
                </a:solidFill>
                <a:latin typeface="ITC Avant Garde Gothic"/>
              </a:rPr>
              <a:t>Área y largo.</a:t>
            </a:r>
          </a:p>
        </p:txBody>
      </p:sp>
      <p:sp>
        <p:nvSpPr>
          <p:cNvPr id="11" name="Rounded Rectangle 10"/>
          <p:cNvSpPr/>
          <p:nvPr/>
        </p:nvSpPr>
        <p:spPr>
          <a:xfrm>
            <a:off x="640080" y="4230624"/>
            <a:ext cx="10911535" cy="83693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504944"/>
            <a:ext cx="10454335" cy="198120"/>
          </a:xfrm>
          <a:prstGeom prst="rect">
            <a:avLst/>
          </a:prstGeom>
          <a:noFill/>
        </p:spPr>
        <p:txBody>
          <a:bodyPr wrap="square" anchor="t" lIns="0" rIns="0" tIns="0" bIns="0">
            <a:spAutoFit/>
          </a:bodyPr>
          <a:lstStyle/>
          <a:p>
            <a:pPr algn="l"/>
            <a:r>
              <a:rPr sz="1300" b="1">
                <a:solidFill>
                  <a:srgbClr val="FF983D"/>
                </a:solidFill>
                <a:latin typeface="ITC Avant Garde Gothic"/>
              </a:rPr>
              <a:t>Estadística</a:t>
            </a:r>
          </a:p>
        </p:txBody>
      </p:sp>
      <p:sp>
        <p:nvSpPr>
          <p:cNvPr id="13" name="TextBox 12"/>
          <p:cNvSpPr txBox="1"/>
          <p:nvPr/>
        </p:nvSpPr>
        <p:spPr>
          <a:xfrm>
            <a:off x="868680" y="4794504"/>
            <a:ext cx="10454335" cy="181609"/>
          </a:xfrm>
          <a:prstGeom prst="rect">
            <a:avLst/>
          </a:prstGeom>
          <a:noFill/>
        </p:spPr>
        <p:txBody>
          <a:bodyPr wrap="square" anchor="t" lIns="0" rIns="0" tIns="0" bIns="0">
            <a:spAutoFit/>
          </a:bodyPr>
          <a:lstStyle/>
          <a:p>
            <a:pPr algn="l"/>
            <a:r>
              <a:rPr sz="1100" b="0">
                <a:solidFill>
                  <a:srgbClr val="C7C2EF"/>
                </a:solidFill>
                <a:latin typeface="ITC Avant Garde Gothic"/>
              </a:rPr>
              <a:t>Media, desviación, histograma.</a:t>
            </a:r>
          </a:p>
        </p:txBody>
      </p:sp>
      <p:sp>
        <p:nvSpPr>
          <p:cNvPr id="14" name="TextBox 13"/>
          <p:cNvSpPr txBox="1"/>
          <p:nvPr/>
        </p:nvSpPr>
        <p:spPr>
          <a:xfrm>
            <a:off x="640080" y="5250434"/>
            <a:ext cx="10911535" cy="232410"/>
          </a:xfrm>
          <a:prstGeom prst="rect">
            <a:avLst/>
          </a:prstGeom>
          <a:noFill/>
        </p:spPr>
        <p:txBody>
          <a:bodyPr wrap="square" anchor="t" lIns="0" rIns="0" tIns="0" bIns="0">
            <a:spAutoFit/>
          </a:bodyPr>
          <a:lstStyle/>
          <a:p>
            <a:pPr algn="l"/>
            <a:r>
              <a:rPr sz="1500" b="1">
                <a:solidFill>
                  <a:srgbClr val="FF983D"/>
                </a:solidFill>
                <a:latin typeface="ITC Avant Garde Gothic"/>
              </a:rPr>
              <a:t>CSV y PDF</a:t>
            </a:r>
          </a:p>
        </p:txBody>
      </p:sp>
      <p:sp>
        <p:nvSpPr>
          <p:cNvPr id="15" name="TextBox 14"/>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Desde ahí, código convencional</a:t>
            </a:r>
          </a:p>
        </p:txBody>
      </p:sp>
      <p:sp>
        <p:nvSpPr>
          <p:cNvPr id="3" name="TextBox 2"/>
          <p:cNvSpPr txBox="1"/>
          <p:nvPr/>
        </p:nvSpPr>
        <p:spPr>
          <a:xfrm>
            <a:off x="640080" y="960120"/>
            <a:ext cx="10911535" cy="546227"/>
          </a:xfrm>
          <a:prstGeom prst="rect">
            <a:avLst/>
          </a:prstGeom>
          <a:noFill/>
        </p:spPr>
        <p:txBody>
          <a:bodyPr wrap="square" anchor="t" lIns="0" rIns="0" tIns="0" bIns="0">
            <a:spAutoFit/>
          </a:bodyPr>
          <a:lstStyle/>
          <a:p>
            <a:pPr algn="l"/>
            <a:r>
              <a:rPr sz="3700" b="1">
                <a:solidFill>
                  <a:srgbClr val="C7C2EF"/>
                </a:solidFill>
                <a:latin typeface="ITC Avant Garde Gothic"/>
              </a:rPr>
              <a:t>Un problema geométrico</a:t>
            </a:r>
          </a:p>
        </p:txBody>
      </p:sp>
      <p:sp>
        <p:nvSpPr>
          <p:cNvPr id="4" name="TextBox 3"/>
          <p:cNvSpPr txBox="1"/>
          <p:nvPr/>
        </p:nvSpPr>
        <p:spPr>
          <a:xfrm>
            <a:off x="640080" y="1872106"/>
            <a:ext cx="10911535" cy="395097"/>
          </a:xfrm>
          <a:prstGeom prst="rect">
            <a:avLst/>
          </a:prstGeom>
          <a:noFill/>
        </p:spPr>
        <p:txBody>
          <a:bodyPr wrap="square" anchor="t" lIns="0" rIns="0" tIns="0" bIns="0">
            <a:spAutoFit/>
          </a:bodyPr>
          <a:lstStyle/>
          <a:p>
            <a:pPr algn="l"/>
            <a:r>
              <a:rPr sz="2600" b="1">
                <a:solidFill>
                  <a:srgbClr val="FF983D"/>
                </a:solidFill>
                <a:latin typeface="ITC Avant Garde Gothic"/>
              </a:rPr>
              <a:t>Qué se calcula</a:t>
            </a:r>
          </a:p>
        </p:txBody>
      </p:sp>
      <p:sp>
        <p:nvSpPr>
          <p:cNvPr id="5" name="TextBox 4"/>
          <p:cNvSpPr txBox="1"/>
          <p:nvPr/>
        </p:nvSpPr>
        <p:spPr>
          <a:xfrm>
            <a:off x="640080" y="2450084"/>
            <a:ext cx="10911535" cy="948232"/>
          </a:xfrm>
          <a:prstGeom prst="rect">
            <a:avLst/>
          </a:prstGeom>
          <a:noFill/>
        </p:spPr>
        <p:txBody>
          <a:bodyPr wrap="square" anchor="t" lIns="0" rIns="0" tIns="0" bIns="0">
            <a:spAutoFit/>
          </a:bodyPr>
          <a:lstStyle/>
          <a:p>
            <a:pPr algn="l"/>
            <a:r>
              <a:rPr sz="2000" b="0">
                <a:solidFill>
                  <a:srgbClr val="C7C2EF"/>
                </a:solidFill>
                <a:latin typeface="ITC Avant Garde Gothic"/>
              </a:rPr>
              <a:t>El área es el número de píxeles que quedan dentro; el largo, la longitud de la curva a lo largo de la forma. Con OpenCV y numpy: bibliotecas conocidas y probadas.</a:t>
            </a:r>
          </a:p>
        </p:txBody>
      </p:sp>
      <p:sp>
        <p:nvSpPr>
          <p:cNvPr id="6" name="TextBox 5"/>
          <p:cNvSpPr txBox="1"/>
          <p:nvPr/>
        </p:nvSpPr>
        <p:spPr>
          <a:xfrm>
            <a:off x="640080" y="3626916"/>
            <a:ext cx="10911535" cy="395097"/>
          </a:xfrm>
          <a:prstGeom prst="rect">
            <a:avLst/>
          </a:prstGeom>
          <a:noFill/>
        </p:spPr>
        <p:txBody>
          <a:bodyPr wrap="square" anchor="t" lIns="0" rIns="0" tIns="0" bIns="0">
            <a:spAutoFit/>
          </a:bodyPr>
          <a:lstStyle/>
          <a:p>
            <a:pPr algn="l"/>
            <a:r>
              <a:rPr sz="2600" b="1">
                <a:solidFill>
                  <a:srgbClr val="FF983D"/>
                </a:solidFill>
                <a:latin typeface="ITC Avant Garde Gothic"/>
              </a:rPr>
              <a:t>Por qué es confiable</a:t>
            </a:r>
          </a:p>
        </p:txBody>
      </p:sp>
      <p:sp>
        <p:nvSpPr>
          <p:cNvPr id="7" name="TextBox 6"/>
          <p:cNvSpPr txBox="1"/>
          <p:nvPr/>
        </p:nvSpPr>
        <p:spPr>
          <a:xfrm>
            <a:off x="640080" y="4204893"/>
            <a:ext cx="10911535" cy="948232"/>
          </a:xfrm>
          <a:prstGeom prst="rect">
            <a:avLst/>
          </a:prstGeom>
          <a:noFill/>
        </p:spPr>
        <p:txBody>
          <a:bodyPr wrap="square" anchor="t" lIns="0" rIns="0" tIns="0" bIns="0">
            <a:spAutoFit/>
          </a:bodyPr>
          <a:lstStyle/>
          <a:p>
            <a:pPr algn="l"/>
            <a:r>
              <a:rPr sz="2000" b="0">
                <a:solidFill>
                  <a:srgbClr val="C7C2EF"/>
                </a:solidFill>
                <a:latin typeface="ITC Avant Garde Gothic"/>
              </a:rPr>
              <a:t>Es determinista: el mismo contorno da exactamente las mismas cifras. Después, estadística elemental: media, desviación estándar, mínimo, máximo e histograma.</a:t>
            </a:r>
          </a:p>
        </p:txBody>
      </p:sp>
      <p:sp>
        <p:nvSpPr>
          <p:cNvPr id="8" name="TextBox 7"/>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Primera razón: verificabilidad</a:t>
            </a:r>
          </a:p>
        </p:txBody>
      </p:sp>
      <p:sp>
        <p:nvSpPr>
          <p:cNvPr id="3" name="TextBox 2"/>
          <p:cNvSpPr txBox="1"/>
          <p:nvPr/>
        </p:nvSpPr>
        <p:spPr>
          <a:xfrm>
            <a:off x="640080" y="960120"/>
            <a:ext cx="10911535" cy="1002487"/>
          </a:xfrm>
          <a:prstGeom prst="rect">
            <a:avLst/>
          </a:prstGeom>
          <a:noFill/>
        </p:spPr>
        <p:txBody>
          <a:bodyPr wrap="square" anchor="t" lIns="0" rIns="0" tIns="0" bIns="0">
            <a:spAutoFit/>
          </a:bodyPr>
          <a:lstStyle/>
          <a:p>
            <a:pPr algn="l"/>
            <a:r>
              <a:rPr sz="3400" b="1">
                <a:solidFill>
                  <a:srgbClr val="C7C2EF"/>
                </a:solidFill>
                <a:latin typeface="ITC Avant Garde Gothic"/>
              </a:rPr>
              <a:t>Concentrar la incertidumbre en un solo lugar</a:t>
            </a:r>
          </a:p>
        </p:txBody>
      </p:sp>
      <p:sp>
        <p:nvSpPr>
          <p:cNvPr id="4" name="TextBox 3"/>
          <p:cNvSpPr txBox="1"/>
          <p:nvPr/>
        </p:nvSpPr>
        <p:spPr>
          <a:xfrm>
            <a:off x="640080" y="2328367"/>
            <a:ext cx="10911535" cy="362559"/>
          </a:xfrm>
          <a:prstGeom prst="rect">
            <a:avLst/>
          </a:prstGeom>
          <a:noFill/>
        </p:spPr>
        <p:txBody>
          <a:bodyPr wrap="square" anchor="t" lIns="0" rIns="0" tIns="0" bIns="0">
            <a:spAutoFit/>
          </a:bodyPr>
          <a:lstStyle/>
          <a:p>
            <a:pPr algn="l"/>
            <a:r>
              <a:rPr sz="2300" b="1">
                <a:solidFill>
                  <a:srgbClr val="FF983D"/>
                </a:solidFill>
                <a:latin typeface="ITC Avant Garde Gothic"/>
              </a:rPr>
              <a:t>La red</a:t>
            </a:r>
          </a:p>
        </p:txBody>
      </p:sp>
      <p:sp>
        <p:nvSpPr>
          <p:cNvPr id="5" name="TextBox 4"/>
          <p:cNvSpPr txBox="1"/>
          <p:nvPr/>
        </p:nvSpPr>
        <p:spPr>
          <a:xfrm>
            <a:off x="640080" y="2873806"/>
            <a:ext cx="10911535" cy="580095"/>
          </a:xfrm>
          <a:prstGeom prst="rect">
            <a:avLst/>
          </a:prstGeom>
          <a:noFill/>
        </p:spPr>
        <p:txBody>
          <a:bodyPr wrap="square" anchor="t" lIns="0" rIns="0" tIns="0" bIns="0">
            <a:spAutoFit/>
          </a:bodyPr>
          <a:lstStyle/>
          <a:p>
            <a:pPr algn="l"/>
            <a:r>
              <a:rPr sz="1900" b="0">
                <a:solidFill>
                  <a:srgbClr val="C7C2EF"/>
                </a:solidFill>
                <a:latin typeface="ITC Avant Garde Gothic"/>
              </a:rPr>
              <a:t>Es una caja relativamente opaca: no es fácil explicar por qué produjo cierto contorno.</a:t>
            </a:r>
          </a:p>
        </p:txBody>
      </p:sp>
      <p:sp>
        <p:nvSpPr>
          <p:cNvPr id="6" name="TextBox 5"/>
          <p:cNvSpPr txBox="1"/>
          <p:nvPr/>
        </p:nvSpPr>
        <p:spPr>
          <a:xfrm>
            <a:off x="640080" y="3682502"/>
            <a:ext cx="10911535" cy="362559"/>
          </a:xfrm>
          <a:prstGeom prst="rect">
            <a:avLst/>
          </a:prstGeom>
          <a:noFill/>
        </p:spPr>
        <p:txBody>
          <a:bodyPr wrap="square" anchor="t" lIns="0" rIns="0" tIns="0" bIns="0">
            <a:spAutoFit/>
          </a:bodyPr>
          <a:lstStyle/>
          <a:p>
            <a:pPr algn="l"/>
            <a:r>
              <a:rPr sz="2300" b="1">
                <a:solidFill>
                  <a:srgbClr val="FF983D"/>
                </a:solidFill>
                <a:latin typeface="ITC Avant Garde Gothic"/>
              </a:rPr>
              <a:t>Después del contorno</a:t>
            </a:r>
          </a:p>
        </p:txBody>
      </p:sp>
      <p:sp>
        <p:nvSpPr>
          <p:cNvPr id="7" name="TextBox 6"/>
          <p:cNvSpPr txBox="1"/>
          <p:nvPr/>
        </p:nvSpPr>
        <p:spPr>
          <a:xfrm>
            <a:off x="640080" y="4227941"/>
            <a:ext cx="10911535" cy="580095"/>
          </a:xfrm>
          <a:prstGeom prst="rect">
            <a:avLst/>
          </a:prstGeom>
          <a:noFill/>
        </p:spPr>
        <p:txBody>
          <a:bodyPr wrap="square" anchor="t" lIns="0" rIns="0" tIns="0" bIns="0">
            <a:spAutoFit/>
          </a:bodyPr>
          <a:lstStyle/>
          <a:p>
            <a:pPr algn="l"/>
            <a:r>
              <a:rPr sz="1900" b="0">
                <a:solidFill>
                  <a:srgbClr val="C7C2EF"/>
                </a:solidFill>
                <a:latin typeface="ITC Avant Garde Gothic"/>
              </a:rPr>
              <a:t>Todo es transparente. Cualquiera puede mirar la imagen marcada, juzgar si el contorno es correcto y recalcular la medida con otra herramienta.</a:t>
            </a:r>
          </a:p>
        </p:txBody>
      </p:sp>
      <p:sp>
        <p:nvSpPr>
          <p:cNvPr id="8" name="TextBox 7"/>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Tercera razón: economía de datos</a:t>
            </a:r>
          </a:p>
        </p:txBody>
      </p:sp>
      <p:sp>
        <p:nvSpPr>
          <p:cNvPr id="3" name="TextBox 2"/>
          <p:cNvSpPr txBox="1"/>
          <p:nvPr/>
        </p:nvSpPr>
        <p:spPr>
          <a:xfrm>
            <a:off x="640080" y="960120"/>
            <a:ext cx="10911535" cy="642620"/>
          </a:xfrm>
          <a:prstGeom prst="rect">
            <a:avLst/>
          </a:prstGeom>
          <a:noFill/>
        </p:spPr>
        <p:txBody>
          <a:bodyPr wrap="square" anchor="t" lIns="0" rIns="0" tIns="0" bIns="0">
            <a:spAutoFit/>
          </a:bodyPr>
          <a:lstStyle/>
          <a:p>
            <a:pPr algn="l"/>
            <a:r>
              <a:rPr sz="4400" b="1">
                <a:solidFill>
                  <a:srgbClr val="C7C2EF"/>
                </a:solidFill>
                <a:latin typeface="ITC Avant Garde Gothic"/>
              </a:rPr>
              <a:t>Enseñarle una sola cosa bien</a:t>
            </a:r>
          </a:p>
        </p:txBody>
      </p:sp>
      <p:sp>
        <p:nvSpPr>
          <p:cNvPr id="4" name="TextBox 3"/>
          <p:cNvSpPr txBox="1"/>
          <p:nvPr/>
        </p:nvSpPr>
        <p:spPr>
          <a:xfrm>
            <a:off x="640080" y="1968500"/>
            <a:ext cx="10911535" cy="464820"/>
          </a:xfrm>
          <a:prstGeom prst="rect">
            <a:avLst/>
          </a:prstGeom>
          <a:noFill/>
        </p:spPr>
        <p:txBody>
          <a:bodyPr wrap="square" anchor="t" lIns="0" rIns="0" tIns="0" bIns="0">
            <a:spAutoFit/>
          </a:bodyPr>
          <a:lstStyle/>
          <a:p>
            <a:pPr algn="l"/>
            <a:r>
              <a:rPr sz="3000" b="1">
                <a:solidFill>
                  <a:srgbClr val="FF983D"/>
                </a:solidFill>
                <a:latin typeface="ITC Avant Garde Gothic"/>
              </a:rPr>
              <a:t>Con pocos ejemplos</a:t>
            </a:r>
          </a:p>
        </p:txBody>
      </p:sp>
      <p:sp>
        <p:nvSpPr>
          <p:cNvPr id="5" name="TextBox 4"/>
          <p:cNvSpPr txBox="1"/>
          <p:nvPr/>
        </p:nvSpPr>
        <p:spPr>
          <a:xfrm>
            <a:off x="640080" y="2616200"/>
            <a:ext cx="10911535" cy="743712"/>
          </a:xfrm>
          <a:prstGeom prst="rect">
            <a:avLst/>
          </a:prstGeom>
          <a:noFill/>
        </p:spPr>
        <p:txBody>
          <a:bodyPr wrap="square" anchor="t" lIns="0" rIns="0" tIns="0" bIns="0">
            <a:spAutoFit/>
          </a:bodyPr>
          <a:lstStyle/>
          <a:p>
            <a:pPr algn="l"/>
            <a:r>
              <a:rPr sz="2400" b="0">
                <a:solidFill>
                  <a:srgbClr val="C7C2EF"/>
                </a:solidFill>
                <a:latin typeface="ITC Avant Garde Gothic"/>
              </a:rPr>
              <a:t>Es mucho más fácil enseñarle a una red dónde está el espermatozoide que pedirle además que aprenda a medir.</a:t>
            </a:r>
          </a:p>
        </p:txBody>
      </p:sp>
      <p:sp>
        <p:nvSpPr>
          <p:cNvPr id="6" name="Rounded Rectangle 5"/>
          <p:cNvSpPr/>
          <p:nvPr/>
        </p:nvSpPr>
        <p:spPr>
          <a:xfrm>
            <a:off x="640080" y="3588512"/>
            <a:ext cx="10911535" cy="130810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862832"/>
            <a:ext cx="10454335" cy="396240"/>
          </a:xfrm>
          <a:prstGeom prst="rect">
            <a:avLst/>
          </a:prstGeom>
          <a:noFill/>
        </p:spPr>
        <p:txBody>
          <a:bodyPr wrap="square" anchor="t" lIns="0" rIns="0" tIns="0" bIns="0">
            <a:spAutoFit/>
          </a:bodyPr>
          <a:lstStyle/>
          <a:p>
            <a:pPr algn="l"/>
            <a:r>
              <a:rPr sz="2600" b="1">
                <a:solidFill>
                  <a:srgbClr val="FF983D"/>
                </a:solidFill>
                <a:latin typeface="ITC Avant Garde Gothic"/>
              </a:rPr>
              <a:t>Cada tarea adicional</a:t>
            </a:r>
          </a:p>
        </p:txBody>
      </p:sp>
      <p:sp>
        <p:nvSpPr>
          <p:cNvPr id="8" name="TextBox 7"/>
          <p:cNvSpPr txBox="1"/>
          <p:nvPr/>
        </p:nvSpPr>
        <p:spPr>
          <a:xfrm>
            <a:off x="868680" y="4350512"/>
            <a:ext cx="10454335" cy="454660"/>
          </a:xfrm>
          <a:prstGeom prst="rect">
            <a:avLst/>
          </a:prstGeom>
          <a:noFill/>
        </p:spPr>
        <p:txBody>
          <a:bodyPr wrap="square" anchor="t" lIns="0" rIns="0" tIns="0" bIns="0">
            <a:spAutoFit/>
          </a:bodyPr>
          <a:lstStyle/>
          <a:p>
            <a:pPr algn="l"/>
            <a:r>
              <a:rPr sz="2200" b="0">
                <a:solidFill>
                  <a:srgbClr val="C7C2EF"/>
                </a:solidFill>
                <a:latin typeface="ITC Avant Garde Gothic"/>
              </a:rPr>
              <a:t>Exige ejemplos adicionales.</a:t>
            </a:r>
          </a:p>
        </p:txBody>
      </p:sp>
      <p:sp>
        <p:nvSpPr>
          <p:cNvPr id="9" name="TextBox 8"/>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Los contornos cubren el espermatozoide completo</a:t>
            </a:r>
          </a:p>
        </p:txBody>
      </p:sp>
      <p:sp>
        <p:nvSpPr>
          <p:cNvPr id="3" name="TextBox 2"/>
          <p:cNvSpPr txBox="1"/>
          <p:nvPr/>
        </p:nvSpPr>
        <p:spPr>
          <a:xfrm>
            <a:off x="640080" y="960120"/>
            <a:ext cx="10911535" cy="1182420"/>
          </a:xfrm>
          <a:prstGeom prst="rect">
            <a:avLst/>
          </a:prstGeom>
          <a:noFill/>
        </p:spPr>
        <p:txBody>
          <a:bodyPr wrap="square" anchor="t" lIns="0" rIns="0" tIns="0" bIns="0">
            <a:spAutoFit/>
          </a:bodyPr>
          <a:lstStyle/>
          <a:p>
            <a:pPr algn="l"/>
            <a:r>
              <a:rPr sz="4000" b="1">
                <a:solidFill>
                  <a:srgbClr val="C7C2EF"/>
                </a:solidFill>
                <a:latin typeface="ITC Avant Garde Gothic"/>
              </a:rPr>
              <a:t>Un reflejo de cómo se etiquetaron las imágenes</a:t>
            </a:r>
          </a:p>
        </p:txBody>
      </p:sp>
      <p:sp>
        <p:nvSpPr>
          <p:cNvPr id="4" name="Rounded Rectangle 3"/>
          <p:cNvSpPr/>
          <p:nvPr/>
        </p:nvSpPr>
        <p:spPr>
          <a:xfrm>
            <a:off x="640080" y="2508300"/>
            <a:ext cx="10911535" cy="124734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782620"/>
            <a:ext cx="10454335" cy="364540"/>
          </a:xfrm>
          <a:prstGeom prst="rect">
            <a:avLst/>
          </a:prstGeom>
          <a:noFill/>
        </p:spPr>
        <p:txBody>
          <a:bodyPr wrap="square" anchor="t" lIns="0" rIns="0" tIns="0" bIns="0">
            <a:spAutoFit/>
          </a:bodyPr>
          <a:lstStyle/>
          <a:p>
            <a:pPr algn="l"/>
            <a:r>
              <a:rPr sz="2400" b="1">
                <a:solidFill>
                  <a:srgbClr val="FF983D"/>
                </a:solidFill>
                <a:latin typeface="ITC Avant Garde Gothic"/>
              </a:rPr>
              <a:t>No es un error del código</a:t>
            </a:r>
          </a:p>
        </p:txBody>
      </p:sp>
      <p:sp>
        <p:nvSpPr>
          <p:cNvPr id="6" name="TextBox 5"/>
          <p:cNvSpPr txBox="1"/>
          <p:nvPr/>
        </p:nvSpPr>
        <p:spPr>
          <a:xfrm>
            <a:off x="868680" y="3238601"/>
            <a:ext cx="10454335" cy="425602"/>
          </a:xfrm>
          <a:prstGeom prst="rect">
            <a:avLst/>
          </a:prstGeom>
          <a:noFill/>
        </p:spPr>
        <p:txBody>
          <a:bodyPr wrap="square" anchor="t" lIns="0" rIns="0" tIns="0" bIns="0">
            <a:spAutoFit/>
          </a:bodyPr>
          <a:lstStyle/>
          <a:p>
            <a:pPr algn="l"/>
            <a:r>
              <a:rPr sz="2000" b="0">
                <a:solidFill>
                  <a:srgbClr val="C7C2EF"/>
                </a:solidFill>
                <a:latin typeface="ITC Avant Garde Gothic"/>
              </a:rPr>
              <a:t>Quienes anotaron marcaron la cabeza y el primer tramo de la cola.</a:t>
            </a:r>
          </a:p>
        </p:txBody>
      </p:sp>
      <p:sp>
        <p:nvSpPr>
          <p:cNvPr id="7" name="Rounded Rectangle 6"/>
          <p:cNvSpPr/>
          <p:nvPr/>
        </p:nvSpPr>
        <p:spPr>
          <a:xfrm>
            <a:off x="640080" y="3938524"/>
            <a:ext cx="10911535" cy="124734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212844"/>
            <a:ext cx="10454335" cy="364540"/>
          </a:xfrm>
          <a:prstGeom prst="rect">
            <a:avLst/>
          </a:prstGeom>
          <a:noFill/>
        </p:spPr>
        <p:txBody>
          <a:bodyPr wrap="square" anchor="t" lIns="0" rIns="0" tIns="0" bIns="0">
            <a:spAutoFit/>
          </a:bodyPr>
          <a:lstStyle/>
          <a:p>
            <a:pPr algn="l"/>
            <a:r>
              <a:rPr sz="2400" b="1">
                <a:solidFill>
                  <a:srgbClr val="FF983D"/>
                </a:solidFill>
                <a:latin typeface="ITC Avant Garde Gothic"/>
              </a:rPr>
              <a:t>La red aprendió a reproducirlo</a:t>
            </a:r>
          </a:p>
        </p:txBody>
      </p:sp>
      <p:sp>
        <p:nvSpPr>
          <p:cNvPr id="9" name="TextBox 8"/>
          <p:cNvSpPr txBox="1"/>
          <p:nvPr/>
        </p:nvSpPr>
        <p:spPr>
          <a:xfrm>
            <a:off x="868680" y="4668824"/>
            <a:ext cx="10454335" cy="425602"/>
          </a:xfrm>
          <a:prstGeom prst="rect">
            <a:avLst/>
          </a:prstGeom>
          <a:noFill/>
        </p:spPr>
        <p:txBody>
          <a:bodyPr wrap="square" anchor="t" lIns="0" rIns="0" tIns="0" bIns="0">
            <a:spAutoFit/>
          </a:bodyPr>
          <a:lstStyle/>
          <a:p>
            <a:pPr algn="l"/>
            <a:r>
              <a:rPr sz="2000" b="0">
                <a:solidFill>
                  <a:srgbClr val="C7C2EF"/>
                </a:solidFill>
                <a:latin typeface="ITC Avant Garde Gothic"/>
              </a:rPr>
              <a:t>Lo que se vio en la demostración.</a:t>
            </a:r>
          </a:p>
        </p:txBody>
      </p:sp>
      <p:sp>
        <p:nvSpPr>
          <p:cNvPr id="10" name="TextBox 9"/>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Qué hace bien</a:t>
            </a:r>
          </a:p>
        </p:txBody>
      </p:sp>
      <p:sp>
        <p:nvSpPr>
          <p:cNvPr id="3" name="TextBox 2"/>
          <p:cNvSpPr txBox="1"/>
          <p:nvPr/>
        </p:nvSpPr>
        <p:spPr>
          <a:xfrm>
            <a:off x="640080" y="960120"/>
            <a:ext cx="10911535" cy="899667"/>
          </a:xfrm>
          <a:prstGeom prst="rect">
            <a:avLst/>
          </a:prstGeom>
          <a:noFill/>
        </p:spPr>
        <p:txBody>
          <a:bodyPr wrap="square" anchor="t" lIns="0" rIns="0" tIns="0" bIns="0">
            <a:spAutoFit/>
          </a:bodyPr>
          <a:lstStyle/>
          <a:p>
            <a:pPr algn="l"/>
            <a:r>
              <a:rPr sz="3100" b="1">
                <a:solidFill>
                  <a:srgbClr val="C7C2EF"/>
                </a:solidFill>
                <a:latin typeface="ITC Avant Garde Gothic"/>
              </a:rPr>
              <a:t>Los mismos conteos que en el cuaderno de entrenamiento</a:t>
            </a:r>
          </a:p>
        </p:txBody>
      </p:sp>
      <p:sp>
        <p:nvSpPr>
          <p:cNvPr id="4" name="Rounded Rectangle 3"/>
          <p:cNvSpPr/>
          <p:nvPr/>
        </p:nvSpPr>
        <p:spPr>
          <a:xfrm>
            <a:off x="640080" y="2225548"/>
            <a:ext cx="2522143" cy="6019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39014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536443"/>
            <a:ext cx="2064943" cy="236219"/>
          </a:xfrm>
          <a:prstGeom prst="rect">
            <a:avLst/>
          </a:prstGeom>
          <a:noFill/>
        </p:spPr>
        <p:txBody>
          <a:bodyPr wrap="square" anchor="t" lIns="0" rIns="0" tIns="0" bIns="0">
            <a:spAutoFit/>
          </a:bodyPr>
          <a:lstStyle/>
          <a:p>
            <a:pPr algn="l"/>
            <a:r>
              <a:rPr sz="1300" b="0">
                <a:solidFill>
                  <a:srgbClr val="C7C2EF"/>
                </a:solidFill>
                <a:latin typeface="ITC Avant Garde Gothic"/>
              </a:rPr>
              <a:t>Fotografía de prueba</a:t>
            </a:r>
          </a:p>
        </p:txBody>
      </p:sp>
      <p:sp>
        <p:nvSpPr>
          <p:cNvPr id="7" name="Rounded Rectangle 6"/>
          <p:cNvSpPr/>
          <p:nvPr/>
        </p:nvSpPr>
        <p:spPr>
          <a:xfrm>
            <a:off x="3436543" y="2225548"/>
            <a:ext cx="2522143" cy="6019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65143" y="239014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65143" y="2536443"/>
            <a:ext cx="2064943" cy="236219"/>
          </a:xfrm>
          <a:prstGeom prst="rect">
            <a:avLst/>
          </a:prstGeom>
          <a:noFill/>
        </p:spPr>
        <p:txBody>
          <a:bodyPr wrap="square" anchor="t" lIns="0" rIns="0" tIns="0" bIns="0">
            <a:spAutoFit/>
          </a:bodyPr>
          <a:lstStyle/>
          <a:p>
            <a:pPr algn="l"/>
            <a:r>
              <a:rPr sz="1300" b="0">
                <a:solidFill>
                  <a:srgbClr val="C7C2EF"/>
                </a:solidFill>
                <a:latin typeface="ITC Avant Garde Gothic"/>
              </a:rPr>
              <a:t>Contornos</a:t>
            </a:r>
          </a:p>
        </p:txBody>
      </p:sp>
      <p:sp>
        <p:nvSpPr>
          <p:cNvPr id="10" name="Rounded Rectangle 9"/>
          <p:cNvSpPr/>
          <p:nvPr/>
        </p:nvSpPr>
        <p:spPr>
          <a:xfrm>
            <a:off x="6233007" y="2225548"/>
            <a:ext cx="2522143" cy="6019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61607" y="239014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1607" y="2536443"/>
            <a:ext cx="2064943" cy="236219"/>
          </a:xfrm>
          <a:prstGeom prst="rect">
            <a:avLst/>
          </a:prstGeom>
          <a:noFill/>
        </p:spPr>
        <p:txBody>
          <a:bodyPr wrap="square" anchor="t" lIns="0" rIns="0" tIns="0" bIns="0">
            <a:spAutoFit/>
          </a:bodyPr>
          <a:lstStyle/>
          <a:p>
            <a:pPr algn="l"/>
            <a:r>
              <a:rPr sz="1300" b="0">
                <a:solidFill>
                  <a:srgbClr val="C7C2EF"/>
                </a:solidFill>
                <a:latin typeface="ITC Avant Garde Gothic"/>
              </a:rPr>
              <a:t>1</a:t>
            </a:r>
          </a:p>
        </p:txBody>
      </p:sp>
      <p:sp>
        <p:nvSpPr>
          <p:cNvPr id="13" name="Rounded Rectangle 12"/>
          <p:cNvSpPr/>
          <p:nvPr/>
        </p:nvSpPr>
        <p:spPr>
          <a:xfrm>
            <a:off x="9029471" y="2225548"/>
            <a:ext cx="2522143" cy="6019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258071" y="239014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58071" y="2536443"/>
            <a:ext cx="2064943" cy="236219"/>
          </a:xfrm>
          <a:prstGeom prst="rect">
            <a:avLst/>
          </a:prstGeom>
          <a:noFill/>
        </p:spPr>
        <p:txBody>
          <a:bodyPr wrap="square" anchor="t" lIns="0" rIns="0" tIns="0" bIns="0">
            <a:spAutoFit/>
          </a:bodyPr>
          <a:lstStyle/>
          <a:p>
            <a:pPr algn="l"/>
            <a:r>
              <a:rPr sz="1300" b="0">
                <a:solidFill>
                  <a:srgbClr val="C7C2EF"/>
                </a:solidFill>
                <a:latin typeface="ITC Avant Garde Gothic"/>
              </a:rPr>
              <a:t>114</a:t>
            </a:r>
          </a:p>
        </p:txBody>
      </p:sp>
      <p:sp>
        <p:nvSpPr>
          <p:cNvPr id="16" name="Rounded Rectangle 15"/>
          <p:cNvSpPr/>
          <p:nvPr/>
        </p:nvSpPr>
        <p:spPr>
          <a:xfrm>
            <a:off x="640080" y="3101848"/>
            <a:ext cx="2522143" cy="6019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68680" y="326644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412744"/>
            <a:ext cx="2064943" cy="236219"/>
          </a:xfrm>
          <a:prstGeom prst="rect">
            <a:avLst/>
          </a:prstGeom>
          <a:noFill/>
        </p:spPr>
        <p:txBody>
          <a:bodyPr wrap="square" anchor="t" lIns="0" rIns="0" tIns="0" bIns="0">
            <a:spAutoFit/>
          </a:bodyPr>
          <a:lstStyle/>
          <a:p>
            <a:pPr algn="l"/>
            <a:r>
              <a:rPr sz="1300" b="0">
                <a:solidFill>
                  <a:srgbClr val="C7C2EF"/>
                </a:solidFill>
                <a:latin typeface="ITC Avant Garde Gothic"/>
              </a:rPr>
              <a:t>2</a:t>
            </a:r>
          </a:p>
        </p:txBody>
      </p:sp>
      <p:sp>
        <p:nvSpPr>
          <p:cNvPr id="19" name="Rounded Rectangle 18"/>
          <p:cNvSpPr/>
          <p:nvPr/>
        </p:nvSpPr>
        <p:spPr>
          <a:xfrm>
            <a:off x="3436543" y="3101848"/>
            <a:ext cx="2522143" cy="6019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5143" y="326644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65143" y="3412744"/>
            <a:ext cx="2064943" cy="236219"/>
          </a:xfrm>
          <a:prstGeom prst="rect">
            <a:avLst/>
          </a:prstGeom>
          <a:noFill/>
        </p:spPr>
        <p:txBody>
          <a:bodyPr wrap="square" anchor="t" lIns="0" rIns="0" tIns="0" bIns="0">
            <a:spAutoFit/>
          </a:bodyPr>
          <a:lstStyle/>
          <a:p>
            <a:pPr algn="l"/>
            <a:r>
              <a:rPr sz="1300" b="0">
                <a:solidFill>
                  <a:srgbClr val="C7C2EF"/>
                </a:solidFill>
                <a:latin typeface="ITC Avant Garde Gothic"/>
              </a:rPr>
              <a:t>9</a:t>
            </a:r>
          </a:p>
        </p:txBody>
      </p:sp>
      <p:sp>
        <p:nvSpPr>
          <p:cNvPr id="22" name="Rounded Rectangle 21"/>
          <p:cNvSpPr/>
          <p:nvPr/>
        </p:nvSpPr>
        <p:spPr>
          <a:xfrm>
            <a:off x="6233007" y="3101848"/>
            <a:ext cx="2522143" cy="6019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61607" y="326644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61607" y="3412744"/>
            <a:ext cx="2064943" cy="236219"/>
          </a:xfrm>
          <a:prstGeom prst="rect">
            <a:avLst/>
          </a:prstGeom>
          <a:noFill/>
        </p:spPr>
        <p:txBody>
          <a:bodyPr wrap="square" anchor="t" lIns="0" rIns="0" tIns="0" bIns="0">
            <a:spAutoFit/>
          </a:bodyPr>
          <a:lstStyle/>
          <a:p>
            <a:pPr algn="l"/>
            <a:r>
              <a:rPr sz="1300" b="0">
                <a:solidFill>
                  <a:srgbClr val="C7C2EF"/>
                </a:solidFill>
                <a:latin typeface="ITC Avant Garde Gothic"/>
              </a:rPr>
              <a:t>3</a:t>
            </a:r>
          </a:p>
        </p:txBody>
      </p:sp>
      <p:sp>
        <p:nvSpPr>
          <p:cNvPr id="25" name="Rounded Rectangle 24"/>
          <p:cNvSpPr/>
          <p:nvPr/>
        </p:nvSpPr>
        <p:spPr>
          <a:xfrm>
            <a:off x="9029471" y="3101848"/>
            <a:ext cx="2522143" cy="6019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58071" y="326644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58071" y="3412744"/>
            <a:ext cx="2064943" cy="236219"/>
          </a:xfrm>
          <a:prstGeom prst="rect">
            <a:avLst/>
          </a:prstGeom>
          <a:noFill/>
        </p:spPr>
        <p:txBody>
          <a:bodyPr wrap="square" anchor="t" lIns="0" rIns="0" tIns="0" bIns="0">
            <a:spAutoFit/>
          </a:bodyPr>
          <a:lstStyle/>
          <a:p>
            <a:pPr algn="l"/>
            <a:r>
              <a:rPr sz="1300" b="0">
                <a:solidFill>
                  <a:srgbClr val="C7C2EF"/>
                </a:solidFill>
                <a:latin typeface="ITC Avant Garde Gothic"/>
              </a:rPr>
              <a:t>2</a:t>
            </a:r>
          </a:p>
        </p:txBody>
      </p:sp>
      <p:sp>
        <p:nvSpPr>
          <p:cNvPr id="28" name="Rounded Rectangle 27"/>
          <p:cNvSpPr/>
          <p:nvPr/>
        </p:nvSpPr>
        <p:spPr>
          <a:xfrm>
            <a:off x="640080" y="3978147"/>
            <a:ext cx="2522143" cy="6019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8680" y="414273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4289044"/>
            <a:ext cx="2064943" cy="236219"/>
          </a:xfrm>
          <a:prstGeom prst="rect">
            <a:avLst/>
          </a:prstGeom>
          <a:noFill/>
        </p:spPr>
        <p:txBody>
          <a:bodyPr wrap="square" anchor="t" lIns="0" rIns="0" tIns="0" bIns="0">
            <a:spAutoFit/>
          </a:bodyPr>
          <a:lstStyle/>
          <a:p>
            <a:pPr algn="l"/>
            <a:r>
              <a:rPr sz="1300" b="0">
                <a:solidFill>
                  <a:srgbClr val="C7C2EF"/>
                </a:solidFill>
                <a:latin typeface="ITC Avant Garde Gothic"/>
              </a:rPr>
              <a:t>4</a:t>
            </a:r>
          </a:p>
        </p:txBody>
      </p:sp>
      <p:sp>
        <p:nvSpPr>
          <p:cNvPr id="31" name="Rounded Rectangle 30"/>
          <p:cNvSpPr/>
          <p:nvPr/>
        </p:nvSpPr>
        <p:spPr>
          <a:xfrm>
            <a:off x="3436543" y="3978147"/>
            <a:ext cx="2522143" cy="6019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65143" y="414273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65143" y="4289044"/>
            <a:ext cx="2064943" cy="236219"/>
          </a:xfrm>
          <a:prstGeom prst="rect">
            <a:avLst/>
          </a:prstGeom>
          <a:noFill/>
        </p:spPr>
        <p:txBody>
          <a:bodyPr wrap="square" anchor="t" lIns="0" rIns="0" tIns="0" bIns="0">
            <a:spAutoFit/>
          </a:bodyPr>
          <a:lstStyle/>
          <a:p>
            <a:pPr algn="l"/>
            <a:r>
              <a:rPr sz="1300" b="0">
                <a:solidFill>
                  <a:srgbClr val="C7C2EF"/>
                </a:solidFill>
                <a:latin typeface="ITC Avant Garde Gothic"/>
              </a:rPr>
              <a:t>1</a:t>
            </a:r>
          </a:p>
        </p:txBody>
      </p:sp>
      <p:sp>
        <p:nvSpPr>
          <p:cNvPr id="34" name="Rounded Rectangle 33"/>
          <p:cNvSpPr/>
          <p:nvPr/>
        </p:nvSpPr>
        <p:spPr>
          <a:xfrm>
            <a:off x="6233007" y="3978147"/>
            <a:ext cx="2522143" cy="6019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61607" y="414273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61607" y="4289044"/>
            <a:ext cx="2064943" cy="236219"/>
          </a:xfrm>
          <a:prstGeom prst="rect">
            <a:avLst/>
          </a:prstGeom>
          <a:noFill/>
        </p:spPr>
        <p:txBody>
          <a:bodyPr wrap="square" anchor="t" lIns="0" rIns="0" tIns="0" bIns="0">
            <a:spAutoFit/>
          </a:bodyPr>
          <a:lstStyle/>
          <a:p>
            <a:pPr algn="l"/>
            <a:r>
              <a:rPr sz="1300" b="0">
                <a:solidFill>
                  <a:srgbClr val="C7C2EF"/>
                </a:solidFill>
                <a:latin typeface="ITC Avant Garde Gothic"/>
              </a:rPr>
              <a:t>5</a:t>
            </a:r>
          </a:p>
        </p:txBody>
      </p:sp>
      <p:sp>
        <p:nvSpPr>
          <p:cNvPr id="37" name="Rounded Rectangle 36"/>
          <p:cNvSpPr/>
          <p:nvPr/>
        </p:nvSpPr>
        <p:spPr>
          <a:xfrm>
            <a:off x="9029471" y="3978147"/>
            <a:ext cx="2522143" cy="6019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258071" y="414273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258071" y="4289044"/>
            <a:ext cx="2064943" cy="236219"/>
          </a:xfrm>
          <a:prstGeom prst="rect">
            <a:avLst/>
          </a:prstGeom>
          <a:noFill/>
        </p:spPr>
        <p:txBody>
          <a:bodyPr wrap="square" anchor="t" lIns="0" rIns="0" tIns="0" bIns="0">
            <a:spAutoFit/>
          </a:bodyPr>
          <a:lstStyle/>
          <a:p>
            <a:pPr algn="l"/>
            <a:r>
              <a:rPr sz="1300" b="0">
                <a:solidFill>
                  <a:srgbClr val="C7C2EF"/>
                </a:solidFill>
                <a:latin typeface="ITC Avant Garde Gothic"/>
              </a:rPr>
              <a:t>43</a:t>
            </a:r>
          </a:p>
        </p:txBody>
      </p:sp>
      <p:sp>
        <p:nvSpPr>
          <p:cNvPr id="40" name="TextBox 39"/>
          <p:cNvSpPr txBox="1"/>
          <p:nvPr/>
        </p:nvSpPr>
        <p:spPr>
          <a:xfrm>
            <a:off x="640080" y="4763008"/>
            <a:ext cx="10911535" cy="446227"/>
          </a:xfrm>
          <a:prstGeom prst="rect">
            <a:avLst/>
          </a:prstGeom>
          <a:noFill/>
        </p:spPr>
        <p:txBody>
          <a:bodyPr wrap="square" anchor="t" lIns="0" rIns="0" tIns="0" bIns="0">
            <a:spAutoFit/>
          </a:bodyPr>
          <a:lstStyle/>
          <a:p>
            <a:pPr algn="l"/>
            <a:r>
              <a:rPr sz="1400" b="0">
                <a:solidFill>
                  <a:srgbClr val="C7C2EF"/>
                </a:solidFill>
                <a:latin typeface="ITC Avant Garde Gothic"/>
              </a:rPr>
              <a:t>Demuestra que el sitio aplica el modelo exactamente igual que en el entrenamiento. Es una comprobación de integración, no de calidad científica.</a:t>
            </a:r>
          </a:p>
        </p:txBody>
      </p:sp>
      <p:sp>
        <p:nvSpPr>
          <p:cNvPr id="41" name="TextBox 40"/>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Primer reto: la aglomeración</a:t>
            </a:r>
          </a:p>
        </p:txBody>
      </p:sp>
      <p:sp>
        <p:nvSpPr>
          <p:cNvPr id="3" name="TextBox 2"/>
          <p:cNvSpPr txBox="1"/>
          <p:nvPr/>
        </p:nvSpPr>
        <p:spPr>
          <a:xfrm>
            <a:off x="640080" y="960120"/>
            <a:ext cx="10911535" cy="1182420"/>
          </a:xfrm>
          <a:prstGeom prst="rect">
            <a:avLst/>
          </a:prstGeom>
          <a:noFill/>
        </p:spPr>
        <p:txBody>
          <a:bodyPr wrap="square" anchor="t" lIns="0" rIns="0" tIns="0" bIns="0">
            <a:spAutoFit/>
          </a:bodyPr>
          <a:lstStyle/>
          <a:p>
            <a:pPr algn="l"/>
            <a:r>
              <a:rPr sz="4000" b="1">
                <a:solidFill>
                  <a:srgbClr val="C7C2EF"/>
                </a:solidFill>
                <a:latin typeface="ITC Avant Garde Gothic"/>
              </a:rPr>
              <a:t>Donde hay muchos espermatozoides juntos</a:t>
            </a:r>
          </a:p>
        </p:txBody>
      </p:sp>
      <p:sp>
        <p:nvSpPr>
          <p:cNvPr id="4" name="Rounded Rectangle 3"/>
          <p:cNvSpPr/>
          <p:nvPr/>
        </p:nvSpPr>
        <p:spPr>
          <a:xfrm>
            <a:off x="640080" y="2508300"/>
            <a:ext cx="5318607" cy="1459687"/>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67289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819196"/>
            <a:ext cx="4861407" cy="1093927"/>
          </a:xfrm>
          <a:prstGeom prst="rect">
            <a:avLst/>
          </a:prstGeom>
          <a:noFill/>
        </p:spPr>
        <p:txBody>
          <a:bodyPr wrap="square" anchor="t" lIns="0" rIns="0" tIns="0" bIns="0">
            <a:spAutoFit/>
          </a:bodyPr>
          <a:lstStyle/>
          <a:p>
            <a:pPr algn="l"/>
            <a:r>
              <a:rPr sz="2000" b="0">
                <a:solidFill>
                  <a:srgbClr val="C7C2EF"/>
                </a:solidFill>
                <a:latin typeface="ITC Avant Garde Gothic"/>
              </a:rPr>
              <a:t>85 de 100</a:t>
            </a:r>
          </a:p>
        </p:txBody>
      </p:sp>
      <p:sp>
        <p:nvSpPr>
          <p:cNvPr id="7" name="Rounded Rectangle 6"/>
          <p:cNvSpPr/>
          <p:nvPr/>
        </p:nvSpPr>
        <p:spPr>
          <a:xfrm>
            <a:off x="6233007" y="2508300"/>
            <a:ext cx="5318607" cy="1459687"/>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61607" y="267289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1607" y="2819196"/>
            <a:ext cx="4861407" cy="1093927"/>
          </a:xfrm>
          <a:prstGeom prst="rect">
            <a:avLst/>
          </a:prstGeom>
          <a:noFill/>
        </p:spPr>
        <p:txBody>
          <a:bodyPr wrap="square" anchor="t" lIns="0" rIns="0" tIns="0" bIns="0">
            <a:spAutoFit/>
          </a:bodyPr>
          <a:lstStyle/>
          <a:p>
            <a:pPr algn="l"/>
            <a:r>
              <a:rPr sz="2000" b="0">
                <a:solidFill>
                  <a:srgbClr val="C7C2EF"/>
                </a:solidFill>
                <a:latin typeface="ITC Avant Garde Gothic"/>
              </a:rPr>
              <a:t>encontró el modelo de fluorescencia en las zonas más amontonadas</a:t>
            </a:r>
          </a:p>
        </p:txBody>
      </p:sp>
      <p:sp>
        <p:nvSpPr>
          <p:cNvPr id="10" name="TextBox 9"/>
          <p:cNvSpPr txBox="1"/>
          <p:nvPr/>
        </p:nvSpPr>
        <p:spPr>
          <a:xfrm>
            <a:off x="640080" y="4150868"/>
            <a:ext cx="10911535" cy="684215"/>
          </a:xfrm>
          <a:prstGeom prst="rect">
            <a:avLst/>
          </a:prstGeom>
          <a:noFill/>
        </p:spPr>
        <p:txBody>
          <a:bodyPr wrap="square" anchor="t" lIns="0" rIns="0" tIns="0" bIns="0">
            <a:spAutoFit/>
          </a:bodyPr>
          <a:lstStyle/>
          <a:p>
            <a:pPr algn="l"/>
            <a:r>
              <a:rPr sz="2200" b="0">
                <a:solidFill>
                  <a:srgbClr val="C7C2EF"/>
                </a:solidFill>
                <a:latin typeface="ITC Avant Garde Gothic"/>
              </a:rPr>
              <a:t>Por eso ahí el conteo se lee como una estimación. Con dos objetos superpuestos, el límite es ambiguo incluso para una persona.</a:t>
            </a:r>
          </a:p>
        </p:txBody>
      </p:sp>
      <p:sp>
        <p:nvSpPr>
          <p:cNvPr id="11" name="TextBox 10"/>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Tercer reto: lo que no es un espermatozoide</a:t>
            </a:r>
          </a:p>
        </p:txBody>
      </p:sp>
      <p:sp>
        <p:nvSpPr>
          <p:cNvPr id="3" name="TextBox 2"/>
          <p:cNvSpPr txBox="1"/>
          <p:nvPr/>
        </p:nvSpPr>
        <p:spPr>
          <a:xfrm>
            <a:off x="640080" y="960120"/>
            <a:ext cx="10911535" cy="591210"/>
          </a:xfrm>
          <a:prstGeom prst="rect">
            <a:avLst/>
          </a:prstGeom>
          <a:noFill/>
        </p:spPr>
        <p:txBody>
          <a:bodyPr wrap="square" anchor="t" lIns="0" rIns="0" tIns="0" bIns="0">
            <a:spAutoFit/>
          </a:bodyPr>
          <a:lstStyle/>
          <a:p>
            <a:pPr algn="l"/>
            <a:r>
              <a:rPr sz="4000" b="1">
                <a:solidFill>
                  <a:srgbClr val="C7C2EF"/>
                </a:solidFill>
                <a:latin typeface="ITC Avant Garde Gothic"/>
              </a:rPr>
              <a:t>La red nunca vio ejemplos negativos</a:t>
            </a:r>
          </a:p>
        </p:txBody>
      </p:sp>
      <p:sp>
        <p:nvSpPr>
          <p:cNvPr id="4" name="TextBox 3"/>
          <p:cNvSpPr txBox="1"/>
          <p:nvPr/>
        </p:nvSpPr>
        <p:spPr>
          <a:xfrm>
            <a:off x="640080" y="1917090"/>
            <a:ext cx="10911535" cy="427634"/>
          </a:xfrm>
          <a:prstGeom prst="rect">
            <a:avLst/>
          </a:prstGeom>
          <a:noFill/>
        </p:spPr>
        <p:txBody>
          <a:bodyPr wrap="square" anchor="t" lIns="0" rIns="0" tIns="0" bIns="0">
            <a:spAutoFit/>
          </a:bodyPr>
          <a:lstStyle/>
          <a:p>
            <a:pPr algn="l"/>
            <a:r>
              <a:rPr sz="2800" b="1">
                <a:solidFill>
                  <a:srgbClr val="FF983D"/>
                </a:solidFill>
                <a:latin typeface="ITC Avant Garde Gothic"/>
              </a:rPr>
              <a:t>Qué pasa ante algo muy distinto</a:t>
            </a:r>
          </a:p>
        </p:txBody>
      </p:sp>
      <p:sp>
        <p:nvSpPr>
          <p:cNvPr id="5" name="TextBox 4"/>
          <p:cNvSpPr txBox="1"/>
          <p:nvPr/>
        </p:nvSpPr>
        <p:spPr>
          <a:xfrm>
            <a:off x="640080" y="2527604"/>
            <a:ext cx="10911535" cy="1026322"/>
          </a:xfrm>
          <a:prstGeom prst="rect">
            <a:avLst/>
          </a:prstGeom>
          <a:noFill/>
        </p:spPr>
        <p:txBody>
          <a:bodyPr wrap="square" anchor="t" lIns="0" rIns="0" tIns="0" bIns="0">
            <a:spAutoFit/>
          </a:bodyPr>
          <a:lstStyle/>
          <a:p>
            <a:pPr algn="l"/>
            <a:r>
              <a:rPr sz="2200" b="0">
                <a:solidFill>
                  <a:srgbClr val="C7C2EF"/>
                </a:solidFill>
                <a:latin typeface="ITC Avant Garde Gothic"/>
              </a:rPr>
              <a:t>Lo más probable es que no encuentre nada y el sitio avise que no se puede analizar. Pero no hay garantía: podría marcar manchas que se le parezcan.</a:t>
            </a:r>
          </a:p>
        </p:txBody>
      </p:sp>
      <p:sp>
        <p:nvSpPr>
          <p:cNvPr id="6" name="Rounded Rectangle 5"/>
          <p:cNvSpPr/>
          <p:nvPr/>
        </p:nvSpPr>
        <p:spPr>
          <a:xfrm>
            <a:off x="640080" y="3782527"/>
            <a:ext cx="10911535" cy="124734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4056847"/>
            <a:ext cx="10454335" cy="364540"/>
          </a:xfrm>
          <a:prstGeom prst="rect">
            <a:avLst/>
          </a:prstGeom>
          <a:noFill/>
        </p:spPr>
        <p:txBody>
          <a:bodyPr wrap="square" anchor="t" lIns="0" rIns="0" tIns="0" bIns="0">
            <a:spAutoFit/>
          </a:bodyPr>
          <a:lstStyle/>
          <a:p>
            <a:pPr algn="l"/>
            <a:r>
              <a:rPr sz="2400" b="1">
                <a:solidFill>
                  <a:srgbClr val="FF983D"/>
                </a:solidFill>
                <a:latin typeface="ITC Avant Garde Gothic"/>
              </a:rPr>
              <a:t>Qué ayudaría</a:t>
            </a:r>
          </a:p>
        </p:txBody>
      </p:sp>
      <p:sp>
        <p:nvSpPr>
          <p:cNvPr id="8" name="TextBox 7"/>
          <p:cNvSpPr txBox="1"/>
          <p:nvPr/>
        </p:nvSpPr>
        <p:spPr>
          <a:xfrm>
            <a:off x="868680" y="4512828"/>
            <a:ext cx="10454335" cy="425602"/>
          </a:xfrm>
          <a:prstGeom prst="rect">
            <a:avLst/>
          </a:prstGeom>
          <a:noFill/>
        </p:spPr>
        <p:txBody>
          <a:bodyPr wrap="square" anchor="t" lIns="0" rIns="0" tIns="0" bIns="0">
            <a:spAutoFit/>
          </a:bodyPr>
          <a:lstStyle/>
          <a:p>
            <a:pPr algn="l"/>
            <a:r>
              <a:rPr sz="2000" b="0">
                <a:solidFill>
                  <a:srgbClr val="C7C2EF"/>
                </a:solidFill>
                <a:latin typeface="ITC Avant Garde Gothic"/>
              </a:rPr>
              <a:t>Contar con imágenes de «basura» para reentrenar.</a:t>
            </a:r>
          </a:p>
        </p:txBody>
      </p:sp>
      <p:sp>
        <p:nvSpPr>
          <p:cNvPr id="9" name="TextBox 8"/>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Qué mejora un modelo así</a:t>
            </a:r>
          </a:p>
        </p:txBody>
      </p:sp>
      <p:sp>
        <p:nvSpPr>
          <p:cNvPr id="3" name="TextBox 2"/>
          <p:cNvSpPr txBox="1"/>
          <p:nvPr/>
        </p:nvSpPr>
        <p:spPr>
          <a:xfrm>
            <a:off x="640080" y="960120"/>
            <a:ext cx="10911535" cy="462686"/>
          </a:xfrm>
          <a:prstGeom prst="rect">
            <a:avLst/>
          </a:prstGeom>
          <a:noFill/>
        </p:spPr>
        <p:txBody>
          <a:bodyPr wrap="square" anchor="t" lIns="0" rIns="0" tIns="0" bIns="0">
            <a:spAutoFit/>
          </a:bodyPr>
          <a:lstStyle/>
          <a:p>
            <a:pPr algn="l"/>
            <a:r>
              <a:rPr sz="3200" b="1">
                <a:solidFill>
                  <a:srgbClr val="C7C2EF"/>
                </a:solidFill>
                <a:latin typeface="ITC Avant Garde Gothic"/>
              </a:rPr>
              <a:t>Más datos, más variados y mejor etiquetados</a:t>
            </a:r>
          </a:p>
        </p:txBody>
      </p:sp>
      <p:sp>
        <p:nvSpPr>
          <p:cNvPr id="4" name="Rounded Rectangle 3"/>
          <p:cNvSpPr/>
          <p:nvPr/>
        </p:nvSpPr>
        <p:spPr>
          <a:xfrm>
            <a:off x="640080" y="1788566"/>
            <a:ext cx="10911535" cy="100401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062886"/>
            <a:ext cx="10454335" cy="285292"/>
          </a:xfrm>
          <a:prstGeom prst="rect">
            <a:avLst/>
          </a:prstGeom>
          <a:noFill/>
        </p:spPr>
        <p:txBody>
          <a:bodyPr wrap="square" anchor="t" lIns="0" rIns="0" tIns="0" bIns="0">
            <a:spAutoFit/>
          </a:bodyPr>
          <a:lstStyle/>
          <a:p>
            <a:pPr algn="l"/>
            <a:r>
              <a:rPr sz="1900" b="1">
                <a:solidFill>
                  <a:srgbClr val="FF983D"/>
                </a:solidFill>
                <a:latin typeface="ITC Avant Garde Gothic"/>
              </a:rPr>
              <a:t>Más</a:t>
            </a:r>
          </a:p>
        </p:txBody>
      </p:sp>
      <p:sp>
        <p:nvSpPr>
          <p:cNvPr id="6" name="TextBox 5"/>
          <p:cNvSpPr txBox="1"/>
          <p:nvPr/>
        </p:nvSpPr>
        <p:spPr>
          <a:xfrm>
            <a:off x="868680" y="2439619"/>
            <a:ext cx="10454335" cy="261518"/>
          </a:xfrm>
          <a:prstGeom prst="rect">
            <a:avLst/>
          </a:prstGeom>
          <a:noFill/>
        </p:spPr>
        <p:txBody>
          <a:bodyPr wrap="square" anchor="t" lIns="0" rIns="0" tIns="0" bIns="0">
            <a:spAutoFit/>
          </a:bodyPr>
          <a:lstStyle/>
          <a:p>
            <a:pPr algn="l"/>
            <a:r>
              <a:rPr sz="1600" b="0">
                <a:solidFill>
                  <a:srgbClr val="C7C2EF"/>
                </a:solidFill>
                <a:latin typeface="ITC Avant Garde Gothic"/>
              </a:rPr>
              <a:t>Cada ejemplo aporta información.</a:t>
            </a:r>
          </a:p>
        </p:txBody>
      </p:sp>
      <p:sp>
        <p:nvSpPr>
          <p:cNvPr id="7" name="Rounded Rectangle 6"/>
          <p:cNvSpPr/>
          <p:nvPr/>
        </p:nvSpPr>
        <p:spPr>
          <a:xfrm>
            <a:off x="640080" y="2975457"/>
            <a:ext cx="10911535" cy="100401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249777"/>
            <a:ext cx="10454335" cy="285292"/>
          </a:xfrm>
          <a:prstGeom prst="rect">
            <a:avLst/>
          </a:prstGeom>
          <a:noFill/>
        </p:spPr>
        <p:txBody>
          <a:bodyPr wrap="square" anchor="t" lIns="0" rIns="0" tIns="0" bIns="0">
            <a:spAutoFit/>
          </a:bodyPr>
          <a:lstStyle/>
          <a:p>
            <a:pPr algn="l"/>
            <a:r>
              <a:rPr sz="1900" b="1">
                <a:solidFill>
                  <a:srgbClr val="FF983D"/>
                </a:solidFill>
                <a:latin typeface="ITC Avant Garde Gothic"/>
              </a:rPr>
              <a:t>Más variados</a:t>
            </a:r>
          </a:p>
        </p:txBody>
      </p:sp>
      <p:sp>
        <p:nvSpPr>
          <p:cNvPr id="9" name="TextBox 8"/>
          <p:cNvSpPr txBox="1"/>
          <p:nvPr/>
        </p:nvSpPr>
        <p:spPr>
          <a:xfrm>
            <a:off x="868680" y="3626510"/>
            <a:ext cx="10454335" cy="261518"/>
          </a:xfrm>
          <a:prstGeom prst="rect">
            <a:avLst/>
          </a:prstGeom>
          <a:noFill/>
        </p:spPr>
        <p:txBody>
          <a:bodyPr wrap="square" anchor="t" lIns="0" rIns="0" tIns="0" bIns="0">
            <a:spAutoFit/>
          </a:bodyPr>
          <a:lstStyle/>
          <a:p>
            <a:pPr algn="l"/>
            <a:r>
              <a:rPr sz="1600" b="0">
                <a:solidFill>
                  <a:srgbClr val="C7C2EF"/>
                </a:solidFill>
                <a:latin typeface="ITC Avant Garde Gothic"/>
              </a:rPr>
              <a:t>Deben cubrir las condiciones en que el modelo se usará de verdad.</a:t>
            </a:r>
          </a:p>
        </p:txBody>
      </p:sp>
      <p:sp>
        <p:nvSpPr>
          <p:cNvPr id="10" name="Rounded Rectangle 9"/>
          <p:cNvSpPr/>
          <p:nvPr/>
        </p:nvSpPr>
        <p:spPr>
          <a:xfrm>
            <a:off x="640080" y="4162348"/>
            <a:ext cx="10911535" cy="100401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436668"/>
            <a:ext cx="10454335" cy="285292"/>
          </a:xfrm>
          <a:prstGeom prst="rect">
            <a:avLst/>
          </a:prstGeom>
          <a:noFill/>
        </p:spPr>
        <p:txBody>
          <a:bodyPr wrap="square" anchor="t" lIns="0" rIns="0" tIns="0" bIns="0">
            <a:spAutoFit/>
          </a:bodyPr>
          <a:lstStyle/>
          <a:p>
            <a:pPr algn="l"/>
            <a:r>
              <a:rPr sz="1900" b="1">
                <a:solidFill>
                  <a:srgbClr val="FF983D"/>
                </a:solidFill>
                <a:latin typeface="ITC Avant Garde Gothic"/>
              </a:rPr>
              <a:t>Mejor etiquetados</a:t>
            </a:r>
          </a:p>
        </p:txBody>
      </p:sp>
      <p:sp>
        <p:nvSpPr>
          <p:cNvPr id="12" name="TextBox 11"/>
          <p:cNvSpPr txBox="1"/>
          <p:nvPr/>
        </p:nvSpPr>
        <p:spPr>
          <a:xfrm>
            <a:off x="868680" y="4813401"/>
            <a:ext cx="10454335" cy="261518"/>
          </a:xfrm>
          <a:prstGeom prst="rect">
            <a:avLst/>
          </a:prstGeom>
          <a:noFill/>
        </p:spPr>
        <p:txBody>
          <a:bodyPr wrap="square" anchor="t" lIns="0" rIns="0" tIns="0" bIns="0">
            <a:spAutoFit/>
          </a:bodyPr>
          <a:lstStyle/>
          <a:p>
            <a:pPr algn="l"/>
            <a:r>
              <a:rPr sz="1600" b="0">
                <a:solidFill>
                  <a:srgbClr val="C7C2EF"/>
                </a:solidFill>
                <a:latin typeface="ITC Avant Garde Gothic"/>
              </a:rPr>
              <a:t>La calidad de las anotaciones fija el techo de lo que puede aprender.</a:t>
            </a:r>
          </a:p>
        </p:txBody>
      </p:sp>
      <p:sp>
        <p:nvSpPr>
          <p:cNvPr id="13" name="TextBox 12"/>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¿El modelo mejora solo con el uso?</a:t>
            </a:r>
          </a:p>
        </p:txBody>
      </p:sp>
      <p:sp>
        <p:nvSpPr>
          <p:cNvPr id="3" name="TextBox 2"/>
          <p:cNvSpPr txBox="1"/>
          <p:nvPr/>
        </p:nvSpPr>
        <p:spPr>
          <a:xfrm>
            <a:off x="640080" y="960120"/>
            <a:ext cx="10911535" cy="546227"/>
          </a:xfrm>
          <a:prstGeom prst="rect">
            <a:avLst/>
          </a:prstGeom>
          <a:noFill/>
        </p:spPr>
        <p:txBody>
          <a:bodyPr wrap="square" anchor="t" lIns="0" rIns="0" tIns="0" bIns="0">
            <a:spAutoFit/>
          </a:bodyPr>
          <a:lstStyle/>
          <a:p>
            <a:pPr algn="l"/>
            <a:r>
              <a:rPr sz="3700" b="1">
                <a:solidFill>
                  <a:srgbClr val="C7C2EF"/>
                </a:solidFill>
                <a:latin typeface="ITC Avant Garde Gothic"/>
              </a:rPr>
              <a:t>No</a:t>
            </a:r>
          </a:p>
        </p:txBody>
      </p:sp>
      <p:sp>
        <p:nvSpPr>
          <p:cNvPr id="4" name="Rounded Rectangle 3"/>
          <p:cNvSpPr/>
          <p:nvPr/>
        </p:nvSpPr>
        <p:spPr>
          <a:xfrm>
            <a:off x="640080" y="1872106"/>
            <a:ext cx="10911535" cy="119418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146426"/>
            <a:ext cx="10454335" cy="336803"/>
          </a:xfrm>
          <a:prstGeom prst="rect">
            <a:avLst/>
          </a:prstGeom>
          <a:noFill/>
        </p:spPr>
        <p:txBody>
          <a:bodyPr wrap="square" anchor="t" lIns="0" rIns="0" tIns="0" bIns="0">
            <a:spAutoFit/>
          </a:bodyPr>
          <a:lstStyle/>
          <a:p>
            <a:pPr algn="l"/>
            <a:r>
              <a:rPr sz="2200" b="1">
                <a:solidFill>
                  <a:srgbClr val="FF983D"/>
                </a:solidFill>
                <a:latin typeface="ITC Avant Garde Gothic"/>
              </a:rPr>
              <a:t>Un modelo desplegado</a:t>
            </a:r>
          </a:p>
        </p:txBody>
      </p:sp>
      <p:sp>
        <p:nvSpPr>
          <p:cNvPr id="6" name="TextBox 5"/>
          <p:cNvSpPr txBox="1"/>
          <p:nvPr/>
        </p:nvSpPr>
        <p:spPr>
          <a:xfrm>
            <a:off x="868680" y="2574670"/>
            <a:ext cx="10454335" cy="400176"/>
          </a:xfrm>
          <a:prstGeom prst="rect">
            <a:avLst/>
          </a:prstGeom>
          <a:noFill/>
        </p:spPr>
        <p:txBody>
          <a:bodyPr wrap="square" anchor="t" lIns="0" rIns="0" tIns="0" bIns="0">
            <a:spAutoFit/>
          </a:bodyPr>
          <a:lstStyle/>
          <a:p>
            <a:pPr algn="l"/>
            <a:r>
              <a:rPr sz="1900" b="0">
                <a:solidFill>
                  <a:srgbClr val="C7C2EF"/>
                </a:solidFill>
                <a:latin typeface="ITC Avant Garde Gothic"/>
              </a:rPr>
              <a:t>No aprende de las imágenes que analiza: sus pesos están fijos.</a:t>
            </a:r>
          </a:p>
        </p:txBody>
      </p:sp>
      <p:sp>
        <p:nvSpPr>
          <p:cNvPr id="7" name="TextBox 6"/>
          <p:cNvSpPr txBox="1"/>
          <p:nvPr/>
        </p:nvSpPr>
        <p:spPr>
          <a:xfrm>
            <a:off x="640080" y="3249168"/>
            <a:ext cx="10911535" cy="395097"/>
          </a:xfrm>
          <a:prstGeom prst="rect">
            <a:avLst/>
          </a:prstGeom>
          <a:noFill/>
        </p:spPr>
        <p:txBody>
          <a:bodyPr wrap="square" anchor="t" lIns="0" rIns="0" tIns="0" bIns="0">
            <a:spAutoFit/>
          </a:bodyPr>
          <a:lstStyle/>
          <a:p>
            <a:pPr algn="l"/>
            <a:r>
              <a:rPr sz="2600" b="1">
                <a:solidFill>
                  <a:srgbClr val="FF983D"/>
                </a:solidFill>
                <a:latin typeface="ITC Avant Garde Gothic"/>
              </a:rPr>
              <a:t>Para que mejore</a:t>
            </a:r>
          </a:p>
        </p:txBody>
      </p:sp>
      <p:sp>
        <p:nvSpPr>
          <p:cNvPr id="8" name="TextBox 7"/>
          <p:cNvSpPr txBox="1"/>
          <p:nvPr/>
        </p:nvSpPr>
        <p:spPr>
          <a:xfrm>
            <a:off x="640080" y="3827145"/>
            <a:ext cx="10911535" cy="1264310"/>
          </a:xfrm>
          <a:prstGeom prst="rect">
            <a:avLst/>
          </a:prstGeom>
          <a:noFill/>
        </p:spPr>
        <p:txBody>
          <a:bodyPr wrap="square" anchor="t" lIns="0" rIns="0" tIns="0" bIns="0">
            <a:spAutoFit/>
          </a:bodyPr>
          <a:lstStyle/>
          <a:p>
            <a:pPr algn="l"/>
            <a:r>
              <a:rPr sz="2000" b="0">
                <a:solidFill>
                  <a:srgbClr val="C7C2EF"/>
                </a:solidFill>
                <a:latin typeface="ITC Avant Garde Gothic"/>
              </a:rPr>
              <a:t>Reunir imágenes nuevas, anotarlas, reentrenar en Colab y cambiar el archivo del modelo en el servidor. Es deliberado, y los resultados de hoy y los de dentro de un mes son comparables mientras no se sustituya el archivo.</a:t>
            </a:r>
          </a:p>
        </p:txBody>
      </p:sp>
      <p:sp>
        <p:nvSpPr>
          <p:cNvPr id="9" name="TextBox 8"/>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Primera pregunta</a:t>
            </a:r>
          </a:p>
        </p:txBody>
      </p:sp>
      <p:sp>
        <p:nvSpPr>
          <p:cNvPr id="3" name="TextBox 2"/>
          <p:cNvSpPr txBox="1"/>
          <p:nvPr/>
        </p:nvSpPr>
        <p:spPr>
          <a:xfrm>
            <a:off x="640080" y="960120"/>
            <a:ext cx="10911535" cy="501243"/>
          </a:xfrm>
          <a:prstGeom prst="rect">
            <a:avLst/>
          </a:prstGeom>
          <a:noFill/>
        </p:spPr>
        <p:txBody>
          <a:bodyPr wrap="square" anchor="t" lIns="0" rIns="0" tIns="0" bIns="0">
            <a:spAutoFit/>
          </a:bodyPr>
          <a:lstStyle/>
          <a:p>
            <a:pPr algn="l"/>
            <a:r>
              <a:rPr sz="3400" b="1">
                <a:solidFill>
                  <a:srgbClr val="C7C2EF"/>
                </a:solidFill>
                <a:latin typeface="ITC Avant Garde Gothic"/>
              </a:rPr>
              <a:t>¿Qué tipo de error es?</a:t>
            </a:r>
          </a:p>
        </p:txBody>
      </p:sp>
      <p:sp>
        <p:nvSpPr>
          <p:cNvPr id="4" name="Rounded Rectangle 3"/>
          <p:cNvSpPr/>
          <p:nvPr/>
        </p:nvSpPr>
        <p:spPr>
          <a:xfrm>
            <a:off x="640080" y="1827123"/>
            <a:ext cx="10911535" cy="104957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101443"/>
            <a:ext cx="10454335" cy="309067"/>
          </a:xfrm>
          <a:prstGeom prst="rect">
            <a:avLst/>
          </a:prstGeom>
          <a:noFill/>
        </p:spPr>
        <p:txBody>
          <a:bodyPr wrap="square" anchor="t" lIns="0" rIns="0" tIns="0" bIns="0">
            <a:spAutoFit/>
          </a:bodyPr>
          <a:lstStyle/>
          <a:p>
            <a:pPr algn="l"/>
            <a:r>
              <a:rPr sz="2000" b="1">
                <a:solidFill>
                  <a:srgbClr val="FF983D"/>
                </a:solidFill>
                <a:latin typeface="ITC Avant Garde Gothic"/>
              </a:rPr>
              <a:t>Omisiones</a:t>
            </a:r>
          </a:p>
        </p:txBody>
      </p:sp>
      <p:sp>
        <p:nvSpPr>
          <p:cNvPr id="6" name="TextBox 5"/>
          <p:cNvSpPr txBox="1"/>
          <p:nvPr/>
        </p:nvSpPr>
        <p:spPr>
          <a:xfrm>
            <a:off x="868680" y="2501950"/>
            <a:ext cx="10454335" cy="283311"/>
          </a:xfrm>
          <a:prstGeom prst="rect">
            <a:avLst/>
          </a:prstGeom>
          <a:noFill/>
        </p:spPr>
        <p:txBody>
          <a:bodyPr wrap="square" anchor="t" lIns="0" rIns="0" tIns="0" bIns="0">
            <a:spAutoFit/>
          </a:bodyPr>
          <a:lstStyle/>
          <a:p>
            <a:pPr algn="l"/>
            <a:r>
              <a:rPr sz="1700" b="0">
                <a:solidFill>
                  <a:srgbClr val="C7C2EF"/>
                </a:solidFill>
                <a:latin typeface="ITC Avant Garde Gothic"/>
              </a:rPr>
              <a:t>Espermatozoides sin marcar.</a:t>
            </a:r>
          </a:p>
        </p:txBody>
      </p:sp>
      <p:sp>
        <p:nvSpPr>
          <p:cNvPr id="7" name="TextBox 6"/>
          <p:cNvSpPr txBox="1"/>
          <p:nvPr/>
        </p:nvSpPr>
        <p:spPr>
          <a:xfrm>
            <a:off x="640080" y="3059582"/>
            <a:ext cx="10911535" cy="362559"/>
          </a:xfrm>
          <a:prstGeom prst="rect">
            <a:avLst/>
          </a:prstGeom>
          <a:noFill/>
        </p:spPr>
        <p:txBody>
          <a:bodyPr wrap="square" anchor="t" lIns="0" rIns="0" tIns="0" bIns="0">
            <a:spAutoFit/>
          </a:bodyPr>
          <a:lstStyle/>
          <a:p>
            <a:pPr algn="l"/>
            <a:r>
              <a:rPr sz="2300" b="1">
                <a:solidFill>
                  <a:srgbClr val="FF983D"/>
                </a:solidFill>
                <a:latin typeface="ITC Avant Garde Gothic"/>
              </a:rPr>
              <a:t>Falsos positivos</a:t>
            </a:r>
          </a:p>
        </p:txBody>
      </p:sp>
      <p:sp>
        <p:nvSpPr>
          <p:cNvPr id="8" name="TextBox 7"/>
          <p:cNvSpPr txBox="1"/>
          <p:nvPr/>
        </p:nvSpPr>
        <p:spPr>
          <a:xfrm>
            <a:off x="640080" y="3605022"/>
            <a:ext cx="10911535" cy="290047"/>
          </a:xfrm>
          <a:prstGeom prst="rect">
            <a:avLst/>
          </a:prstGeom>
          <a:noFill/>
        </p:spPr>
        <p:txBody>
          <a:bodyPr wrap="square" anchor="t" lIns="0" rIns="0" tIns="0" bIns="0">
            <a:spAutoFit/>
          </a:bodyPr>
          <a:lstStyle/>
          <a:p>
            <a:pPr algn="l"/>
            <a:r>
              <a:rPr sz="1900" b="0">
                <a:solidFill>
                  <a:srgbClr val="C7C2EF"/>
                </a:solidFill>
                <a:latin typeface="ITC Avant Garde Gothic"/>
              </a:rPr>
              <a:t>Marcas sobre algo que no es un espermatozoide, como una mancha o un resto.</a:t>
            </a:r>
          </a:p>
        </p:txBody>
      </p:sp>
      <p:sp>
        <p:nvSpPr>
          <p:cNvPr id="9" name="Rounded Rectangle 8"/>
          <p:cNvSpPr/>
          <p:nvPr/>
        </p:nvSpPr>
        <p:spPr>
          <a:xfrm>
            <a:off x="640080" y="4123669"/>
            <a:ext cx="10911535" cy="104957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397989"/>
            <a:ext cx="10454335" cy="309067"/>
          </a:xfrm>
          <a:prstGeom prst="rect">
            <a:avLst/>
          </a:prstGeom>
          <a:noFill/>
        </p:spPr>
        <p:txBody>
          <a:bodyPr wrap="square" anchor="t" lIns="0" rIns="0" tIns="0" bIns="0">
            <a:spAutoFit/>
          </a:bodyPr>
          <a:lstStyle/>
          <a:p>
            <a:pPr algn="l"/>
            <a:r>
              <a:rPr sz="2000" b="1">
                <a:solidFill>
                  <a:srgbClr val="FF983D"/>
                </a:solidFill>
                <a:latin typeface="ITC Avant Garde Gothic"/>
              </a:rPr>
              <a:t>Errores de forma</a:t>
            </a:r>
          </a:p>
        </p:txBody>
      </p:sp>
      <p:sp>
        <p:nvSpPr>
          <p:cNvPr id="11" name="TextBox 10"/>
          <p:cNvSpPr txBox="1"/>
          <p:nvPr/>
        </p:nvSpPr>
        <p:spPr>
          <a:xfrm>
            <a:off x="868680" y="4798496"/>
            <a:ext cx="10454335" cy="283311"/>
          </a:xfrm>
          <a:prstGeom prst="rect">
            <a:avLst/>
          </a:prstGeom>
          <a:noFill/>
        </p:spPr>
        <p:txBody>
          <a:bodyPr wrap="square" anchor="t" lIns="0" rIns="0" tIns="0" bIns="0">
            <a:spAutoFit/>
          </a:bodyPr>
          <a:lstStyle/>
          <a:p>
            <a:pPr algn="l"/>
            <a:r>
              <a:rPr sz="1700" b="0">
                <a:solidFill>
                  <a:srgbClr val="C7C2EF"/>
                </a:solidFill>
                <a:latin typeface="ITC Avant Garde Gothic"/>
              </a:rPr>
              <a:t>Un contorno que une dos células en una o que parte una en dos.</a:t>
            </a:r>
          </a:p>
        </p:txBody>
      </p:sp>
      <p:sp>
        <p:nvSpPr>
          <p:cNvPr id="12" name="TextBox 11"/>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Tercera pregunta</a:t>
            </a:r>
          </a:p>
        </p:txBody>
      </p:sp>
      <p:sp>
        <p:nvSpPr>
          <p:cNvPr id="3" name="TextBox 2"/>
          <p:cNvSpPr txBox="1"/>
          <p:nvPr/>
        </p:nvSpPr>
        <p:spPr>
          <a:xfrm>
            <a:off x="640080" y="960120"/>
            <a:ext cx="10911535" cy="1002487"/>
          </a:xfrm>
          <a:prstGeom prst="rect">
            <a:avLst/>
          </a:prstGeom>
          <a:noFill/>
        </p:spPr>
        <p:txBody>
          <a:bodyPr wrap="square" anchor="t" lIns="0" rIns="0" tIns="0" bIns="0">
            <a:spAutoFit/>
          </a:bodyPr>
          <a:lstStyle/>
          <a:p>
            <a:pPr algn="l"/>
            <a:r>
              <a:rPr sz="3400" b="1">
                <a:solidFill>
                  <a:srgbClr val="C7C2EF"/>
                </a:solidFill>
                <a:latin typeface="ITC Avant Garde Gothic"/>
              </a:rPr>
              <a:t>¿El error se concentra en las zonas más aglomeradas?</a:t>
            </a:r>
          </a:p>
        </p:txBody>
      </p:sp>
      <p:sp>
        <p:nvSpPr>
          <p:cNvPr id="4" name="TextBox 3"/>
          <p:cNvSpPr txBox="1"/>
          <p:nvPr/>
        </p:nvSpPr>
        <p:spPr>
          <a:xfrm>
            <a:off x="640080" y="2328367"/>
            <a:ext cx="10911535" cy="362559"/>
          </a:xfrm>
          <a:prstGeom prst="rect">
            <a:avLst/>
          </a:prstGeom>
          <a:noFill/>
        </p:spPr>
        <p:txBody>
          <a:bodyPr wrap="square" anchor="t" lIns="0" rIns="0" tIns="0" bIns="0">
            <a:spAutoFit/>
          </a:bodyPr>
          <a:lstStyle/>
          <a:p>
            <a:pPr algn="l"/>
            <a:r>
              <a:rPr sz="2300" b="1">
                <a:solidFill>
                  <a:srgbClr val="FF983D"/>
                </a:solidFill>
                <a:latin typeface="ITC Avant Garde Gothic"/>
              </a:rPr>
              <a:t>Si es así</a:t>
            </a:r>
          </a:p>
        </p:txBody>
      </p:sp>
      <p:sp>
        <p:nvSpPr>
          <p:cNvPr id="5" name="TextBox 4"/>
          <p:cNvSpPr txBox="1"/>
          <p:nvPr/>
        </p:nvSpPr>
        <p:spPr>
          <a:xfrm>
            <a:off x="640080" y="2873806"/>
            <a:ext cx="10911535" cy="580095"/>
          </a:xfrm>
          <a:prstGeom prst="rect">
            <a:avLst/>
          </a:prstGeom>
          <a:noFill/>
        </p:spPr>
        <p:txBody>
          <a:bodyPr wrap="square" anchor="t" lIns="0" rIns="0" tIns="0" bIns="0">
            <a:spAutoFit/>
          </a:bodyPr>
          <a:lstStyle/>
          <a:p>
            <a:pPr algn="l"/>
            <a:r>
              <a:rPr sz="1900" b="0">
                <a:solidFill>
                  <a:srgbClr val="C7C2EF"/>
                </a:solidFill>
                <a:latin typeface="ITC Avant Garde Gothic"/>
              </a:rPr>
              <a:t>Es uno de los retos conocidos del modelo, y el contexto del sitio ya lo señalaba. No es un problema de esa imagen sino del modelo actual.</a:t>
            </a:r>
          </a:p>
        </p:txBody>
      </p:sp>
      <p:sp>
        <p:nvSpPr>
          <p:cNvPr id="6" name="TextBox 5"/>
          <p:cNvSpPr txBox="1"/>
          <p:nvPr/>
        </p:nvSpPr>
        <p:spPr>
          <a:xfrm>
            <a:off x="640080" y="3682502"/>
            <a:ext cx="10911535" cy="362559"/>
          </a:xfrm>
          <a:prstGeom prst="rect">
            <a:avLst/>
          </a:prstGeom>
          <a:noFill/>
        </p:spPr>
        <p:txBody>
          <a:bodyPr wrap="square" anchor="t" lIns="0" rIns="0" tIns="0" bIns="0">
            <a:spAutoFit/>
          </a:bodyPr>
          <a:lstStyle/>
          <a:p>
            <a:pPr algn="l"/>
            <a:r>
              <a:rPr sz="2300" b="1">
                <a:solidFill>
                  <a:srgbClr val="FF983D"/>
                </a:solidFill>
                <a:latin typeface="ITC Avant Garde Gothic"/>
              </a:rPr>
              <a:t>Qué hacer</a:t>
            </a:r>
          </a:p>
        </p:txBody>
      </p:sp>
      <p:sp>
        <p:nvSpPr>
          <p:cNvPr id="7" name="TextBox 6"/>
          <p:cNvSpPr txBox="1"/>
          <p:nvPr/>
        </p:nvSpPr>
        <p:spPr>
          <a:xfrm>
            <a:off x="640080" y="4227941"/>
            <a:ext cx="10911535" cy="580095"/>
          </a:xfrm>
          <a:prstGeom prst="rect">
            <a:avLst/>
          </a:prstGeom>
          <a:noFill/>
        </p:spPr>
        <p:txBody>
          <a:bodyPr wrap="square" anchor="t" lIns="0" rIns="0" tIns="0" bIns="0">
            <a:spAutoFit/>
          </a:bodyPr>
          <a:lstStyle/>
          <a:p>
            <a:pPr algn="l"/>
            <a:r>
              <a:rPr sz="1900" b="0">
                <a:solidFill>
                  <a:srgbClr val="C7C2EF"/>
                </a:solidFill>
                <a:latin typeface="ITC Avant Garde Gothic"/>
              </a:rPr>
              <a:t>Tomar nota y, si hace falta un conteo exacto, contar a mano la zona aglomerada con ayuda del zoom y usar el resultado del sitio como referencia.</a:t>
            </a:r>
          </a:p>
        </p:txBody>
      </p:sp>
      <p:sp>
        <p:nvSpPr>
          <p:cNvPr id="8" name="TextBox 7"/>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Lo más útil: guardar la imagen</a:t>
            </a:r>
          </a:p>
        </p:txBody>
      </p:sp>
      <p:sp>
        <p:nvSpPr>
          <p:cNvPr id="3" name="TextBox 2"/>
          <p:cNvSpPr txBox="1"/>
          <p:nvPr/>
        </p:nvSpPr>
        <p:spPr>
          <a:xfrm>
            <a:off x="640080" y="960120"/>
            <a:ext cx="10911535" cy="449833"/>
          </a:xfrm>
          <a:prstGeom prst="rect">
            <a:avLst/>
          </a:prstGeom>
          <a:noFill/>
        </p:spPr>
        <p:txBody>
          <a:bodyPr wrap="square" anchor="t" lIns="0" rIns="0" tIns="0" bIns="0">
            <a:spAutoFit/>
          </a:bodyPr>
          <a:lstStyle/>
          <a:p>
            <a:pPr algn="l"/>
            <a:r>
              <a:rPr sz="3100" b="1">
                <a:solidFill>
                  <a:srgbClr val="C7C2EF"/>
                </a:solidFill>
                <a:latin typeface="ITC Avant Garde Gothic"/>
              </a:rPr>
              <a:t>El ciclo de mejora</a:t>
            </a:r>
          </a:p>
        </p:txBody>
      </p:sp>
      <p:sp>
        <p:nvSpPr>
          <p:cNvPr id="4" name="TextBox 3"/>
          <p:cNvSpPr txBox="1"/>
          <p:nvPr/>
        </p:nvSpPr>
        <p:spPr>
          <a:xfrm>
            <a:off x="640080" y="1775714"/>
            <a:ext cx="10911535" cy="255650"/>
          </a:xfrm>
          <a:prstGeom prst="rect">
            <a:avLst/>
          </a:prstGeom>
          <a:noFill/>
        </p:spPr>
        <p:txBody>
          <a:bodyPr wrap="square" anchor="t" lIns="0" rIns="0" tIns="0" bIns="0">
            <a:spAutoFit/>
          </a:bodyPr>
          <a:lstStyle/>
          <a:p>
            <a:pPr algn="l"/>
            <a:r>
              <a:rPr sz="1600" b="1">
                <a:solidFill>
                  <a:srgbClr val="FF983D"/>
                </a:solidFill>
                <a:latin typeface="ITC Avant Garde Gothic"/>
              </a:rPr>
              <a:t>El sitio revela los errores</a:t>
            </a:r>
          </a:p>
        </p:txBody>
      </p:sp>
      <p:sp>
        <p:nvSpPr>
          <p:cNvPr id="5" name="Rounded Rectangle 4"/>
          <p:cNvSpPr/>
          <p:nvPr/>
        </p:nvSpPr>
        <p:spPr>
          <a:xfrm>
            <a:off x="640080" y="2214245"/>
            <a:ext cx="10911535" cy="87490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488565"/>
            <a:ext cx="10454335" cy="217932"/>
          </a:xfrm>
          <a:prstGeom prst="rect">
            <a:avLst/>
          </a:prstGeom>
          <a:noFill/>
        </p:spPr>
        <p:txBody>
          <a:bodyPr wrap="square" anchor="t" lIns="0" rIns="0" tIns="0" bIns="0">
            <a:spAutoFit/>
          </a:bodyPr>
          <a:lstStyle/>
          <a:p>
            <a:pPr algn="l"/>
            <a:r>
              <a:rPr sz="1400" b="1">
                <a:solidFill>
                  <a:srgbClr val="FF983D"/>
                </a:solidFill>
                <a:latin typeface="ITC Avant Garde Gothic"/>
              </a:rPr>
              <a:t>El grupo los anota</a:t>
            </a:r>
          </a:p>
        </p:txBody>
      </p:sp>
      <p:sp>
        <p:nvSpPr>
          <p:cNvPr id="7" name="TextBox 6"/>
          <p:cNvSpPr txBox="1"/>
          <p:nvPr/>
        </p:nvSpPr>
        <p:spPr>
          <a:xfrm>
            <a:off x="868680" y="2797937"/>
            <a:ext cx="10454335" cy="199771"/>
          </a:xfrm>
          <a:prstGeom prst="rect">
            <a:avLst/>
          </a:prstGeom>
          <a:noFill/>
        </p:spPr>
        <p:txBody>
          <a:bodyPr wrap="square" anchor="t" lIns="0" rIns="0" tIns="0" bIns="0">
            <a:spAutoFit/>
          </a:bodyPr>
          <a:lstStyle/>
          <a:p>
            <a:pPr algn="l"/>
            <a:r>
              <a:rPr sz="1200" b="0">
                <a:solidFill>
                  <a:srgbClr val="C7C2EF"/>
                </a:solidFill>
                <a:latin typeface="ITC Avant Garde Gothic"/>
              </a:rPr>
              <a:t>En CVAT, con cuidado.</a:t>
            </a:r>
          </a:p>
        </p:txBody>
      </p:sp>
      <p:sp>
        <p:nvSpPr>
          <p:cNvPr id="8" name="Rounded Rectangle 7"/>
          <p:cNvSpPr/>
          <p:nvPr/>
        </p:nvSpPr>
        <p:spPr>
          <a:xfrm>
            <a:off x="640080" y="3272028"/>
            <a:ext cx="10911535" cy="87490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546348"/>
            <a:ext cx="10454335" cy="217932"/>
          </a:xfrm>
          <a:prstGeom prst="rect">
            <a:avLst/>
          </a:prstGeom>
          <a:noFill/>
        </p:spPr>
        <p:txBody>
          <a:bodyPr wrap="square" anchor="t" lIns="0" rIns="0" tIns="0" bIns="0">
            <a:spAutoFit/>
          </a:bodyPr>
          <a:lstStyle/>
          <a:p>
            <a:pPr algn="l"/>
            <a:r>
              <a:rPr sz="1400" b="1">
                <a:solidFill>
                  <a:srgbClr val="FF983D"/>
                </a:solidFill>
                <a:latin typeface="ITC Avant Garde Gothic"/>
              </a:rPr>
              <a:t>El entrenamiento los corrige</a:t>
            </a:r>
          </a:p>
        </p:txBody>
      </p:sp>
      <p:sp>
        <p:nvSpPr>
          <p:cNvPr id="10" name="TextBox 9"/>
          <p:cNvSpPr txBox="1"/>
          <p:nvPr/>
        </p:nvSpPr>
        <p:spPr>
          <a:xfrm>
            <a:off x="868680" y="3855720"/>
            <a:ext cx="10454335" cy="199771"/>
          </a:xfrm>
          <a:prstGeom prst="rect">
            <a:avLst/>
          </a:prstGeom>
          <a:noFill/>
        </p:spPr>
        <p:txBody>
          <a:bodyPr wrap="square" anchor="t" lIns="0" rIns="0" tIns="0" bIns="0">
            <a:spAutoFit/>
          </a:bodyPr>
          <a:lstStyle/>
          <a:p>
            <a:pPr algn="l"/>
            <a:r>
              <a:rPr sz="1200" b="0">
                <a:solidFill>
                  <a:srgbClr val="C7C2EF"/>
                </a:solidFill>
                <a:latin typeface="ITC Avant Garde Gothic"/>
              </a:rPr>
              <a:t>Con el nuevo lote.</a:t>
            </a:r>
          </a:p>
        </p:txBody>
      </p:sp>
      <p:sp>
        <p:nvSpPr>
          <p:cNvPr id="11" name="Rounded Rectangle 10"/>
          <p:cNvSpPr/>
          <p:nvPr/>
        </p:nvSpPr>
        <p:spPr>
          <a:xfrm>
            <a:off x="640080" y="4329811"/>
            <a:ext cx="10911535" cy="87490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604131"/>
            <a:ext cx="10454335" cy="217932"/>
          </a:xfrm>
          <a:prstGeom prst="rect">
            <a:avLst/>
          </a:prstGeom>
          <a:noFill/>
        </p:spPr>
        <p:txBody>
          <a:bodyPr wrap="square" anchor="t" lIns="0" rIns="0" tIns="0" bIns="0">
            <a:spAutoFit/>
          </a:bodyPr>
          <a:lstStyle/>
          <a:p>
            <a:pPr algn="l"/>
            <a:r>
              <a:rPr sz="1400" b="1">
                <a:solidFill>
                  <a:srgbClr val="FF983D"/>
                </a:solidFill>
                <a:latin typeface="ITC Avant Garde Gothic"/>
              </a:rPr>
              <a:t>El sitio se actualiza</a:t>
            </a:r>
          </a:p>
        </p:txBody>
      </p:sp>
      <p:sp>
        <p:nvSpPr>
          <p:cNvPr id="13" name="TextBox 12"/>
          <p:cNvSpPr txBox="1"/>
          <p:nvPr/>
        </p:nvSpPr>
        <p:spPr>
          <a:xfrm>
            <a:off x="868680" y="4913503"/>
            <a:ext cx="10454335" cy="199771"/>
          </a:xfrm>
          <a:prstGeom prst="rect">
            <a:avLst/>
          </a:prstGeom>
          <a:noFill/>
        </p:spPr>
        <p:txBody>
          <a:bodyPr wrap="square" anchor="t" lIns="0" rIns="0" tIns="0" bIns="0">
            <a:spAutoFit/>
          </a:bodyPr>
          <a:lstStyle/>
          <a:p>
            <a:pPr algn="l"/>
            <a:r>
              <a:rPr sz="1200" b="0">
                <a:solidFill>
                  <a:srgbClr val="C7C2EF"/>
                </a:solidFill>
                <a:latin typeface="ITC Avant Garde Gothic"/>
              </a:rPr>
              <a:t>Con el modelo nuevo.</a:t>
            </a:r>
          </a:p>
        </p:txBody>
      </p:sp>
      <p:sp>
        <p:nvSpPr>
          <p:cNvPr id="14" name="TextBox 13"/>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Seis ideas que conviene matizar</a:t>
            </a:r>
          </a:p>
        </p:txBody>
      </p:sp>
      <p:sp>
        <p:nvSpPr>
          <p:cNvPr id="3" name="TextBox 2"/>
          <p:cNvSpPr txBox="1"/>
          <p:nvPr/>
        </p:nvSpPr>
        <p:spPr>
          <a:xfrm>
            <a:off x="640080" y="960120"/>
            <a:ext cx="10911535" cy="899667"/>
          </a:xfrm>
          <a:prstGeom prst="rect">
            <a:avLst/>
          </a:prstGeom>
          <a:noFill/>
        </p:spPr>
        <p:txBody>
          <a:bodyPr wrap="square" anchor="t" lIns="0" rIns="0" tIns="0" bIns="0">
            <a:spAutoFit/>
          </a:bodyPr>
          <a:lstStyle/>
          <a:p>
            <a:pPr algn="l"/>
            <a:r>
              <a:rPr sz="3100" b="1">
                <a:solidFill>
                  <a:srgbClr val="C7C2EF"/>
                </a:solidFill>
                <a:latin typeface="ITC Avant Garde Gothic"/>
              </a:rPr>
              <a:t>Circulan mucho cuando se habla de redes neuronales</a:t>
            </a:r>
          </a:p>
        </p:txBody>
      </p:sp>
      <p:sp>
        <p:nvSpPr>
          <p:cNvPr id="4" name="Rounded Rectangle 3"/>
          <p:cNvSpPr/>
          <p:nvPr/>
        </p:nvSpPr>
        <p:spPr>
          <a:xfrm>
            <a:off x="640080" y="2225548"/>
            <a:ext cx="10911535"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39014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536443"/>
            <a:ext cx="10454335" cy="199897"/>
          </a:xfrm>
          <a:prstGeom prst="rect">
            <a:avLst/>
          </a:prstGeom>
          <a:noFill/>
        </p:spPr>
        <p:txBody>
          <a:bodyPr wrap="square" anchor="t" lIns="0" rIns="0" tIns="0" bIns="0">
            <a:spAutoFit/>
          </a:bodyPr>
          <a:lstStyle/>
          <a:p>
            <a:pPr algn="l"/>
            <a:r>
              <a:rPr sz="1100" b="0">
                <a:solidFill>
                  <a:srgbClr val="C7C2EF"/>
                </a:solidFill>
                <a:latin typeface="ITC Avant Garde Gothic"/>
              </a:rPr>
              <a:t>1</a:t>
            </a:r>
          </a:p>
        </p:txBody>
      </p:sp>
      <p:sp>
        <p:nvSpPr>
          <p:cNvPr id="7" name="Rounded Rectangle 6"/>
          <p:cNvSpPr/>
          <p:nvPr/>
        </p:nvSpPr>
        <p:spPr>
          <a:xfrm>
            <a:off x="640080" y="2974086"/>
            <a:ext cx="10911535" cy="69977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248406"/>
            <a:ext cx="10454335" cy="198120"/>
          </a:xfrm>
          <a:prstGeom prst="rect">
            <a:avLst/>
          </a:prstGeom>
          <a:noFill/>
        </p:spPr>
        <p:txBody>
          <a:bodyPr wrap="square" anchor="t" lIns="0" rIns="0" tIns="0" bIns="0">
            <a:spAutoFit/>
          </a:bodyPr>
          <a:lstStyle/>
          <a:p>
            <a:pPr algn="l"/>
            <a:r>
              <a:rPr sz="1300" b="1">
                <a:solidFill>
                  <a:srgbClr val="FF983D"/>
                </a:solidFill>
                <a:latin typeface="ITC Avant Garde Gothic"/>
              </a:rPr>
              <a:t>La red entiende lo que ve</a:t>
            </a:r>
          </a:p>
        </p:txBody>
      </p:sp>
      <p:sp>
        <p:nvSpPr>
          <p:cNvPr id="9" name="TextBox 8"/>
          <p:cNvSpPr txBox="1"/>
          <p:nvPr/>
        </p:nvSpPr>
        <p:spPr>
          <a:xfrm>
            <a:off x="868680" y="3537966"/>
            <a:ext cx="10454335" cy="44449"/>
          </a:xfrm>
          <a:prstGeom prst="rect">
            <a:avLst/>
          </a:prstGeom>
          <a:noFill/>
        </p:spPr>
        <p:txBody>
          <a:bodyPr wrap="square" anchor="t" lIns="0" rIns="0" tIns="0" bIns="0">
            <a:spAutoFit/>
          </a:bodyPr>
          <a:lstStyle/>
          <a:p>
            <a:pPr algn="l"/>
            <a:r>
              <a:rPr sz="1100" b="0">
                <a:solidFill>
                  <a:srgbClr val="C7C2EF"/>
                </a:solidFill>
                <a:latin typeface="ITC Avant Garde Gothic"/>
              </a:rPr>
              <a:t>2</a:t>
            </a:r>
          </a:p>
        </p:txBody>
      </p:sp>
      <p:sp>
        <p:nvSpPr>
          <p:cNvPr id="10" name="Rounded Rectangle 9"/>
          <p:cNvSpPr/>
          <p:nvPr/>
        </p:nvSpPr>
        <p:spPr>
          <a:xfrm>
            <a:off x="640080" y="3856736"/>
            <a:ext cx="10911535" cy="69977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31056"/>
            <a:ext cx="10454335" cy="198120"/>
          </a:xfrm>
          <a:prstGeom prst="rect">
            <a:avLst/>
          </a:prstGeom>
          <a:noFill/>
        </p:spPr>
        <p:txBody>
          <a:bodyPr wrap="square" anchor="t" lIns="0" rIns="0" tIns="0" bIns="0">
            <a:spAutoFit/>
          </a:bodyPr>
          <a:lstStyle/>
          <a:p>
            <a:pPr algn="l"/>
            <a:r>
              <a:rPr sz="1300" b="1">
                <a:solidFill>
                  <a:srgbClr val="FF983D"/>
                </a:solidFill>
                <a:latin typeface="ITC Avant Garde Gothic"/>
              </a:rPr>
              <a:t>Una red más grande siempre es mejor</a:t>
            </a:r>
          </a:p>
        </p:txBody>
      </p:sp>
      <p:sp>
        <p:nvSpPr>
          <p:cNvPr id="12" name="TextBox 11"/>
          <p:cNvSpPr txBox="1"/>
          <p:nvPr/>
        </p:nvSpPr>
        <p:spPr>
          <a:xfrm>
            <a:off x="868680" y="4420616"/>
            <a:ext cx="10454335" cy="44449"/>
          </a:xfrm>
          <a:prstGeom prst="rect">
            <a:avLst/>
          </a:prstGeom>
          <a:noFill/>
        </p:spPr>
        <p:txBody>
          <a:bodyPr wrap="square" anchor="t" lIns="0" rIns="0" tIns="0" bIns="0">
            <a:spAutoFit/>
          </a:bodyPr>
          <a:lstStyle/>
          <a:p>
            <a:pPr algn="l"/>
            <a:r>
              <a:rPr sz="1100" b="0">
                <a:solidFill>
                  <a:srgbClr val="C7C2EF"/>
                </a:solidFill>
                <a:latin typeface="ITC Avant Garde Gothic"/>
              </a:rPr>
              <a:t>3</a:t>
            </a:r>
          </a:p>
        </p:txBody>
      </p:sp>
      <p:sp>
        <p:nvSpPr>
          <p:cNvPr id="13" name="Rounded Rectangle 12"/>
          <p:cNvSpPr/>
          <p:nvPr/>
        </p:nvSpPr>
        <p:spPr>
          <a:xfrm>
            <a:off x="640080" y="4739386"/>
            <a:ext cx="10911535" cy="69977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5013706"/>
            <a:ext cx="10454335" cy="198120"/>
          </a:xfrm>
          <a:prstGeom prst="rect">
            <a:avLst/>
          </a:prstGeom>
          <a:noFill/>
        </p:spPr>
        <p:txBody>
          <a:bodyPr wrap="square" anchor="t" lIns="0" rIns="0" tIns="0" bIns="0">
            <a:spAutoFit/>
          </a:bodyPr>
          <a:lstStyle/>
          <a:p>
            <a:pPr algn="l"/>
            <a:r>
              <a:rPr sz="1300" b="1">
                <a:solidFill>
                  <a:srgbClr val="FF983D"/>
                </a:solidFill>
                <a:latin typeface="ITC Avant Garde Gothic"/>
              </a:rPr>
              <a:t>El modelo es objetivo porque es una máquina</a:t>
            </a:r>
          </a:p>
        </p:txBody>
      </p:sp>
      <p:sp>
        <p:nvSpPr>
          <p:cNvPr id="15" name="TextBox 14"/>
          <p:cNvSpPr txBox="1"/>
          <p:nvPr/>
        </p:nvSpPr>
        <p:spPr>
          <a:xfrm>
            <a:off x="868680" y="5303266"/>
            <a:ext cx="10454335" cy="44449"/>
          </a:xfrm>
          <a:prstGeom prst="rect">
            <a:avLst/>
          </a:prstGeom>
          <a:noFill/>
        </p:spPr>
        <p:txBody>
          <a:bodyPr wrap="square" anchor="t" lIns="0" rIns="0" tIns="0" bIns="0">
            <a:spAutoFit/>
          </a:bodyPr>
          <a:lstStyle/>
          <a:p>
            <a:pPr algn="l"/>
            <a:r>
              <a:rPr sz="1100" b="0">
                <a:solidFill>
                  <a:srgbClr val="C7C2EF"/>
                </a:solidFill>
                <a:latin typeface="ITC Avant Garde Gothic"/>
              </a:rPr>
              <a:t>4</a:t>
            </a:r>
          </a:p>
        </p:txBody>
      </p:sp>
      <p:sp>
        <p:nvSpPr>
          <p:cNvPr id="16" name="Rounded Rectangle 15"/>
          <p:cNvSpPr/>
          <p:nvPr/>
        </p:nvSpPr>
        <p:spPr>
          <a:xfrm>
            <a:off x="640080" y="5622036"/>
            <a:ext cx="10911535" cy="69977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5896356"/>
            <a:ext cx="10454335" cy="198120"/>
          </a:xfrm>
          <a:prstGeom prst="rect">
            <a:avLst/>
          </a:prstGeom>
          <a:noFill/>
        </p:spPr>
        <p:txBody>
          <a:bodyPr wrap="square" anchor="t" lIns="0" rIns="0" tIns="0" bIns="0">
            <a:spAutoFit/>
          </a:bodyPr>
          <a:lstStyle/>
          <a:p>
            <a:pPr algn="l"/>
            <a:r>
              <a:rPr sz="1300" b="1">
                <a:solidFill>
                  <a:srgbClr val="FF983D"/>
                </a:solidFill>
                <a:latin typeface="ITC Avant Garde Gothic"/>
              </a:rPr>
              <a:t>Un buen resultado en un conjunto garantiza otro bueno</a:t>
            </a:r>
          </a:p>
        </p:txBody>
      </p:sp>
      <p:sp>
        <p:nvSpPr>
          <p:cNvPr id="18" name="TextBox 17"/>
          <p:cNvSpPr txBox="1"/>
          <p:nvPr/>
        </p:nvSpPr>
        <p:spPr>
          <a:xfrm>
            <a:off x="868680" y="6185916"/>
            <a:ext cx="10454335" cy="44449"/>
          </a:xfrm>
          <a:prstGeom prst="rect">
            <a:avLst/>
          </a:prstGeom>
          <a:noFill/>
        </p:spPr>
        <p:txBody>
          <a:bodyPr wrap="square" anchor="t" lIns="0" rIns="0" tIns="0" bIns="0">
            <a:spAutoFit/>
          </a:bodyPr>
          <a:lstStyle/>
          <a:p>
            <a:pPr algn="l"/>
            <a:r>
              <a:rPr sz="1100" b="0">
                <a:solidFill>
                  <a:srgbClr val="C7C2EF"/>
                </a:solidFill>
                <a:latin typeface="ITC Avant Garde Gothic"/>
              </a:rPr>
              <a:t>5</a:t>
            </a:r>
          </a:p>
        </p:txBody>
      </p:sp>
      <p:sp>
        <p:nvSpPr>
          <p:cNvPr id="19" name="Rounded Rectangle 18"/>
          <p:cNvSpPr/>
          <p:nvPr/>
        </p:nvSpPr>
        <p:spPr>
          <a:xfrm>
            <a:off x="640080" y="6504686"/>
            <a:ext cx="10911535" cy="69977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6779006"/>
            <a:ext cx="10454335" cy="198120"/>
          </a:xfrm>
          <a:prstGeom prst="rect">
            <a:avLst/>
          </a:prstGeom>
          <a:noFill/>
        </p:spPr>
        <p:txBody>
          <a:bodyPr wrap="square" anchor="t" lIns="0" rIns="0" tIns="0" bIns="0">
            <a:spAutoFit/>
          </a:bodyPr>
          <a:lstStyle/>
          <a:p>
            <a:pPr algn="l"/>
            <a:r>
              <a:rPr sz="1300" b="1">
                <a:solidFill>
                  <a:srgbClr val="FF983D"/>
                </a:solidFill>
                <a:latin typeface="ITC Avant Garde Gothic"/>
              </a:rPr>
              <a:t>Si se ve bien, es correcto</a:t>
            </a:r>
          </a:p>
        </p:txBody>
      </p:sp>
      <p:sp>
        <p:nvSpPr>
          <p:cNvPr id="21" name="TextBox 20"/>
          <p:cNvSpPr txBox="1"/>
          <p:nvPr/>
        </p:nvSpPr>
        <p:spPr>
          <a:xfrm>
            <a:off x="868680" y="7068566"/>
            <a:ext cx="10454335" cy="44449"/>
          </a:xfrm>
          <a:prstGeom prst="rect">
            <a:avLst/>
          </a:prstGeom>
          <a:noFill/>
        </p:spPr>
        <p:txBody>
          <a:bodyPr wrap="square" anchor="t" lIns="0" rIns="0" tIns="0" bIns="0">
            <a:spAutoFit/>
          </a:bodyPr>
          <a:lstStyle/>
          <a:p>
            <a:pPr algn="l"/>
            <a:r>
              <a:rPr sz="1100" b="0">
                <a:solidFill>
                  <a:srgbClr val="C7C2EF"/>
                </a:solidFill>
                <a:latin typeface="ITC Avant Garde Gothic"/>
              </a:rPr>
              <a:t>6</a:t>
            </a:r>
          </a:p>
        </p:txBody>
      </p:sp>
      <p:sp>
        <p:nvSpPr>
          <p:cNvPr id="22" name="TextBox 21"/>
          <p:cNvSpPr txBox="1"/>
          <p:nvPr/>
        </p:nvSpPr>
        <p:spPr>
          <a:xfrm>
            <a:off x="640080" y="7387336"/>
            <a:ext cx="10911535" cy="232410"/>
          </a:xfrm>
          <a:prstGeom prst="rect">
            <a:avLst/>
          </a:prstGeom>
          <a:noFill/>
        </p:spPr>
        <p:txBody>
          <a:bodyPr wrap="square" anchor="t" lIns="0" rIns="0" tIns="0" bIns="0">
            <a:spAutoFit/>
          </a:bodyPr>
          <a:lstStyle/>
          <a:p>
            <a:pPr algn="l"/>
            <a:r>
              <a:rPr sz="1500" b="1">
                <a:solidFill>
                  <a:srgbClr val="FF983D"/>
                </a:solidFill>
                <a:latin typeface="ITC Avant Garde Gothic"/>
              </a:rPr>
              <a:t>La meta es el cien por ciento de exactitud</a:t>
            </a:r>
          </a:p>
        </p:txBody>
      </p:sp>
      <p:sp>
        <p:nvSpPr>
          <p:cNvPr id="23" name="TextBox 22"/>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Ideas que conviene matizar</a:t>
            </a:r>
          </a:p>
        </p:txBody>
      </p:sp>
      <p:sp>
        <p:nvSpPr>
          <p:cNvPr id="3" name="TextBox 2"/>
          <p:cNvSpPr txBox="1"/>
          <p:nvPr/>
        </p:nvSpPr>
        <p:spPr>
          <a:xfrm>
            <a:off x="640080" y="960120"/>
            <a:ext cx="10911535" cy="462686"/>
          </a:xfrm>
          <a:prstGeom prst="rect">
            <a:avLst/>
          </a:prstGeom>
          <a:noFill/>
        </p:spPr>
        <p:txBody>
          <a:bodyPr wrap="square" anchor="t" lIns="0" rIns="0" tIns="0" bIns="0">
            <a:spAutoFit/>
          </a:bodyPr>
          <a:lstStyle/>
          <a:p>
            <a:pPr algn="l"/>
            <a:r>
              <a:rPr sz="3200" b="1">
                <a:solidFill>
                  <a:srgbClr val="C7C2EF"/>
                </a:solidFill>
                <a:latin typeface="ITC Avant Garde Gothic"/>
              </a:rPr>
              <a:t>Idea 2: Una red más grande siempre es mejor</a:t>
            </a:r>
          </a:p>
        </p:txBody>
      </p:sp>
      <p:sp>
        <p:nvSpPr>
          <p:cNvPr id="4" name="Rounded Rectangle 3"/>
          <p:cNvSpPr/>
          <p:nvPr/>
        </p:nvSpPr>
        <p:spPr>
          <a:xfrm>
            <a:off x="640080" y="1788566"/>
            <a:ext cx="10911535" cy="100401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062886"/>
            <a:ext cx="10454335" cy="285292"/>
          </a:xfrm>
          <a:prstGeom prst="rect">
            <a:avLst/>
          </a:prstGeom>
          <a:noFill/>
        </p:spPr>
        <p:txBody>
          <a:bodyPr wrap="square" anchor="t" lIns="0" rIns="0" tIns="0" bIns="0">
            <a:spAutoFit/>
          </a:bodyPr>
          <a:lstStyle/>
          <a:p>
            <a:pPr algn="l"/>
            <a:r>
              <a:rPr sz="1900" b="1">
                <a:solidFill>
                  <a:srgbClr val="FF983D"/>
                </a:solidFill>
                <a:latin typeface="ITC Avant Garde Gothic"/>
              </a:rPr>
              <a:t>Lo que circula</a:t>
            </a:r>
          </a:p>
        </p:txBody>
      </p:sp>
      <p:sp>
        <p:nvSpPr>
          <p:cNvPr id="6" name="TextBox 5"/>
          <p:cNvSpPr txBox="1"/>
          <p:nvPr/>
        </p:nvSpPr>
        <p:spPr>
          <a:xfrm>
            <a:off x="868680" y="2439619"/>
            <a:ext cx="10454335" cy="261518"/>
          </a:xfrm>
          <a:prstGeom prst="rect">
            <a:avLst/>
          </a:prstGeom>
          <a:noFill/>
        </p:spPr>
        <p:txBody>
          <a:bodyPr wrap="square" anchor="t" lIns="0" rIns="0" tIns="0" bIns="0">
            <a:spAutoFit/>
          </a:bodyPr>
          <a:lstStyle/>
          <a:p>
            <a:pPr algn="l"/>
            <a:r>
              <a:rPr sz="1600" b="0">
                <a:solidFill>
                  <a:srgbClr val="C7C2EF"/>
                </a:solidFill>
                <a:latin typeface="ITC Avant Garde Gothic"/>
              </a:rPr>
              <a:t>Una red más grande siempre es mejor.</a:t>
            </a:r>
          </a:p>
        </p:txBody>
      </p:sp>
      <p:sp>
        <p:nvSpPr>
          <p:cNvPr id="7" name="TextBox 6"/>
          <p:cNvSpPr txBox="1"/>
          <p:nvPr/>
        </p:nvSpPr>
        <p:spPr>
          <a:xfrm>
            <a:off x="640080" y="2975457"/>
            <a:ext cx="10911535" cy="334670"/>
          </a:xfrm>
          <a:prstGeom prst="rect">
            <a:avLst/>
          </a:prstGeom>
          <a:noFill/>
        </p:spPr>
        <p:txBody>
          <a:bodyPr wrap="square" anchor="t" lIns="0" rIns="0" tIns="0" bIns="0">
            <a:spAutoFit/>
          </a:bodyPr>
          <a:lstStyle/>
          <a:p>
            <a:pPr algn="l"/>
            <a:r>
              <a:rPr sz="2200" b="1">
                <a:solidFill>
                  <a:srgbClr val="FF983D"/>
                </a:solidFill>
                <a:latin typeface="ITC Avant Garde Gothic"/>
              </a:rPr>
              <a:t>El matiz</a:t>
            </a:r>
          </a:p>
        </p:txBody>
      </p:sp>
      <p:sp>
        <p:nvSpPr>
          <p:cNvPr id="8" name="TextBox 7"/>
          <p:cNvSpPr txBox="1"/>
          <p:nvPr/>
        </p:nvSpPr>
        <p:spPr>
          <a:xfrm>
            <a:off x="640080" y="3493008"/>
            <a:ext cx="10911535" cy="1070945"/>
          </a:xfrm>
          <a:prstGeom prst="rect">
            <a:avLst/>
          </a:prstGeom>
          <a:noFill/>
        </p:spPr>
        <p:txBody>
          <a:bodyPr wrap="square" anchor="t" lIns="0" rIns="0" tIns="0" bIns="0">
            <a:spAutoFit/>
          </a:bodyPr>
          <a:lstStyle/>
          <a:p>
            <a:pPr algn="l"/>
            <a:r>
              <a:rPr sz="1700" b="0">
                <a:solidFill>
                  <a:srgbClr val="C7C2EF"/>
                </a:solidFill>
                <a:latin typeface="ITC Avant Garde Gothic"/>
              </a:rPr>
              <a:t>No. Más capas y más pesos dan más capacidad, pero también más facilidad para memorizar, y exigen más datos. Con pocas imágenes, una red enorme no supera necesariamente a una modesta. Y aquí el servidor trabaja solo con procesador: una red demasiado pesada haría que cada análisis tardara de más.</a:t>
            </a:r>
          </a:p>
        </p:txBody>
      </p:sp>
      <p:sp>
        <p:nvSpPr>
          <p:cNvPr id="9" name="TextBox 8"/>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Ideas que conviene matizar</a:t>
            </a:r>
          </a:p>
        </p:txBody>
      </p:sp>
      <p:sp>
        <p:nvSpPr>
          <p:cNvPr id="3" name="TextBox 2"/>
          <p:cNvSpPr txBox="1"/>
          <p:nvPr/>
        </p:nvSpPr>
        <p:spPr>
          <a:xfrm>
            <a:off x="640080" y="960120"/>
            <a:ext cx="10911535" cy="820216"/>
          </a:xfrm>
          <a:prstGeom prst="rect">
            <a:avLst/>
          </a:prstGeom>
          <a:noFill/>
        </p:spPr>
        <p:txBody>
          <a:bodyPr wrap="square" anchor="t" lIns="0" rIns="0" tIns="0" bIns="0">
            <a:spAutoFit/>
          </a:bodyPr>
          <a:lstStyle/>
          <a:p>
            <a:pPr algn="l"/>
            <a:r>
              <a:rPr sz="2800" b="1">
                <a:solidFill>
                  <a:srgbClr val="C7C2EF"/>
                </a:solidFill>
                <a:latin typeface="ITC Avant Garde Gothic"/>
              </a:rPr>
              <a:t>Idea 4: Un buen resultado en un conjunto de imágenes garantiza uno bueno en otro</a:t>
            </a:r>
          </a:p>
        </p:txBody>
      </p:sp>
      <p:sp>
        <p:nvSpPr>
          <p:cNvPr id="4" name="TextBox 3"/>
          <p:cNvSpPr txBox="1"/>
          <p:nvPr/>
        </p:nvSpPr>
        <p:spPr>
          <a:xfrm>
            <a:off x="640080" y="2146096"/>
            <a:ext cx="10911535" cy="362559"/>
          </a:xfrm>
          <a:prstGeom prst="rect">
            <a:avLst/>
          </a:prstGeom>
          <a:noFill/>
        </p:spPr>
        <p:txBody>
          <a:bodyPr wrap="square" anchor="t" lIns="0" rIns="0" tIns="0" bIns="0">
            <a:spAutoFit/>
          </a:bodyPr>
          <a:lstStyle/>
          <a:p>
            <a:pPr algn="l"/>
            <a:r>
              <a:rPr sz="2300" b="1">
                <a:solidFill>
                  <a:srgbClr val="FF983D"/>
                </a:solidFill>
                <a:latin typeface="ITC Avant Garde Gothic"/>
              </a:rPr>
              <a:t>Lo que circula</a:t>
            </a:r>
          </a:p>
        </p:txBody>
      </p:sp>
      <p:sp>
        <p:nvSpPr>
          <p:cNvPr id="5" name="TextBox 4"/>
          <p:cNvSpPr txBox="1"/>
          <p:nvPr/>
        </p:nvSpPr>
        <p:spPr>
          <a:xfrm>
            <a:off x="640080" y="2691536"/>
            <a:ext cx="10911535" cy="290047"/>
          </a:xfrm>
          <a:prstGeom prst="rect">
            <a:avLst/>
          </a:prstGeom>
          <a:noFill/>
        </p:spPr>
        <p:txBody>
          <a:bodyPr wrap="square" anchor="t" lIns="0" rIns="0" tIns="0" bIns="0">
            <a:spAutoFit/>
          </a:bodyPr>
          <a:lstStyle/>
          <a:p>
            <a:pPr algn="l"/>
            <a:r>
              <a:rPr sz="1900" b="0">
                <a:solidFill>
                  <a:srgbClr val="C7C2EF"/>
                </a:solidFill>
                <a:latin typeface="ITC Avant Garde Gothic"/>
              </a:rPr>
              <a:t>Un buen resultado en un conjunto de imágenes garantiza uno bueno en otro.</a:t>
            </a:r>
          </a:p>
        </p:txBody>
      </p:sp>
      <p:sp>
        <p:nvSpPr>
          <p:cNvPr id="6" name="TextBox 5"/>
          <p:cNvSpPr txBox="1"/>
          <p:nvPr/>
        </p:nvSpPr>
        <p:spPr>
          <a:xfrm>
            <a:off x="640080" y="3210184"/>
            <a:ext cx="10911535" cy="362559"/>
          </a:xfrm>
          <a:prstGeom prst="rect">
            <a:avLst/>
          </a:prstGeom>
          <a:noFill/>
        </p:spPr>
        <p:txBody>
          <a:bodyPr wrap="square" anchor="t" lIns="0" rIns="0" tIns="0" bIns="0">
            <a:spAutoFit/>
          </a:bodyPr>
          <a:lstStyle/>
          <a:p>
            <a:pPr algn="l"/>
            <a:r>
              <a:rPr sz="2300" b="1">
                <a:solidFill>
                  <a:srgbClr val="FF983D"/>
                </a:solidFill>
                <a:latin typeface="ITC Avant Garde Gothic"/>
              </a:rPr>
              <a:t>El matiz</a:t>
            </a:r>
          </a:p>
        </p:txBody>
      </p:sp>
      <p:sp>
        <p:nvSpPr>
          <p:cNvPr id="7" name="TextBox 6"/>
          <p:cNvSpPr txBox="1"/>
          <p:nvPr/>
        </p:nvSpPr>
        <p:spPr>
          <a:xfrm>
            <a:off x="640080" y="3755623"/>
            <a:ext cx="10911535" cy="1160190"/>
          </a:xfrm>
          <a:prstGeom prst="rect">
            <a:avLst/>
          </a:prstGeom>
          <a:noFill/>
        </p:spPr>
        <p:txBody>
          <a:bodyPr wrap="square" anchor="t" lIns="0" rIns="0" tIns="0" bIns="0">
            <a:spAutoFit/>
          </a:bodyPr>
          <a:lstStyle/>
          <a:p>
            <a:pPr algn="l"/>
            <a:r>
              <a:rPr sz="1900" b="0">
                <a:solidFill>
                  <a:srgbClr val="C7C2EF"/>
                </a:solidFill>
                <a:latin typeface="ITC Avant Garde Gothic"/>
              </a:rPr>
              <a:t>Lo que el modelo logra con las imágenes de validación, que son del mismo origen que las de entrenamiento, es una estimación optimista de lo que logrará con imágenes realmente nuevas. Hay que probar con imágenes de las nuevas condiciones y comparar con un conteo manual.</a:t>
            </a:r>
          </a:p>
        </p:txBody>
      </p:sp>
      <p:sp>
        <p:nvSpPr>
          <p:cNvPr id="8" name="TextBox 7"/>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Ideas que conviene matizar</a:t>
            </a:r>
          </a:p>
        </p:txBody>
      </p:sp>
      <p:sp>
        <p:nvSpPr>
          <p:cNvPr id="3" name="TextBox 2"/>
          <p:cNvSpPr txBox="1"/>
          <p:nvPr/>
        </p:nvSpPr>
        <p:spPr>
          <a:xfrm>
            <a:off x="640080" y="960120"/>
            <a:ext cx="10911535" cy="925372"/>
          </a:xfrm>
          <a:prstGeom prst="rect">
            <a:avLst/>
          </a:prstGeom>
          <a:noFill/>
        </p:spPr>
        <p:txBody>
          <a:bodyPr wrap="square" anchor="t" lIns="0" rIns="0" tIns="0" bIns="0">
            <a:spAutoFit/>
          </a:bodyPr>
          <a:lstStyle/>
          <a:p>
            <a:pPr algn="l"/>
            <a:r>
              <a:rPr sz="3200" b="1">
                <a:solidFill>
                  <a:srgbClr val="C7C2EF"/>
                </a:solidFill>
                <a:latin typeface="ITC Avant Garde Gothic"/>
              </a:rPr>
              <a:t>Idea 6: La meta es el cien por ciento de exactitud</a:t>
            </a:r>
          </a:p>
        </p:txBody>
      </p:sp>
      <p:sp>
        <p:nvSpPr>
          <p:cNvPr id="4" name="Rounded Rectangle 3"/>
          <p:cNvSpPr/>
          <p:nvPr/>
        </p:nvSpPr>
        <p:spPr>
          <a:xfrm>
            <a:off x="640080" y="2251252"/>
            <a:ext cx="10911535" cy="1004011"/>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525572"/>
            <a:ext cx="10454335" cy="285292"/>
          </a:xfrm>
          <a:prstGeom prst="rect">
            <a:avLst/>
          </a:prstGeom>
          <a:noFill/>
        </p:spPr>
        <p:txBody>
          <a:bodyPr wrap="square" anchor="t" lIns="0" rIns="0" tIns="0" bIns="0">
            <a:spAutoFit/>
          </a:bodyPr>
          <a:lstStyle/>
          <a:p>
            <a:pPr algn="l"/>
            <a:r>
              <a:rPr sz="1900" b="1">
                <a:solidFill>
                  <a:srgbClr val="FF983D"/>
                </a:solidFill>
                <a:latin typeface="ITC Avant Garde Gothic"/>
              </a:rPr>
              <a:t>Lo que circula</a:t>
            </a:r>
          </a:p>
        </p:txBody>
      </p:sp>
      <p:sp>
        <p:nvSpPr>
          <p:cNvPr id="6" name="TextBox 5"/>
          <p:cNvSpPr txBox="1"/>
          <p:nvPr/>
        </p:nvSpPr>
        <p:spPr>
          <a:xfrm>
            <a:off x="868680" y="2902305"/>
            <a:ext cx="10454335" cy="261518"/>
          </a:xfrm>
          <a:prstGeom prst="rect">
            <a:avLst/>
          </a:prstGeom>
          <a:noFill/>
        </p:spPr>
        <p:txBody>
          <a:bodyPr wrap="square" anchor="t" lIns="0" rIns="0" tIns="0" bIns="0">
            <a:spAutoFit/>
          </a:bodyPr>
          <a:lstStyle/>
          <a:p>
            <a:pPr algn="l"/>
            <a:r>
              <a:rPr sz="1600" b="0">
                <a:solidFill>
                  <a:srgbClr val="C7C2EF"/>
                </a:solidFill>
                <a:latin typeface="ITC Avant Garde Gothic"/>
              </a:rPr>
              <a:t>La meta es el cien por ciento de exactitud.</a:t>
            </a:r>
          </a:p>
        </p:txBody>
      </p:sp>
      <p:sp>
        <p:nvSpPr>
          <p:cNvPr id="7" name="TextBox 6"/>
          <p:cNvSpPr txBox="1"/>
          <p:nvPr/>
        </p:nvSpPr>
        <p:spPr>
          <a:xfrm>
            <a:off x="640080" y="3438144"/>
            <a:ext cx="10911535" cy="334670"/>
          </a:xfrm>
          <a:prstGeom prst="rect">
            <a:avLst/>
          </a:prstGeom>
          <a:noFill/>
        </p:spPr>
        <p:txBody>
          <a:bodyPr wrap="square" anchor="t" lIns="0" rIns="0" tIns="0" bIns="0">
            <a:spAutoFit/>
          </a:bodyPr>
          <a:lstStyle/>
          <a:p>
            <a:pPr algn="l"/>
            <a:r>
              <a:rPr sz="2200" b="1">
                <a:solidFill>
                  <a:srgbClr val="FF983D"/>
                </a:solidFill>
                <a:latin typeface="ITC Avant Garde Gothic"/>
              </a:rPr>
              <a:t>El matiz</a:t>
            </a:r>
          </a:p>
        </p:txBody>
      </p:sp>
      <p:sp>
        <p:nvSpPr>
          <p:cNvPr id="8" name="TextBox 7"/>
          <p:cNvSpPr txBox="1"/>
          <p:nvPr/>
        </p:nvSpPr>
        <p:spPr>
          <a:xfrm>
            <a:off x="640080" y="3955694"/>
            <a:ext cx="10911535" cy="1070945"/>
          </a:xfrm>
          <a:prstGeom prst="rect">
            <a:avLst/>
          </a:prstGeom>
          <a:noFill/>
        </p:spPr>
        <p:txBody>
          <a:bodyPr wrap="square" anchor="t" lIns="0" rIns="0" tIns="0" bIns="0">
            <a:spAutoFit/>
          </a:bodyPr>
          <a:lstStyle/>
          <a:p>
            <a:pPr algn="l"/>
            <a:r>
              <a:rPr sz="1700" b="0">
                <a:solidFill>
                  <a:srgbClr val="C7C2EF"/>
                </a:solidFill>
                <a:latin typeface="ITC Avant Garde Gothic"/>
              </a:rPr>
              <a:t>Rara vez se alcanza, y no hace falta. Hace falta conocer el error: si en promedio el modelo encuentra 85 de cada 100 células en las zonas más amontonadas, se pueden interpretar los conteos con criterio. Un error conocido se maneja; uno desconocido es un riesgo.</a:t>
            </a:r>
          </a:p>
        </p:txBody>
      </p:sp>
      <p:sp>
        <p:nvSpPr>
          <p:cNvPr id="9" name="TextBox 8"/>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Lo que tienen en común las seis ideas</a:t>
            </a:r>
          </a:p>
        </p:txBody>
      </p:sp>
      <p:sp>
        <p:nvSpPr>
          <p:cNvPr id="3" name="TextBox 2"/>
          <p:cNvSpPr txBox="1"/>
          <p:nvPr/>
        </p:nvSpPr>
        <p:spPr>
          <a:xfrm>
            <a:off x="640080" y="960120"/>
            <a:ext cx="10911535" cy="1051560"/>
          </a:xfrm>
          <a:prstGeom prst="rect">
            <a:avLst/>
          </a:prstGeom>
          <a:noFill/>
        </p:spPr>
        <p:txBody>
          <a:bodyPr wrap="square" anchor="t" lIns="0" rIns="0" tIns="0" bIns="0">
            <a:spAutoFit/>
          </a:bodyPr>
          <a:lstStyle/>
          <a:p>
            <a:pPr algn="l"/>
            <a:r>
              <a:rPr sz="3600" b="1">
                <a:solidFill>
                  <a:srgbClr val="C7C2EF"/>
                </a:solidFill>
                <a:latin typeface="ITC Avant Garde Gothic"/>
              </a:rPr>
              <a:t>El valor de una red depende de cómo se entrena, se evalúa y se interpreta</a:t>
            </a:r>
          </a:p>
        </p:txBody>
      </p:sp>
      <p:sp>
        <p:nvSpPr>
          <p:cNvPr id="4" name="Rounded Rectangle 3"/>
          <p:cNvSpPr/>
          <p:nvPr/>
        </p:nvSpPr>
        <p:spPr>
          <a:xfrm>
            <a:off x="640080" y="2377439"/>
            <a:ext cx="10911535" cy="820420"/>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54203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88335"/>
            <a:ext cx="10454335" cy="454660"/>
          </a:xfrm>
          <a:prstGeom prst="rect">
            <a:avLst/>
          </a:prstGeom>
          <a:noFill/>
        </p:spPr>
        <p:txBody>
          <a:bodyPr wrap="square" anchor="t" lIns="0" rIns="0" tIns="0" bIns="0">
            <a:spAutoFit/>
          </a:bodyPr>
          <a:lstStyle/>
          <a:p>
            <a:pPr algn="l"/>
            <a:r>
              <a:rPr sz="2200" b="0">
                <a:solidFill>
                  <a:srgbClr val="C7C2EF"/>
                </a:solidFill>
                <a:latin typeface="ITC Avant Garde Gothic"/>
              </a:rPr>
              <a:t>Es una herramienta de medición: hay que conocer su error.</a:t>
            </a:r>
          </a:p>
        </p:txBody>
      </p:sp>
      <p:sp>
        <p:nvSpPr>
          <p:cNvPr id="7" name="TextBox 6"/>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Preguntas frecuentes sobre redes neuronales</a:t>
            </a:r>
          </a:p>
        </p:txBody>
      </p:sp>
      <p:sp>
        <p:nvSpPr>
          <p:cNvPr id="3" name="TextBox 2"/>
          <p:cNvSpPr txBox="1"/>
          <p:nvPr/>
        </p:nvSpPr>
        <p:spPr>
          <a:xfrm>
            <a:off x="640080" y="960120"/>
            <a:ext cx="10911535" cy="382358"/>
          </a:xfrm>
          <a:prstGeom prst="rect">
            <a:avLst/>
          </a:prstGeom>
          <a:noFill/>
        </p:spPr>
        <p:txBody>
          <a:bodyPr wrap="square" anchor="t" lIns="0" rIns="0" tIns="0" bIns="0">
            <a:spAutoFit/>
          </a:bodyPr>
          <a:lstStyle/>
          <a:p>
            <a:pPr algn="l"/>
            <a:r>
              <a:rPr sz="2600" b="1">
                <a:solidFill>
                  <a:srgbClr val="C7C2EF"/>
                </a:solidFill>
                <a:latin typeface="ITC Avant Garde Gothic"/>
              </a:rPr>
              <a:t>Dónde se entrena y para qué sirve la tarjeta gráfica</a:t>
            </a:r>
          </a:p>
        </p:txBody>
      </p:sp>
      <p:sp>
        <p:nvSpPr>
          <p:cNvPr id="4" name="Rounded Rectangle 3"/>
          <p:cNvSpPr/>
          <p:nvPr/>
        </p:nvSpPr>
        <p:spPr>
          <a:xfrm>
            <a:off x="640080" y="1708238"/>
            <a:ext cx="3454298" cy="74726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87283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19134"/>
            <a:ext cx="2997098" cy="381508"/>
          </a:xfrm>
          <a:prstGeom prst="rect">
            <a:avLst/>
          </a:prstGeom>
          <a:noFill/>
        </p:spPr>
        <p:txBody>
          <a:bodyPr wrap="square" anchor="t" lIns="0" rIns="0" tIns="0" bIns="0">
            <a:spAutoFit/>
          </a:bodyPr>
          <a:lstStyle/>
          <a:p>
            <a:pPr algn="l"/>
            <a:r>
              <a:rPr sz="1100" b="0">
                <a:solidFill>
                  <a:srgbClr val="C7C2EF"/>
                </a:solidFill>
                <a:latin typeface="ITC Avant Garde Gothic"/>
              </a:rPr>
              <a:t>Pregunta</a:t>
            </a:r>
          </a:p>
        </p:txBody>
      </p:sp>
      <p:sp>
        <p:nvSpPr>
          <p:cNvPr id="7" name="Rounded Rectangle 6"/>
          <p:cNvSpPr/>
          <p:nvPr/>
        </p:nvSpPr>
        <p:spPr>
          <a:xfrm>
            <a:off x="4368698" y="1708238"/>
            <a:ext cx="3454298" cy="74726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97298" y="187283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7298" y="2019134"/>
            <a:ext cx="2997098" cy="381508"/>
          </a:xfrm>
          <a:prstGeom prst="rect">
            <a:avLst/>
          </a:prstGeom>
          <a:noFill/>
        </p:spPr>
        <p:txBody>
          <a:bodyPr wrap="square" anchor="t" lIns="0" rIns="0" tIns="0" bIns="0">
            <a:spAutoFit/>
          </a:bodyPr>
          <a:lstStyle/>
          <a:p>
            <a:pPr algn="l"/>
            <a:r>
              <a:rPr sz="1100" b="0">
                <a:solidFill>
                  <a:srgbClr val="C7C2EF"/>
                </a:solidFill>
                <a:latin typeface="ITC Avant Garde Gothic"/>
              </a:rPr>
              <a:t>Respuesta</a:t>
            </a:r>
          </a:p>
        </p:txBody>
      </p:sp>
      <p:sp>
        <p:nvSpPr>
          <p:cNvPr id="10" name="Rounded Rectangle 9"/>
          <p:cNvSpPr/>
          <p:nvPr/>
        </p:nvSpPr>
        <p:spPr>
          <a:xfrm>
            <a:off x="8097316" y="1708238"/>
            <a:ext cx="3454298" cy="74726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25916" y="187283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5916" y="2019134"/>
            <a:ext cx="2997098" cy="381508"/>
          </a:xfrm>
          <a:prstGeom prst="rect">
            <a:avLst/>
          </a:prstGeom>
          <a:noFill/>
        </p:spPr>
        <p:txBody>
          <a:bodyPr wrap="square" anchor="t" lIns="0" rIns="0" tIns="0" bIns="0">
            <a:spAutoFit/>
          </a:bodyPr>
          <a:lstStyle/>
          <a:p>
            <a:pPr algn="l"/>
            <a:r>
              <a:rPr sz="1100" b="0">
                <a:solidFill>
                  <a:srgbClr val="C7C2EF"/>
                </a:solidFill>
                <a:latin typeface="ITC Avant Garde Gothic"/>
              </a:rPr>
              <a:t>¿Por qué se entrena en Colab y no en el servidor?</a:t>
            </a:r>
          </a:p>
        </p:txBody>
      </p:sp>
      <p:sp>
        <p:nvSpPr>
          <p:cNvPr id="13" name="TextBox 12"/>
          <p:cNvSpPr txBox="1"/>
          <p:nvPr/>
        </p:nvSpPr>
        <p:spPr>
          <a:xfrm>
            <a:off x="640080" y="2638386"/>
            <a:ext cx="10911535" cy="371856"/>
          </a:xfrm>
          <a:prstGeom prst="rect">
            <a:avLst/>
          </a:prstGeom>
          <a:noFill/>
        </p:spPr>
        <p:txBody>
          <a:bodyPr wrap="square" anchor="t" lIns="0" rIns="0" tIns="0" bIns="0">
            <a:spAutoFit/>
          </a:bodyPr>
          <a:lstStyle/>
          <a:p>
            <a:pPr algn="l"/>
            <a:r>
              <a:rPr sz="1200" b="0">
                <a:solidFill>
                  <a:srgbClr val="C7C2EF"/>
                </a:solidFill>
                <a:latin typeface="ITC Avant Garde Gothic"/>
              </a:rPr>
              <a:t>Entrenar exige una tarjeta gráfica potente. Usar la red ya entrenada basta con un procesador común: por eso el servidor solo hace inferencia.</a:t>
            </a:r>
          </a:p>
        </p:txBody>
      </p:sp>
      <p:sp>
        <p:nvSpPr>
          <p:cNvPr id="14" name="Rounded Rectangle 13"/>
          <p:cNvSpPr/>
          <p:nvPr/>
        </p:nvSpPr>
        <p:spPr>
          <a:xfrm>
            <a:off x="640080" y="3238842"/>
            <a:ext cx="10911535"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340343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549738"/>
            <a:ext cx="10454335" cy="199897"/>
          </a:xfrm>
          <a:prstGeom prst="rect">
            <a:avLst/>
          </a:prstGeom>
          <a:noFill/>
        </p:spPr>
        <p:txBody>
          <a:bodyPr wrap="square" anchor="t" lIns="0" rIns="0" tIns="0" bIns="0">
            <a:spAutoFit/>
          </a:bodyPr>
          <a:lstStyle/>
          <a:p>
            <a:pPr algn="l"/>
            <a:r>
              <a:rPr sz="1100" b="0">
                <a:solidFill>
                  <a:srgbClr val="C7C2EF"/>
                </a:solidFill>
                <a:latin typeface="ITC Avant Garde Gothic"/>
              </a:rPr>
              <a:t>¿Qué es una tarjeta gráfica y por qué ayuda?</a:t>
            </a:r>
          </a:p>
        </p:txBody>
      </p:sp>
      <p:sp>
        <p:nvSpPr>
          <p:cNvPr id="17" name="TextBox 16"/>
          <p:cNvSpPr txBox="1"/>
          <p:nvPr/>
        </p:nvSpPr>
        <p:spPr>
          <a:xfrm>
            <a:off x="640080" y="3987380"/>
            <a:ext cx="10911535" cy="371856"/>
          </a:xfrm>
          <a:prstGeom prst="rect">
            <a:avLst/>
          </a:prstGeom>
          <a:noFill/>
        </p:spPr>
        <p:txBody>
          <a:bodyPr wrap="square" anchor="t" lIns="0" rIns="0" tIns="0" bIns="0">
            <a:spAutoFit/>
          </a:bodyPr>
          <a:lstStyle/>
          <a:p>
            <a:pPr algn="l"/>
            <a:r>
              <a:rPr sz="1200" b="0">
                <a:solidFill>
                  <a:srgbClr val="C7C2EF"/>
                </a:solidFill>
                <a:latin typeface="ITC Avant Garde Gothic"/>
              </a:rPr>
              <a:t>Un procesador diseñado para hacer muchas operaciones sencillas a la vez. Una convolución es una enorme cantidad de multiplicaciones y sumas independientes.</a:t>
            </a:r>
          </a:p>
        </p:txBody>
      </p:sp>
      <p:sp>
        <p:nvSpPr>
          <p:cNvPr id="18" name="Rounded Rectangle 17"/>
          <p:cNvSpPr/>
          <p:nvPr/>
        </p:nvSpPr>
        <p:spPr>
          <a:xfrm>
            <a:off x="640080" y="4587836"/>
            <a:ext cx="10911535"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68680" y="475242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898732"/>
            <a:ext cx="10454335" cy="199897"/>
          </a:xfrm>
          <a:prstGeom prst="rect">
            <a:avLst/>
          </a:prstGeom>
          <a:noFill/>
        </p:spPr>
        <p:txBody>
          <a:bodyPr wrap="square" anchor="t" lIns="0" rIns="0" tIns="0" bIns="0">
            <a:spAutoFit/>
          </a:bodyPr>
          <a:lstStyle/>
          <a:p>
            <a:pPr algn="l"/>
            <a:r>
              <a:rPr sz="1100" b="0">
                <a:solidFill>
                  <a:srgbClr val="C7C2EF"/>
                </a:solidFill>
                <a:latin typeface="ITC Avant Garde Gothic"/>
              </a:rPr>
              <a:t>¿Cuántas imágenes hacen falta?</a:t>
            </a:r>
          </a:p>
        </p:txBody>
      </p:sp>
      <p:sp>
        <p:nvSpPr>
          <p:cNvPr id="21" name="TextBox 20"/>
          <p:cNvSpPr txBox="1"/>
          <p:nvPr/>
        </p:nvSpPr>
        <p:spPr>
          <a:xfrm>
            <a:off x="640080" y="5336374"/>
            <a:ext cx="10911535" cy="371856"/>
          </a:xfrm>
          <a:prstGeom prst="rect">
            <a:avLst/>
          </a:prstGeom>
          <a:noFill/>
        </p:spPr>
        <p:txBody>
          <a:bodyPr wrap="square" anchor="t" lIns="0" rIns="0" tIns="0" bIns="0">
            <a:spAutoFit/>
          </a:bodyPr>
          <a:lstStyle/>
          <a:p>
            <a:pPr algn="l"/>
            <a:r>
              <a:rPr sz="1200" b="0">
                <a:solidFill>
                  <a:srgbClr val="C7C2EF"/>
                </a:solidFill>
                <a:latin typeface="ITC Avant Garde Gothic"/>
              </a:rPr>
              <a:t>No hay número mágico. Con transferencia y unos cientos de ejemplos se obtiene un modelo utilizable; cada imagen aporta unas 150 cabezas.</a:t>
            </a:r>
          </a:p>
        </p:txBody>
      </p:sp>
      <p:sp>
        <p:nvSpPr>
          <p:cNvPr id="22" name="TextBox 21"/>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Preguntas frecuentes sobre redes neuronales</a:t>
            </a:r>
          </a:p>
        </p:txBody>
      </p:sp>
      <p:sp>
        <p:nvSpPr>
          <p:cNvPr id="3" name="TextBox 2"/>
          <p:cNvSpPr txBox="1"/>
          <p:nvPr/>
        </p:nvSpPr>
        <p:spPr>
          <a:xfrm>
            <a:off x="640080" y="960120"/>
            <a:ext cx="10911535" cy="382358"/>
          </a:xfrm>
          <a:prstGeom prst="rect">
            <a:avLst/>
          </a:prstGeom>
          <a:noFill/>
        </p:spPr>
        <p:txBody>
          <a:bodyPr wrap="square" anchor="t" lIns="0" rIns="0" tIns="0" bIns="0">
            <a:spAutoFit/>
          </a:bodyPr>
          <a:lstStyle/>
          <a:p>
            <a:pPr algn="l"/>
            <a:r>
              <a:rPr sz="2600" b="1">
                <a:solidFill>
                  <a:srgbClr val="C7C2EF"/>
                </a:solidFill>
                <a:latin typeface="ITC Avant Garde Gothic"/>
              </a:rPr>
              <a:t>Herramientas, explicabilidad y versiones</a:t>
            </a:r>
          </a:p>
        </p:txBody>
      </p:sp>
      <p:sp>
        <p:nvSpPr>
          <p:cNvPr id="4" name="Rounded Rectangle 3"/>
          <p:cNvSpPr/>
          <p:nvPr/>
        </p:nvSpPr>
        <p:spPr>
          <a:xfrm>
            <a:off x="640080" y="1708238"/>
            <a:ext cx="3454298"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87283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19134"/>
            <a:ext cx="2997098" cy="199897"/>
          </a:xfrm>
          <a:prstGeom prst="rect">
            <a:avLst/>
          </a:prstGeom>
          <a:noFill/>
        </p:spPr>
        <p:txBody>
          <a:bodyPr wrap="square" anchor="t" lIns="0" rIns="0" tIns="0" bIns="0">
            <a:spAutoFit/>
          </a:bodyPr>
          <a:lstStyle/>
          <a:p>
            <a:pPr algn="l"/>
            <a:r>
              <a:rPr sz="1100" b="0">
                <a:solidFill>
                  <a:srgbClr val="C7C2EF"/>
                </a:solidFill>
                <a:latin typeface="ITC Avant Garde Gothic"/>
              </a:rPr>
              <a:t>Pregunta</a:t>
            </a:r>
          </a:p>
        </p:txBody>
      </p:sp>
      <p:sp>
        <p:nvSpPr>
          <p:cNvPr id="7" name="Rounded Rectangle 6"/>
          <p:cNvSpPr/>
          <p:nvPr/>
        </p:nvSpPr>
        <p:spPr>
          <a:xfrm>
            <a:off x="4368698" y="1708238"/>
            <a:ext cx="3454298"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97298" y="187283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7298" y="2019134"/>
            <a:ext cx="2997098" cy="199897"/>
          </a:xfrm>
          <a:prstGeom prst="rect">
            <a:avLst/>
          </a:prstGeom>
          <a:noFill/>
        </p:spPr>
        <p:txBody>
          <a:bodyPr wrap="square" anchor="t" lIns="0" rIns="0" tIns="0" bIns="0">
            <a:spAutoFit/>
          </a:bodyPr>
          <a:lstStyle/>
          <a:p>
            <a:pPr algn="l"/>
            <a:r>
              <a:rPr sz="1100" b="0">
                <a:solidFill>
                  <a:srgbClr val="C7C2EF"/>
                </a:solidFill>
                <a:latin typeface="ITC Avant Garde Gothic"/>
              </a:rPr>
              <a:t>Respuesta</a:t>
            </a:r>
          </a:p>
        </p:txBody>
      </p:sp>
      <p:sp>
        <p:nvSpPr>
          <p:cNvPr id="10" name="Rounded Rectangle 9"/>
          <p:cNvSpPr/>
          <p:nvPr/>
        </p:nvSpPr>
        <p:spPr>
          <a:xfrm>
            <a:off x="8097316" y="1708238"/>
            <a:ext cx="3454298"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25916" y="187283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5916" y="2019134"/>
            <a:ext cx="2997098" cy="199897"/>
          </a:xfrm>
          <a:prstGeom prst="rect">
            <a:avLst/>
          </a:prstGeom>
          <a:noFill/>
        </p:spPr>
        <p:txBody>
          <a:bodyPr wrap="square" anchor="t" lIns="0" rIns="0" tIns="0" bIns="0">
            <a:spAutoFit/>
          </a:bodyPr>
          <a:lstStyle/>
          <a:p>
            <a:pPr algn="l"/>
            <a:r>
              <a:rPr sz="1100" b="0">
                <a:solidFill>
                  <a:srgbClr val="C7C2EF"/>
                </a:solidFill>
                <a:latin typeface="ITC Avant Garde Gothic"/>
              </a:rPr>
              <a:t>¿Por qué Python y PyTorch?</a:t>
            </a:r>
          </a:p>
        </p:txBody>
      </p:sp>
      <p:sp>
        <p:nvSpPr>
          <p:cNvPr id="13" name="TextBox 12"/>
          <p:cNvSpPr txBox="1"/>
          <p:nvPr/>
        </p:nvSpPr>
        <p:spPr>
          <a:xfrm>
            <a:off x="640080" y="2456776"/>
            <a:ext cx="10911535" cy="371856"/>
          </a:xfrm>
          <a:prstGeom prst="rect">
            <a:avLst/>
          </a:prstGeom>
          <a:noFill/>
        </p:spPr>
        <p:txBody>
          <a:bodyPr wrap="square" anchor="t" lIns="0" rIns="0" tIns="0" bIns="0">
            <a:spAutoFit/>
          </a:bodyPr>
          <a:lstStyle/>
          <a:p>
            <a:pPr algn="l"/>
            <a:r>
              <a:rPr sz="1200" b="0">
                <a:solidFill>
                  <a:srgbClr val="C7C2EF"/>
                </a:solidFill>
                <a:latin typeface="ITC Avant Garde Gothic"/>
              </a:rPr>
              <a:t>Python domina la ciencia de datos y PyTorch es una de las dos bibliotecas principales para redes neuronales; ahí viene la Mask R-CNN con sus pesos preentrenados.</a:t>
            </a:r>
          </a:p>
        </p:txBody>
      </p:sp>
      <p:sp>
        <p:nvSpPr>
          <p:cNvPr id="14" name="Rounded Rectangle 13"/>
          <p:cNvSpPr/>
          <p:nvPr/>
        </p:nvSpPr>
        <p:spPr>
          <a:xfrm>
            <a:off x="640080" y="3057232"/>
            <a:ext cx="10911535"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322182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368128"/>
            <a:ext cx="10454335" cy="199897"/>
          </a:xfrm>
          <a:prstGeom prst="rect">
            <a:avLst/>
          </a:prstGeom>
          <a:noFill/>
        </p:spPr>
        <p:txBody>
          <a:bodyPr wrap="square" anchor="t" lIns="0" rIns="0" tIns="0" bIns="0">
            <a:spAutoFit/>
          </a:bodyPr>
          <a:lstStyle/>
          <a:p>
            <a:pPr algn="l"/>
            <a:r>
              <a:rPr sz="1100" b="0">
                <a:solidFill>
                  <a:srgbClr val="C7C2EF"/>
                </a:solidFill>
                <a:latin typeface="ITC Avant Garde Gothic"/>
              </a:rPr>
              <a:t>¿Se puede explicar por qué la red marcó algo?</a:t>
            </a:r>
          </a:p>
        </p:txBody>
      </p:sp>
      <p:sp>
        <p:nvSpPr>
          <p:cNvPr id="17" name="TextBox 16"/>
          <p:cNvSpPr txBox="1"/>
          <p:nvPr/>
        </p:nvSpPr>
        <p:spPr>
          <a:xfrm>
            <a:off x="640080" y="3805770"/>
            <a:ext cx="10911535" cy="185928"/>
          </a:xfrm>
          <a:prstGeom prst="rect">
            <a:avLst/>
          </a:prstGeom>
          <a:noFill/>
        </p:spPr>
        <p:txBody>
          <a:bodyPr wrap="square" anchor="t" lIns="0" rIns="0" tIns="0" bIns="0">
            <a:spAutoFit/>
          </a:bodyPr>
          <a:lstStyle/>
          <a:p>
            <a:pPr algn="l"/>
            <a:r>
              <a:rPr sz="1200" b="0">
                <a:solidFill>
                  <a:srgbClr val="C7C2EF"/>
                </a:solidFill>
                <a:latin typeface="ITC Avant Garde Gothic"/>
              </a:rPr>
              <a:t>Solo en parte. Por eso la medición es aparte y verificable: el contorno se puede revisar a simple vista.</a:t>
            </a:r>
          </a:p>
        </p:txBody>
      </p:sp>
      <p:sp>
        <p:nvSpPr>
          <p:cNvPr id="18" name="Rounded Rectangle 17"/>
          <p:cNvSpPr/>
          <p:nvPr/>
        </p:nvSpPr>
        <p:spPr>
          <a:xfrm>
            <a:off x="640080" y="4220298"/>
            <a:ext cx="10911535"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68680" y="438489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531194"/>
            <a:ext cx="10454335" cy="199897"/>
          </a:xfrm>
          <a:prstGeom prst="rect">
            <a:avLst/>
          </a:prstGeom>
          <a:noFill/>
        </p:spPr>
        <p:txBody>
          <a:bodyPr wrap="square" anchor="t" lIns="0" rIns="0" tIns="0" bIns="0">
            <a:spAutoFit/>
          </a:bodyPr>
          <a:lstStyle/>
          <a:p>
            <a:pPr algn="l"/>
            <a:r>
              <a:rPr sz="1100" b="0">
                <a:solidFill>
                  <a:srgbClr val="C7C2EF"/>
                </a:solidFill>
                <a:latin typeface="ITC Avant Garde Gothic"/>
              </a:rPr>
              <a:t>¿Qué pasa si salen versiones nuevas de PyTorch?</a:t>
            </a:r>
          </a:p>
        </p:txBody>
      </p:sp>
      <p:sp>
        <p:nvSpPr>
          <p:cNvPr id="21" name="TextBox 20"/>
          <p:cNvSpPr txBox="1"/>
          <p:nvPr/>
        </p:nvSpPr>
        <p:spPr>
          <a:xfrm>
            <a:off x="640080" y="4968836"/>
            <a:ext cx="10911535" cy="371856"/>
          </a:xfrm>
          <a:prstGeom prst="rect">
            <a:avLst/>
          </a:prstGeom>
          <a:noFill/>
        </p:spPr>
        <p:txBody>
          <a:bodyPr wrap="square" anchor="t" lIns="0" rIns="0" tIns="0" bIns="0">
            <a:spAutoFit/>
          </a:bodyPr>
          <a:lstStyle/>
          <a:p>
            <a:pPr algn="l"/>
            <a:r>
              <a:rPr sz="1200" b="0">
                <a:solidFill>
                  <a:srgbClr val="C7C2EF"/>
                </a:solidFill>
                <a:latin typeface="ITC Avant Garde Gothic"/>
              </a:rPr>
              <a:t>El archivo del modelo guarda con qué versión se entrenó. Si se actualiza, hay que probar que los modelos den los mismos resultados.</a:t>
            </a:r>
          </a:p>
        </p:txBody>
      </p:sp>
      <p:sp>
        <p:nvSpPr>
          <p:cNvPr id="22" name="TextBox 21"/>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Casos</a:t>
            </a:r>
          </a:p>
        </p:txBody>
      </p:sp>
      <p:sp>
        <p:nvSpPr>
          <p:cNvPr id="3" name="TextBox 2"/>
          <p:cNvSpPr txBox="1"/>
          <p:nvPr/>
        </p:nvSpPr>
        <p:spPr>
          <a:xfrm>
            <a:off x="640080" y="960120"/>
            <a:ext cx="10911535" cy="449833"/>
          </a:xfrm>
          <a:prstGeom prst="rect">
            <a:avLst/>
          </a:prstGeom>
          <a:noFill/>
        </p:spPr>
        <p:txBody>
          <a:bodyPr wrap="square" anchor="t" lIns="0" rIns="0" tIns="0" bIns="0">
            <a:spAutoFit/>
          </a:bodyPr>
          <a:lstStyle/>
          <a:p>
            <a:pPr algn="l"/>
            <a:r>
              <a:rPr sz="3100" b="1">
                <a:solidFill>
                  <a:srgbClr val="C7C2EF"/>
                </a:solidFill>
                <a:latin typeface="ITC Avant Garde Gothic"/>
              </a:rPr>
              <a:t>Tres casos para ilustrar lo visto</a:t>
            </a:r>
          </a:p>
        </p:txBody>
      </p:sp>
      <p:sp>
        <p:nvSpPr>
          <p:cNvPr id="4" name="Rounded Rectangle 3"/>
          <p:cNvSpPr/>
          <p:nvPr/>
        </p:nvSpPr>
        <p:spPr>
          <a:xfrm>
            <a:off x="640080" y="1775714"/>
            <a:ext cx="10911535" cy="62377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86610"/>
            <a:ext cx="10454335" cy="258013"/>
          </a:xfrm>
          <a:prstGeom prst="rect">
            <a:avLst/>
          </a:prstGeom>
          <a:noFill/>
        </p:spPr>
        <p:txBody>
          <a:bodyPr wrap="square" anchor="t" lIns="0" rIns="0" tIns="0" bIns="0">
            <a:spAutoFit/>
          </a:bodyPr>
          <a:lstStyle/>
          <a:p>
            <a:pPr algn="l"/>
            <a:r>
              <a:rPr sz="1500" b="0">
                <a:solidFill>
                  <a:srgbClr val="C7C2EF"/>
                </a:solidFill>
                <a:latin typeface="ITC Avant Garde Gothic"/>
              </a:rPr>
              <a:t>1</a:t>
            </a:r>
          </a:p>
        </p:txBody>
      </p:sp>
      <p:sp>
        <p:nvSpPr>
          <p:cNvPr id="7" name="TextBox 6"/>
          <p:cNvSpPr txBox="1"/>
          <p:nvPr/>
        </p:nvSpPr>
        <p:spPr>
          <a:xfrm>
            <a:off x="640080" y="2582367"/>
            <a:ext cx="10911535" cy="490849"/>
          </a:xfrm>
          <a:prstGeom prst="rect">
            <a:avLst/>
          </a:prstGeom>
          <a:noFill/>
        </p:spPr>
        <p:txBody>
          <a:bodyPr wrap="square" anchor="t" lIns="0" rIns="0" tIns="0" bIns="0">
            <a:spAutoFit/>
          </a:bodyPr>
          <a:lstStyle/>
          <a:p>
            <a:pPr algn="l"/>
            <a:r>
              <a:rPr sz="1600" b="0">
                <a:solidFill>
                  <a:srgbClr val="C7C2EF"/>
                </a:solidFill>
                <a:latin typeface="ITC Avant Garde Gothic"/>
              </a:rPr>
              <a:t>Una red aprende con cuatro fotos donde todos los espermatozoides miran a la derecha. Ante una foto donde miran a la izquierda, no la reconoce bien.</a:t>
            </a:r>
          </a:p>
        </p:txBody>
      </p:sp>
      <p:sp>
        <p:nvSpPr>
          <p:cNvPr id="8" name="Rounded Rectangle 7"/>
          <p:cNvSpPr/>
          <p:nvPr/>
        </p:nvSpPr>
        <p:spPr>
          <a:xfrm>
            <a:off x="640080" y="3301817"/>
            <a:ext cx="3454298" cy="110322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8680" y="346640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612713"/>
            <a:ext cx="2997098" cy="737463"/>
          </a:xfrm>
          <a:prstGeom prst="rect">
            <a:avLst/>
          </a:prstGeom>
          <a:noFill/>
        </p:spPr>
        <p:txBody>
          <a:bodyPr wrap="square" anchor="t" lIns="0" rIns="0" tIns="0" bIns="0">
            <a:spAutoFit/>
          </a:bodyPr>
          <a:lstStyle/>
          <a:p>
            <a:pPr algn="l"/>
            <a:r>
              <a:rPr sz="1500" b="0">
                <a:solidFill>
                  <a:srgbClr val="C7C2EF"/>
                </a:solidFill>
                <a:latin typeface="ITC Avant Garde Gothic"/>
              </a:rPr>
              <a:t>2</a:t>
            </a:r>
          </a:p>
        </p:txBody>
      </p:sp>
      <p:sp>
        <p:nvSpPr>
          <p:cNvPr id="11" name="Rounded Rectangle 10"/>
          <p:cNvSpPr/>
          <p:nvPr/>
        </p:nvSpPr>
        <p:spPr>
          <a:xfrm>
            <a:off x="4368698" y="3301817"/>
            <a:ext cx="3454298" cy="110322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97298" y="346640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3612713"/>
            <a:ext cx="2997098" cy="737463"/>
          </a:xfrm>
          <a:prstGeom prst="rect">
            <a:avLst/>
          </a:prstGeom>
          <a:noFill/>
        </p:spPr>
        <p:txBody>
          <a:bodyPr wrap="square" anchor="t" lIns="0" rIns="0" tIns="0" bIns="0">
            <a:spAutoFit/>
          </a:bodyPr>
          <a:lstStyle/>
          <a:p>
            <a:pPr algn="l"/>
            <a:r>
              <a:rPr sz="1500" b="0">
                <a:solidFill>
                  <a:srgbClr val="C7C2EF"/>
                </a:solidFill>
                <a:latin typeface="ITC Avant Garde Gothic"/>
              </a:rPr>
              <a:t>El sitio cuenta 114 espermatozoides y una persona cuenta 130.</a:t>
            </a:r>
          </a:p>
        </p:txBody>
      </p:sp>
      <p:sp>
        <p:nvSpPr>
          <p:cNvPr id="14" name="Rounded Rectangle 13"/>
          <p:cNvSpPr/>
          <p:nvPr/>
        </p:nvSpPr>
        <p:spPr>
          <a:xfrm>
            <a:off x="8097316" y="3301817"/>
            <a:ext cx="3454298" cy="1103223"/>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25916" y="3466409"/>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5916" y="3612713"/>
            <a:ext cx="2997098" cy="737463"/>
          </a:xfrm>
          <a:prstGeom prst="rect">
            <a:avLst/>
          </a:prstGeom>
          <a:noFill/>
        </p:spPr>
        <p:txBody>
          <a:bodyPr wrap="square" anchor="t" lIns="0" rIns="0" tIns="0" bIns="0">
            <a:spAutoFit/>
          </a:bodyPr>
          <a:lstStyle/>
          <a:p>
            <a:pPr algn="l"/>
            <a:r>
              <a:rPr sz="1500" b="0">
                <a:solidFill>
                  <a:srgbClr val="C7C2EF"/>
                </a:solidFill>
                <a:latin typeface="ITC Avant Garde Gothic"/>
              </a:rPr>
              <a:t>3</a:t>
            </a:r>
          </a:p>
        </p:txBody>
      </p:sp>
      <p:sp>
        <p:nvSpPr>
          <p:cNvPr id="17" name="TextBox 16"/>
          <p:cNvSpPr txBox="1"/>
          <p:nvPr/>
        </p:nvSpPr>
        <p:spPr>
          <a:xfrm>
            <a:off x="640080" y="4587920"/>
            <a:ext cx="10911535" cy="245424"/>
          </a:xfrm>
          <a:prstGeom prst="rect">
            <a:avLst/>
          </a:prstGeom>
          <a:noFill/>
        </p:spPr>
        <p:txBody>
          <a:bodyPr wrap="square" anchor="t" lIns="0" rIns="0" tIns="0" bIns="0">
            <a:spAutoFit/>
          </a:bodyPr>
          <a:lstStyle/>
          <a:p>
            <a:pPr algn="l"/>
            <a:r>
              <a:rPr sz="1600" b="0">
                <a:solidFill>
                  <a:srgbClr val="C7C2EF"/>
                </a:solidFill>
                <a:latin typeface="ITC Avant Garde Gothic"/>
              </a:rPr>
              <a:t>Alguien propone entrenar con las mismas ocho fotos hasta que la pérdida llegue a cero.</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Caso 2</a:t>
            </a:r>
          </a:p>
        </p:txBody>
      </p:sp>
      <p:sp>
        <p:nvSpPr>
          <p:cNvPr id="3" name="TextBox 2"/>
          <p:cNvSpPr txBox="1"/>
          <p:nvPr/>
        </p:nvSpPr>
        <p:spPr>
          <a:xfrm>
            <a:off x="640080" y="960120"/>
            <a:ext cx="10911535" cy="464292"/>
          </a:xfrm>
          <a:prstGeom prst="rect">
            <a:avLst/>
          </a:prstGeom>
          <a:noFill/>
        </p:spPr>
        <p:txBody>
          <a:bodyPr wrap="square" anchor="t" lIns="0" rIns="0" tIns="0" bIns="0">
            <a:spAutoFit/>
          </a:bodyPr>
          <a:lstStyle/>
          <a:p>
            <a:pPr algn="l"/>
            <a:r>
              <a:rPr sz="3200" b="1">
                <a:solidFill>
                  <a:srgbClr val="C7C2EF"/>
                </a:solidFill>
                <a:latin typeface="ITC Avant Garde Gothic"/>
              </a:rPr>
              <a:t>El sitio cuenta 114 y una persona cuenta 130</a:t>
            </a:r>
          </a:p>
        </p:txBody>
      </p:sp>
      <p:sp>
        <p:nvSpPr>
          <p:cNvPr id="4" name="TextBox 3"/>
          <p:cNvSpPr txBox="1"/>
          <p:nvPr/>
        </p:nvSpPr>
        <p:spPr>
          <a:xfrm>
            <a:off x="640080" y="1790172"/>
            <a:ext cx="10911535" cy="395097"/>
          </a:xfrm>
          <a:prstGeom prst="rect">
            <a:avLst/>
          </a:prstGeom>
          <a:noFill/>
        </p:spPr>
        <p:txBody>
          <a:bodyPr wrap="square" anchor="t" lIns="0" rIns="0" tIns="0" bIns="0">
            <a:spAutoFit/>
          </a:bodyPr>
          <a:lstStyle/>
          <a:p>
            <a:pPr algn="l"/>
            <a:r>
              <a:rPr sz="2600" b="1">
                <a:solidFill>
                  <a:srgbClr val="FF983D"/>
                </a:solidFill>
                <a:latin typeface="ITC Avant Garde Gothic"/>
              </a:rPr>
              <a:t>El caso</a:t>
            </a:r>
          </a:p>
        </p:txBody>
      </p:sp>
      <p:sp>
        <p:nvSpPr>
          <p:cNvPr id="5" name="TextBox 4"/>
          <p:cNvSpPr txBox="1"/>
          <p:nvPr/>
        </p:nvSpPr>
        <p:spPr>
          <a:xfrm>
            <a:off x="640080" y="2368149"/>
            <a:ext cx="10911535" cy="632155"/>
          </a:xfrm>
          <a:prstGeom prst="rect">
            <a:avLst/>
          </a:prstGeom>
          <a:noFill/>
        </p:spPr>
        <p:txBody>
          <a:bodyPr wrap="square" anchor="t" lIns="0" rIns="0" tIns="0" bIns="0">
            <a:spAutoFit/>
          </a:bodyPr>
          <a:lstStyle/>
          <a:p>
            <a:pPr algn="l"/>
            <a:r>
              <a:rPr sz="2000" b="0">
                <a:solidFill>
                  <a:srgbClr val="C7C2EF"/>
                </a:solidFill>
                <a:latin typeface="ITC Avant Garde Gothic"/>
              </a:rPr>
              <a:t>El sitio informa 114 espermatozoides, pero una persona cuenta 130 a simple vista. ¿Cuál es el siguiente paso?</a:t>
            </a:r>
          </a:p>
        </p:txBody>
      </p:sp>
      <p:sp>
        <p:nvSpPr>
          <p:cNvPr id="6" name="TextBox 5"/>
          <p:cNvSpPr txBox="1"/>
          <p:nvPr/>
        </p:nvSpPr>
        <p:spPr>
          <a:xfrm>
            <a:off x="640080" y="3228905"/>
            <a:ext cx="10911535" cy="395097"/>
          </a:xfrm>
          <a:prstGeom prst="rect">
            <a:avLst/>
          </a:prstGeom>
          <a:noFill/>
        </p:spPr>
        <p:txBody>
          <a:bodyPr wrap="square" anchor="t" lIns="0" rIns="0" tIns="0" bIns="0">
            <a:spAutoFit/>
          </a:bodyPr>
          <a:lstStyle/>
          <a:p>
            <a:pPr algn="l"/>
            <a:r>
              <a:rPr sz="2600" b="1">
                <a:solidFill>
                  <a:srgbClr val="FF983D"/>
                </a:solidFill>
                <a:latin typeface="ITC Avant Garde Gothic"/>
              </a:rPr>
              <a:t>La resolución</a:t>
            </a:r>
          </a:p>
        </p:txBody>
      </p:sp>
      <p:sp>
        <p:nvSpPr>
          <p:cNvPr id="7" name="TextBox 6"/>
          <p:cNvSpPr txBox="1"/>
          <p:nvPr/>
        </p:nvSpPr>
        <p:spPr>
          <a:xfrm>
            <a:off x="640080" y="3806882"/>
            <a:ext cx="10911535" cy="1264310"/>
          </a:xfrm>
          <a:prstGeom prst="rect">
            <a:avLst/>
          </a:prstGeom>
          <a:noFill/>
        </p:spPr>
        <p:txBody>
          <a:bodyPr wrap="square" anchor="t" lIns="0" rIns="0" tIns="0" bIns="0">
            <a:spAutoFit/>
          </a:bodyPr>
          <a:lstStyle/>
          <a:p>
            <a:pPr algn="l"/>
            <a:r>
              <a:rPr sz="2000" b="0">
                <a:solidFill>
                  <a:srgbClr val="C7C2EF"/>
                </a:solidFill>
                <a:latin typeface="ITC Avant Garde Gothic"/>
              </a:rPr>
              <a:t>Abrir la imagen marcada y localizar dónde están los que faltan. En una zona aglomerada es uno de los retos conocidos; dispersos y sin marcar, la imagen se parece poco al entrenamiento y es candidata al próximo lote. En ningún caso se corrige el CSV a mano sin dejar constancia.</a:t>
            </a:r>
          </a:p>
        </p:txBody>
      </p:sp>
      <p:sp>
        <p:nvSpPr>
          <p:cNvPr id="8" name="TextBox 7"/>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Los tres casos apuntan a lo mismo</a:t>
            </a:r>
          </a:p>
        </p:txBody>
      </p:sp>
      <p:sp>
        <p:nvSpPr>
          <p:cNvPr id="3" name="TextBox 2"/>
          <p:cNvSpPr txBox="1"/>
          <p:nvPr/>
        </p:nvSpPr>
        <p:spPr>
          <a:xfrm>
            <a:off x="640080" y="960120"/>
            <a:ext cx="10911535" cy="1577340"/>
          </a:xfrm>
          <a:prstGeom prst="rect">
            <a:avLst/>
          </a:prstGeom>
          <a:noFill/>
        </p:spPr>
        <p:txBody>
          <a:bodyPr wrap="square" anchor="t" lIns="0" rIns="0" tIns="0" bIns="0">
            <a:spAutoFit/>
          </a:bodyPr>
          <a:lstStyle/>
          <a:p>
            <a:pPr algn="l"/>
            <a:r>
              <a:rPr sz="3600" b="1">
                <a:solidFill>
                  <a:srgbClr val="C7C2EF"/>
                </a:solidFill>
                <a:latin typeface="ITC Avant Garde Gothic"/>
              </a:rPr>
              <a:t>Lo que el modelo aprende depende de los datos, y lo que se afirma sobre él depende de cómo se mida</a:t>
            </a:r>
          </a:p>
        </p:txBody>
      </p:sp>
      <p:sp>
        <p:nvSpPr>
          <p:cNvPr id="4" name="TextBox 3"/>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Vocabulario de la sesión</a:t>
            </a:r>
          </a:p>
        </p:txBody>
      </p:sp>
      <p:sp>
        <p:nvSpPr>
          <p:cNvPr id="3" name="TextBox 2"/>
          <p:cNvSpPr txBox="1"/>
          <p:nvPr/>
        </p:nvSpPr>
        <p:spPr>
          <a:xfrm>
            <a:off x="640080" y="960120"/>
            <a:ext cx="10911535" cy="449833"/>
          </a:xfrm>
          <a:prstGeom prst="rect">
            <a:avLst/>
          </a:prstGeom>
          <a:noFill/>
        </p:spPr>
        <p:txBody>
          <a:bodyPr wrap="square" anchor="t" lIns="0" rIns="0" tIns="0" bIns="0">
            <a:spAutoFit/>
          </a:bodyPr>
          <a:lstStyle/>
          <a:p>
            <a:pPr algn="l"/>
            <a:r>
              <a:rPr sz="3100" b="1">
                <a:solidFill>
                  <a:srgbClr val="C7C2EF"/>
                </a:solidFill>
                <a:latin typeface="ITC Avant Garde Gothic"/>
              </a:rPr>
              <a:t>La red y sus pesos</a:t>
            </a:r>
          </a:p>
        </p:txBody>
      </p:sp>
      <p:sp>
        <p:nvSpPr>
          <p:cNvPr id="4" name="Rounded Rectangle 3"/>
          <p:cNvSpPr/>
          <p:nvPr/>
        </p:nvSpPr>
        <p:spPr>
          <a:xfrm>
            <a:off x="640080" y="1775714"/>
            <a:ext cx="3454298"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86610"/>
            <a:ext cx="2997098" cy="199897"/>
          </a:xfrm>
          <a:prstGeom prst="rect">
            <a:avLst/>
          </a:prstGeom>
          <a:noFill/>
        </p:spPr>
        <p:txBody>
          <a:bodyPr wrap="square" anchor="t" lIns="0" rIns="0" tIns="0" bIns="0">
            <a:spAutoFit/>
          </a:bodyPr>
          <a:lstStyle/>
          <a:p>
            <a:pPr algn="l"/>
            <a:r>
              <a:rPr sz="1100" b="0">
                <a:solidFill>
                  <a:srgbClr val="C7C2EF"/>
                </a:solidFill>
                <a:latin typeface="ITC Avant Garde Gothic"/>
              </a:rPr>
              <a:t>Término</a:t>
            </a:r>
          </a:p>
        </p:txBody>
      </p:sp>
      <p:sp>
        <p:nvSpPr>
          <p:cNvPr id="7" name="Rounded Rectangle 6"/>
          <p:cNvSpPr/>
          <p:nvPr/>
        </p:nvSpPr>
        <p:spPr>
          <a:xfrm>
            <a:off x="4368698" y="1775714"/>
            <a:ext cx="3454298"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97298"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7298" y="2086610"/>
            <a:ext cx="2997098" cy="199897"/>
          </a:xfrm>
          <a:prstGeom prst="rect">
            <a:avLst/>
          </a:prstGeom>
          <a:noFill/>
        </p:spPr>
        <p:txBody>
          <a:bodyPr wrap="square" anchor="t" lIns="0" rIns="0" tIns="0" bIns="0">
            <a:spAutoFit/>
          </a:bodyPr>
          <a:lstStyle/>
          <a:p>
            <a:pPr algn="l"/>
            <a:r>
              <a:rPr sz="1100" b="0">
                <a:solidFill>
                  <a:srgbClr val="C7C2EF"/>
                </a:solidFill>
                <a:latin typeface="ITC Avant Garde Gothic"/>
              </a:rPr>
              <a:t>Qué es</a:t>
            </a:r>
          </a:p>
        </p:txBody>
      </p:sp>
      <p:sp>
        <p:nvSpPr>
          <p:cNvPr id="10" name="Rounded Rectangle 9"/>
          <p:cNvSpPr/>
          <p:nvPr/>
        </p:nvSpPr>
        <p:spPr>
          <a:xfrm>
            <a:off x="8097316" y="1775714"/>
            <a:ext cx="3454298"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25916" y="194030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5916" y="2086610"/>
            <a:ext cx="2997098" cy="199897"/>
          </a:xfrm>
          <a:prstGeom prst="rect">
            <a:avLst/>
          </a:prstGeom>
          <a:noFill/>
        </p:spPr>
        <p:txBody>
          <a:bodyPr wrap="square" anchor="t" lIns="0" rIns="0" tIns="0" bIns="0">
            <a:spAutoFit/>
          </a:bodyPr>
          <a:lstStyle/>
          <a:p>
            <a:pPr algn="l"/>
            <a:r>
              <a:rPr sz="1100" b="0">
                <a:solidFill>
                  <a:srgbClr val="C7C2EF"/>
                </a:solidFill>
                <a:latin typeface="ITC Avant Garde Gothic"/>
              </a:rPr>
              <a:t>Neurona artificial</a:t>
            </a:r>
          </a:p>
        </p:txBody>
      </p:sp>
      <p:sp>
        <p:nvSpPr>
          <p:cNvPr id="13" name="TextBox 12"/>
          <p:cNvSpPr txBox="1"/>
          <p:nvPr/>
        </p:nvSpPr>
        <p:spPr>
          <a:xfrm>
            <a:off x="640080" y="2524252"/>
            <a:ext cx="10911535" cy="185928"/>
          </a:xfrm>
          <a:prstGeom prst="rect">
            <a:avLst/>
          </a:prstGeom>
          <a:noFill/>
        </p:spPr>
        <p:txBody>
          <a:bodyPr wrap="square" anchor="t" lIns="0" rIns="0" tIns="0" bIns="0">
            <a:spAutoFit/>
          </a:bodyPr>
          <a:lstStyle/>
          <a:p>
            <a:pPr algn="l"/>
            <a:r>
              <a:rPr sz="1200" b="0">
                <a:solidFill>
                  <a:srgbClr val="C7C2EF"/>
                </a:solidFill>
                <a:latin typeface="ITC Avant Garde Gothic"/>
              </a:rPr>
              <a:t>Una operación pequeña: multiplica sus entradas por pesos, las suma y aplica una función de activación.</a:t>
            </a:r>
          </a:p>
        </p:txBody>
      </p:sp>
      <p:sp>
        <p:nvSpPr>
          <p:cNvPr id="14" name="Rounded Rectangle 13"/>
          <p:cNvSpPr/>
          <p:nvPr/>
        </p:nvSpPr>
        <p:spPr>
          <a:xfrm>
            <a:off x="640080" y="2938780"/>
            <a:ext cx="10911535"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310337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249676"/>
            <a:ext cx="10454335" cy="199897"/>
          </a:xfrm>
          <a:prstGeom prst="rect">
            <a:avLst/>
          </a:prstGeom>
          <a:noFill/>
        </p:spPr>
        <p:txBody>
          <a:bodyPr wrap="square" anchor="t" lIns="0" rIns="0" tIns="0" bIns="0">
            <a:spAutoFit/>
          </a:bodyPr>
          <a:lstStyle/>
          <a:p>
            <a:pPr algn="l"/>
            <a:r>
              <a:rPr sz="1100" b="0">
                <a:solidFill>
                  <a:srgbClr val="C7C2EF"/>
                </a:solidFill>
                <a:latin typeface="ITC Avant Garde Gothic"/>
              </a:rPr>
              <a:t>Capa y red</a:t>
            </a:r>
          </a:p>
        </p:txBody>
      </p:sp>
      <p:sp>
        <p:nvSpPr>
          <p:cNvPr id="17" name="TextBox 16"/>
          <p:cNvSpPr txBox="1"/>
          <p:nvPr/>
        </p:nvSpPr>
        <p:spPr>
          <a:xfrm>
            <a:off x="640080" y="3687318"/>
            <a:ext cx="10911535" cy="371856"/>
          </a:xfrm>
          <a:prstGeom prst="rect">
            <a:avLst/>
          </a:prstGeom>
          <a:noFill/>
        </p:spPr>
        <p:txBody>
          <a:bodyPr wrap="square" anchor="t" lIns="0" rIns="0" tIns="0" bIns="0">
            <a:spAutoFit/>
          </a:bodyPr>
          <a:lstStyle/>
          <a:p>
            <a:pPr algn="l"/>
            <a:r>
              <a:rPr sz="1200" b="0">
                <a:solidFill>
                  <a:srgbClr val="C7C2EF"/>
                </a:solidFill>
                <a:latin typeface="ITC Avant Garde Gothic"/>
              </a:rPr>
              <a:t>Una capa es un conjunto de neuronas que miran las mismas entradas; una red, una cadena de capas (profunda, si son muchas).</a:t>
            </a:r>
          </a:p>
        </p:txBody>
      </p:sp>
      <p:sp>
        <p:nvSpPr>
          <p:cNvPr id="18" name="Rounded Rectangle 17"/>
          <p:cNvSpPr/>
          <p:nvPr/>
        </p:nvSpPr>
        <p:spPr>
          <a:xfrm>
            <a:off x="640080" y="4287774"/>
            <a:ext cx="2522143" cy="92887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68680" y="445236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598670"/>
            <a:ext cx="2064943" cy="563118"/>
          </a:xfrm>
          <a:prstGeom prst="rect">
            <a:avLst/>
          </a:prstGeom>
          <a:noFill/>
        </p:spPr>
        <p:txBody>
          <a:bodyPr wrap="square" anchor="t" lIns="0" rIns="0" tIns="0" bIns="0">
            <a:spAutoFit/>
          </a:bodyPr>
          <a:lstStyle/>
          <a:p>
            <a:pPr algn="l"/>
            <a:r>
              <a:rPr sz="1100" b="0">
                <a:solidFill>
                  <a:srgbClr val="C7C2EF"/>
                </a:solidFill>
                <a:latin typeface="ITC Avant Garde Gothic"/>
              </a:rPr>
              <a:t>Pesos</a:t>
            </a:r>
          </a:p>
        </p:txBody>
      </p:sp>
      <p:sp>
        <p:nvSpPr>
          <p:cNvPr id="21" name="Rounded Rectangle 20"/>
          <p:cNvSpPr/>
          <p:nvPr/>
        </p:nvSpPr>
        <p:spPr>
          <a:xfrm>
            <a:off x="3436543" y="4287774"/>
            <a:ext cx="2522143" cy="92887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65143" y="445236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65143" y="4598670"/>
            <a:ext cx="2064943" cy="563118"/>
          </a:xfrm>
          <a:prstGeom prst="rect">
            <a:avLst/>
          </a:prstGeom>
          <a:noFill/>
        </p:spPr>
        <p:txBody>
          <a:bodyPr wrap="square" anchor="t" lIns="0" rIns="0" tIns="0" bIns="0">
            <a:spAutoFit/>
          </a:bodyPr>
          <a:lstStyle/>
          <a:p>
            <a:pPr algn="l"/>
            <a:r>
              <a:rPr sz="1100" b="0">
                <a:solidFill>
                  <a:srgbClr val="C7C2EF"/>
                </a:solidFill>
                <a:latin typeface="ITC Avant Garde Gothic"/>
              </a:rPr>
              <a:t>Los números que la red ajusta al aprender; son lo que la red sabe.</a:t>
            </a:r>
          </a:p>
        </p:txBody>
      </p:sp>
      <p:sp>
        <p:nvSpPr>
          <p:cNvPr id="24" name="Rounded Rectangle 23"/>
          <p:cNvSpPr/>
          <p:nvPr/>
        </p:nvSpPr>
        <p:spPr>
          <a:xfrm>
            <a:off x="6233007" y="4287774"/>
            <a:ext cx="2522143" cy="92887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61607" y="445236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61607" y="4598670"/>
            <a:ext cx="2064943" cy="563118"/>
          </a:xfrm>
          <a:prstGeom prst="rect">
            <a:avLst/>
          </a:prstGeom>
          <a:noFill/>
        </p:spPr>
        <p:txBody>
          <a:bodyPr wrap="square" anchor="t" lIns="0" rIns="0" tIns="0" bIns="0">
            <a:spAutoFit/>
          </a:bodyPr>
          <a:lstStyle/>
          <a:p>
            <a:pPr algn="l"/>
            <a:r>
              <a:rPr sz="1100" b="0">
                <a:solidFill>
                  <a:srgbClr val="C7C2EF"/>
                </a:solidFill>
                <a:latin typeface="ITC Avant Garde Gothic"/>
              </a:rPr>
              <a:t>Modelo entrenado</a:t>
            </a:r>
          </a:p>
        </p:txBody>
      </p:sp>
      <p:sp>
        <p:nvSpPr>
          <p:cNvPr id="27" name="Rounded Rectangle 26"/>
          <p:cNvSpPr/>
          <p:nvPr/>
        </p:nvSpPr>
        <p:spPr>
          <a:xfrm>
            <a:off x="9029471" y="4287774"/>
            <a:ext cx="2522143" cy="92887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258071" y="445236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58071" y="4598670"/>
            <a:ext cx="2064943" cy="563118"/>
          </a:xfrm>
          <a:prstGeom prst="rect">
            <a:avLst/>
          </a:prstGeom>
          <a:noFill/>
        </p:spPr>
        <p:txBody>
          <a:bodyPr wrap="square" anchor="t" lIns="0" rIns="0" tIns="0" bIns="0">
            <a:spAutoFit/>
          </a:bodyPr>
          <a:lstStyle/>
          <a:p>
            <a:pPr algn="l"/>
            <a:r>
              <a:rPr sz="1100" b="0">
                <a:solidFill>
                  <a:srgbClr val="C7C2EF"/>
                </a:solidFill>
                <a:latin typeface="ITC Avant Garde Gothic"/>
              </a:rPr>
              <a:t>Una arquitectura más la lista de sus pesos.</a:t>
            </a:r>
          </a:p>
        </p:txBody>
      </p:sp>
      <p:sp>
        <p:nvSpPr>
          <p:cNvPr id="30" name="TextBox 29"/>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Vocabulario de la sesión</a:t>
            </a:r>
          </a:p>
        </p:txBody>
      </p:sp>
      <p:sp>
        <p:nvSpPr>
          <p:cNvPr id="3" name="TextBox 2"/>
          <p:cNvSpPr txBox="1"/>
          <p:nvPr/>
        </p:nvSpPr>
        <p:spPr>
          <a:xfrm>
            <a:off x="640080" y="960120"/>
            <a:ext cx="10911535" cy="382358"/>
          </a:xfrm>
          <a:prstGeom prst="rect">
            <a:avLst/>
          </a:prstGeom>
          <a:noFill/>
        </p:spPr>
        <p:txBody>
          <a:bodyPr wrap="square" anchor="t" lIns="0" rIns="0" tIns="0" bIns="0">
            <a:spAutoFit/>
          </a:bodyPr>
          <a:lstStyle/>
          <a:p>
            <a:pPr algn="l"/>
            <a:r>
              <a:rPr sz="2600" b="1">
                <a:solidFill>
                  <a:srgbClr val="C7C2EF"/>
                </a:solidFill>
                <a:latin typeface="ITC Avant Garde Gothic"/>
              </a:rPr>
              <a:t>Aprendizaje</a:t>
            </a:r>
          </a:p>
        </p:txBody>
      </p:sp>
      <p:sp>
        <p:nvSpPr>
          <p:cNvPr id="4" name="Rounded Rectangle 3"/>
          <p:cNvSpPr/>
          <p:nvPr/>
        </p:nvSpPr>
        <p:spPr>
          <a:xfrm>
            <a:off x="640080" y="1708238"/>
            <a:ext cx="3454298"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87283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19134"/>
            <a:ext cx="2997098" cy="199897"/>
          </a:xfrm>
          <a:prstGeom prst="rect">
            <a:avLst/>
          </a:prstGeom>
          <a:noFill/>
        </p:spPr>
        <p:txBody>
          <a:bodyPr wrap="square" anchor="t" lIns="0" rIns="0" tIns="0" bIns="0">
            <a:spAutoFit/>
          </a:bodyPr>
          <a:lstStyle/>
          <a:p>
            <a:pPr algn="l"/>
            <a:r>
              <a:rPr sz="1100" b="0">
                <a:solidFill>
                  <a:srgbClr val="C7C2EF"/>
                </a:solidFill>
                <a:latin typeface="ITC Avant Garde Gothic"/>
              </a:rPr>
              <a:t>Término</a:t>
            </a:r>
          </a:p>
        </p:txBody>
      </p:sp>
      <p:sp>
        <p:nvSpPr>
          <p:cNvPr id="7" name="Rounded Rectangle 6"/>
          <p:cNvSpPr/>
          <p:nvPr/>
        </p:nvSpPr>
        <p:spPr>
          <a:xfrm>
            <a:off x="4368698" y="1708238"/>
            <a:ext cx="3454298"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97298" y="187283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7298" y="2019134"/>
            <a:ext cx="2997098" cy="199897"/>
          </a:xfrm>
          <a:prstGeom prst="rect">
            <a:avLst/>
          </a:prstGeom>
          <a:noFill/>
        </p:spPr>
        <p:txBody>
          <a:bodyPr wrap="square" anchor="t" lIns="0" rIns="0" tIns="0" bIns="0">
            <a:spAutoFit/>
          </a:bodyPr>
          <a:lstStyle/>
          <a:p>
            <a:pPr algn="l"/>
            <a:r>
              <a:rPr sz="1100" b="0">
                <a:solidFill>
                  <a:srgbClr val="C7C2EF"/>
                </a:solidFill>
                <a:latin typeface="ITC Avant Garde Gothic"/>
              </a:rPr>
              <a:t>Qué es</a:t>
            </a:r>
          </a:p>
        </p:txBody>
      </p:sp>
      <p:sp>
        <p:nvSpPr>
          <p:cNvPr id="10" name="Rounded Rectangle 9"/>
          <p:cNvSpPr/>
          <p:nvPr/>
        </p:nvSpPr>
        <p:spPr>
          <a:xfrm>
            <a:off x="8097316" y="1708238"/>
            <a:ext cx="3454298"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25916" y="187283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5916" y="2019134"/>
            <a:ext cx="2997098" cy="199897"/>
          </a:xfrm>
          <a:prstGeom prst="rect">
            <a:avLst/>
          </a:prstGeom>
          <a:noFill/>
        </p:spPr>
        <p:txBody>
          <a:bodyPr wrap="square" anchor="t" lIns="0" rIns="0" tIns="0" bIns="0">
            <a:spAutoFit/>
          </a:bodyPr>
          <a:lstStyle/>
          <a:p>
            <a:pPr algn="l"/>
            <a:r>
              <a:rPr sz="1100" b="0">
                <a:solidFill>
                  <a:srgbClr val="C7C2EF"/>
                </a:solidFill>
                <a:latin typeface="ITC Avant Garde Gothic"/>
              </a:rPr>
              <a:t>Función de pérdida</a:t>
            </a:r>
          </a:p>
        </p:txBody>
      </p:sp>
      <p:sp>
        <p:nvSpPr>
          <p:cNvPr id="13" name="Rounded Rectangle 12"/>
          <p:cNvSpPr/>
          <p:nvPr/>
        </p:nvSpPr>
        <p:spPr>
          <a:xfrm>
            <a:off x="640080" y="2548216"/>
            <a:ext cx="3454298" cy="74726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68680" y="271280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2859112"/>
            <a:ext cx="2997098" cy="381508"/>
          </a:xfrm>
          <a:prstGeom prst="rect">
            <a:avLst/>
          </a:prstGeom>
          <a:noFill/>
        </p:spPr>
        <p:txBody>
          <a:bodyPr wrap="square" anchor="t" lIns="0" rIns="0" tIns="0" bIns="0">
            <a:spAutoFit/>
          </a:bodyPr>
          <a:lstStyle/>
          <a:p>
            <a:pPr algn="l"/>
            <a:r>
              <a:rPr sz="1100" b="0">
                <a:solidFill>
                  <a:srgbClr val="C7C2EF"/>
                </a:solidFill>
                <a:latin typeface="ITC Avant Garde Gothic"/>
              </a:rPr>
              <a:t>El número que mide cuánto se equivocó la red.</a:t>
            </a:r>
          </a:p>
        </p:txBody>
      </p:sp>
      <p:sp>
        <p:nvSpPr>
          <p:cNvPr id="16" name="Rounded Rectangle 15"/>
          <p:cNvSpPr/>
          <p:nvPr/>
        </p:nvSpPr>
        <p:spPr>
          <a:xfrm>
            <a:off x="4368698" y="2548216"/>
            <a:ext cx="3454298" cy="74726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97298" y="271280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97298" y="2859112"/>
            <a:ext cx="2997098" cy="381508"/>
          </a:xfrm>
          <a:prstGeom prst="rect">
            <a:avLst/>
          </a:prstGeom>
          <a:noFill/>
        </p:spPr>
        <p:txBody>
          <a:bodyPr wrap="square" anchor="t" lIns="0" rIns="0" tIns="0" bIns="0">
            <a:spAutoFit/>
          </a:bodyPr>
          <a:lstStyle/>
          <a:p>
            <a:pPr algn="l"/>
            <a:r>
              <a:rPr sz="1100" b="0">
                <a:solidFill>
                  <a:srgbClr val="C7C2EF"/>
                </a:solidFill>
                <a:latin typeface="ITC Avant Garde Gothic"/>
              </a:rPr>
              <a:t>Descenso del gradiente</a:t>
            </a:r>
          </a:p>
        </p:txBody>
      </p:sp>
      <p:sp>
        <p:nvSpPr>
          <p:cNvPr id="19" name="TextBox 18"/>
          <p:cNvSpPr txBox="1"/>
          <p:nvPr/>
        </p:nvSpPr>
        <p:spPr>
          <a:xfrm>
            <a:off x="640080" y="3478364"/>
            <a:ext cx="10911535" cy="185928"/>
          </a:xfrm>
          <a:prstGeom prst="rect">
            <a:avLst/>
          </a:prstGeom>
          <a:noFill/>
        </p:spPr>
        <p:txBody>
          <a:bodyPr wrap="square" anchor="t" lIns="0" rIns="0" tIns="0" bIns="0">
            <a:spAutoFit/>
          </a:bodyPr>
          <a:lstStyle/>
          <a:p>
            <a:pPr algn="l"/>
            <a:r>
              <a:rPr sz="1200" b="0">
                <a:solidFill>
                  <a:srgbClr val="C7C2EF"/>
                </a:solidFill>
                <a:latin typeface="ITC Avant Garde Gothic"/>
              </a:rPr>
              <a:t>Ajustar los pesos paso a paso en la dirección que reduce la pérdida; la tasa de aprendizaje es el tamaño del paso.</a:t>
            </a:r>
          </a:p>
        </p:txBody>
      </p:sp>
      <p:sp>
        <p:nvSpPr>
          <p:cNvPr id="20" name="Rounded Rectangle 19"/>
          <p:cNvSpPr/>
          <p:nvPr/>
        </p:nvSpPr>
        <p:spPr>
          <a:xfrm>
            <a:off x="640080" y="3892892"/>
            <a:ext cx="10911535"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68680" y="405748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203788"/>
            <a:ext cx="10454335" cy="199897"/>
          </a:xfrm>
          <a:prstGeom prst="rect">
            <a:avLst/>
          </a:prstGeom>
          <a:noFill/>
        </p:spPr>
        <p:txBody>
          <a:bodyPr wrap="square" anchor="t" lIns="0" rIns="0" tIns="0" bIns="0">
            <a:spAutoFit/>
          </a:bodyPr>
          <a:lstStyle/>
          <a:p>
            <a:pPr algn="l"/>
            <a:r>
              <a:rPr sz="1100" b="0">
                <a:solidFill>
                  <a:srgbClr val="C7C2EF"/>
                </a:solidFill>
                <a:latin typeface="ITC Avant Garde Gothic"/>
              </a:rPr>
              <a:t>Retropropagación</a:t>
            </a:r>
          </a:p>
        </p:txBody>
      </p:sp>
      <p:sp>
        <p:nvSpPr>
          <p:cNvPr id="23" name="TextBox 22"/>
          <p:cNvSpPr txBox="1"/>
          <p:nvPr/>
        </p:nvSpPr>
        <p:spPr>
          <a:xfrm>
            <a:off x="640080" y="4641430"/>
            <a:ext cx="10911535" cy="185928"/>
          </a:xfrm>
          <a:prstGeom prst="rect">
            <a:avLst/>
          </a:prstGeom>
          <a:noFill/>
        </p:spPr>
        <p:txBody>
          <a:bodyPr wrap="square" anchor="t" lIns="0" rIns="0" tIns="0" bIns="0">
            <a:spAutoFit/>
          </a:bodyPr>
          <a:lstStyle/>
          <a:p>
            <a:pPr algn="l"/>
            <a:r>
              <a:rPr sz="1200" b="0">
                <a:solidFill>
                  <a:srgbClr val="C7C2EF"/>
                </a:solidFill>
                <a:latin typeface="ITC Avant Garde Gothic"/>
              </a:rPr>
              <a:t>El método eficiente para calcular cuánto influyó cada peso en el error.</a:t>
            </a:r>
          </a:p>
        </p:txBody>
      </p:sp>
      <p:sp>
        <p:nvSpPr>
          <p:cNvPr id="24" name="Rounded Rectangle 23"/>
          <p:cNvSpPr/>
          <p:nvPr/>
        </p:nvSpPr>
        <p:spPr>
          <a:xfrm>
            <a:off x="640080" y="5055958"/>
            <a:ext cx="10911535"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68680" y="522055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5366854"/>
            <a:ext cx="10454335" cy="199897"/>
          </a:xfrm>
          <a:prstGeom prst="rect">
            <a:avLst/>
          </a:prstGeom>
          <a:noFill/>
        </p:spPr>
        <p:txBody>
          <a:bodyPr wrap="square" anchor="t" lIns="0" rIns="0" tIns="0" bIns="0">
            <a:spAutoFit/>
          </a:bodyPr>
          <a:lstStyle/>
          <a:p>
            <a:pPr algn="l"/>
            <a:r>
              <a:rPr sz="1100" b="0">
                <a:solidFill>
                  <a:srgbClr val="C7C2EF"/>
                </a:solidFill>
                <a:latin typeface="ITC Avant Garde Gothic"/>
              </a:rPr>
              <a:t>Lote, iteración y época</a:t>
            </a:r>
          </a:p>
        </p:txBody>
      </p:sp>
      <p:sp>
        <p:nvSpPr>
          <p:cNvPr id="27" name="TextBox 26"/>
          <p:cNvSpPr txBox="1"/>
          <p:nvPr/>
        </p:nvSpPr>
        <p:spPr>
          <a:xfrm>
            <a:off x="640080" y="5804496"/>
            <a:ext cx="10911535" cy="185928"/>
          </a:xfrm>
          <a:prstGeom prst="rect">
            <a:avLst/>
          </a:prstGeom>
          <a:noFill/>
        </p:spPr>
        <p:txBody>
          <a:bodyPr wrap="square" anchor="t" lIns="0" rIns="0" tIns="0" bIns="0">
            <a:spAutoFit/>
          </a:bodyPr>
          <a:lstStyle/>
          <a:p>
            <a:pPr algn="l"/>
            <a:r>
              <a:rPr sz="1200" b="0">
                <a:solidFill>
                  <a:srgbClr val="C7C2EF"/>
                </a:solidFill>
                <a:latin typeface="ITC Avant Garde Gothic"/>
              </a:rPr>
              <a:t>Ejemplos procesados juntos antes de un ajuste; un ajuste; una pasada completa por los ejemplos.</a:t>
            </a:r>
          </a:p>
        </p:txBody>
      </p:sp>
      <p:sp>
        <p:nvSpPr>
          <p:cNvPr id="28" name="TextBox 27"/>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Vocabulario de la sesión</a:t>
            </a:r>
          </a:p>
        </p:txBody>
      </p:sp>
      <p:sp>
        <p:nvSpPr>
          <p:cNvPr id="3" name="TextBox 2"/>
          <p:cNvSpPr txBox="1"/>
          <p:nvPr/>
        </p:nvSpPr>
        <p:spPr>
          <a:xfrm>
            <a:off x="640080" y="960120"/>
            <a:ext cx="10911535" cy="382358"/>
          </a:xfrm>
          <a:prstGeom prst="rect">
            <a:avLst/>
          </a:prstGeom>
          <a:noFill/>
        </p:spPr>
        <p:txBody>
          <a:bodyPr wrap="square" anchor="t" lIns="0" rIns="0" tIns="0" bIns="0">
            <a:spAutoFit/>
          </a:bodyPr>
          <a:lstStyle/>
          <a:p>
            <a:pPr algn="l"/>
            <a:r>
              <a:rPr sz="2600" b="1">
                <a:solidFill>
                  <a:srgbClr val="C7C2EF"/>
                </a:solidFill>
                <a:latin typeface="ITC Avant Garde Gothic"/>
              </a:rPr>
              <a:t>Datos y evaluación</a:t>
            </a:r>
          </a:p>
        </p:txBody>
      </p:sp>
      <p:sp>
        <p:nvSpPr>
          <p:cNvPr id="4" name="Rounded Rectangle 3"/>
          <p:cNvSpPr/>
          <p:nvPr/>
        </p:nvSpPr>
        <p:spPr>
          <a:xfrm>
            <a:off x="640080" y="1708238"/>
            <a:ext cx="3454298"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87283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19134"/>
            <a:ext cx="2997098" cy="199897"/>
          </a:xfrm>
          <a:prstGeom prst="rect">
            <a:avLst/>
          </a:prstGeom>
          <a:noFill/>
        </p:spPr>
        <p:txBody>
          <a:bodyPr wrap="square" anchor="t" lIns="0" rIns="0" tIns="0" bIns="0">
            <a:spAutoFit/>
          </a:bodyPr>
          <a:lstStyle/>
          <a:p>
            <a:pPr algn="l"/>
            <a:r>
              <a:rPr sz="1100" b="0">
                <a:solidFill>
                  <a:srgbClr val="C7C2EF"/>
                </a:solidFill>
                <a:latin typeface="ITC Avant Garde Gothic"/>
              </a:rPr>
              <a:t>Término</a:t>
            </a:r>
          </a:p>
        </p:txBody>
      </p:sp>
      <p:sp>
        <p:nvSpPr>
          <p:cNvPr id="7" name="Rounded Rectangle 6"/>
          <p:cNvSpPr/>
          <p:nvPr/>
        </p:nvSpPr>
        <p:spPr>
          <a:xfrm>
            <a:off x="4368698" y="1708238"/>
            <a:ext cx="3454298"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97298" y="187283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7298" y="2019134"/>
            <a:ext cx="2997098" cy="199897"/>
          </a:xfrm>
          <a:prstGeom prst="rect">
            <a:avLst/>
          </a:prstGeom>
          <a:noFill/>
        </p:spPr>
        <p:txBody>
          <a:bodyPr wrap="square" anchor="t" lIns="0" rIns="0" tIns="0" bIns="0">
            <a:spAutoFit/>
          </a:bodyPr>
          <a:lstStyle/>
          <a:p>
            <a:pPr algn="l"/>
            <a:r>
              <a:rPr sz="1100" b="0">
                <a:solidFill>
                  <a:srgbClr val="C7C2EF"/>
                </a:solidFill>
                <a:latin typeface="ITC Avant Garde Gothic"/>
              </a:rPr>
              <a:t>Qué es</a:t>
            </a:r>
          </a:p>
        </p:txBody>
      </p:sp>
      <p:sp>
        <p:nvSpPr>
          <p:cNvPr id="10" name="Rounded Rectangle 9"/>
          <p:cNvSpPr/>
          <p:nvPr/>
        </p:nvSpPr>
        <p:spPr>
          <a:xfrm>
            <a:off x="8097316" y="1708238"/>
            <a:ext cx="3454298"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25916" y="187283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5916" y="2019134"/>
            <a:ext cx="2997098" cy="199897"/>
          </a:xfrm>
          <a:prstGeom prst="rect">
            <a:avLst/>
          </a:prstGeom>
          <a:noFill/>
        </p:spPr>
        <p:txBody>
          <a:bodyPr wrap="square" anchor="t" lIns="0" rIns="0" tIns="0" bIns="0">
            <a:spAutoFit/>
          </a:bodyPr>
          <a:lstStyle/>
          <a:p>
            <a:pPr algn="l"/>
            <a:r>
              <a:rPr sz="1100" b="0">
                <a:solidFill>
                  <a:srgbClr val="C7C2EF"/>
                </a:solidFill>
                <a:latin typeface="ITC Avant Garde Gothic"/>
              </a:rPr>
              <a:t>Anotación (etiquetado)</a:t>
            </a:r>
          </a:p>
        </p:txBody>
      </p:sp>
      <p:sp>
        <p:nvSpPr>
          <p:cNvPr id="13" name="TextBox 12"/>
          <p:cNvSpPr txBox="1"/>
          <p:nvPr/>
        </p:nvSpPr>
        <p:spPr>
          <a:xfrm>
            <a:off x="640080" y="2456776"/>
            <a:ext cx="10911535" cy="185928"/>
          </a:xfrm>
          <a:prstGeom prst="rect">
            <a:avLst/>
          </a:prstGeom>
          <a:noFill/>
        </p:spPr>
        <p:txBody>
          <a:bodyPr wrap="square" anchor="t" lIns="0" rIns="0" tIns="0" bIns="0">
            <a:spAutoFit/>
          </a:bodyPr>
          <a:lstStyle/>
          <a:p>
            <a:pPr algn="l"/>
            <a:r>
              <a:rPr sz="1200" b="0">
                <a:solidFill>
                  <a:srgbClr val="C7C2EF"/>
                </a:solidFill>
                <a:latin typeface="ITC Avant Garde Gothic"/>
              </a:rPr>
              <a:t>El trabajo humano de marcar las respuestas correctas sobre las imágenes de entrenamiento.</a:t>
            </a:r>
          </a:p>
        </p:txBody>
      </p:sp>
      <p:sp>
        <p:nvSpPr>
          <p:cNvPr id="14" name="Rounded Rectangle 13"/>
          <p:cNvSpPr/>
          <p:nvPr/>
        </p:nvSpPr>
        <p:spPr>
          <a:xfrm>
            <a:off x="640080" y="2871304"/>
            <a:ext cx="10911535"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303589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182200"/>
            <a:ext cx="10454335" cy="199897"/>
          </a:xfrm>
          <a:prstGeom prst="rect">
            <a:avLst/>
          </a:prstGeom>
          <a:noFill/>
        </p:spPr>
        <p:txBody>
          <a:bodyPr wrap="square" anchor="t" lIns="0" rIns="0" tIns="0" bIns="0">
            <a:spAutoFit/>
          </a:bodyPr>
          <a:lstStyle/>
          <a:p>
            <a:pPr algn="l"/>
            <a:r>
              <a:rPr sz="1100" b="0">
                <a:solidFill>
                  <a:srgbClr val="C7C2EF"/>
                </a:solidFill>
                <a:latin typeface="ITC Avant Garde Gothic"/>
              </a:rPr>
              <a:t>Entrenamiento y validación</a:t>
            </a:r>
          </a:p>
        </p:txBody>
      </p:sp>
      <p:sp>
        <p:nvSpPr>
          <p:cNvPr id="17" name="TextBox 16"/>
          <p:cNvSpPr txBox="1"/>
          <p:nvPr/>
        </p:nvSpPr>
        <p:spPr>
          <a:xfrm>
            <a:off x="640080" y="3619842"/>
            <a:ext cx="10911535" cy="185928"/>
          </a:xfrm>
          <a:prstGeom prst="rect">
            <a:avLst/>
          </a:prstGeom>
          <a:noFill/>
        </p:spPr>
        <p:txBody>
          <a:bodyPr wrap="square" anchor="t" lIns="0" rIns="0" tIns="0" bIns="0">
            <a:spAutoFit/>
          </a:bodyPr>
          <a:lstStyle/>
          <a:p>
            <a:pPr algn="l"/>
            <a:r>
              <a:rPr sz="1200" b="0">
                <a:solidFill>
                  <a:srgbClr val="C7C2EF"/>
                </a:solidFill>
                <a:latin typeface="ITC Avant Garde Gothic"/>
              </a:rPr>
              <a:t>Con el primero la red ajusta sus pesos; el segundo se reserva para medir cuánto generaliza.</a:t>
            </a:r>
          </a:p>
        </p:txBody>
      </p:sp>
      <p:sp>
        <p:nvSpPr>
          <p:cNvPr id="18" name="Rounded Rectangle 17"/>
          <p:cNvSpPr/>
          <p:nvPr/>
        </p:nvSpPr>
        <p:spPr>
          <a:xfrm>
            <a:off x="640080" y="4034370"/>
            <a:ext cx="10911535"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68680" y="419896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345266"/>
            <a:ext cx="10454335" cy="199897"/>
          </a:xfrm>
          <a:prstGeom prst="rect">
            <a:avLst/>
          </a:prstGeom>
          <a:noFill/>
        </p:spPr>
        <p:txBody>
          <a:bodyPr wrap="square" anchor="t" lIns="0" rIns="0" tIns="0" bIns="0">
            <a:spAutoFit/>
          </a:bodyPr>
          <a:lstStyle/>
          <a:p>
            <a:pPr algn="l"/>
            <a:r>
              <a:rPr sz="1100" b="0">
                <a:solidFill>
                  <a:srgbClr val="C7C2EF"/>
                </a:solidFill>
                <a:latin typeface="ITC Avant Garde Gothic"/>
              </a:rPr>
              <a:t>Sobreajuste</a:t>
            </a:r>
          </a:p>
        </p:txBody>
      </p:sp>
      <p:sp>
        <p:nvSpPr>
          <p:cNvPr id="21" name="TextBox 20"/>
          <p:cNvSpPr txBox="1"/>
          <p:nvPr/>
        </p:nvSpPr>
        <p:spPr>
          <a:xfrm>
            <a:off x="640080" y="4782908"/>
            <a:ext cx="10911535" cy="185928"/>
          </a:xfrm>
          <a:prstGeom prst="rect">
            <a:avLst/>
          </a:prstGeom>
          <a:noFill/>
        </p:spPr>
        <p:txBody>
          <a:bodyPr wrap="square" anchor="t" lIns="0" rIns="0" tIns="0" bIns="0">
            <a:spAutoFit/>
          </a:bodyPr>
          <a:lstStyle/>
          <a:p>
            <a:pPr algn="l"/>
            <a:r>
              <a:rPr sz="1200" b="0">
                <a:solidFill>
                  <a:srgbClr val="C7C2EF"/>
                </a:solidFill>
                <a:latin typeface="ITC Avant Garde Gothic"/>
              </a:rPr>
              <a:t>Funciona bien con los ejemplos de entrenamiento y mal con los nuevos, porque memorizó en lugar de aprender.</a:t>
            </a:r>
          </a:p>
        </p:txBody>
      </p:sp>
      <p:sp>
        <p:nvSpPr>
          <p:cNvPr id="22" name="Rounded Rectangle 21"/>
          <p:cNvSpPr/>
          <p:nvPr/>
        </p:nvSpPr>
        <p:spPr>
          <a:xfrm>
            <a:off x="640080" y="5197436"/>
            <a:ext cx="10911535"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68680" y="5362028"/>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5508332"/>
            <a:ext cx="10454335" cy="199897"/>
          </a:xfrm>
          <a:prstGeom prst="rect">
            <a:avLst/>
          </a:prstGeom>
          <a:noFill/>
        </p:spPr>
        <p:txBody>
          <a:bodyPr wrap="square" anchor="t" lIns="0" rIns="0" tIns="0" bIns="0">
            <a:spAutoFit/>
          </a:bodyPr>
          <a:lstStyle/>
          <a:p>
            <a:pPr algn="l"/>
            <a:r>
              <a:rPr sz="1100" b="0">
                <a:solidFill>
                  <a:srgbClr val="C7C2EF"/>
                </a:solidFill>
                <a:latin typeface="ITC Avant Garde Gothic"/>
              </a:rPr>
              <a:t>Preentrenamiento y transferencia</a:t>
            </a:r>
          </a:p>
        </p:txBody>
      </p:sp>
      <p:sp>
        <p:nvSpPr>
          <p:cNvPr id="25" name="TextBox 24"/>
          <p:cNvSpPr txBox="1"/>
          <p:nvPr/>
        </p:nvSpPr>
        <p:spPr>
          <a:xfrm>
            <a:off x="640080" y="5945974"/>
            <a:ext cx="10911535" cy="185928"/>
          </a:xfrm>
          <a:prstGeom prst="rect">
            <a:avLst/>
          </a:prstGeom>
          <a:noFill/>
        </p:spPr>
        <p:txBody>
          <a:bodyPr wrap="square" anchor="t" lIns="0" rIns="0" tIns="0" bIns="0">
            <a:spAutoFit/>
          </a:bodyPr>
          <a:lstStyle/>
          <a:p>
            <a:pPr algn="l"/>
            <a:r>
              <a:rPr sz="1200" b="0">
                <a:solidFill>
                  <a:srgbClr val="C7C2EF"/>
                </a:solidFill>
                <a:latin typeface="ITC Avant Garde Gothic"/>
              </a:rPr>
              <a:t>Entrenamiento previo con una colección grande; partir de esa red y afinarla (fine-tuning) con nuestros ejemplos.</a:t>
            </a:r>
          </a:p>
        </p:txBody>
      </p:sp>
      <p:sp>
        <p:nvSpPr>
          <p:cNvPr id="26" name="TextBox 25"/>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Vocabulario de la sesión</a:t>
            </a:r>
          </a:p>
        </p:txBody>
      </p:sp>
      <p:sp>
        <p:nvSpPr>
          <p:cNvPr id="3" name="TextBox 2"/>
          <p:cNvSpPr txBox="1"/>
          <p:nvPr/>
        </p:nvSpPr>
        <p:spPr>
          <a:xfrm>
            <a:off x="640080" y="960120"/>
            <a:ext cx="10911535" cy="382358"/>
          </a:xfrm>
          <a:prstGeom prst="rect">
            <a:avLst/>
          </a:prstGeom>
          <a:noFill/>
        </p:spPr>
        <p:txBody>
          <a:bodyPr wrap="square" anchor="t" lIns="0" rIns="0" tIns="0" bIns="0">
            <a:spAutoFit/>
          </a:bodyPr>
          <a:lstStyle/>
          <a:p>
            <a:pPr algn="l"/>
            <a:r>
              <a:rPr sz="2600" b="1">
                <a:solidFill>
                  <a:srgbClr val="C7C2EF"/>
                </a:solidFill>
                <a:latin typeface="ITC Avant Garde Gothic"/>
              </a:rPr>
              <a:t>Tipos de resultado y piezas del sitio</a:t>
            </a:r>
          </a:p>
        </p:txBody>
      </p:sp>
      <p:sp>
        <p:nvSpPr>
          <p:cNvPr id="4" name="Rounded Rectangle 3"/>
          <p:cNvSpPr/>
          <p:nvPr/>
        </p:nvSpPr>
        <p:spPr>
          <a:xfrm>
            <a:off x="640080" y="1708238"/>
            <a:ext cx="3454298" cy="74726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87283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19134"/>
            <a:ext cx="2997098" cy="381508"/>
          </a:xfrm>
          <a:prstGeom prst="rect">
            <a:avLst/>
          </a:prstGeom>
          <a:noFill/>
        </p:spPr>
        <p:txBody>
          <a:bodyPr wrap="square" anchor="t" lIns="0" rIns="0" tIns="0" bIns="0">
            <a:spAutoFit/>
          </a:bodyPr>
          <a:lstStyle/>
          <a:p>
            <a:pPr algn="l"/>
            <a:r>
              <a:rPr sz="1100" b="0">
                <a:solidFill>
                  <a:srgbClr val="C7C2EF"/>
                </a:solidFill>
                <a:latin typeface="ITC Avant Garde Gothic"/>
              </a:rPr>
              <a:t>Término</a:t>
            </a:r>
          </a:p>
        </p:txBody>
      </p:sp>
      <p:sp>
        <p:nvSpPr>
          <p:cNvPr id="7" name="Rounded Rectangle 6"/>
          <p:cNvSpPr/>
          <p:nvPr/>
        </p:nvSpPr>
        <p:spPr>
          <a:xfrm>
            <a:off x="4368698" y="1708238"/>
            <a:ext cx="3454298" cy="74726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97298" y="187283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7298" y="2019134"/>
            <a:ext cx="2997098" cy="381508"/>
          </a:xfrm>
          <a:prstGeom prst="rect">
            <a:avLst/>
          </a:prstGeom>
          <a:noFill/>
        </p:spPr>
        <p:txBody>
          <a:bodyPr wrap="square" anchor="t" lIns="0" rIns="0" tIns="0" bIns="0">
            <a:spAutoFit/>
          </a:bodyPr>
          <a:lstStyle/>
          <a:p>
            <a:pPr algn="l"/>
            <a:r>
              <a:rPr sz="1100" b="0">
                <a:solidFill>
                  <a:srgbClr val="C7C2EF"/>
                </a:solidFill>
                <a:latin typeface="ITC Avant Garde Gothic"/>
              </a:rPr>
              <a:t>Qué es</a:t>
            </a:r>
          </a:p>
        </p:txBody>
      </p:sp>
      <p:sp>
        <p:nvSpPr>
          <p:cNvPr id="10" name="Rounded Rectangle 9"/>
          <p:cNvSpPr/>
          <p:nvPr/>
        </p:nvSpPr>
        <p:spPr>
          <a:xfrm>
            <a:off x="8097316" y="1708238"/>
            <a:ext cx="3454298" cy="74726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25916" y="187283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5916" y="2019134"/>
            <a:ext cx="2997098" cy="381508"/>
          </a:xfrm>
          <a:prstGeom prst="rect">
            <a:avLst/>
          </a:prstGeom>
          <a:noFill/>
        </p:spPr>
        <p:txBody>
          <a:bodyPr wrap="square" anchor="t" lIns="0" rIns="0" tIns="0" bIns="0">
            <a:spAutoFit/>
          </a:bodyPr>
          <a:lstStyle/>
          <a:p>
            <a:pPr algn="l"/>
            <a:r>
              <a:rPr sz="1100" b="0">
                <a:solidFill>
                  <a:srgbClr val="C7C2EF"/>
                </a:solidFill>
                <a:latin typeface="ITC Avant Garde Gothic"/>
              </a:rPr>
              <a:t>Clasificación, detección, segmentación</a:t>
            </a:r>
          </a:p>
        </p:txBody>
      </p:sp>
      <p:sp>
        <p:nvSpPr>
          <p:cNvPr id="13" name="TextBox 12"/>
          <p:cNvSpPr txBox="1"/>
          <p:nvPr/>
        </p:nvSpPr>
        <p:spPr>
          <a:xfrm>
            <a:off x="640080" y="2638386"/>
            <a:ext cx="10911535" cy="371856"/>
          </a:xfrm>
          <a:prstGeom prst="rect">
            <a:avLst/>
          </a:prstGeom>
          <a:noFill/>
        </p:spPr>
        <p:txBody>
          <a:bodyPr wrap="square" anchor="t" lIns="0" rIns="0" tIns="0" bIns="0">
            <a:spAutoFit/>
          </a:bodyPr>
          <a:lstStyle/>
          <a:p>
            <a:pPr algn="l"/>
            <a:r>
              <a:rPr sz="1200" b="0">
                <a:solidFill>
                  <a:srgbClr val="C7C2EF"/>
                </a:solidFill>
                <a:latin typeface="ITC Avant Garde Gothic"/>
              </a:rPr>
              <a:t>Una etiqueta por imagen; rectángulos; clasificar cada píxel. La segmentación por instancias separa cada objeto y traza su contorno: es la que usamos, con la Mask R-CNN.</a:t>
            </a:r>
          </a:p>
        </p:txBody>
      </p:sp>
      <p:sp>
        <p:nvSpPr>
          <p:cNvPr id="14" name="Rounded Rectangle 13"/>
          <p:cNvSpPr/>
          <p:nvPr/>
        </p:nvSpPr>
        <p:spPr>
          <a:xfrm>
            <a:off x="640080" y="3238842"/>
            <a:ext cx="10911535"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3403434"/>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549738"/>
            <a:ext cx="10454335" cy="199897"/>
          </a:xfrm>
          <a:prstGeom prst="rect">
            <a:avLst/>
          </a:prstGeom>
          <a:noFill/>
        </p:spPr>
        <p:txBody>
          <a:bodyPr wrap="square" anchor="t" lIns="0" rIns="0" tIns="0" bIns="0">
            <a:spAutoFit/>
          </a:bodyPr>
          <a:lstStyle/>
          <a:p>
            <a:pPr algn="l"/>
            <a:r>
              <a:rPr sz="1100" b="0">
                <a:solidFill>
                  <a:srgbClr val="C7C2EF"/>
                </a:solidFill>
                <a:latin typeface="ITC Avant Garde Gothic"/>
              </a:rPr>
              <a:t>Inferencia</a:t>
            </a:r>
          </a:p>
        </p:txBody>
      </p:sp>
      <p:sp>
        <p:nvSpPr>
          <p:cNvPr id="17" name="TextBox 16"/>
          <p:cNvSpPr txBox="1"/>
          <p:nvPr/>
        </p:nvSpPr>
        <p:spPr>
          <a:xfrm>
            <a:off x="640080" y="3987380"/>
            <a:ext cx="10911535" cy="185928"/>
          </a:xfrm>
          <a:prstGeom prst="rect">
            <a:avLst/>
          </a:prstGeom>
          <a:noFill/>
        </p:spPr>
        <p:txBody>
          <a:bodyPr wrap="square" anchor="t" lIns="0" rIns="0" tIns="0" bIns="0">
            <a:spAutoFit/>
          </a:bodyPr>
          <a:lstStyle/>
          <a:p>
            <a:pPr algn="l"/>
            <a:r>
              <a:rPr sz="1200" b="0">
                <a:solidFill>
                  <a:srgbClr val="C7C2EF"/>
                </a:solidFill>
                <a:latin typeface="ITC Avant Garde Gothic"/>
              </a:rPr>
              <a:t>Usar un modelo ya entrenado para analizar una imagen nueva, en procesador y sin entrenar nada.</a:t>
            </a:r>
          </a:p>
        </p:txBody>
      </p:sp>
      <p:sp>
        <p:nvSpPr>
          <p:cNvPr id="18" name="Rounded Rectangle 17"/>
          <p:cNvSpPr/>
          <p:nvPr/>
        </p:nvSpPr>
        <p:spPr>
          <a:xfrm>
            <a:off x="640080" y="4401908"/>
            <a:ext cx="10911535"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68680" y="4566500"/>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712804"/>
            <a:ext cx="10454335" cy="199897"/>
          </a:xfrm>
          <a:prstGeom prst="rect">
            <a:avLst/>
          </a:prstGeom>
          <a:noFill/>
        </p:spPr>
        <p:txBody>
          <a:bodyPr wrap="square" anchor="t" lIns="0" rIns="0" tIns="0" bIns="0">
            <a:spAutoFit/>
          </a:bodyPr>
          <a:lstStyle/>
          <a:p>
            <a:pPr algn="l"/>
            <a:r>
              <a:rPr sz="1100" b="0">
                <a:solidFill>
                  <a:srgbClr val="C7C2EF"/>
                </a:solidFill>
                <a:latin typeface="ITC Avant Garde Gothic"/>
              </a:rPr>
              <a:t>Tesela</a:t>
            </a:r>
          </a:p>
        </p:txBody>
      </p:sp>
      <p:sp>
        <p:nvSpPr>
          <p:cNvPr id="21" name="TextBox 20"/>
          <p:cNvSpPr txBox="1"/>
          <p:nvPr/>
        </p:nvSpPr>
        <p:spPr>
          <a:xfrm>
            <a:off x="640080" y="5150446"/>
            <a:ext cx="10911535" cy="185928"/>
          </a:xfrm>
          <a:prstGeom prst="rect">
            <a:avLst/>
          </a:prstGeom>
          <a:noFill/>
        </p:spPr>
        <p:txBody>
          <a:bodyPr wrap="square" anchor="t" lIns="0" rIns="0" tIns="0" bIns="0">
            <a:spAutoFit/>
          </a:bodyPr>
          <a:lstStyle/>
          <a:p>
            <a:pPr algn="l"/>
            <a:r>
              <a:rPr sz="1200" b="0">
                <a:solidFill>
                  <a:srgbClr val="C7C2EF"/>
                </a:solidFill>
                <a:latin typeface="ITC Avant Garde Gothic"/>
              </a:rPr>
              <a:t>Cada uno de los recortes pequeños, con un traslape entre ellos, en que se divide una fotografía grande.</a:t>
            </a:r>
          </a:p>
        </p:txBody>
      </p:sp>
      <p:sp>
        <p:nvSpPr>
          <p:cNvPr id="22" name="Rounded Rectangle 21"/>
          <p:cNvSpPr/>
          <p:nvPr/>
        </p:nvSpPr>
        <p:spPr>
          <a:xfrm>
            <a:off x="640080" y="5564974"/>
            <a:ext cx="10911535" cy="56565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68680" y="5729566"/>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5875870"/>
            <a:ext cx="10454335" cy="199897"/>
          </a:xfrm>
          <a:prstGeom prst="rect">
            <a:avLst/>
          </a:prstGeom>
          <a:noFill/>
        </p:spPr>
        <p:txBody>
          <a:bodyPr wrap="square" anchor="t" lIns="0" rIns="0" tIns="0" bIns="0">
            <a:spAutoFit/>
          </a:bodyPr>
          <a:lstStyle/>
          <a:p>
            <a:pPr algn="l"/>
            <a:r>
              <a:rPr sz="1100" b="0">
                <a:solidFill>
                  <a:srgbClr val="C7C2EF"/>
                </a:solidFill>
                <a:latin typeface="ITC Avant Garde Gothic"/>
              </a:rPr>
              <a:t>Contorno, imagen marcada y escala</a:t>
            </a:r>
          </a:p>
        </p:txBody>
      </p:sp>
      <p:sp>
        <p:nvSpPr>
          <p:cNvPr id="25" name="TextBox 24"/>
          <p:cNvSpPr txBox="1"/>
          <p:nvPr/>
        </p:nvSpPr>
        <p:spPr>
          <a:xfrm>
            <a:off x="640080" y="6313512"/>
            <a:ext cx="10911535" cy="371856"/>
          </a:xfrm>
          <a:prstGeom prst="rect">
            <a:avLst/>
          </a:prstGeom>
          <a:noFill/>
        </p:spPr>
        <p:txBody>
          <a:bodyPr wrap="square" anchor="t" lIns="0" rIns="0" tIns="0" bIns="0">
            <a:spAutoFit/>
          </a:bodyPr>
          <a:lstStyle/>
          <a:p>
            <a:pPr algn="l"/>
            <a:r>
              <a:rPr sz="1200" b="0">
                <a:solidFill>
                  <a:srgbClr val="C7C2EF"/>
                </a:solidFill>
                <a:latin typeface="ITC Avant Garde Gothic"/>
              </a:rPr>
              <a:t>La forma cerrada de un espermatozoide; la fotografía con los contornos dibujados y numerados; la equivalencia entre píxeles y micras.</a:t>
            </a:r>
          </a:p>
        </p:txBody>
      </p:sp>
      <p:sp>
        <p:nvSpPr>
          <p:cNvPr id="26" name="TextBox 25"/>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Redes neuronales</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Resumen de la sesión</a:t>
            </a:r>
          </a:p>
        </p:txBody>
      </p:sp>
      <p:sp>
        <p:nvSpPr>
          <p:cNvPr id="3" name="TextBox 2"/>
          <p:cNvSpPr txBox="1"/>
          <p:nvPr/>
        </p:nvSpPr>
        <p:spPr>
          <a:xfrm>
            <a:off x="640080" y="960120"/>
            <a:ext cx="10911535" cy="382358"/>
          </a:xfrm>
          <a:prstGeom prst="rect">
            <a:avLst/>
          </a:prstGeom>
          <a:noFill/>
        </p:spPr>
        <p:txBody>
          <a:bodyPr wrap="square" anchor="t" lIns="0" rIns="0" tIns="0" bIns="0">
            <a:spAutoFit/>
          </a:bodyPr>
          <a:lstStyle/>
          <a:p>
            <a:pPr algn="l"/>
            <a:r>
              <a:rPr sz="2600" b="1">
                <a:solidFill>
                  <a:srgbClr val="C7C2EF"/>
                </a:solidFill>
                <a:latin typeface="ITC Avant Garde Gothic"/>
              </a:rPr>
              <a:t>Hoy se vieron tres cosas</a:t>
            </a:r>
          </a:p>
        </p:txBody>
      </p:sp>
      <p:sp>
        <p:nvSpPr>
          <p:cNvPr id="4" name="TextBox 3"/>
          <p:cNvSpPr txBox="1"/>
          <p:nvPr/>
        </p:nvSpPr>
        <p:spPr>
          <a:xfrm>
            <a:off x="640080" y="1708238"/>
            <a:ext cx="10911535" cy="306781"/>
          </a:xfrm>
          <a:prstGeom prst="rect">
            <a:avLst/>
          </a:prstGeom>
          <a:noFill/>
        </p:spPr>
        <p:txBody>
          <a:bodyPr wrap="square" anchor="t" lIns="0" rIns="0" tIns="0" bIns="0">
            <a:spAutoFit/>
          </a:bodyPr>
          <a:lstStyle/>
          <a:p>
            <a:pPr algn="l"/>
            <a:r>
              <a:rPr sz="2000" b="1">
                <a:solidFill>
                  <a:srgbClr val="FF983D"/>
                </a:solidFill>
                <a:latin typeface="ITC Avant Garde Gothic"/>
              </a:rPr>
              <a:t>El objetivo y el alcance</a:t>
            </a:r>
          </a:p>
        </p:txBody>
      </p:sp>
      <p:sp>
        <p:nvSpPr>
          <p:cNvPr id="5" name="TextBox 4"/>
          <p:cNvSpPr txBox="1"/>
          <p:nvPr/>
        </p:nvSpPr>
        <p:spPr>
          <a:xfrm>
            <a:off x="640080" y="2197900"/>
            <a:ext cx="10911535" cy="490849"/>
          </a:xfrm>
          <a:prstGeom prst="rect">
            <a:avLst/>
          </a:prstGeom>
          <a:noFill/>
        </p:spPr>
        <p:txBody>
          <a:bodyPr wrap="square" anchor="t" lIns="0" rIns="0" tIns="0" bIns="0">
            <a:spAutoFit/>
          </a:bodyPr>
          <a:lstStyle/>
          <a:p>
            <a:pPr algn="l"/>
            <a:r>
              <a:rPr sz="1600" b="0">
                <a:solidFill>
                  <a:srgbClr val="C7C2EF"/>
                </a:solidFill>
                <a:latin typeface="ITC Avant Garde Gothic"/>
              </a:rPr>
              <a:t>Un sitio que analiza imágenes de fluorescencia de espermatozoides, los cuenta, mide área y largo, muestra la distribución y exporta los resultados.</a:t>
            </a:r>
          </a:p>
        </p:txBody>
      </p:sp>
      <p:sp>
        <p:nvSpPr>
          <p:cNvPr id="6" name="TextBox 5"/>
          <p:cNvSpPr txBox="1"/>
          <p:nvPr/>
        </p:nvSpPr>
        <p:spPr>
          <a:xfrm>
            <a:off x="640080" y="2917350"/>
            <a:ext cx="10911535" cy="306781"/>
          </a:xfrm>
          <a:prstGeom prst="rect">
            <a:avLst/>
          </a:prstGeom>
          <a:noFill/>
        </p:spPr>
        <p:txBody>
          <a:bodyPr wrap="square" anchor="t" lIns="0" rIns="0" tIns="0" bIns="0">
            <a:spAutoFit/>
          </a:bodyPr>
          <a:lstStyle/>
          <a:p>
            <a:pPr algn="l"/>
            <a:r>
              <a:rPr sz="2000" b="1">
                <a:solidFill>
                  <a:srgbClr val="FF983D"/>
                </a:solidFill>
                <a:latin typeface="ITC Avant Garde Gothic"/>
              </a:rPr>
              <a:t>El sitio en funcionamiento</a:t>
            </a:r>
          </a:p>
        </p:txBody>
      </p:sp>
      <p:sp>
        <p:nvSpPr>
          <p:cNvPr id="7" name="TextBox 6"/>
          <p:cNvSpPr txBox="1"/>
          <p:nvPr/>
        </p:nvSpPr>
        <p:spPr>
          <a:xfrm>
            <a:off x="640080" y="3407011"/>
            <a:ext cx="10911535" cy="490849"/>
          </a:xfrm>
          <a:prstGeom prst="rect">
            <a:avLst/>
          </a:prstGeom>
          <a:noFill/>
        </p:spPr>
        <p:txBody>
          <a:bodyPr wrap="square" anchor="t" lIns="0" rIns="0" tIns="0" bIns="0">
            <a:spAutoFit/>
          </a:bodyPr>
          <a:lstStyle/>
          <a:p>
            <a:pPr algn="l"/>
            <a:r>
              <a:rPr sz="1600" b="0">
                <a:solidFill>
                  <a:srgbClr val="C7C2EF"/>
                </a:solidFill>
                <a:latin typeface="ITC Avant Garde Gothic"/>
              </a:rPr>
              <a:t>La cuenta, la carga, la lectura de resultados, el zoom, la escala, los avisos de contexto, el CSV, el PDF y el historial.</a:t>
            </a:r>
          </a:p>
        </p:txBody>
      </p:sp>
      <p:sp>
        <p:nvSpPr>
          <p:cNvPr id="8" name="TextBox 7"/>
          <p:cNvSpPr txBox="1"/>
          <p:nvPr/>
        </p:nvSpPr>
        <p:spPr>
          <a:xfrm>
            <a:off x="640080" y="4126461"/>
            <a:ext cx="10911535" cy="306781"/>
          </a:xfrm>
          <a:prstGeom prst="rect">
            <a:avLst/>
          </a:prstGeom>
          <a:noFill/>
        </p:spPr>
        <p:txBody>
          <a:bodyPr wrap="square" anchor="t" lIns="0" rIns="0" tIns="0" bIns="0">
            <a:spAutoFit/>
          </a:bodyPr>
          <a:lstStyle/>
          <a:p>
            <a:pPr algn="l"/>
            <a:r>
              <a:rPr sz="2000" b="1">
                <a:solidFill>
                  <a:srgbClr val="FF983D"/>
                </a:solidFill>
                <a:latin typeface="ITC Avant Garde Gothic"/>
              </a:rPr>
              <a:t>La idea de red neuronal</a:t>
            </a:r>
          </a:p>
        </p:txBody>
      </p:sp>
      <p:sp>
        <p:nvSpPr>
          <p:cNvPr id="9" name="TextBox 8"/>
          <p:cNvSpPr txBox="1"/>
          <p:nvPr/>
        </p:nvSpPr>
        <p:spPr>
          <a:xfrm>
            <a:off x="640080" y="4616122"/>
            <a:ext cx="10911535" cy="490849"/>
          </a:xfrm>
          <a:prstGeom prst="rect">
            <a:avLst/>
          </a:prstGeom>
          <a:noFill/>
        </p:spPr>
        <p:txBody>
          <a:bodyPr wrap="square" anchor="t" lIns="0" rIns="0" tIns="0" bIns="0">
            <a:spAutoFit/>
          </a:bodyPr>
          <a:lstStyle/>
          <a:p>
            <a:pPr algn="l"/>
            <a:r>
              <a:rPr sz="1600" b="0">
                <a:solidFill>
                  <a:srgbClr val="C7C2EF"/>
                </a:solidFill>
                <a:latin typeface="ITC Avant Garde Gothic"/>
              </a:rPr>
              <a:t>Capas con pesos ajustables que aprenden de ejemplos anotados, ven con filtros aprendidos, no empiezan de cero y se evalúan con imágenes que no vieron.</a:t>
            </a:r>
          </a:p>
        </p:txBody>
      </p:sp>
      <p:sp>
        <p:nvSpPr>
          <p:cNvPr id="10" name="TextBox 9"/>
          <p:cNvSpPr txBox="1"/>
          <p:nvPr/>
        </p:nvSpPr>
        <p:spPr>
          <a:xfrm>
            <a:off x="640080" y="6080760"/>
            <a:ext cx="10911535" cy="274320"/>
          </a:xfrm>
          <a:prstGeom prst="rect">
            <a:avLst/>
          </a:prstGeom>
          <a:noFill/>
        </p:spPr>
        <p:txBody>
          <a:bodyPr wrap="square" anchor="t" lIns="0" rIns="0" tIns="0" bIns="0">
            <a:spAutoFit/>
          </a:bodyPr>
          <a:lstStyle/>
          <a:p>
            <a:pPr algn="l"/>
            <a:r>
              <a:rPr sz="1400" b="0">
                <a:solidFill>
                  <a:srgbClr val="C7C2EF"/>
                </a:solidFill>
                <a:latin typeface="ITC Avant Garde Gothic"/>
              </a:rPr>
              <a:t>Image Bio Pro · Cierre</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17081E"/>
        </a:solidFill>
        <a:effectLst/>
      </p:bgPr>
    </p:bg>
    <p:spTree>
      <p:nvGrpSpPr>
        <p:cNvPr id="1" name=""/>
        <p:cNvGrpSpPr/>
        <p:nvPr/>
      </p:nvGrpSpPr>
      <p:grpSpPr/>
      <p:sp>
        <p:nvSpPr>
          <p:cNvPr id="2" name="TextBox 1"/>
          <p:cNvSpPr txBox="1"/>
          <p:nvPr/>
        </p:nvSpPr>
        <p:spPr>
          <a:xfrm>
            <a:off x="640080" y="502920"/>
            <a:ext cx="10911535" cy="320040"/>
          </a:xfrm>
          <a:prstGeom prst="rect">
            <a:avLst/>
          </a:prstGeom>
          <a:noFill/>
        </p:spPr>
        <p:txBody>
          <a:bodyPr wrap="square" anchor="t" lIns="0" rIns="0" tIns="0" bIns="0">
            <a:spAutoFit/>
          </a:bodyPr>
          <a:lstStyle/>
          <a:p>
            <a:pPr algn="l"/>
            <a:r>
              <a:rPr sz="1600" b="0">
                <a:solidFill>
                  <a:srgbClr val="FF983D"/>
                </a:solidFill>
                <a:latin typeface="Retropix"/>
              </a:rPr>
              <a:t>Cierre</a:t>
            </a:r>
          </a:p>
        </p:txBody>
      </p:sp>
      <p:sp>
        <p:nvSpPr>
          <p:cNvPr id="3" name="TextBox 2"/>
          <p:cNvSpPr txBox="1"/>
          <p:nvPr/>
        </p:nvSpPr>
        <p:spPr>
          <a:xfrm>
            <a:off x="640080" y="960120"/>
            <a:ext cx="10911535" cy="642620"/>
          </a:xfrm>
          <a:prstGeom prst="rect">
            <a:avLst/>
          </a:prstGeom>
          <a:noFill/>
        </p:spPr>
        <p:txBody>
          <a:bodyPr wrap="square" anchor="t" lIns="0" rIns="0" tIns="0" bIns="0">
            <a:spAutoFit/>
          </a:bodyPr>
          <a:lstStyle/>
          <a:p>
            <a:pPr algn="l"/>
            <a:r>
              <a:rPr sz="4400" b="1">
                <a:solidFill>
                  <a:srgbClr val="C7C2EF"/>
                </a:solidFill>
                <a:latin typeface="ITC Avant Garde Gothic"/>
              </a:rPr>
              <a:t>Gracias</a:t>
            </a:r>
          </a:p>
        </p:txBody>
      </p:sp>
      <p:sp>
        <p:nvSpPr>
          <p:cNvPr id="4" name="Rounded Rectangle 3"/>
          <p:cNvSpPr/>
          <p:nvPr/>
        </p:nvSpPr>
        <p:spPr>
          <a:xfrm>
            <a:off x="640080" y="1968500"/>
            <a:ext cx="2522143" cy="200352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13309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279396"/>
            <a:ext cx="2064943" cy="1637768"/>
          </a:xfrm>
          <a:prstGeom prst="rect">
            <a:avLst/>
          </a:prstGeom>
          <a:noFill/>
        </p:spPr>
        <p:txBody>
          <a:bodyPr wrap="square" anchor="t" lIns="0" rIns="0" tIns="0" bIns="0">
            <a:spAutoFit/>
          </a:bodyPr>
          <a:lstStyle/>
          <a:p>
            <a:pPr algn="l"/>
            <a:r>
              <a:rPr sz="1900" b="0">
                <a:solidFill>
                  <a:srgbClr val="C7C2EF"/>
                </a:solidFill>
                <a:latin typeface="ITC Avant Garde Gothic"/>
              </a:rPr>
              <a:t>La red localiza, el código mide y las personas verifican.</a:t>
            </a:r>
          </a:p>
        </p:txBody>
      </p:sp>
      <p:sp>
        <p:nvSpPr>
          <p:cNvPr id="7" name="Rounded Rectangle 6"/>
          <p:cNvSpPr/>
          <p:nvPr/>
        </p:nvSpPr>
        <p:spPr>
          <a:xfrm>
            <a:off x="3436543" y="1968500"/>
            <a:ext cx="2522143" cy="200352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65143" y="213309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65143" y="2279396"/>
            <a:ext cx="2064943" cy="1637768"/>
          </a:xfrm>
          <a:prstGeom prst="rect">
            <a:avLst/>
          </a:prstGeom>
          <a:noFill/>
        </p:spPr>
        <p:txBody>
          <a:bodyPr wrap="square" anchor="t" lIns="0" rIns="0" tIns="0" bIns="0">
            <a:spAutoFit/>
          </a:bodyPr>
          <a:lstStyle/>
          <a:p>
            <a:pPr algn="l"/>
            <a:r>
              <a:rPr sz="1900" b="0">
                <a:solidFill>
                  <a:srgbClr val="C7C2EF"/>
                </a:solidFill>
                <a:latin typeface="ITC Avant Garde Gothic"/>
              </a:rPr>
              <a:t>Preguntas y comentarios</a:t>
            </a:r>
          </a:p>
        </p:txBody>
      </p:sp>
      <p:sp>
        <p:nvSpPr>
          <p:cNvPr id="10" name="Rounded Rectangle 9"/>
          <p:cNvSpPr/>
          <p:nvPr/>
        </p:nvSpPr>
        <p:spPr>
          <a:xfrm>
            <a:off x="6233007" y="1968500"/>
            <a:ext cx="2522143" cy="200352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61607" y="213309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1607" y="2279396"/>
            <a:ext cx="2064943" cy="1637768"/>
          </a:xfrm>
          <a:prstGeom prst="rect">
            <a:avLst/>
          </a:prstGeom>
          <a:noFill/>
        </p:spPr>
        <p:txBody>
          <a:bodyPr wrap="square" anchor="t" lIns="0" rIns="0" tIns="0" bIns="0">
            <a:spAutoFit/>
          </a:bodyPr>
          <a:lstStyle/>
          <a:p>
            <a:pPr algn="l"/>
            <a:r>
              <a:rPr sz="1900" b="0">
                <a:solidFill>
                  <a:srgbClr val="C7C2EF"/>
                </a:solidFill>
                <a:latin typeface="ITC Avant Garde Gothic"/>
              </a:rPr>
              <a:t>15 minutos</a:t>
            </a:r>
          </a:p>
        </p:txBody>
      </p:sp>
      <p:sp>
        <p:nvSpPr>
          <p:cNvPr id="13" name="Rounded Rectangle 12"/>
          <p:cNvSpPr/>
          <p:nvPr/>
        </p:nvSpPr>
        <p:spPr>
          <a:xfrm>
            <a:off x="9029471" y="1968500"/>
            <a:ext cx="2522143" cy="2003528"/>
          </a:xfrm>
          <a:prstGeom prst="roundRect">
            <a:avLst>
              <a:gd name="adj" fmla="val 8000"/>
            </a:avLst>
          </a:prstGeom>
          <a:solidFill>
            <a:srgbClr val="3A1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258071" y="2133092"/>
            <a:ext cx="457200" cy="45720"/>
          </a:xfrm>
          <a:prstGeom prst="rect">
            <a:avLst/>
          </a:prstGeom>
          <a:solidFill>
            <a:srgbClr val="FF9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58071" y="2279396"/>
            <a:ext cx="2064943" cy="1637768"/>
          </a:xfrm>
          <a:prstGeom prst="rect">
            <a:avLst/>
          </a:prstGeom>
          <a:noFill/>
        </p:spPr>
        <p:txBody>
          <a:bodyPr wrap="square" anchor="t" lIns="0" rIns="0" tIns="0" bIns="0">
            <a:spAutoFit/>
          </a:bodyPr>
          <a:lstStyle/>
          <a:p>
            <a:pPr algn="l"/>
            <a:r>
              <a:rPr sz="1900" b="0">
                <a:solidFill>
                  <a:srgbClr val="C7C2EF"/>
                </a:solidFill>
                <a:latin typeface="ITC Avant Garde Gothic"/>
              </a:rPr>
              <a:t>[correo del desarrollador]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