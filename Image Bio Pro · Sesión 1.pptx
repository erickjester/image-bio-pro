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1.1. Bienvenida: quién soy, que la sesión se graba, cómo se reparten las dos horas y el nivel de la explicación. Invitar a anotar dudas y comentarios, porque esta primera sesión también sirve para que el grupo revise la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1.2. Qué hace el sitio: detecta, cuenta, mide, grafica y exporta. Origen: contar y medir a mano es lento y cambia según quién lo haga. Subrayar que el modelo inicial es una primera versión y que el grupo podrá mejorarlo con sus imágenes.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1.2 y 1.6. Es el principio de diseño que más pesa en la confianza: cualquier medida se verifica sin abrir la red. Volver a esta diapositiva en el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1.3. Recorrer el sitio, el análisis y la capacitación. Las imágenes subidas se borran al terminar el análisis; se conserva el PDF y una copia reducida con las marcas. Fuera de alcance: control contra tratamiento (perspectiva) y la red multimodal (proyecto aparte).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1.4. Las fechas de las sesiones siguen por confirmar con el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1.4. Presentar el sistema como una entrega completa y los límites como retos: el modelo se entrenó con un volumen acotado de imágenes y la etapa de actualización lo amplía. Fuente de las cifras: docs/integracion-modelos.md.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1.4. Ambos se retoman en la demostración: la escala en la sección sobre micras y el tiempo mientras corre el análisis. Si el servidor real tarda mucho, las salidas previstas son limitar imágenes por envío o analizar en segundo plano.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1.4. Salvo la actualización de la red, ninguna tiene fecha. Mejorar el modelo no obliga a reconstruir el sitio: el sitio lee su configuración del propio archivo del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1.5. La capacidad cuatro es la que da independencia al grupo. Todo queda documentado en el repositorio: requisitos, decisiones técnicas, guía de despliegue, plan de integración y cuaderno de entrenamiento comentado.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1.6. Explican varias decisiones que se verán en la demostración, como los recuadros de contexto sobre escala y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1.7. Confirmar los precios antes de decirlos. Un hosting compartido normal no sirve porque no puede ejecutar Flask con PyTorch. El sitio corre en un contenedor de Docker; los archivos de los modelos no están en el repositorio y se copian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1.8. Las sesiones son para explicar y mostrar ejemplos; el código que se vea ya estará escrito. Entre sesiones se pueden mandar dudas por correo. Pasar enseguida a la demostración.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2.1. Cambiar al navegador. Zoom al 125 % para que se lea bien en la videollamada. Empezar sin sesión iniciada, para mostrar lo que ve cualquier visitante.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2.1. Mostrar el menú de hamburguesa, el selector de idioma (cambiar a EN y volver a ES) y el pie con el aviso de privacidad 2026 y la licencia Creative Commons. El formulario guarda los mensajes en la base de datos; la dirección de destino se define con el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2.2 a 2.11. Orden de la demostración. Todo en vivo en el navegador; las diapositivas siguientes sirven de apoyo cuando se explica un punto.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2.2. Registrarse en vivo, salir y volver a entrar; mostrar «Recordarme en este equipo». El error de inicio de sesión es vago a propósito. Tras entrar, el sitio lleva a la página de análisis.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2.3. Usar primero «Probar con la imagen de ejemplo» (imagen sintética). La barra de progreso indica actividad, no porcentaje: el análisis es una sola operación larga en el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2.3. Usar el tiempo de espera para explicar este recorrido. Los pasos 4 a 6 se ven con detalle en la sesión 2. Los modelos se cargan una sola vez, por eso el primer análisis tras reiniciar el servidor tarda un poco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2.3. Cifras medidas en una computadora de escritorio, sin otros procesos, según docs/integracion-modelos.md. Ensayar antes en el servidor real y tener preparado un análisis hecho en «Mis análisis» por si la espera se alarga.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2.4. Esquema ilustrativo, no es una captura. Recorrer de arriba abajo: encabezado con usuario y fecha, avisos, mensajes del análisis, metadatos, imagen marcada, datos principales, gráfica, tabla, botones. Si hay varias imágenes, al final aparece la gráfica de promedios.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2.4. Cumple la petición de imprimir la desviación estándar junto con la media. La gráfica no supone ninguna forma: puede salir en campana, con dos picos u otra. No se compara con tamaños de referencia de ninguna especie.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2.5. En vivo: clic en la imagen, acercar a una zona con varios espermatozoides, mover, volver a Ajustar y pasar el cursor sobre uno. El sitio dibuja un polígono invisible por contorno; se verá en la sesión de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2.5. La tabla tiene su propia barra de desplazamiento para no alargar la página. Área = píxeles dentro del contorno; largo = a lo largo de la forma; ambos se calculan con OpenCV sin intervención de la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2.6. Decir en voz alta que los números son inventados. En micras, las comparaciones entre imágenes del sitio siguen siendo válidas porque el factor es el mismo; las comparaciones contra la literatura necesitan la escala calibrada.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2.7. Origen: que la persona diga «ah, no la analizó» en lugar de recibir un resultado dudoso. Revisa todo antes de analizar nada, de modo que un error en el décimo archivo no obliga a esperar los nueve análisis anteriores. Si la demo en vivo se complica, usar capturas.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2.8. Subir el lote preparado de tres imágenes (dos de fluorescencia y una de fondo claro). La decisión no usa aprendizaje: es comparar un número con un umbral. Promediar tipos distintos solo se hace aquí para la demostración.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2.9. Mostrar en el visor la regla de la esquina inferior izquierda: 300 px = 5 micras. Mientras no haya calibración, tratar los píxeles como dato principal y las micras como aproximación. Las fotos vienen en dos tamaños, de unos 1792 y 3584 px de ancho, y cada una necesita su propio valor.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2.10. Abrir el CSV en una hoja de cálculo y el PDF en el visor. Las gráficas de pantalla se dibujan en el navegador con Chart.js; las del PDF en el servidor con matplotlib, y el PDF se arma con fpdf2. El botón Imprimir oculta menú y botones. El encabezado del PDF tendrá el logotipo cuando el grupo lo entregue.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2.11. En vivo: abrir el perfil y reabrir el análisis anterior. El borrado de la imagen está en un bloque que se ejecuta siempre, incluso si el análisis falló. Queda abierta la pregunta de si el grupo quiere un espacio compartido; hoy no lo hay.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2.12. También: el servidor rechaza envíos de más de 300 MB (unas diez imágenes BMP); si el resultado de un mismo archivo cambia sin haber cambiado el modelo, es señal de un problema y hay que reportarlo; el análisis se hace en el servidor, no en la computadora del usuario.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2.13. La quinta práctica es la que más aporta: las imágenes que el modelo resuelve mal son las que mejoran el reentrenamiento. Para comparar condiciones distintas, un envío por condición y luego comparar los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2.14. Cerrar con la pregunta que lleva al siguiente bloque: ¿cómo sabe el sistema dónde hay un espermatozoide? Pasar a la diapositiva de título del tercer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3.1. Aclarar que se irá de lo concreto a lo general, sin ecuaciones: cuando una idea tenga fórmula, se dice con palabras qué hace. Las tres preguntas son la meta del bloque: que al terminar quede claro cómo responderlas.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3.1. Una persona con experiencia reconoce el patrón sin enumerar reglas. El flujo se invierte: se entregan datos y respuestas, y salen las reglas. Una red es un reconocedor de patrones muy sofisticado y nada más; ante algo que nunca vio produce una salida con la misma seguridad aparente.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3.1. Es la detección de respaldo que el sitio activa si faltan los modelos. Cerrar con la distinción de términos: inteligencia artificial, aprendizaje automático, redes neuronales y aprendizaje profundo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3.1. Cada término está contenido en el anterior. «Profundo» se refiere, literalmente, a las capas apiladas. Hoy es la técnica que mejor funciona con imágenes.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3.2. Ejemplo: una neurona que decide si un píxel es muy rojo, con peso grande en la entrada del rojo. La activación introduce una no linealidad; sin ella, apilar capas equivaldría a una sola. El nombre «neurona» es una inspiración histórica, no una descripción fiel de la biología.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3.2. La salida de una capa es la entrada de la siguiente; cada una trabaja con un resumen más abstracto. Nadie asigna los pesos a mano: salen del aprendizaje. Lo que decide el desarrollador es la arquitectura y los datos de entrenamiento.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3.3. Analogía de la montaña con niebla: se siente la pendiente y se da un paso hacia donde baja. Tasa de aprendizaje = tamaño del paso. Retropropagación: PyTorch calcula cuánto contribuyó cada peso al error. Lote, iteración y época. En el cuaderno, 60 épocas por defecto; una época se define como cierto número de recortes.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3.4. Ciclo 1: pérdida = error al cuadrado = 36; gradiente = −2 × entrada × error = −36; el peso sube 0,05 × 36 = 1,8. Ciclo 2: gradiente −3,6; el peso sube 0,18. Rellenar la tabla en voz alta. Es la mecánica de una red de decenas de millones de pesos; cambia la escala, no la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3.4. Con 0,5 el siguiente ajuste sería aún más brusco y de signo contrario: el peso oscila con amplitud creciente. La tasa es uno de los hiperparámetros de la sesión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3.5. Con menos de diez espermatozoides en la validación, el cuaderno no elige el mejor punto con ella y se queda con la última época. Colab puede cortarse: el cuaderno guarda el estado y continúa desde la última época guardada. La semilla aleatoria fija hace el entrenamiento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3.5. Conectar cada píxel con cada neurona de la primera capa daría miles de millones de pesos, e ignoraría que un borde es un patrón local que puede aparecer en cualquier parte. La convolución resuelve ambas cosas.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3.6. La única cuenta de la sesión. El filtro detecta el cambio, no el nivel: con nueve píxeles de 200 también daría cero. Los pesos de los filtros no los diseña nadie; los encuentra el entrenamiento. Una foto de 1792 × 1374 daría un mapa de más de dos millones de valores con los mismos nueve pesos.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3.7. La reducción (pooling) resume cada región y hace que cada valor de las capas profundas abarque una zona mayor: el campo receptivo. Nadie le dijo a la red que organizara los filtros así; surge del entrenamiento. Las primeras redes convolucionales se inspiraron en estudios de la corteza visual, pero es una inspiración, no una equivalencia.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3.7. Por instancias, dos células que se tocan quedan como dos objetos con su propia máscara: permite contar, medir el área de cada una y su largo a lo largo de la curva. La arquitectura concreta, Mask R-CNN, se ve en la sesión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3.8. Verificar las cifras de COCO antes de citarlas con exactitud. Se eligió la Mask R-CNN de torchvision, de licencia permisiva, y no otra familia muy conocida cuya licencia obliga a publicar el código de cualquier sitio servido en línea.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3.8. Ejercicio mental: si el grupo quisiera detectar otro tipo de célula, no se empezaría de cero; se tomaría la red actual y se afinaría con ejemplos anotados del nuevo tipo. La actualización con unas 50 imágenes de condiciones más variadas es lo que vuelve confiable al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3.10. En fondo claro se invierte el brillo antes de la red para que los espermatozoides oscuros se parezcan a los brillantes; es un criterio que conviene confirmar con más imágenes de fondo claro. Los recortes son de 512 px en fluorescencia y de 640 px en fondo claro, con las fotos de fondo claro reducidas a la mitad; cada modelo guarda su propia configuración.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3.9. Una sola clase: espermatozoide y fondo. No distingue cabeza de cola. Los contornos cubren la cabeza y el primer tramo de la cola porque así se etiquetó; la frontera sigue sin decidir. Si el grupo define un criterio, por ejemplo un radio fijo desde la punta, habría que reanotar y reentrenar.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3.12. La anotación es una tarea de expertos: quien decide qué cuenta como espermatozoide define el criterio que el modelo aplicará a miles de imágenes futuras. Un modelo desplegado no aprende del uso; mejorar es un proceso deliberado: reunir, anotar, reentrenar en Colab y cambiar el archivo.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3.13. La diferencia entre el conteo del modelo y el de una persona es una estimación directa del error. Si el error es sistemático, el problema pasa a ser del modelo o de las anotaciones: revisar los criterios con que se anotó. No reentrenar una y otra vez con las mismas imágenes hasta que se vean perfectas: la validación debe mantenerse separada.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3.14. No se presentan porque se crea que el grupo las comparta, sino porque son las que aparecen cuando el tema llega a personas ajenas al proyecto. Las medidas de calidad se desarrollan en la sesión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3.15. Con diez imágenes ya hay más de mil ejemplos anotados. Cada modelo guarda con qué versión de PyTorch se entrenó; esto se verá en la guía de despliegue, en la sesión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3.16. Presentar cada caso y dar enseguida su resolución. 1) Sobreajuste a un detalle accidental, la orientación; se evita con más variedad y con aumento de datos (giros y volteos). 2) Abrir la imagen marcada y ubicar los que faltan: en una zona aglomerada es uno de los retos conocidos del modelo; si están dispersos, la imagen se parece poco al entrenamiento y es candidata al próximo lote; no corregir el CSV sin dejar constancia. 3) La pérdida de entrenamiento puede llegar a cero por memorización; importa la validación, y lo que mejora el modelo son imágenes nuevas, variadas y bien anotadas.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3.17. Recorrer sin prisa y asociar cada término con su imagen: el filtro que se desliza, la montaña con niebla, el estudiante que memoriza el examen de práctica, el músico que cambia de instrumento. Quedará en el material de apoyo.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3.17. Otros términos que ya salieron: lote, iteración, tasa de aprendizaje, retropropagación, validación, preentrenamiento, contorno, imagen marcada, escala. El repositorio tiene además un glosario que se irá ampliando.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3.18. Es la pregunta de fondo de la anotación y se retoma en esa sesión. Recordar el panorama: hoy el sitio y la idea de red; la tercera, cómo está construido el sitio; la cuarta, ajustar y evaluar; la quinta, el código y el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3.19. Resumen en tres frases: objetivo y alcance; el sitio en funcionamiento; la idea de red neuronal. Pedir comentarios sobre el nivel de profundidad, el ritmo y los temas que quisieran ver con más detalle. Completar el correo de contacto antes de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08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C2630"/>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27721"/>
            <a:ext cx="10566400" cy="4117479"/>
          </a:xfrm>
          <a:prstGeom prst="rect">
            <a:avLst/>
          </a:prstGeom>
          <a:noFill/>
          <a:ln/>
        </p:spPr>
        <p:txBody>
          <a:bodyPr wrap="square" lIns="0" tIns="0" rIns="0" bIns="0" rtlCol="0" anchor="t"/>
          <a:lstStyle>
            <a:lvl1pPr algn="l" indent="0" marL="0">
              <a:lnSpc>
                <a:spcPct val="140000"/>
              </a:lnSpc>
              <a:buNone/>
              <a:defRPr lang="en-US" sz="1600" dirty="0">
                <a:solidFill>
                  <a:srgbClr val="1C2630"/>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08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C2630"/>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27721"/>
            <a:ext cx="10566400" cy="4117479"/>
          </a:xfrm>
          <a:prstGeom prst="rect">
            <a:avLst/>
          </a:prstGeom>
          <a:noFill/>
          <a:ln/>
        </p:spPr>
        <p:txBody>
          <a:bodyPr wrap="square" lIns="0" tIns="0" rIns="0" bIns="0" rtlCol="0" anchor="t"/>
          <a:lstStyle>
            <a:lvl1pPr algn="l" indent="0" marL="0">
              <a:lnSpc>
                <a:spcPct val="140000"/>
              </a:lnSpc>
              <a:buNone/>
              <a:defRPr lang="en-US" sz="1600" dirty="0">
                <a:solidFill>
                  <a:srgbClr val="1C2630"/>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2.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2.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2.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2.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2.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9887F"/>
                </a:solidFill>
                <a:latin typeface="IBM Plex Sans" pitchFamily="34" charset="0"/>
                <a:ea typeface="IBM Plex Sans" pitchFamily="34" charset="-122"/>
                <a:cs typeface="IBM Plex Sans" pitchFamily="34" charset="-120"/>
              </a:rPr>
              <a:t>CAPACITACIÓN · SESIÓN 1 DE 5</a:t>
            </a:r>
            <a:endParaRPr lang="en-US" sz="1400" dirty="0"/>
          </a:p>
        </p:txBody>
      </p:sp>
      <p:sp>
        <p:nvSpPr>
          <p:cNvPr id="3" name="Text 1"/>
          <p:cNvSpPr/>
          <p:nvPr>
            <p:ph type="title"/>
          </p:nvPr>
        </p:nvSpPr>
        <p:spPr>
          <a:xfrm>
            <a:off x="812800" y="2416175"/>
            <a:ext cx="10883392" cy="932160"/>
          </a:xfrm>
          <a:prstGeom prst="rect">
            <a:avLst/>
          </a:prstGeom>
          <a:noFill/>
          <a:ln/>
        </p:spPr>
        <p:txBody>
          <a:bodyPr wrap="square" lIns="0" tIns="0" rIns="0" bIns="0" rtlCol="0" anchor="t">
            <a:normAutofit/>
          </a:bodyPr>
          <a:lstStyle/>
          <a:p>
            <a:pPr algn="l" indent="0" marL="0">
              <a:lnSpc>
                <a:spcPts val="7140"/>
              </a:lnSpc>
              <a:buNone/>
            </a:pPr>
            <a:r>
              <a:rPr lang="en-US" sz="6800" b="1" i="0" dirty="0">
                <a:solidFill>
                  <a:srgbClr val="F2EFE8"/>
                </a:solidFill>
                <a:latin typeface="Source Serif 4" pitchFamily="18" charset="0"/>
                <a:ea typeface="Source Serif 4" pitchFamily="18" charset="-122"/>
                <a:cs typeface="Source Serif 4" pitchFamily="18" charset="-120"/>
              </a:rPr>
              <a:t>Image Bio Pro</a:t>
            </a:r>
            <a:endParaRPr lang="en-US" sz="6800" dirty="0"/>
          </a:p>
        </p:txBody>
      </p:sp>
      <p:sp>
        <p:nvSpPr>
          <p:cNvPr id="4" name="Text 2"/>
          <p:cNvSpPr/>
          <p:nvPr/>
        </p:nvSpPr>
        <p:spPr>
          <a:xfrm>
            <a:off x="812800" y="3526135"/>
            <a:ext cx="10883392" cy="438150"/>
          </a:xfrm>
          <a:prstGeom prst="rect">
            <a:avLst/>
          </a:prstGeom>
          <a:noFill/>
          <a:ln/>
        </p:spPr>
        <p:txBody>
          <a:bodyPr wrap="square" lIns="0" tIns="0" rIns="0" bIns="0" rtlCol="0" anchor="t">
            <a:normAutofit/>
          </a:bodyPr>
          <a:lstStyle/>
          <a:p>
            <a:pPr algn="l" indent="0" marL="0">
              <a:lnSpc>
                <a:spcPts val="3250"/>
              </a:lnSpc>
              <a:buNone/>
            </a:pPr>
            <a:r>
              <a:rPr lang="en-US" sz="2600" dirty="0">
                <a:solidFill>
                  <a:srgbClr val="B9C4CE"/>
                </a:solidFill>
                <a:latin typeface="IBM Plex Sans" pitchFamily="34" charset="0"/>
                <a:ea typeface="IBM Plex Sans" pitchFamily="34" charset="-122"/>
                <a:cs typeface="IBM Plex Sans" pitchFamily="34" charset="-120"/>
              </a:rPr>
              <a:t>Qué hace el sitio y qué es una red neuronal</a:t>
            </a:r>
            <a:endParaRPr lang="en-US" sz="2600" dirty="0"/>
          </a:p>
        </p:txBody>
      </p:sp>
      <p:sp>
        <p:nvSpPr>
          <p:cNvPr id="5" name="Text 3"/>
          <p:cNvSpPr/>
          <p:nvPr/>
        </p:nvSpPr>
        <p:spPr>
          <a:xfrm>
            <a:off x="812800" y="52934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EFE8"/>
                </a:solidFill>
                <a:latin typeface="IBM Plex Sans" pitchFamily="34" charset="0"/>
                <a:ea typeface="IBM Plex Sans" pitchFamily="34" charset="-122"/>
                <a:cs typeface="IBM Plex Sans" pitchFamily="34" charset="-120"/>
              </a:rPr>
              <a:t>Ing. Angel Frausto Robles</a:t>
            </a:r>
            <a:endParaRPr lang="en-US" sz="1500" dirty="0"/>
          </a:p>
        </p:txBody>
      </p:sp>
      <p:sp>
        <p:nvSpPr>
          <p:cNvPr id="6" name="Text 4"/>
          <p:cNvSpPr/>
          <p:nvPr/>
        </p:nvSpPr>
        <p:spPr>
          <a:xfrm>
            <a:off x="812800" y="56109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4CE"/>
                </a:solidFill>
                <a:latin typeface="IBM Plex Sans" pitchFamily="34" charset="0"/>
                <a:ea typeface="IBM Plex Sans" pitchFamily="34" charset="-122"/>
                <a:cs typeface="IBM Plex Sans" pitchFamily="34" charset="-120"/>
              </a:rPr>
              <a:t>Proyecto para un grupo de investigación de la UAM Unidad Xochimilco · Octubre de 2026</a:t>
            </a:r>
            <a:endParaRPr lang="en-US" sz="1300" dirty="0"/>
          </a:p>
        </p:txBody>
      </p:sp>
      <p:pic>
        <p:nvPicPr>
          <p:cNvPr id="7" name="Image 0" descr="rect">    </p:cNvPr>
          <p:cNvPicPr>
            <a:picLocks noChangeAspect="1"/>
          </p:cNvPicPr>
          <p:nvPr/>
        </p:nvPicPr>
        <p:blipFill>
          <a:blip r:embed="rId1"/>
          <a:srcRect l="0" r="0" t="0" b="0"/>
          <a:stretch/>
        </p:blipFill>
        <p:spPr>
          <a:xfrm>
            <a:off x="11303000" y="812800"/>
            <a:ext cx="76200" cy="127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5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9887F"/>
                </a:solidFill>
                <a:latin typeface="IBM Plex Sans" pitchFamily="34" charset="0"/>
                <a:ea typeface="IBM Plex Sans" pitchFamily="34" charset="-122"/>
                <a:cs typeface="IBM Plex Sans" pitchFamily="34" charset="-120"/>
              </a:rPr>
              <a:t>OBJETIVO DEL PROYECTO</a:t>
            </a:r>
            <a:endParaRPr lang="en-US" sz="1300" dirty="0"/>
          </a:p>
        </p:txBody>
      </p:sp>
      <p:sp>
        <p:nvSpPr>
          <p:cNvPr id="3" name="Text 1"/>
          <p:cNvSpPr/>
          <p:nvPr>
            <p:ph type="title"/>
          </p:nvPr>
        </p:nvSpPr>
        <p:spPr>
          <a:xfrm>
            <a:off x="812800" y="2118717"/>
            <a:ext cx="9810750" cy="1988145"/>
          </a:xfrm>
          <a:prstGeom prst="rect">
            <a:avLst/>
          </a:prstGeom>
          <a:noFill/>
          <a:ln/>
        </p:spPr>
        <p:txBody>
          <a:bodyPr wrap="square" lIns="0" tIns="0" rIns="0" bIns="0" rtlCol="0" anchor="t">
            <a:normAutofit/>
          </a:bodyPr>
          <a:lstStyle/>
          <a:p>
            <a:pPr algn="l" indent="0" marL="0">
              <a:lnSpc>
                <a:spcPts val="5152"/>
              </a:lnSpc>
              <a:buNone/>
            </a:pPr>
            <a:r>
              <a:rPr lang="en-US" sz="4600" b="1" i="0" dirty="0">
                <a:solidFill>
                  <a:srgbClr val="F2EFE8"/>
                </a:solidFill>
                <a:latin typeface="Source Serif 4" pitchFamily="18" charset="0"/>
                <a:ea typeface="Source Serif 4" pitchFamily="18" charset="-122"/>
                <a:cs typeface="Source Serif 4" pitchFamily="18" charset="-120"/>
              </a:rPr>
              <a:t>Convertir una fotografía de microscopio en datos descargables y verificables</a:t>
            </a:r>
            <a:endParaRPr lang="en-US" sz="4600" dirty="0"/>
          </a:p>
        </p:txBody>
      </p:sp>
      <p:sp>
        <p:nvSpPr>
          <p:cNvPr id="4" name="Text 2"/>
          <p:cNvSpPr/>
          <p:nvPr/>
        </p:nvSpPr>
        <p:spPr>
          <a:xfrm>
            <a:off x="812800" y="5156200"/>
            <a:ext cx="85026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C4CE"/>
                </a:solidFill>
                <a:latin typeface="IBM Plex Sans" pitchFamily="34" charset="0"/>
                <a:ea typeface="IBM Plex Sans" pitchFamily="34" charset="-122"/>
                <a:cs typeface="IBM Plex Sans" pitchFamily="34" charset="-120"/>
              </a:rPr>
              <a:t>Y dejar al grupo en condiciones de mantener y mejorar el sistema que hay detrás.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CÓMO SE REPARTE EL TRABAJO</a:t>
            </a:r>
            <a:endParaRPr lang="en-US" sz="1300" dirty="0"/>
          </a:p>
        </p:txBody>
      </p:sp>
      <p:sp>
        <p:nvSpPr>
          <p:cNvPr id="3" name="Text 1"/>
          <p:cNvSpPr/>
          <p:nvPr>
            <p:ph type="title"/>
          </p:nvPr>
        </p:nvSpPr>
        <p:spPr>
          <a:xfrm>
            <a:off x="812800" y="112008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La red localiza, el código mide, la persona verifica</a:t>
            </a:r>
            <a:endParaRPr lang="en-US" sz="3600" dirty="0"/>
          </a:p>
        </p:txBody>
      </p:sp>
      <p:sp>
        <p:nvSpPr>
          <p:cNvPr id="4" name="Shape 2"/>
          <p:cNvSpPr/>
          <p:nvPr/>
        </p:nvSpPr>
        <p:spPr>
          <a:xfrm>
            <a:off x="815975" y="2545159"/>
            <a:ext cx="3041650" cy="2067917"/>
          </a:xfrm>
          <a:prstGeom prst="roundRect">
            <a:avLst>
              <a:gd name="adj" fmla="val 4760"/>
            </a:avLst>
          </a:prstGeom>
          <a:solidFill>
            <a:srgbClr val="FCFBF7"/>
          </a:solidFill>
          <a:ln w="6350">
            <a:solidFill>
              <a:srgbClr val="DDD8CC"/>
            </a:solidFill>
            <a:prstDash val="solid"/>
          </a:ln>
        </p:spPr>
      </p:sp>
      <p:sp>
        <p:nvSpPr>
          <p:cNvPr id="5" name="Text 3"/>
          <p:cNvSpPr/>
          <p:nvPr/>
        </p:nvSpPr>
        <p:spPr>
          <a:xfrm>
            <a:off x="1073150" y="2802334"/>
            <a:ext cx="260311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5D7C"/>
                </a:solidFill>
                <a:latin typeface="IBM Plex Sans" pitchFamily="34" charset="0"/>
                <a:ea typeface="IBM Plex Sans" pitchFamily="34" charset="-122"/>
                <a:cs typeface="IBM Plex Sans" pitchFamily="34" charset="-120"/>
              </a:rPr>
              <a:t>Red neuronal</a:t>
            </a:r>
            <a:endParaRPr lang="en-US" sz="2000" dirty="0"/>
          </a:p>
        </p:txBody>
      </p:sp>
      <p:sp>
        <p:nvSpPr>
          <p:cNvPr id="6" name="Text 4"/>
          <p:cNvSpPr/>
          <p:nvPr/>
        </p:nvSpPr>
        <p:spPr>
          <a:xfrm>
            <a:off x="1073150" y="3208734"/>
            <a:ext cx="2603119" cy="848122"/>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C2630"/>
                </a:solidFill>
                <a:latin typeface="IBM Plex Sans" pitchFamily="34" charset="0"/>
                <a:ea typeface="IBM Plex Sans" pitchFamily="34" charset="-122"/>
                <a:cs typeface="IBM Plex Sans" pitchFamily="34" charset="-120"/>
              </a:rPr>
              <a:t>Encuentra cada espermatozoide y traza su contorno.</a:t>
            </a:r>
            <a:endParaRPr lang="en-US" sz="1600" dirty="0"/>
          </a:p>
        </p:txBody>
      </p:sp>
      <p:sp>
        <p:nvSpPr>
          <p:cNvPr id="7" name="Text 5"/>
          <p:cNvSpPr/>
          <p:nvPr/>
        </p:nvSpPr>
        <p:spPr>
          <a:xfrm>
            <a:off x="1073150" y="4133056"/>
            <a:ext cx="2603119"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06B"/>
                </a:solidFill>
                <a:latin typeface="IBM Plex Sans" pitchFamily="34" charset="0"/>
                <a:ea typeface="IBM Plex Sans" pitchFamily="34" charset="-122"/>
                <a:cs typeface="IBM Plex Sans" pitchFamily="34" charset="-120"/>
              </a:rPr>
              <a:t>Aprende de ejemplos anotados.</a:t>
            </a:r>
            <a:endParaRPr lang="en-US" sz="1300" dirty="0"/>
          </a:p>
        </p:txBody>
      </p:sp>
      <p:pic>
        <p:nvPicPr>
          <p:cNvPr id="8" name="Image 0" descr="arrow-right">    </p:cNvPr>
          <p:cNvPicPr>
            <a:picLocks noChangeAspect="1"/>
          </p:cNvPicPr>
          <p:nvPr/>
        </p:nvPicPr>
        <p:blipFill>
          <a:blip r:embed="rId1"/>
          <a:srcRect l="0" r="0" t="0" b="0"/>
          <a:stretch/>
        </p:blipFill>
        <p:spPr>
          <a:xfrm>
            <a:off x="4013200" y="3452118"/>
            <a:ext cx="406400" cy="254000"/>
          </a:xfrm>
          <a:prstGeom prst="rect">
            <a:avLst/>
          </a:prstGeom>
        </p:spPr>
      </p:pic>
      <p:sp>
        <p:nvSpPr>
          <p:cNvPr id="9" name="Shape 6"/>
          <p:cNvSpPr/>
          <p:nvPr/>
        </p:nvSpPr>
        <p:spPr>
          <a:xfrm>
            <a:off x="4575175" y="2433737"/>
            <a:ext cx="3041650" cy="2290763"/>
          </a:xfrm>
          <a:prstGeom prst="roundRect">
            <a:avLst>
              <a:gd name="adj" fmla="val 4297"/>
            </a:avLst>
          </a:prstGeom>
          <a:solidFill>
            <a:srgbClr val="FCFBF7"/>
          </a:solidFill>
          <a:ln w="6350">
            <a:solidFill>
              <a:srgbClr val="DDD8CC"/>
            </a:solidFill>
            <a:prstDash val="solid"/>
          </a:ln>
        </p:spPr>
      </p:sp>
      <p:sp>
        <p:nvSpPr>
          <p:cNvPr id="10" name="Text 7"/>
          <p:cNvSpPr/>
          <p:nvPr/>
        </p:nvSpPr>
        <p:spPr>
          <a:xfrm>
            <a:off x="4832350" y="2690912"/>
            <a:ext cx="260311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5D7C"/>
                </a:solidFill>
                <a:latin typeface="IBM Plex Sans" pitchFamily="34" charset="0"/>
                <a:ea typeface="IBM Plex Sans" pitchFamily="34" charset="-122"/>
                <a:cs typeface="IBM Plex Sans" pitchFamily="34" charset="-120"/>
              </a:rPr>
              <a:t>Código</a:t>
            </a:r>
            <a:endParaRPr lang="en-US" sz="2000" dirty="0"/>
          </a:p>
        </p:txBody>
      </p:sp>
      <p:sp>
        <p:nvSpPr>
          <p:cNvPr id="11" name="Text 8"/>
          <p:cNvSpPr/>
          <p:nvPr/>
        </p:nvSpPr>
        <p:spPr>
          <a:xfrm>
            <a:off x="4832350" y="3097312"/>
            <a:ext cx="2603119" cy="848122"/>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C2630"/>
                </a:solidFill>
                <a:latin typeface="IBM Plex Sans" pitchFamily="34" charset="0"/>
                <a:ea typeface="IBM Plex Sans" pitchFamily="34" charset="-122"/>
                <a:cs typeface="IBM Plex Sans" pitchFamily="34" charset="-120"/>
              </a:rPr>
              <a:t>Calcula área, largo, media y desviación estándar desde el contorno.</a:t>
            </a:r>
            <a:endParaRPr lang="en-US" sz="1600" dirty="0"/>
          </a:p>
        </p:txBody>
      </p:sp>
      <p:sp>
        <p:nvSpPr>
          <p:cNvPr id="12" name="Text 9"/>
          <p:cNvSpPr/>
          <p:nvPr/>
        </p:nvSpPr>
        <p:spPr>
          <a:xfrm>
            <a:off x="4832350" y="4021634"/>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06B"/>
                </a:solidFill>
                <a:latin typeface="IBM Plex Sans" pitchFamily="34" charset="0"/>
                <a:ea typeface="IBM Plex Sans" pitchFamily="34" charset="-122"/>
                <a:cs typeface="IBM Plex Sans" pitchFamily="34" charset="-120"/>
              </a:rPr>
              <a:t>OpenCV y numpy. Mismo contorno, mismas cifras.</a:t>
            </a:r>
            <a:endParaRPr lang="en-US" sz="1300" dirty="0"/>
          </a:p>
        </p:txBody>
      </p:sp>
      <p:pic>
        <p:nvPicPr>
          <p:cNvPr id="13" name="Image 1" descr="arrow-right">    </p:cNvPr>
          <p:cNvPicPr>
            <a:picLocks noChangeAspect="1"/>
          </p:cNvPicPr>
          <p:nvPr/>
        </p:nvPicPr>
        <p:blipFill>
          <a:blip r:embed="rId2"/>
          <a:srcRect l="0" r="0" t="0" b="0"/>
          <a:stretch/>
        </p:blipFill>
        <p:spPr>
          <a:xfrm>
            <a:off x="7772400" y="3452118"/>
            <a:ext cx="406400" cy="254000"/>
          </a:xfrm>
          <a:prstGeom prst="rect">
            <a:avLst/>
          </a:prstGeom>
        </p:spPr>
      </p:pic>
      <p:sp>
        <p:nvSpPr>
          <p:cNvPr id="14" name="Shape 10"/>
          <p:cNvSpPr/>
          <p:nvPr/>
        </p:nvSpPr>
        <p:spPr>
          <a:xfrm>
            <a:off x="8334375" y="2433737"/>
            <a:ext cx="3041650" cy="2290763"/>
          </a:xfrm>
          <a:prstGeom prst="roundRect">
            <a:avLst>
              <a:gd name="adj" fmla="val 4297"/>
            </a:avLst>
          </a:prstGeom>
          <a:solidFill>
            <a:srgbClr val="FCFBF7"/>
          </a:solidFill>
          <a:ln w="6350">
            <a:solidFill>
              <a:srgbClr val="DDD8CC"/>
            </a:solidFill>
            <a:prstDash val="solid"/>
          </a:ln>
        </p:spPr>
      </p:sp>
      <p:sp>
        <p:nvSpPr>
          <p:cNvPr id="15" name="Text 11"/>
          <p:cNvSpPr/>
          <p:nvPr/>
        </p:nvSpPr>
        <p:spPr>
          <a:xfrm>
            <a:off x="8591550" y="2690912"/>
            <a:ext cx="260311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5D7C"/>
                </a:solidFill>
                <a:latin typeface="IBM Plex Sans" pitchFamily="34" charset="0"/>
                <a:ea typeface="IBM Plex Sans" pitchFamily="34" charset="-122"/>
                <a:cs typeface="IBM Plex Sans" pitchFamily="34" charset="-120"/>
              </a:rPr>
              <a:t>Persona</a:t>
            </a:r>
            <a:endParaRPr lang="en-US" sz="2000" dirty="0"/>
          </a:p>
        </p:txBody>
      </p:sp>
      <p:sp>
        <p:nvSpPr>
          <p:cNvPr id="16" name="Text 12"/>
          <p:cNvSpPr/>
          <p:nvPr/>
        </p:nvSpPr>
        <p:spPr>
          <a:xfrm>
            <a:off x="8591550" y="3097312"/>
            <a:ext cx="2603119" cy="848122"/>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C2630"/>
                </a:solidFill>
                <a:latin typeface="IBM Plex Sans" pitchFamily="34" charset="0"/>
                <a:ea typeface="IBM Plex Sans" pitchFamily="34" charset="-122"/>
                <a:cs typeface="IBM Plex Sans" pitchFamily="34" charset="-120"/>
              </a:rPr>
              <a:t>Revisa la imagen marcada y decide qué hacer con el resultado.</a:t>
            </a:r>
            <a:endParaRPr lang="en-US" sz="1600" dirty="0"/>
          </a:p>
        </p:txBody>
      </p:sp>
      <p:sp>
        <p:nvSpPr>
          <p:cNvPr id="17" name="Text 13"/>
          <p:cNvSpPr/>
          <p:nvPr/>
        </p:nvSpPr>
        <p:spPr>
          <a:xfrm>
            <a:off x="8591550" y="4021634"/>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06B"/>
                </a:solidFill>
                <a:latin typeface="IBM Plex Sans" pitchFamily="34" charset="0"/>
                <a:ea typeface="IBM Plex Sans" pitchFamily="34" charset="-122"/>
                <a:cs typeface="IBM Plex Sans" pitchFamily="34" charset="-120"/>
              </a:rPr>
              <a:t>Zoom y detalle por espermatozoide.</a:t>
            </a:r>
            <a:endParaRPr lang="en-US" sz="1300" dirty="0"/>
          </a:p>
        </p:txBody>
      </p:sp>
      <p:sp>
        <p:nvSpPr>
          <p:cNvPr id="18"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Introducción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ALCANCE ACORDADO</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Lo que incluye el proyecto y lo que no</a:t>
            </a:r>
            <a:endParaRPr lang="en-US" sz="3600" dirty="0"/>
          </a:p>
        </p:txBody>
      </p:sp>
      <p:sp>
        <p:nvSpPr>
          <p:cNvPr id="4" name="Shape 2"/>
          <p:cNvSpPr/>
          <p:nvPr/>
        </p:nvSpPr>
        <p:spPr>
          <a:xfrm>
            <a:off x="815975" y="1930896"/>
            <a:ext cx="6383635" cy="3272234"/>
          </a:xfrm>
          <a:prstGeom prst="roundRect">
            <a:avLst>
              <a:gd name="adj" fmla="val 3008"/>
            </a:avLst>
          </a:prstGeom>
          <a:solidFill>
            <a:srgbClr val="FCFBF7"/>
          </a:solidFill>
          <a:ln w="6350">
            <a:solidFill>
              <a:srgbClr val="DDD8CC"/>
            </a:solidFill>
            <a:prstDash val="solid"/>
          </a:ln>
        </p:spPr>
      </p:sp>
      <p:sp>
        <p:nvSpPr>
          <p:cNvPr id="5" name="Text 3"/>
          <p:cNvSpPr/>
          <p:nvPr/>
        </p:nvSpPr>
        <p:spPr>
          <a:xfrm>
            <a:off x="1073150" y="2188071"/>
            <a:ext cx="604536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Incluido</a:t>
            </a:r>
            <a:endParaRPr lang="en-US" sz="1800" dirty="0"/>
          </a:p>
        </p:txBody>
      </p:sp>
      <p:sp>
        <p:nvSpPr>
          <p:cNvPr id="6" name="Text 4"/>
          <p:cNvSpPr/>
          <p:nvPr/>
        </p:nvSpPr>
        <p:spPr>
          <a:xfrm>
            <a:off x="1130808" y="2589312"/>
            <a:ext cx="5980086" cy="2382044"/>
          </a:xfrm>
          <a:prstGeom prst="rect">
            <a:avLst/>
          </a:prstGeom>
          <a:noFill/>
          <a:ln/>
        </p:spPr>
        <p:txBody>
          <a:bodyPr wrap="square" lIns="0" tIns="0" rIns="0" bIns="0" rtlCol="0" anchor="t">
            <a:normAutofit/>
          </a:bodyPr>
          <a:lstStyle/>
          <a:p>
            <a:pPr algn="l" marL="196342" indent="-196342">
              <a:lnSpc>
                <a:spcPts val="2320"/>
              </a:lnSpc>
              <a:buSzPct val="100000"/>
              <a:buChar char="•"/>
            </a:pPr>
            <a:r>
              <a:rPr lang="en-US" sz="1600" dirty="0">
                <a:solidFill>
                  <a:srgbClr val="1C2630"/>
                </a:solidFill>
                <a:latin typeface="IBM Plex Sans" pitchFamily="34" charset="0"/>
                <a:ea typeface="IBM Plex Sans" pitchFamily="34" charset="-122"/>
                <a:cs typeface="IBM Plex Sans" pitchFamily="34" charset="-120"/>
              </a:rPr>
              <a:t>Sitio bilingüe, español e inglés</a:t>
            </a:r>
            <a:endParaRPr lang="en-US" sz="1600" dirty="0"/>
          </a:p>
          <a:p>
            <a:pPr algn="l" marL="196342" indent="-196342">
              <a:lnSpc>
                <a:spcPts val="2320"/>
              </a:lnSpc>
              <a:buSzPct val="100000"/>
              <a:buChar char="•"/>
            </a:pPr>
            <a:r>
              <a:rPr lang="en-US" sz="1600" dirty="0">
                <a:solidFill>
                  <a:srgbClr val="1C2630"/>
                </a:solidFill>
                <a:latin typeface="IBM Plex Sans" pitchFamily="34" charset="0"/>
                <a:ea typeface="IBM Plex Sans" pitchFamily="34" charset="-122"/>
                <a:cs typeface="IBM Plex Sans" pitchFamily="34" charset="-120"/>
              </a:rPr>
              <a:t>Cuentas con correo electrónico</a:t>
            </a:r>
            <a:endParaRPr lang="en-US" sz="1600" dirty="0"/>
          </a:p>
          <a:p>
            <a:pPr algn="l" marL="196342" indent="-196342">
              <a:lnSpc>
                <a:spcPts val="2320"/>
              </a:lnSpc>
              <a:buSzPct val="100000"/>
              <a:buChar char="•"/>
            </a:pPr>
            <a:r>
              <a:rPr lang="en-US" sz="1600" dirty="0">
                <a:solidFill>
                  <a:srgbClr val="1C2630"/>
                </a:solidFill>
                <a:latin typeface="IBM Plex Sans" pitchFamily="34" charset="0"/>
                <a:ea typeface="IBM Plex Sans" pitchFamily="34" charset="-122"/>
                <a:cs typeface="IBM Plex Sans" pitchFamily="34" charset="-120"/>
              </a:rPr>
              <a:t>Hasta 10 imágenes por análisis</a:t>
            </a:r>
            <a:endParaRPr lang="en-US" sz="1600" dirty="0"/>
          </a:p>
          <a:p>
            <a:pPr algn="l" marL="196342" indent="-196342">
              <a:lnSpc>
                <a:spcPts val="2320"/>
              </a:lnSpc>
              <a:buSzPct val="100000"/>
              <a:buChar char="•"/>
            </a:pPr>
            <a:r>
              <a:rPr lang="en-US" sz="1600" dirty="0">
                <a:solidFill>
                  <a:srgbClr val="1C2630"/>
                </a:solidFill>
                <a:latin typeface="IBM Plex Sans" pitchFamily="34" charset="0"/>
                <a:ea typeface="IBM Plex Sans" pitchFamily="34" charset="-122"/>
                <a:cs typeface="IBM Plex Sans" pitchFamily="34" charset="-120"/>
              </a:rPr>
              <a:t>Conteo, área y largo por espermatozoide</a:t>
            </a:r>
            <a:endParaRPr lang="en-US" sz="1600" dirty="0"/>
          </a:p>
          <a:p>
            <a:pPr algn="l" marL="196342" indent="-196342">
              <a:lnSpc>
                <a:spcPts val="2320"/>
              </a:lnSpc>
              <a:buSzPct val="100000"/>
              <a:buChar char="•"/>
            </a:pPr>
            <a:r>
              <a:rPr lang="en-US" sz="1600" dirty="0">
                <a:solidFill>
                  <a:srgbClr val="1C2630"/>
                </a:solidFill>
                <a:latin typeface="IBM Plex Sans" pitchFamily="34" charset="0"/>
                <a:ea typeface="IBM Plex Sans" pitchFamily="34" charset="-122"/>
                <a:cs typeface="IBM Plex Sans" pitchFamily="34" charset="-120"/>
              </a:rPr>
              <a:t>Media, desviación estándar y distribución de tamaños</a:t>
            </a:r>
            <a:endParaRPr lang="en-US" sz="1600" dirty="0"/>
          </a:p>
          <a:p>
            <a:pPr algn="l" marL="196342" indent="-196342">
              <a:lnSpc>
                <a:spcPts val="2320"/>
              </a:lnSpc>
              <a:buSzPct val="100000"/>
              <a:buChar char="•"/>
            </a:pPr>
            <a:r>
              <a:rPr lang="en-US" sz="1600" dirty="0">
                <a:solidFill>
                  <a:srgbClr val="1C2630"/>
                </a:solidFill>
                <a:latin typeface="IBM Plex Sans" pitchFamily="34" charset="0"/>
                <a:ea typeface="IBM Plex Sans" pitchFamily="34" charset="-122"/>
                <a:cs typeface="IBM Plex Sans" pitchFamily="34" charset="-120"/>
              </a:rPr>
              <a:t>Exportación a CSV y a un solo PDF</a:t>
            </a:r>
            <a:endParaRPr lang="en-US" sz="1600" dirty="0"/>
          </a:p>
          <a:p>
            <a:pPr algn="l" marL="196342" indent="-196342">
              <a:lnSpc>
                <a:spcPts val="2320"/>
              </a:lnSpc>
              <a:buSzPct val="100000"/>
              <a:buChar char="•"/>
            </a:pPr>
            <a:r>
              <a:rPr lang="en-US" sz="1600" dirty="0">
                <a:solidFill>
                  <a:srgbClr val="1C2630"/>
                </a:solidFill>
                <a:latin typeface="IBM Plex Sans" pitchFamily="34" charset="0"/>
                <a:ea typeface="IBM Plex Sans" pitchFamily="34" charset="-122"/>
                <a:cs typeface="IBM Plex Sans" pitchFamily="34" charset="-120"/>
              </a:rPr>
              <a:t>Mis análisis, privados para cada usuario</a:t>
            </a:r>
            <a:endParaRPr lang="en-US" sz="1600" dirty="0"/>
          </a:p>
          <a:p>
            <a:pPr algn="l" marL="196342" indent="-196342">
              <a:lnSpc>
                <a:spcPts val="2320"/>
              </a:lnSpc>
              <a:buSzPct val="100000"/>
              <a:buChar char="•"/>
            </a:pPr>
            <a:r>
              <a:rPr lang="en-US" sz="1600" dirty="0">
                <a:solidFill>
                  <a:srgbClr val="1C2630"/>
                </a:solidFill>
                <a:latin typeface="IBM Plex Sans" pitchFamily="34" charset="0"/>
                <a:ea typeface="IBM Plex Sans" pitchFamily="34" charset="-122"/>
                <a:cs typeface="IBM Plex Sans" pitchFamily="34" charset="-120"/>
              </a:rPr>
              <a:t>10 horas de capacitación grabadas</a:t>
            </a:r>
            <a:endParaRPr lang="en-US" sz="1600" dirty="0"/>
          </a:p>
        </p:txBody>
      </p:sp>
      <p:sp>
        <p:nvSpPr>
          <p:cNvPr id="7" name="Shape 5"/>
          <p:cNvSpPr/>
          <p:nvPr/>
        </p:nvSpPr>
        <p:spPr>
          <a:xfrm>
            <a:off x="7409160" y="1930896"/>
            <a:ext cx="3966865" cy="3272234"/>
          </a:xfrm>
          <a:prstGeom prst="roundRect">
            <a:avLst>
              <a:gd name="adj" fmla="val 3008"/>
            </a:avLst>
          </a:prstGeom>
          <a:solidFill>
            <a:srgbClr val="ECE7DA"/>
          </a:solidFill>
          <a:ln w="6350">
            <a:solidFill>
              <a:srgbClr val="DDD8CC"/>
            </a:solidFill>
            <a:prstDash val="solid"/>
          </a:ln>
        </p:spPr>
      </p:sp>
      <p:sp>
        <p:nvSpPr>
          <p:cNvPr id="8" name="Text 6"/>
          <p:cNvSpPr/>
          <p:nvPr/>
        </p:nvSpPr>
        <p:spPr>
          <a:xfrm>
            <a:off x="7666335" y="2188071"/>
            <a:ext cx="355609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A8201A"/>
                </a:solidFill>
                <a:latin typeface="IBM Plex Sans" pitchFamily="34" charset="0"/>
                <a:ea typeface="IBM Plex Sans" pitchFamily="34" charset="-122"/>
                <a:cs typeface="IBM Plex Sans" pitchFamily="34" charset="-120"/>
              </a:rPr>
              <a:t>Fuera de alcance</a:t>
            </a:r>
            <a:endParaRPr lang="en-US" sz="1800" dirty="0"/>
          </a:p>
        </p:txBody>
      </p:sp>
      <p:sp>
        <p:nvSpPr>
          <p:cNvPr id="9" name="Text 7"/>
          <p:cNvSpPr/>
          <p:nvPr/>
        </p:nvSpPr>
        <p:spPr>
          <a:xfrm>
            <a:off x="7723993" y="2589312"/>
            <a:ext cx="3490812" cy="1203722"/>
          </a:xfrm>
          <a:prstGeom prst="rect">
            <a:avLst/>
          </a:prstGeom>
          <a:noFill/>
          <a:ln/>
        </p:spPr>
        <p:txBody>
          <a:bodyPr wrap="square" lIns="0" tIns="0" rIns="0" bIns="0" rtlCol="0" anchor="t">
            <a:normAutofit/>
          </a:bodyPr>
          <a:lstStyle/>
          <a:p>
            <a:pPr algn="l" marL="196342" indent="-196342">
              <a:lnSpc>
                <a:spcPts val="2320"/>
              </a:lnSpc>
              <a:buSzPct val="100000"/>
              <a:buChar char="•"/>
            </a:pPr>
            <a:r>
              <a:rPr lang="en-US" sz="1600" dirty="0">
                <a:solidFill>
                  <a:srgbClr val="1C2630"/>
                </a:solidFill>
                <a:latin typeface="IBM Plex Sans" pitchFamily="34" charset="0"/>
                <a:ea typeface="IBM Plex Sans" pitchFamily="34" charset="-122"/>
                <a:cs typeface="IBM Plex Sans" pitchFamily="34" charset="-120"/>
              </a:rPr>
              <a:t>Control contra tratamiento</a:t>
            </a:r>
            <a:endParaRPr lang="en-US" sz="1600" dirty="0"/>
          </a:p>
          <a:p>
            <a:pPr algn="l" marL="196342" indent="-196342">
              <a:lnSpc>
                <a:spcPts val="2320"/>
              </a:lnSpc>
              <a:buSzPct val="100000"/>
              <a:buChar char="•"/>
            </a:pPr>
            <a:r>
              <a:rPr lang="en-US" sz="1600" dirty="0">
                <a:solidFill>
                  <a:srgbClr val="1C2630"/>
                </a:solidFill>
                <a:latin typeface="IBM Plex Sans" pitchFamily="34" charset="0"/>
                <a:ea typeface="IBM Plex Sans" pitchFamily="34" charset="-122"/>
                <a:cs typeface="IBM Plex Sans" pitchFamily="34" charset="-120"/>
              </a:rPr>
              <a:t>Red con imágenes y datos AnnData, que sería un proyecto aparte</a:t>
            </a:r>
            <a:endParaRPr lang="en-US" sz="1600" dirty="0"/>
          </a:p>
        </p:txBody>
      </p:sp>
      <p:sp>
        <p:nvSpPr>
          <p:cNvPr id="10" name="Text 8"/>
          <p:cNvSpPr/>
          <p:nvPr/>
        </p:nvSpPr>
        <p:spPr>
          <a:xfrm>
            <a:off x="7666335" y="3894634"/>
            <a:ext cx="355609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El sitio entrega conteos, medidas y gráficas. La lectura científica corresponde al grupo.</a:t>
            </a:r>
            <a:endParaRPr lang="en-US" sz="13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Introducción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CALENDARIO</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Del 8 de octubre a marzo de 2027</a:t>
            </a:r>
            <a:endParaRPr lang="en-US" sz="3600" dirty="0"/>
          </a:p>
        </p:txBody>
      </p:sp>
      <p:sp>
        <p:nvSpPr>
          <p:cNvPr id="4" name="Shape 2"/>
          <p:cNvSpPr/>
          <p:nvPr/>
        </p:nvSpPr>
        <p:spPr>
          <a:xfrm>
            <a:off x="815975" y="1981696"/>
            <a:ext cx="2524125" cy="2040731"/>
          </a:xfrm>
          <a:prstGeom prst="roundRect">
            <a:avLst>
              <a:gd name="adj" fmla="val 4823"/>
            </a:avLst>
          </a:prstGeom>
          <a:solidFill>
            <a:srgbClr val="FCFBF7"/>
          </a:solidFill>
          <a:ln w="6350">
            <a:solidFill>
              <a:srgbClr val="DDD8CC"/>
            </a:solidFill>
            <a:prstDash val="solid"/>
          </a:ln>
        </p:spPr>
      </p:sp>
      <p:sp>
        <p:nvSpPr>
          <p:cNvPr id="5" name="Text 3"/>
          <p:cNvSpPr/>
          <p:nvPr/>
        </p:nvSpPr>
        <p:spPr>
          <a:xfrm>
            <a:off x="1047750" y="2213471"/>
            <a:ext cx="2122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5D7C"/>
                </a:solidFill>
                <a:latin typeface="IBM Plex Sans" pitchFamily="34" charset="0"/>
                <a:ea typeface="IBM Plex Sans" pitchFamily="34" charset="-122"/>
                <a:cs typeface="IBM Plex Sans" pitchFamily="34" charset="-120"/>
              </a:rPr>
              <a:t>8 al 16 de octubre</a:t>
            </a:r>
            <a:endParaRPr lang="en-US" sz="1500" dirty="0"/>
          </a:p>
        </p:txBody>
      </p:sp>
      <p:sp>
        <p:nvSpPr>
          <p:cNvPr id="6" name="Text 4"/>
          <p:cNvSpPr/>
          <p:nvPr/>
        </p:nvSpPr>
        <p:spPr>
          <a:xfrm>
            <a:off x="1047750" y="2581771"/>
            <a:ext cx="21223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2630"/>
                </a:solidFill>
                <a:latin typeface="IBM Plex Sans" pitchFamily="34" charset="0"/>
                <a:ea typeface="IBM Plex Sans" pitchFamily="34" charset="-122"/>
                <a:cs typeface="IBM Plex Sans" pitchFamily="34" charset="-120"/>
              </a:rPr>
              <a:t>Construcción</a:t>
            </a:r>
            <a:endParaRPr lang="en-US" sz="2000" dirty="0"/>
          </a:p>
        </p:txBody>
      </p:sp>
      <p:sp>
        <p:nvSpPr>
          <p:cNvPr id="7" name="Text 5"/>
          <p:cNvSpPr/>
          <p:nvPr/>
        </p:nvSpPr>
        <p:spPr>
          <a:xfrm>
            <a:off x="1047750" y="2988171"/>
            <a:ext cx="2122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Modelo, sitio, integración y despliegue.</a:t>
            </a:r>
            <a:endParaRPr lang="en-US" sz="1400" dirty="0"/>
          </a:p>
        </p:txBody>
      </p:sp>
      <p:sp>
        <p:nvSpPr>
          <p:cNvPr id="8" name="Shape 6"/>
          <p:cNvSpPr/>
          <p:nvPr/>
        </p:nvSpPr>
        <p:spPr>
          <a:xfrm>
            <a:off x="3498850" y="1981696"/>
            <a:ext cx="2524125" cy="2040731"/>
          </a:xfrm>
          <a:prstGeom prst="roundRect">
            <a:avLst>
              <a:gd name="adj" fmla="val 4823"/>
            </a:avLst>
          </a:prstGeom>
          <a:solidFill>
            <a:srgbClr val="FCFBF7"/>
          </a:solidFill>
          <a:ln w="6350">
            <a:solidFill>
              <a:srgbClr val="DDD8CC"/>
            </a:solidFill>
            <a:prstDash val="solid"/>
          </a:ln>
        </p:spPr>
      </p:sp>
      <p:sp>
        <p:nvSpPr>
          <p:cNvPr id="9" name="Text 7"/>
          <p:cNvSpPr/>
          <p:nvPr/>
        </p:nvSpPr>
        <p:spPr>
          <a:xfrm>
            <a:off x="3730625" y="2213471"/>
            <a:ext cx="2122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5D7C"/>
                </a:solidFill>
                <a:latin typeface="IBM Plex Sans" pitchFamily="34" charset="0"/>
                <a:ea typeface="IBM Plex Sans" pitchFamily="34" charset="-122"/>
                <a:cs typeface="IBM Plex Sans" pitchFamily="34" charset="-120"/>
              </a:rPr>
              <a:t>17 al 27 de octubre</a:t>
            </a:r>
            <a:endParaRPr lang="en-US" sz="1500" dirty="0"/>
          </a:p>
        </p:txBody>
      </p:sp>
      <p:sp>
        <p:nvSpPr>
          <p:cNvPr id="10" name="Text 8"/>
          <p:cNvSpPr/>
          <p:nvPr/>
        </p:nvSpPr>
        <p:spPr>
          <a:xfrm>
            <a:off x="3730625" y="2581771"/>
            <a:ext cx="21223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2630"/>
                </a:solidFill>
                <a:latin typeface="IBM Plex Sans" pitchFamily="34" charset="0"/>
                <a:ea typeface="IBM Plex Sans" pitchFamily="34" charset="-122"/>
                <a:cs typeface="IBM Plex Sans" pitchFamily="34" charset="-120"/>
              </a:rPr>
              <a:t>Capacitación</a:t>
            </a:r>
            <a:endParaRPr lang="en-US" sz="2000" dirty="0"/>
          </a:p>
        </p:txBody>
      </p:sp>
      <p:sp>
        <p:nvSpPr>
          <p:cNvPr id="11" name="Text 9"/>
          <p:cNvSpPr/>
          <p:nvPr/>
        </p:nvSpPr>
        <p:spPr>
          <a:xfrm>
            <a:off x="3730625" y="2988171"/>
            <a:ext cx="212239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Cinco sesiones de dos horas, con ajustes y pruebas en paralelo.</a:t>
            </a:r>
            <a:endParaRPr lang="en-US" sz="1400" dirty="0"/>
          </a:p>
        </p:txBody>
      </p:sp>
      <p:sp>
        <p:nvSpPr>
          <p:cNvPr id="12" name="Shape 10"/>
          <p:cNvSpPr/>
          <p:nvPr/>
        </p:nvSpPr>
        <p:spPr>
          <a:xfrm>
            <a:off x="6178550" y="1978521"/>
            <a:ext cx="2517775" cy="2047081"/>
          </a:xfrm>
          <a:prstGeom prst="roundRect">
            <a:avLst>
              <a:gd name="adj" fmla="val 4963"/>
            </a:avLst>
          </a:prstGeom>
          <a:solidFill>
            <a:srgbClr val="A8201A"/>
          </a:solidFill>
          <a:ln/>
        </p:spPr>
      </p:sp>
      <p:sp>
        <p:nvSpPr>
          <p:cNvPr id="13" name="Text 11"/>
          <p:cNvSpPr/>
          <p:nvPr/>
        </p:nvSpPr>
        <p:spPr>
          <a:xfrm>
            <a:off x="6407150" y="2207121"/>
            <a:ext cx="2122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28 de octubre</a:t>
            </a:r>
            <a:endParaRPr lang="en-US" sz="1500" dirty="0"/>
          </a:p>
        </p:txBody>
      </p:sp>
      <p:sp>
        <p:nvSpPr>
          <p:cNvPr id="14" name="Text 12"/>
          <p:cNvSpPr/>
          <p:nvPr/>
        </p:nvSpPr>
        <p:spPr>
          <a:xfrm>
            <a:off x="6407150" y="2575421"/>
            <a:ext cx="21223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3EC"/>
                </a:solidFill>
                <a:latin typeface="IBM Plex Sans" pitchFamily="34" charset="0"/>
                <a:ea typeface="IBM Plex Sans" pitchFamily="34" charset="-122"/>
                <a:cs typeface="IBM Plex Sans" pitchFamily="34" charset="-120"/>
              </a:rPr>
              <a:t>Entrega</a:t>
            </a:r>
            <a:endParaRPr lang="en-US" sz="2000" dirty="0"/>
          </a:p>
        </p:txBody>
      </p:sp>
      <p:sp>
        <p:nvSpPr>
          <p:cNvPr id="15" name="Text 13"/>
          <p:cNvSpPr/>
          <p:nvPr/>
        </p:nvSpPr>
        <p:spPr>
          <a:xfrm>
            <a:off x="6407150" y="2981821"/>
            <a:ext cx="2122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Sitio en línea con la versión inicial de la red.</a:t>
            </a:r>
            <a:endParaRPr lang="en-US" sz="1400" dirty="0"/>
          </a:p>
        </p:txBody>
      </p:sp>
      <p:sp>
        <p:nvSpPr>
          <p:cNvPr id="16" name="Shape 14"/>
          <p:cNvSpPr/>
          <p:nvPr/>
        </p:nvSpPr>
        <p:spPr>
          <a:xfrm>
            <a:off x="8851900" y="1981696"/>
            <a:ext cx="2524125" cy="2040731"/>
          </a:xfrm>
          <a:prstGeom prst="roundRect">
            <a:avLst>
              <a:gd name="adj" fmla="val 4823"/>
            </a:avLst>
          </a:prstGeom>
          <a:solidFill>
            <a:srgbClr val="FCFBF7"/>
          </a:solidFill>
          <a:ln w="6350">
            <a:solidFill>
              <a:srgbClr val="DDD8CC"/>
            </a:solidFill>
            <a:prstDash val="solid"/>
          </a:ln>
        </p:spPr>
      </p:sp>
      <p:sp>
        <p:nvSpPr>
          <p:cNvPr id="17" name="Text 15"/>
          <p:cNvSpPr/>
          <p:nvPr/>
        </p:nvSpPr>
        <p:spPr>
          <a:xfrm>
            <a:off x="9083675" y="2213471"/>
            <a:ext cx="2122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5606B"/>
                </a:solidFill>
                <a:latin typeface="IBM Plex Sans" pitchFamily="34" charset="0"/>
                <a:ea typeface="IBM Plex Sans" pitchFamily="34" charset="-122"/>
                <a:cs typeface="IBM Plex Sans" pitchFamily="34" charset="-120"/>
              </a:rPr>
              <a:t>Hasta marzo de 2027</a:t>
            </a:r>
            <a:endParaRPr lang="en-US" sz="1500" dirty="0"/>
          </a:p>
        </p:txBody>
      </p:sp>
      <p:sp>
        <p:nvSpPr>
          <p:cNvPr id="18" name="Text 16"/>
          <p:cNvSpPr/>
          <p:nvPr/>
        </p:nvSpPr>
        <p:spPr>
          <a:xfrm>
            <a:off x="9083675" y="2581771"/>
            <a:ext cx="2122392"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2630"/>
                </a:solidFill>
                <a:latin typeface="IBM Plex Sans" pitchFamily="34" charset="0"/>
                <a:ea typeface="IBM Plex Sans" pitchFamily="34" charset="-122"/>
                <a:cs typeface="IBM Plex Sans" pitchFamily="34" charset="-120"/>
              </a:rPr>
              <a:t>Etapas posteriores</a:t>
            </a:r>
            <a:endParaRPr lang="en-US" sz="2000" dirty="0"/>
          </a:p>
        </p:txBody>
      </p:sp>
      <p:sp>
        <p:nvSpPr>
          <p:cNvPr id="19" name="Text 17"/>
          <p:cNvSpPr/>
          <p:nvPr/>
        </p:nvSpPr>
        <p:spPr>
          <a:xfrm>
            <a:off x="9083675" y="3292971"/>
            <a:ext cx="2122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Salvo la actualización de la red, sin fecha.</a:t>
            </a:r>
            <a:endParaRPr lang="en-US" sz="14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Introducción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ENTREGA DEL 28 DE OCTUBRE</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Qué se entrega</a:t>
            </a:r>
            <a:endParaRPr lang="en-US" sz="3600" dirty="0"/>
          </a:p>
        </p:txBody>
      </p:sp>
      <p:sp>
        <p:nvSpPr>
          <p:cNvPr id="4" name="Shape 2"/>
          <p:cNvSpPr/>
          <p:nvPr/>
        </p:nvSpPr>
        <p:spPr>
          <a:xfrm>
            <a:off x="815975" y="1930896"/>
            <a:ext cx="3414117" cy="2124472"/>
          </a:xfrm>
          <a:prstGeom prst="roundRect">
            <a:avLst>
              <a:gd name="adj" fmla="val 4633"/>
            </a:avLst>
          </a:prstGeom>
          <a:solidFill>
            <a:srgbClr val="FCFBF7"/>
          </a:solidFill>
          <a:ln w="6350">
            <a:solidFill>
              <a:srgbClr val="DDD8CC"/>
            </a:solidFill>
            <a:prstDash val="solid"/>
          </a:ln>
        </p:spPr>
      </p:sp>
      <p:sp>
        <p:nvSpPr>
          <p:cNvPr id="5" name="Text 3"/>
          <p:cNvSpPr/>
          <p:nvPr/>
        </p:nvSpPr>
        <p:spPr>
          <a:xfrm>
            <a:off x="1073150" y="2188071"/>
            <a:ext cx="2986760"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2F5D7C"/>
                </a:solidFill>
                <a:latin typeface="Source Serif 4" pitchFamily="18" charset="0"/>
                <a:ea typeface="Source Serif 4" pitchFamily="18" charset="-122"/>
                <a:cs typeface="Source Serif 4" pitchFamily="18" charset="-120"/>
              </a:rPr>
              <a:t>2</a:t>
            </a:r>
            <a:endParaRPr lang="en-US" sz="5600" dirty="0"/>
          </a:p>
        </p:txBody>
      </p:sp>
      <p:sp>
        <p:nvSpPr>
          <p:cNvPr id="6" name="Text 4"/>
          <p:cNvSpPr/>
          <p:nvPr/>
        </p:nvSpPr>
        <p:spPr>
          <a:xfrm>
            <a:off x="1073150" y="2975471"/>
            <a:ext cx="2986760"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C2630"/>
                </a:solidFill>
                <a:latin typeface="IBM Plex Sans" pitchFamily="34" charset="0"/>
                <a:ea typeface="IBM Plex Sans" pitchFamily="34" charset="-122"/>
                <a:cs typeface="IBM Plex Sans" pitchFamily="34" charset="-120"/>
              </a:rPr>
              <a:t>modelos: uno para fondo oscuro y otro para fondo claro</a:t>
            </a:r>
            <a:endParaRPr lang="en-US" sz="1600" dirty="0"/>
          </a:p>
        </p:txBody>
      </p:sp>
      <p:sp>
        <p:nvSpPr>
          <p:cNvPr id="7" name="Shape 5"/>
          <p:cNvSpPr/>
          <p:nvPr/>
        </p:nvSpPr>
        <p:spPr>
          <a:xfrm>
            <a:off x="4388842" y="1930896"/>
            <a:ext cx="3414216" cy="2124472"/>
          </a:xfrm>
          <a:prstGeom prst="roundRect">
            <a:avLst>
              <a:gd name="adj" fmla="val 4633"/>
            </a:avLst>
          </a:prstGeom>
          <a:solidFill>
            <a:srgbClr val="FCFBF7"/>
          </a:solidFill>
          <a:ln w="6350">
            <a:solidFill>
              <a:srgbClr val="DDD8CC"/>
            </a:solidFill>
            <a:prstDash val="solid"/>
          </a:ln>
        </p:spPr>
      </p:sp>
      <p:sp>
        <p:nvSpPr>
          <p:cNvPr id="8" name="Text 6"/>
          <p:cNvSpPr/>
          <p:nvPr/>
        </p:nvSpPr>
        <p:spPr>
          <a:xfrm>
            <a:off x="4646017" y="2188071"/>
            <a:ext cx="2986862"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2F5D7C"/>
                </a:solidFill>
                <a:latin typeface="Source Serif 4" pitchFamily="18" charset="0"/>
                <a:ea typeface="Source Serif 4" pitchFamily="18" charset="-122"/>
                <a:cs typeface="Source Serif 4" pitchFamily="18" charset="-120"/>
              </a:rPr>
              <a:t>4 + 4</a:t>
            </a:r>
            <a:endParaRPr lang="en-US" sz="5600" dirty="0"/>
          </a:p>
        </p:txBody>
      </p:sp>
      <p:sp>
        <p:nvSpPr>
          <p:cNvPr id="9" name="Text 7"/>
          <p:cNvSpPr/>
          <p:nvPr/>
        </p:nvSpPr>
        <p:spPr>
          <a:xfrm>
            <a:off x="4646017" y="2975471"/>
            <a:ext cx="2986862"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C2630"/>
                </a:solidFill>
                <a:latin typeface="IBM Plex Sans" pitchFamily="34" charset="0"/>
                <a:ea typeface="IBM Plex Sans" pitchFamily="34" charset="-122"/>
                <a:cs typeface="IBM Plex Sans" pitchFamily="34" charset="-120"/>
              </a:rPr>
              <a:t>fotografías de entrenamiento, cuatro por tipo</a:t>
            </a:r>
            <a:endParaRPr lang="en-US" sz="1600" dirty="0"/>
          </a:p>
        </p:txBody>
      </p:sp>
      <p:sp>
        <p:nvSpPr>
          <p:cNvPr id="10" name="Shape 8"/>
          <p:cNvSpPr/>
          <p:nvPr/>
        </p:nvSpPr>
        <p:spPr>
          <a:xfrm>
            <a:off x="7961809" y="1930896"/>
            <a:ext cx="3414216" cy="2124472"/>
          </a:xfrm>
          <a:prstGeom prst="roundRect">
            <a:avLst>
              <a:gd name="adj" fmla="val 4633"/>
            </a:avLst>
          </a:prstGeom>
          <a:solidFill>
            <a:srgbClr val="FCFBF7"/>
          </a:solidFill>
          <a:ln w="6350">
            <a:solidFill>
              <a:srgbClr val="DDD8CC"/>
            </a:solidFill>
            <a:prstDash val="solid"/>
          </a:ln>
        </p:spPr>
      </p:sp>
      <p:sp>
        <p:nvSpPr>
          <p:cNvPr id="11" name="Text 9"/>
          <p:cNvSpPr/>
          <p:nvPr/>
        </p:nvSpPr>
        <p:spPr>
          <a:xfrm>
            <a:off x="8218984" y="2188071"/>
            <a:ext cx="2986862"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2F5D7C"/>
                </a:solidFill>
                <a:latin typeface="Source Serif 4" pitchFamily="18" charset="0"/>
                <a:ea typeface="Source Serif 4" pitchFamily="18" charset="-122"/>
                <a:cs typeface="Source Serif 4" pitchFamily="18" charset="-120"/>
              </a:rPr>
              <a:t>258 y 45</a:t>
            </a:r>
            <a:endParaRPr lang="en-US" sz="5600" dirty="0"/>
          </a:p>
        </p:txBody>
      </p:sp>
      <p:sp>
        <p:nvSpPr>
          <p:cNvPr id="12" name="Text 10"/>
          <p:cNvSpPr/>
          <p:nvPr/>
        </p:nvSpPr>
        <p:spPr>
          <a:xfrm>
            <a:off x="8218984" y="2975471"/>
            <a:ext cx="2986862" cy="848122"/>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C2630"/>
                </a:solidFill>
                <a:latin typeface="IBM Plex Sans" pitchFamily="34" charset="0"/>
                <a:ea typeface="IBM Plex Sans" pitchFamily="34" charset="-122"/>
                <a:cs typeface="IBM Plex Sans" pitchFamily="34" charset="-120"/>
              </a:rPr>
              <a:t>espermatozoides etiquetados en fluorescencia y en fondo claro</a:t>
            </a:r>
            <a:endParaRPr lang="en-US" sz="1600" dirty="0"/>
          </a:p>
        </p:txBody>
      </p:sp>
      <p:sp>
        <p:nvSpPr>
          <p:cNvPr id="13" name="Text 11"/>
          <p:cNvSpPr/>
          <p:nvPr/>
        </p:nvSpPr>
        <p:spPr>
          <a:xfrm>
            <a:off x="812800" y="4363343"/>
            <a:ext cx="10566400" cy="924520"/>
          </a:xfrm>
          <a:prstGeom prst="rect">
            <a:avLst/>
          </a:prstGeom>
          <a:solidFill>
            <a:srgbClr val="ECE7DA"/>
          </a:solidFill>
          <a:ln/>
        </p:spPr>
        <p:txBody>
          <a:bodyPr wrap="square" lIns="279400" tIns="177800" rIns="0" bIns="152400" rtlCol="0" anchor="t">
            <a:normAutofit/>
          </a:bodyPr>
          <a:lstStyle/>
          <a:p>
            <a:pPr algn="l"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Retos de esta etapa: ampliar la variedad de muestras y afinar el conteo donde hay muchos espermatozoides juntos. La actualización de la red los atiende.</a:t>
            </a:r>
            <a:endParaRPr lang="en-US" sz="1600" dirty="0"/>
          </a:p>
        </p:txBody>
      </p:sp>
      <p:sp>
        <p:nvSpPr>
          <p:cNvPr id="14" name="Shape 12"/>
          <p:cNvSpPr/>
          <p:nvPr/>
        </p:nvSpPr>
        <p:spPr>
          <a:xfrm>
            <a:off x="838200" y="4363343"/>
            <a:ext cx="0" cy="924520"/>
          </a:xfrm>
          <a:prstGeom prst="line">
            <a:avLst/>
          </a:prstGeom>
          <a:noFill/>
          <a:ln w="50800">
            <a:solidFill>
              <a:srgbClr val="A8201A"/>
            </a:solidFill>
            <a:prstDash val="solid"/>
          </a:ln>
        </p:spPr>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Introducción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RETOS TÉCNICOS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Dos puntos que afectan lo que van a ver hoy</a:t>
            </a:r>
            <a:endParaRPr lang="en-US" sz="3600" dirty="0"/>
          </a:p>
        </p:txBody>
      </p:sp>
      <p:sp>
        <p:nvSpPr>
          <p:cNvPr id="4" name="Shape 2"/>
          <p:cNvSpPr/>
          <p:nvPr/>
        </p:nvSpPr>
        <p:spPr>
          <a:xfrm>
            <a:off x="815975" y="1930896"/>
            <a:ext cx="5175250" cy="2139752"/>
          </a:xfrm>
          <a:prstGeom prst="roundRect">
            <a:avLst>
              <a:gd name="adj" fmla="val 4600"/>
            </a:avLst>
          </a:prstGeom>
          <a:solidFill>
            <a:srgbClr val="FCFBF7"/>
          </a:solidFill>
          <a:ln w="6350">
            <a:solidFill>
              <a:srgbClr val="DDD8CC"/>
            </a:solidFill>
            <a:prstDash val="solid"/>
          </a:ln>
        </p:spPr>
      </p:sp>
      <p:sp>
        <p:nvSpPr>
          <p:cNvPr id="5" name="Text 3"/>
          <p:cNvSpPr/>
          <p:nvPr/>
        </p:nvSpPr>
        <p:spPr>
          <a:xfrm>
            <a:off x="1073150" y="2188071"/>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5D7C"/>
                </a:solidFill>
                <a:latin typeface="IBM Plex Sans" pitchFamily="34" charset="0"/>
                <a:ea typeface="IBM Plex Sans" pitchFamily="34" charset="-122"/>
                <a:cs typeface="IBM Plex Sans" pitchFamily="34" charset="-120"/>
              </a:rPr>
              <a:t>Escala en micras</a:t>
            </a:r>
            <a:endParaRPr lang="en-US" sz="2000" dirty="0"/>
          </a:p>
        </p:txBody>
      </p:sp>
      <p:sp>
        <p:nvSpPr>
          <p:cNvPr id="6" name="Text 4"/>
          <p:cNvSpPr/>
          <p:nvPr/>
        </p:nvSpPr>
        <p:spPr>
          <a:xfrm>
            <a:off x="1073150" y="2619871"/>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Referencia: 60 píxeles por micra. Las fotos no traen barra de escala.</a:t>
            </a:r>
            <a:endParaRPr lang="en-US" sz="1600" dirty="0"/>
          </a:p>
        </p:txBody>
      </p:sp>
      <p:sp>
        <p:nvSpPr>
          <p:cNvPr id="7" name="Text 5"/>
          <p:cNvSpPr/>
          <p:nvPr/>
        </p:nvSpPr>
        <p:spPr>
          <a:xfrm>
            <a:off x="1073150" y="3315791"/>
            <a:ext cx="480072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Para calibrarla hace falta saber qué cámara y programa se usan, y fotografiar una regla de calibración.</a:t>
            </a:r>
            <a:endParaRPr lang="en-US" sz="1400" dirty="0"/>
          </a:p>
        </p:txBody>
      </p:sp>
      <p:sp>
        <p:nvSpPr>
          <p:cNvPr id="8" name="Shape 6"/>
          <p:cNvSpPr/>
          <p:nvPr/>
        </p:nvSpPr>
        <p:spPr>
          <a:xfrm>
            <a:off x="6200775" y="1930896"/>
            <a:ext cx="5175250" cy="2139752"/>
          </a:xfrm>
          <a:prstGeom prst="roundRect">
            <a:avLst>
              <a:gd name="adj" fmla="val 4600"/>
            </a:avLst>
          </a:prstGeom>
          <a:solidFill>
            <a:srgbClr val="FCFBF7"/>
          </a:solidFill>
          <a:ln w="6350">
            <a:solidFill>
              <a:srgbClr val="DDD8CC"/>
            </a:solidFill>
            <a:prstDash val="solid"/>
          </a:ln>
        </p:spPr>
      </p:sp>
      <p:sp>
        <p:nvSpPr>
          <p:cNvPr id="9" name="Text 7"/>
          <p:cNvSpPr/>
          <p:nvPr/>
        </p:nvSpPr>
        <p:spPr>
          <a:xfrm>
            <a:off x="6457950" y="2188071"/>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5D7C"/>
                </a:solidFill>
                <a:latin typeface="IBM Plex Sans" pitchFamily="34" charset="0"/>
                <a:ea typeface="IBM Plex Sans" pitchFamily="34" charset="-122"/>
                <a:cs typeface="IBM Plex Sans" pitchFamily="34" charset="-120"/>
              </a:rPr>
              <a:t>Tiempo en el servidor</a:t>
            </a:r>
            <a:endParaRPr lang="en-US" sz="2000" dirty="0"/>
          </a:p>
        </p:txBody>
      </p:sp>
      <p:sp>
        <p:nvSpPr>
          <p:cNvPr id="10" name="Text 8"/>
          <p:cNvSpPr/>
          <p:nvPr/>
        </p:nvSpPr>
        <p:spPr>
          <a:xfrm>
            <a:off x="6457950" y="2619871"/>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En escritorio: unos 40 s por foto de fluorescencia y de 10 a 20 s en fondo claro.</a:t>
            </a:r>
            <a:endParaRPr lang="en-US" sz="1600" dirty="0"/>
          </a:p>
        </p:txBody>
      </p:sp>
      <p:sp>
        <p:nvSpPr>
          <p:cNvPr id="11" name="Text 9"/>
          <p:cNvSpPr/>
          <p:nvPr/>
        </p:nvSpPr>
        <p:spPr>
          <a:xfrm>
            <a:off x="6457950" y="3315791"/>
            <a:ext cx="480072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En el servidor contratado se mide para ajustar la configuración. Se aceptó una espera de 2 o 3 minutos.</a:t>
            </a:r>
            <a:endParaRPr lang="en-US" sz="14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Introducción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DESPUÉS DE LA ENTREGA</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Cuatro etapas posteriores acordadas</a:t>
            </a:r>
            <a:endParaRPr lang="en-US" sz="3600" dirty="0"/>
          </a:p>
        </p:txBody>
      </p:sp>
      <p:sp>
        <p:nvSpPr>
          <p:cNvPr id="4" name="Shape 2"/>
          <p:cNvSpPr/>
          <p:nvPr/>
        </p:nvSpPr>
        <p:spPr>
          <a:xfrm>
            <a:off x="815975" y="1930896"/>
            <a:ext cx="5200650" cy="1347391"/>
          </a:xfrm>
          <a:prstGeom prst="roundRect">
            <a:avLst>
              <a:gd name="adj" fmla="val 7305"/>
            </a:avLst>
          </a:prstGeom>
          <a:solidFill>
            <a:srgbClr val="FCFBF7"/>
          </a:solidFill>
          <a:ln w="6350">
            <a:solidFill>
              <a:srgbClr val="DDD8CC"/>
            </a:solidFill>
            <a:prstDash val="solid"/>
          </a:ln>
        </p:spPr>
      </p:sp>
      <p:sp>
        <p:nvSpPr>
          <p:cNvPr id="5" name="Text 3"/>
          <p:cNvSpPr/>
          <p:nvPr/>
        </p:nvSpPr>
        <p:spPr>
          <a:xfrm>
            <a:off x="1047750" y="2162671"/>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Entrenamiento en IA</a:t>
            </a:r>
            <a:endParaRPr lang="en-US" sz="1800" dirty="0"/>
          </a:p>
        </p:txBody>
      </p:sp>
      <p:sp>
        <p:nvSpPr>
          <p:cNvPr id="6" name="Text 4"/>
          <p:cNvSpPr/>
          <p:nvPr/>
        </p:nvSpPr>
        <p:spPr>
          <a:xfrm>
            <a:off x="1047750" y="2513112"/>
            <a:ext cx="487921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30 horas adicionales de capacitación.</a:t>
            </a:r>
            <a:endParaRPr lang="en-US" sz="1500" dirty="0"/>
          </a:p>
        </p:txBody>
      </p:sp>
      <p:sp>
        <p:nvSpPr>
          <p:cNvPr id="7" name="Shape 5"/>
          <p:cNvSpPr/>
          <p:nvPr/>
        </p:nvSpPr>
        <p:spPr>
          <a:xfrm>
            <a:off x="6175375" y="1930896"/>
            <a:ext cx="5200650" cy="1347391"/>
          </a:xfrm>
          <a:prstGeom prst="roundRect">
            <a:avLst>
              <a:gd name="adj" fmla="val 7305"/>
            </a:avLst>
          </a:prstGeom>
          <a:solidFill>
            <a:srgbClr val="FCFBF7"/>
          </a:solidFill>
          <a:ln w="6350">
            <a:solidFill>
              <a:srgbClr val="DDD8CC"/>
            </a:solidFill>
            <a:prstDash val="solid"/>
          </a:ln>
        </p:spPr>
      </p:sp>
      <p:sp>
        <p:nvSpPr>
          <p:cNvPr id="8" name="Text 6"/>
          <p:cNvSpPr/>
          <p:nvPr/>
        </p:nvSpPr>
        <p:spPr>
          <a:xfrm>
            <a:off x="6407150" y="2162671"/>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Red convolucional B</a:t>
            </a:r>
            <a:endParaRPr lang="en-US" sz="1800" dirty="0"/>
          </a:p>
        </p:txBody>
      </p:sp>
      <p:sp>
        <p:nvSpPr>
          <p:cNvPr id="9" name="Text 7"/>
          <p:cNvSpPr/>
          <p:nvPr/>
        </p:nvSpPr>
        <p:spPr>
          <a:xfrm>
            <a:off x="6407150" y="2513112"/>
            <a:ext cx="487921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Probablemente control contra tratamiento. Falta confirmarlo.</a:t>
            </a:r>
            <a:endParaRPr lang="en-US" sz="1500" dirty="0"/>
          </a:p>
        </p:txBody>
      </p:sp>
      <p:sp>
        <p:nvSpPr>
          <p:cNvPr id="10" name="Shape 8"/>
          <p:cNvSpPr/>
          <p:nvPr/>
        </p:nvSpPr>
        <p:spPr>
          <a:xfrm>
            <a:off x="815975" y="3437037"/>
            <a:ext cx="5200650" cy="1347391"/>
          </a:xfrm>
          <a:prstGeom prst="roundRect">
            <a:avLst>
              <a:gd name="adj" fmla="val 7305"/>
            </a:avLst>
          </a:prstGeom>
          <a:solidFill>
            <a:srgbClr val="FCFBF7"/>
          </a:solidFill>
          <a:ln w="6350">
            <a:solidFill>
              <a:srgbClr val="DDD8CC"/>
            </a:solidFill>
            <a:prstDash val="solid"/>
          </a:ln>
        </p:spPr>
      </p:sp>
      <p:sp>
        <p:nvSpPr>
          <p:cNvPr id="11" name="Text 9"/>
          <p:cNvSpPr/>
          <p:nvPr/>
        </p:nvSpPr>
        <p:spPr>
          <a:xfrm>
            <a:off x="1047750" y="3668812"/>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Red multimodal</a:t>
            </a:r>
            <a:endParaRPr lang="en-US" sz="1800" dirty="0"/>
          </a:p>
        </p:txBody>
      </p:sp>
      <p:sp>
        <p:nvSpPr>
          <p:cNvPr id="12" name="Text 10"/>
          <p:cNvSpPr/>
          <p:nvPr/>
        </p:nvSpPr>
        <p:spPr>
          <a:xfrm>
            <a:off x="1047750" y="4019252"/>
            <a:ext cx="487921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Imágenes con datos numéricos. Primero se verifica la viabilidad.</a:t>
            </a:r>
            <a:endParaRPr lang="en-US" sz="1500" dirty="0"/>
          </a:p>
        </p:txBody>
      </p:sp>
      <p:sp>
        <p:nvSpPr>
          <p:cNvPr id="13" name="Shape 11"/>
          <p:cNvSpPr/>
          <p:nvPr/>
        </p:nvSpPr>
        <p:spPr>
          <a:xfrm>
            <a:off x="6172200" y="3433862"/>
            <a:ext cx="5207000" cy="1353741"/>
          </a:xfrm>
          <a:prstGeom prst="roundRect">
            <a:avLst>
              <a:gd name="adj" fmla="val 7505"/>
            </a:avLst>
          </a:prstGeom>
          <a:solidFill>
            <a:srgbClr val="A8201A"/>
          </a:solidFill>
          <a:ln/>
        </p:spPr>
      </p:sp>
      <p:sp>
        <p:nvSpPr>
          <p:cNvPr id="14" name="Text 12"/>
          <p:cNvSpPr/>
          <p:nvPr/>
        </p:nvSpPr>
        <p:spPr>
          <a:xfrm>
            <a:off x="6400800" y="3662462"/>
            <a:ext cx="489229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3EC"/>
                </a:solidFill>
                <a:latin typeface="IBM Plex Sans" pitchFamily="34" charset="0"/>
                <a:ea typeface="IBM Plex Sans" pitchFamily="34" charset="-122"/>
                <a:cs typeface="IBM Plex Sans" pitchFamily="34" charset="-120"/>
              </a:rPr>
              <a:t>Actualización de la red</a:t>
            </a:r>
            <a:endParaRPr lang="en-US" sz="1800" dirty="0"/>
          </a:p>
        </p:txBody>
      </p:sp>
      <p:sp>
        <p:nvSpPr>
          <p:cNvPr id="15" name="Text 13"/>
          <p:cNvSpPr/>
          <p:nvPr/>
        </p:nvSpPr>
        <p:spPr>
          <a:xfrm>
            <a:off x="6400800" y="4012902"/>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3EC"/>
                </a:solidFill>
                <a:latin typeface="IBM Plex Sans" pitchFamily="34" charset="0"/>
                <a:ea typeface="IBM Plex Sans" pitchFamily="34" charset="-122"/>
                <a:cs typeface="IBM Plex Sans" pitchFamily="34" charset="-120"/>
              </a:rPr>
              <a:t>Reentrenar con unas 50 imágenes reales. Fecha flexible, hasta marzo de 2027.</a:t>
            </a:r>
            <a:endParaRPr lang="en-US" sz="15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Introducción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2569"/>
          </a:xfrm>
          <a:prstGeom prst="rect">
            <a:avLst/>
          </a:prstGeom>
          <a:noFill/>
          <a:ln/>
        </p:spPr>
        <p:txBody>
          <a:bodyPr wrap="square" lIns="0" tIns="0" rIns="0" bIns="0" rtlCol="0" anchor="t">
            <a:normAutofit/>
          </a:bodyPr>
          <a:lstStyle/>
          <a:p>
            <a:pPr algn="l" indent="0" marL="0">
              <a:lnSpc>
                <a:spcPts val="1672"/>
              </a:lnSpc>
              <a:buNone/>
            </a:pPr>
            <a:r>
              <a:rPr lang="en-US" sz="1194" b="1" spc="100" kern="0" dirty="0">
                <a:solidFill>
                  <a:srgbClr val="A8201A"/>
                </a:solidFill>
                <a:latin typeface="IBM Plex Sans" pitchFamily="34" charset="0"/>
                <a:ea typeface="IBM Plex Sans" pitchFamily="34" charset="-122"/>
                <a:cs typeface="IBM Plex Sans" pitchFamily="34" charset="-120"/>
              </a:rPr>
              <a:t>META DE LA CAPACITACIÓN</a:t>
            </a:r>
            <a:endParaRPr lang="en-US" sz="1194" dirty="0"/>
          </a:p>
        </p:txBody>
      </p:sp>
      <p:sp>
        <p:nvSpPr>
          <p:cNvPr id="3" name="Text 1"/>
          <p:cNvSpPr/>
          <p:nvPr>
            <p:ph type="title"/>
          </p:nvPr>
        </p:nvSpPr>
        <p:spPr>
          <a:xfrm>
            <a:off x="812800" y="1096169"/>
            <a:ext cx="10883392" cy="476349"/>
          </a:xfrm>
          <a:prstGeom prst="rect">
            <a:avLst/>
          </a:prstGeom>
          <a:noFill/>
          <a:ln/>
        </p:spPr>
        <p:txBody>
          <a:bodyPr wrap="square" lIns="0" tIns="0" rIns="0" bIns="0" rtlCol="0" anchor="t">
            <a:normAutofit/>
          </a:bodyPr>
          <a:lstStyle/>
          <a:p>
            <a:pPr algn="l" indent="0" marL="0">
              <a:lnSpc>
                <a:spcPts val="3564"/>
              </a:lnSpc>
              <a:buNone/>
            </a:pPr>
            <a:r>
              <a:rPr lang="en-US" sz="3240" b="1" i="0" dirty="0">
                <a:solidFill>
                  <a:srgbClr val="1C2630"/>
                </a:solidFill>
                <a:latin typeface="Source Serif 4" pitchFamily="18" charset="0"/>
                <a:ea typeface="Source Serif 4" pitchFamily="18" charset="-122"/>
                <a:cs typeface="Source Serif 4" pitchFamily="18" charset="-120"/>
              </a:rPr>
              <a:t>Al terminar, el grupo podrá</a:t>
            </a:r>
            <a:endParaRPr lang="en-US" sz="3240" dirty="0"/>
          </a:p>
        </p:txBody>
      </p:sp>
      <p:sp>
        <p:nvSpPr>
          <p:cNvPr id="4" name="Shape 2"/>
          <p:cNvSpPr/>
          <p:nvPr/>
        </p:nvSpPr>
        <p:spPr>
          <a:xfrm>
            <a:off x="815975" y="1804293"/>
            <a:ext cx="10560050" cy="700286"/>
          </a:xfrm>
          <a:prstGeom prst="roundRect">
            <a:avLst>
              <a:gd name="adj" fmla="val 14055"/>
            </a:avLst>
          </a:prstGeom>
          <a:solidFill>
            <a:srgbClr val="FCFBF7"/>
          </a:solidFill>
          <a:ln w="6350">
            <a:solidFill>
              <a:srgbClr val="DDD8CC"/>
            </a:solidFill>
            <a:prstDash val="solid"/>
          </a:ln>
        </p:spPr>
      </p:sp>
      <p:sp>
        <p:nvSpPr>
          <p:cNvPr id="5" name="Text 3"/>
          <p:cNvSpPr/>
          <p:nvPr/>
        </p:nvSpPr>
        <p:spPr>
          <a:xfrm>
            <a:off x="1047750" y="1905595"/>
            <a:ext cx="4064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8201A"/>
                </a:solidFill>
                <a:latin typeface="Source Serif 4" pitchFamily="18" charset="0"/>
                <a:ea typeface="Source Serif 4" pitchFamily="18" charset="-122"/>
                <a:cs typeface="Source Serif 4" pitchFamily="18" charset="-120"/>
              </a:rPr>
              <a:t>1</a:t>
            </a:r>
            <a:endParaRPr lang="en-US" sz="2800" dirty="0"/>
          </a:p>
        </p:txBody>
      </p:sp>
      <p:sp>
        <p:nvSpPr>
          <p:cNvPr id="6" name="Text 4"/>
          <p:cNvSpPr/>
          <p:nvPr/>
        </p:nvSpPr>
        <p:spPr>
          <a:xfrm>
            <a:off x="1606550" y="2022376"/>
            <a:ext cx="3147298"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C2630"/>
                </a:solidFill>
                <a:latin typeface="IBM Plex Sans" pitchFamily="34" charset="0"/>
                <a:ea typeface="IBM Plex Sans" pitchFamily="34" charset="-122"/>
                <a:cs typeface="IBM Plex Sans" pitchFamily="34" charset="-120"/>
              </a:rPr>
              <a:t>Usar el sitio de principio a fin</a:t>
            </a:r>
            <a:endParaRPr lang="en-US" sz="1600" dirty="0"/>
          </a:p>
        </p:txBody>
      </p:sp>
      <p:sp>
        <p:nvSpPr>
          <p:cNvPr id="7" name="Shape 5"/>
          <p:cNvSpPr/>
          <p:nvPr/>
        </p:nvSpPr>
        <p:spPr>
          <a:xfrm>
            <a:off x="815975" y="2637929"/>
            <a:ext cx="10560050" cy="700187"/>
          </a:xfrm>
          <a:prstGeom prst="roundRect">
            <a:avLst>
              <a:gd name="adj" fmla="val 14057"/>
            </a:avLst>
          </a:prstGeom>
          <a:solidFill>
            <a:srgbClr val="FCFBF7"/>
          </a:solidFill>
          <a:ln w="6350">
            <a:solidFill>
              <a:srgbClr val="DDD8CC"/>
            </a:solidFill>
            <a:prstDash val="solid"/>
          </a:ln>
        </p:spPr>
      </p:sp>
      <p:sp>
        <p:nvSpPr>
          <p:cNvPr id="8" name="Text 6"/>
          <p:cNvSpPr/>
          <p:nvPr/>
        </p:nvSpPr>
        <p:spPr>
          <a:xfrm>
            <a:off x="1047750" y="2739132"/>
            <a:ext cx="4064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8201A"/>
                </a:solidFill>
                <a:latin typeface="Source Serif 4" pitchFamily="18" charset="0"/>
                <a:ea typeface="Source Serif 4" pitchFamily="18" charset="-122"/>
                <a:cs typeface="Source Serif 4" pitchFamily="18" charset="-120"/>
              </a:rPr>
              <a:t>2</a:t>
            </a:r>
            <a:endParaRPr lang="en-US" sz="2800" dirty="0"/>
          </a:p>
        </p:txBody>
      </p:sp>
      <p:sp>
        <p:nvSpPr>
          <p:cNvPr id="9" name="Text 7"/>
          <p:cNvSpPr/>
          <p:nvPr/>
        </p:nvSpPr>
        <p:spPr>
          <a:xfrm>
            <a:off x="1606550" y="2855913"/>
            <a:ext cx="3360658"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C2630"/>
                </a:solidFill>
                <a:latin typeface="IBM Plex Sans" pitchFamily="34" charset="0"/>
                <a:ea typeface="IBM Plex Sans" pitchFamily="34" charset="-122"/>
                <a:cs typeface="IBM Plex Sans" pitchFamily="34" charset="-120"/>
              </a:rPr>
              <a:t>Leer los resultados con criterio</a:t>
            </a:r>
            <a:endParaRPr lang="en-US" sz="1600" dirty="0"/>
          </a:p>
        </p:txBody>
      </p:sp>
      <p:sp>
        <p:nvSpPr>
          <p:cNvPr id="10" name="Shape 8"/>
          <p:cNvSpPr/>
          <p:nvPr/>
        </p:nvSpPr>
        <p:spPr>
          <a:xfrm>
            <a:off x="815975" y="3471466"/>
            <a:ext cx="10560050" cy="700286"/>
          </a:xfrm>
          <a:prstGeom prst="roundRect">
            <a:avLst>
              <a:gd name="adj" fmla="val 14055"/>
            </a:avLst>
          </a:prstGeom>
          <a:solidFill>
            <a:srgbClr val="FCFBF7"/>
          </a:solidFill>
          <a:ln w="6350">
            <a:solidFill>
              <a:srgbClr val="DDD8CC"/>
            </a:solidFill>
            <a:prstDash val="solid"/>
          </a:ln>
        </p:spPr>
      </p:sp>
      <p:sp>
        <p:nvSpPr>
          <p:cNvPr id="11" name="Text 9"/>
          <p:cNvSpPr/>
          <p:nvPr/>
        </p:nvSpPr>
        <p:spPr>
          <a:xfrm>
            <a:off x="1047750" y="3572768"/>
            <a:ext cx="4064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8201A"/>
                </a:solidFill>
                <a:latin typeface="Source Serif 4" pitchFamily="18" charset="0"/>
                <a:ea typeface="Source Serif 4" pitchFamily="18" charset="-122"/>
                <a:cs typeface="Source Serif 4" pitchFamily="18" charset="-120"/>
              </a:rPr>
              <a:t>3</a:t>
            </a:r>
            <a:endParaRPr lang="en-US" sz="2800" dirty="0"/>
          </a:p>
        </p:txBody>
      </p:sp>
      <p:sp>
        <p:nvSpPr>
          <p:cNvPr id="12" name="Text 10"/>
          <p:cNvSpPr/>
          <p:nvPr/>
        </p:nvSpPr>
        <p:spPr>
          <a:xfrm>
            <a:off x="1606550" y="3689548"/>
            <a:ext cx="371344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C2630"/>
                </a:solidFill>
                <a:latin typeface="IBM Plex Sans" pitchFamily="34" charset="0"/>
                <a:ea typeface="IBM Plex Sans" pitchFamily="34" charset="-122"/>
                <a:cs typeface="IBM Plex Sans" pitchFamily="34" charset="-120"/>
              </a:rPr>
              <a:t>Entender qué hace la red y qué no</a:t>
            </a:r>
            <a:endParaRPr lang="en-US" sz="1600" dirty="0"/>
          </a:p>
        </p:txBody>
      </p:sp>
      <p:sp>
        <p:nvSpPr>
          <p:cNvPr id="13" name="Shape 11"/>
          <p:cNvSpPr/>
          <p:nvPr/>
        </p:nvSpPr>
        <p:spPr>
          <a:xfrm>
            <a:off x="815975" y="4305102"/>
            <a:ext cx="10560050" cy="700187"/>
          </a:xfrm>
          <a:prstGeom prst="roundRect">
            <a:avLst>
              <a:gd name="adj" fmla="val 14057"/>
            </a:avLst>
          </a:prstGeom>
          <a:solidFill>
            <a:srgbClr val="FCFBF7"/>
          </a:solidFill>
          <a:ln w="6350">
            <a:solidFill>
              <a:srgbClr val="DDD8CC"/>
            </a:solidFill>
            <a:prstDash val="solid"/>
          </a:ln>
        </p:spPr>
      </p:sp>
      <p:sp>
        <p:nvSpPr>
          <p:cNvPr id="14" name="Text 12"/>
          <p:cNvSpPr/>
          <p:nvPr/>
        </p:nvSpPr>
        <p:spPr>
          <a:xfrm>
            <a:off x="1047750" y="4406305"/>
            <a:ext cx="4064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8201A"/>
                </a:solidFill>
                <a:latin typeface="Source Serif 4" pitchFamily="18" charset="0"/>
                <a:ea typeface="Source Serif 4" pitchFamily="18" charset="-122"/>
                <a:cs typeface="Source Serif 4" pitchFamily="18" charset="-120"/>
              </a:rPr>
              <a:t>4</a:t>
            </a:r>
            <a:endParaRPr lang="en-US" sz="2800" dirty="0"/>
          </a:p>
        </p:txBody>
      </p:sp>
      <p:sp>
        <p:nvSpPr>
          <p:cNvPr id="15" name="Text 13"/>
          <p:cNvSpPr/>
          <p:nvPr/>
        </p:nvSpPr>
        <p:spPr>
          <a:xfrm>
            <a:off x="1606550" y="4523085"/>
            <a:ext cx="4185523"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C2630"/>
                </a:solidFill>
                <a:latin typeface="IBM Plex Sans" pitchFamily="34" charset="0"/>
                <a:ea typeface="IBM Plex Sans" pitchFamily="34" charset="-122"/>
                <a:cs typeface="IBM Plex Sans" pitchFamily="34" charset="-120"/>
              </a:rPr>
              <a:t>Anotar, reentrenar y evaluar el modelo</a:t>
            </a:r>
            <a:endParaRPr lang="en-US" sz="1600" dirty="0"/>
          </a:p>
        </p:txBody>
      </p:sp>
      <p:sp>
        <p:nvSpPr>
          <p:cNvPr id="16" name="Shape 14"/>
          <p:cNvSpPr/>
          <p:nvPr/>
        </p:nvSpPr>
        <p:spPr>
          <a:xfrm>
            <a:off x="815975" y="5138638"/>
            <a:ext cx="10560050" cy="700187"/>
          </a:xfrm>
          <a:prstGeom prst="roundRect">
            <a:avLst>
              <a:gd name="adj" fmla="val 14057"/>
            </a:avLst>
          </a:prstGeom>
          <a:solidFill>
            <a:srgbClr val="FCFBF7"/>
          </a:solidFill>
          <a:ln w="6350">
            <a:solidFill>
              <a:srgbClr val="DDD8CC"/>
            </a:solidFill>
            <a:prstDash val="solid"/>
          </a:ln>
        </p:spPr>
      </p:sp>
      <p:sp>
        <p:nvSpPr>
          <p:cNvPr id="17" name="Text 15"/>
          <p:cNvSpPr/>
          <p:nvPr/>
        </p:nvSpPr>
        <p:spPr>
          <a:xfrm>
            <a:off x="1047750" y="5239841"/>
            <a:ext cx="4064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8201A"/>
                </a:solidFill>
                <a:latin typeface="Source Serif 4" pitchFamily="18" charset="0"/>
                <a:ea typeface="Source Serif 4" pitchFamily="18" charset="-122"/>
                <a:cs typeface="Source Serif 4" pitchFamily="18" charset="-120"/>
              </a:rPr>
              <a:t>5</a:t>
            </a:r>
            <a:endParaRPr lang="en-US" sz="2800" dirty="0"/>
          </a:p>
        </p:txBody>
      </p:sp>
      <p:sp>
        <p:nvSpPr>
          <p:cNvPr id="18" name="Text 16"/>
          <p:cNvSpPr/>
          <p:nvPr/>
        </p:nvSpPr>
        <p:spPr>
          <a:xfrm>
            <a:off x="1606550" y="5356622"/>
            <a:ext cx="5630108"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C2630"/>
                </a:solidFill>
                <a:latin typeface="IBM Plex Sans" pitchFamily="34" charset="0"/>
                <a:ea typeface="IBM Plex Sans" pitchFamily="34" charset="-122"/>
                <a:cs typeface="IBM Plex Sans" pitchFamily="34" charset="-120"/>
              </a:rPr>
              <a:t>Ubicarse en el código y pedir cambios con precisión</a:t>
            </a:r>
            <a:endParaRPr lang="en-US" sz="16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Introducción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CÓMO SE TRABAJÓ</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Cuatro principios de diseño</a:t>
            </a:r>
            <a:endParaRPr lang="en-US" sz="3600" dirty="0"/>
          </a:p>
        </p:txBody>
      </p:sp>
      <p:sp>
        <p:nvSpPr>
          <p:cNvPr id="4" name="Shape 2"/>
          <p:cNvSpPr/>
          <p:nvPr/>
        </p:nvSpPr>
        <p:spPr>
          <a:xfrm>
            <a:off x="815975" y="1930896"/>
            <a:ext cx="5200650" cy="1347391"/>
          </a:xfrm>
          <a:prstGeom prst="roundRect">
            <a:avLst>
              <a:gd name="adj" fmla="val 7305"/>
            </a:avLst>
          </a:prstGeom>
          <a:solidFill>
            <a:srgbClr val="FCFBF7"/>
          </a:solidFill>
          <a:ln w="6350">
            <a:solidFill>
              <a:srgbClr val="DDD8CC"/>
            </a:solidFill>
            <a:prstDash val="solid"/>
          </a:ln>
        </p:spPr>
      </p:sp>
      <p:sp>
        <p:nvSpPr>
          <p:cNvPr id="5" name="Text 3"/>
          <p:cNvSpPr/>
          <p:nvPr/>
        </p:nvSpPr>
        <p:spPr>
          <a:xfrm>
            <a:off x="1047750" y="2162671"/>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Trazabilidad</a:t>
            </a:r>
            <a:endParaRPr lang="en-US" sz="1800" dirty="0"/>
          </a:p>
        </p:txBody>
      </p:sp>
      <p:sp>
        <p:nvSpPr>
          <p:cNvPr id="6" name="Text 4"/>
          <p:cNvSpPr/>
          <p:nvPr/>
        </p:nvSpPr>
        <p:spPr>
          <a:xfrm>
            <a:off x="1047750" y="2513112"/>
            <a:ext cx="487921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Cada requisito nace de una frase de las reuniones.</a:t>
            </a:r>
            <a:endParaRPr lang="en-US" sz="1500" dirty="0"/>
          </a:p>
        </p:txBody>
      </p:sp>
      <p:sp>
        <p:nvSpPr>
          <p:cNvPr id="7" name="Shape 5"/>
          <p:cNvSpPr/>
          <p:nvPr/>
        </p:nvSpPr>
        <p:spPr>
          <a:xfrm>
            <a:off x="6175375" y="1930896"/>
            <a:ext cx="5200650" cy="1347391"/>
          </a:xfrm>
          <a:prstGeom prst="roundRect">
            <a:avLst>
              <a:gd name="adj" fmla="val 7305"/>
            </a:avLst>
          </a:prstGeom>
          <a:solidFill>
            <a:srgbClr val="FCFBF7"/>
          </a:solidFill>
          <a:ln w="6350">
            <a:solidFill>
              <a:srgbClr val="DDD8CC"/>
            </a:solidFill>
            <a:prstDash val="solid"/>
          </a:ln>
        </p:spPr>
      </p:sp>
      <p:sp>
        <p:nvSpPr>
          <p:cNvPr id="8" name="Text 6"/>
          <p:cNvSpPr/>
          <p:nvPr/>
        </p:nvSpPr>
        <p:spPr>
          <a:xfrm>
            <a:off x="6407150" y="2162671"/>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No suponer</a:t>
            </a:r>
            <a:endParaRPr lang="en-US" sz="1800" dirty="0"/>
          </a:p>
        </p:txBody>
      </p:sp>
      <p:sp>
        <p:nvSpPr>
          <p:cNvPr id="9" name="Text 7"/>
          <p:cNvSpPr/>
          <p:nvPr/>
        </p:nvSpPr>
        <p:spPr>
          <a:xfrm>
            <a:off x="6407150" y="2513112"/>
            <a:ext cx="487921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Lo que faltaba se definió con el grupo y se indica en pantalla.</a:t>
            </a:r>
            <a:endParaRPr lang="en-US" sz="1500" dirty="0"/>
          </a:p>
        </p:txBody>
      </p:sp>
      <p:sp>
        <p:nvSpPr>
          <p:cNvPr id="10" name="Shape 8"/>
          <p:cNvSpPr/>
          <p:nvPr/>
        </p:nvSpPr>
        <p:spPr>
          <a:xfrm>
            <a:off x="815975" y="3437037"/>
            <a:ext cx="5200650" cy="1347391"/>
          </a:xfrm>
          <a:prstGeom prst="roundRect">
            <a:avLst>
              <a:gd name="adj" fmla="val 7305"/>
            </a:avLst>
          </a:prstGeom>
          <a:solidFill>
            <a:srgbClr val="FCFBF7"/>
          </a:solidFill>
          <a:ln w="6350">
            <a:solidFill>
              <a:srgbClr val="DDD8CC"/>
            </a:solidFill>
            <a:prstDash val="solid"/>
          </a:ln>
        </p:spPr>
      </p:sp>
      <p:sp>
        <p:nvSpPr>
          <p:cNvPr id="11" name="Text 9"/>
          <p:cNvSpPr/>
          <p:nvPr/>
        </p:nvSpPr>
        <p:spPr>
          <a:xfrm>
            <a:off x="1047750" y="3668812"/>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Red y medición separadas</a:t>
            </a:r>
            <a:endParaRPr lang="en-US" sz="1800" dirty="0"/>
          </a:p>
        </p:txBody>
      </p:sp>
      <p:sp>
        <p:nvSpPr>
          <p:cNvPr id="12" name="Text 10"/>
          <p:cNvSpPr/>
          <p:nvPr/>
        </p:nvSpPr>
        <p:spPr>
          <a:xfrm>
            <a:off x="1047750" y="4019252"/>
            <a:ext cx="487921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Cualquier medida se verifica sin abrir la red.</a:t>
            </a:r>
            <a:endParaRPr lang="en-US" sz="1500" dirty="0"/>
          </a:p>
        </p:txBody>
      </p:sp>
      <p:sp>
        <p:nvSpPr>
          <p:cNvPr id="13" name="Shape 11"/>
          <p:cNvSpPr/>
          <p:nvPr/>
        </p:nvSpPr>
        <p:spPr>
          <a:xfrm>
            <a:off x="6175375" y="3437037"/>
            <a:ext cx="5200650" cy="1347391"/>
          </a:xfrm>
          <a:prstGeom prst="roundRect">
            <a:avLst>
              <a:gd name="adj" fmla="val 7305"/>
            </a:avLst>
          </a:prstGeom>
          <a:solidFill>
            <a:srgbClr val="FCFBF7"/>
          </a:solidFill>
          <a:ln w="6350">
            <a:solidFill>
              <a:srgbClr val="DDD8CC"/>
            </a:solidFill>
            <a:prstDash val="solid"/>
          </a:ln>
        </p:spPr>
      </p:sp>
      <p:sp>
        <p:nvSpPr>
          <p:cNvPr id="14" name="Text 12"/>
          <p:cNvSpPr/>
          <p:nvPr/>
        </p:nvSpPr>
        <p:spPr>
          <a:xfrm>
            <a:off x="6407150" y="3668812"/>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Reproducibilidad</a:t>
            </a:r>
            <a:endParaRPr lang="en-US" sz="1800" dirty="0"/>
          </a:p>
        </p:txBody>
      </p:sp>
      <p:sp>
        <p:nvSpPr>
          <p:cNvPr id="15" name="Text 13"/>
          <p:cNvSpPr/>
          <p:nvPr/>
        </p:nvSpPr>
        <p:spPr>
          <a:xfrm>
            <a:off x="6407150" y="4019252"/>
            <a:ext cx="487921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Cuaderno de Colab, configuración dentro del modelo y servidor versionado.</a:t>
            </a:r>
            <a:endParaRPr lang="en-US" sz="15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Introducción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SERVICIOS EXTERNOS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Lo que contrata el grupo</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5021"/>
          <a:ext cx="10553700" cy="1917700"/>
        </p:xfrm>
        <a:graphic>
          <a:graphicData uri="http://schemas.openxmlformats.org/drawingml/2006/table">
            <a:tbl>
              <a:tblPr/>
              <a:tblGrid>
                <a:gridCol w="2321814"/>
                <a:gridCol w="5065776"/>
                <a:gridCol w="3166110"/>
              </a:tblGrid>
              <a:tr h="412750">
                <a:tc>
                  <a:txBody>
                    <a:bodyPr/>
                    <a:lstStyle/>
                    <a:p>
                      <a:pPr indent="0" marL="0">
                        <a:lnSpc>
                          <a:spcPts val="2100"/>
                        </a:lnSpc>
                        <a:buNone/>
                      </a:pPr>
                      <a:r>
                        <a:rPr lang="en-US" sz="1500" b="1" dirty="0">
                          <a:solidFill>
                            <a:srgbClr val="1C2630"/>
                          </a:solidFill>
                          <a:latin typeface="IBM Plex Sans" pitchFamily="34" charset="0"/>
                          <a:ea typeface="IBM Plex Sans" pitchFamily="34" charset="-122"/>
                          <a:cs typeface="IBM Plex Sans" pitchFamily="34" charset="-120"/>
                        </a:rPr>
                        <a:t>Servicio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C2630"/>
                          </a:solidFill>
                          <a:latin typeface="IBM Plex Sans" pitchFamily="34" charset="0"/>
                          <a:ea typeface="IBM Plex Sans" pitchFamily="34" charset="-122"/>
                          <a:cs typeface="IBM Plex Sans" pitchFamily="34" charset="-120"/>
                        </a:rPr>
                        <a:t>Para qué sirve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C2630"/>
                          </a:solidFill>
                          <a:latin typeface="IBM Plex Sans" pitchFamily="34" charset="0"/>
                          <a:ea typeface="IBM Plex Sans" pitchFamily="34" charset="-122"/>
                          <a:cs typeface="IBM Plex Sans" pitchFamily="34" charset="-120"/>
                        </a:rPr>
                        <a:t>Estimación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679450">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Servidor VPS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Ejecuta el sitio y los modelos: Ubuntu, Nginx, Gunicorn y HTTPS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100 a 250 pesos al mes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Dominio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La dirección del sitio, por definir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200 a 400 pesos al año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Google Colab</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Entrenar los modelos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Plan económico, unos 300 pesos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4112121"/>
            <a:ext cx="915670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Cifras aproximadas del proyecto; el precio final lo da cada proveedor. Los análisis se atienden de uno en uno, y su capacidad se confirma midiendo en el servidor real.</a:t>
            </a:r>
            <a:endParaRPr lang="en-US" sz="14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Introducción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MAPA DE LA CAPACITACIÓN</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Las cinco sesiones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5021"/>
          <a:ext cx="10553700" cy="2635448"/>
        </p:xfrm>
        <a:graphic>
          <a:graphicData uri="http://schemas.openxmlformats.org/drawingml/2006/table">
            <a:tbl>
              <a:tblPr/>
              <a:tblGrid>
                <a:gridCol w="1477518"/>
                <a:gridCol w="5487924"/>
                <a:gridCol w="3588258"/>
              </a:tblGrid>
              <a:tr h="439241">
                <a:tc>
                  <a:txBody>
                    <a:bodyPr/>
                    <a:lstStyle/>
                    <a:p>
                      <a:pPr indent="0" marL="0">
                        <a:lnSpc>
                          <a:spcPts val="2240"/>
                        </a:lnSpc>
                        <a:buNone/>
                      </a:pPr>
                      <a:r>
                        <a:rPr lang="en-US" sz="1600" b="1" dirty="0">
                          <a:solidFill>
                            <a:srgbClr val="1C2630"/>
                          </a:solidFill>
                          <a:latin typeface="IBM Plex Sans" pitchFamily="34" charset="0"/>
                          <a:ea typeface="IBM Plex Sans" pitchFamily="34" charset="-122"/>
                          <a:cs typeface="IBM Plex Sans" pitchFamily="34" charset="-120"/>
                        </a:rPr>
                        <a:t>Sesión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240"/>
                        </a:lnSpc>
                        <a:buNone/>
                      </a:pPr>
                      <a:r>
                        <a:rPr lang="en-US" sz="1600" b="1" dirty="0">
                          <a:solidFill>
                            <a:srgbClr val="1C2630"/>
                          </a:solidFill>
                          <a:latin typeface="IBM Plex Sans" pitchFamily="34" charset="0"/>
                          <a:ea typeface="IBM Plex Sans" pitchFamily="34" charset="-122"/>
                          <a:cs typeface="IBM Plex Sans" pitchFamily="34" charset="-120"/>
                        </a:rPr>
                        <a:t>Tema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240"/>
                        </a:lnSpc>
                        <a:buNone/>
                      </a:pPr>
                      <a:r>
                        <a:rPr lang="en-US" sz="1600" b="1" dirty="0">
                          <a:solidFill>
                            <a:srgbClr val="1C2630"/>
                          </a:solidFill>
                          <a:latin typeface="IBM Plex Sans" pitchFamily="34" charset="0"/>
                          <a:ea typeface="IBM Plex Sans" pitchFamily="34" charset="-122"/>
                          <a:cs typeface="IBM Plex Sans" pitchFamily="34" charset="-120"/>
                        </a:rPr>
                        <a:t>Se ve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439241">
                <a:tc>
                  <a:txBody>
                    <a:bodyPr/>
                    <a:lstStyle/>
                    <a:p>
                      <a:pP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1 · hoy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B9A9A6"/>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B9A9A6"/>
                      </a:solidFill>
                      <a:prstDash val="solid"/>
                      <a:round/>
                      <a:headEnd type="none" w="med" len="med"/>
                      <a:tailEnd type="none" w="med" len="med"/>
                    </a:lnB>
                    <a:solidFill>
                      <a:srgbClr val="E7D3CF"/>
                    </a:solidFill>
                  </a:tcPr>
                </a:tc>
                <a:tc>
                  <a:txBody>
                    <a:bodyPr/>
                    <a:lstStyle/>
                    <a:p>
                      <a:pP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Qué hace el sitio y qué es una red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9A9A6"/>
                      </a:solidFill>
                      <a:prstDash val="solid"/>
                      <a:round/>
                      <a:headEnd type="none" w="med" len="med"/>
                      <a:tailEnd type="none" w="med" len="med"/>
                    </a:lnL>
                    <a:lnR w="12700" cap="flat" cmpd="sng" algn="ctr">
                      <a:solidFill>
                        <a:srgbClr val="B9A9A6"/>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B9A9A6"/>
                      </a:solidFill>
                      <a:prstDash val="solid"/>
                      <a:round/>
                      <a:headEnd type="none" w="med" len="med"/>
                      <a:tailEnd type="none" w="med" len="med"/>
                    </a:lnB>
                    <a:solidFill>
                      <a:srgbClr val="E7D3CF"/>
                    </a:solidFill>
                  </a:tcPr>
                </a:tc>
                <a:tc>
                  <a:txBody>
                    <a:bodyPr/>
                    <a:lstStyle/>
                    <a:p>
                      <a:pP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Demostración y redes neuronales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9A9A6"/>
                      </a:solidFill>
                      <a:prstDash val="solid"/>
                      <a:round/>
                      <a:headEnd type="none" w="med" len="med"/>
                      <a:tailEnd type="none" w="med" len="med"/>
                    </a:lnL>
                    <a:lnR w="12700" cap="flat" cmpd="sng" algn="ctr">
                      <a:solidFill>
                        <a:srgbClr val="B9A9A6"/>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B9A9A6"/>
                      </a:solidFill>
                      <a:prstDash val="solid"/>
                      <a:round/>
                      <a:headEnd type="none" w="med" len="med"/>
                      <a:tailEnd type="none" w="med" len="med"/>
                    </a:lnB>
                    <a:solidFill>
                      <a:srgbClr val="E7D3CF"/>
                    </a:solidFill>
                  </a:tcPr>
                </a:tc>
              </a:tr>
              <a:tr h="439241">
                <a:tc>
                  <a:txBody>
                    <a:bodyPr/>
                    <a:lstStyle/>
                    <a:p>
                      <a:pP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A9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La red y sus datos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A9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Mask R-CNN, CVAT, Colab</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A9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9241">
                <a:tc>
                  <a:txBody>
                    <a:bodyPr/>
                    <a:lstStyle/>
                    <a:p>
                      <a:pP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Cómo está construido el sitio</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Flask, SQLite, Docker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9241">
                <a:tc>
                  <a:txBody>
                    <a:bodyPr/>
                    <a:lstStyle/>
                    <a:p>
                      <a:pP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Ajustar y evaluar el modelo</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Hiperparámetros y métricas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9241">
                <a:tc>
                  <a:txBody>
                    <a:bodyPr/>
                    <a:lstStyle/>
                    <a:p>
                      <a:pP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El código y el cierre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Recorrido por el código</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Introducción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A8201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6F3EC"/>
                </a:solidFill>
                <a:latin typeface="IBM Plex Sans" pitchFamily="34" charset="0"/>
                <a:ea typeface="IBM Plex Sans" pitchFamily="34" charset="-122"/>
                <a:cs typeface="IBM Plex Sans" pitchFamily="34" charset="-120"/>
              </a:rPr>
              <a:t>SEGUNDO BLOQUE · 30 MINUTOS</a:t>
            </a:r>
            <a:endParaRPr lang="en-US" sz="1400" dirty="0"/>
          </a:p>
        </p:txBody>
      </p:sp>
      <p:sp>
        <p:nvSpPr>
          <p:cNvPr id="3" name="Text 1"/>
          <p:cNvSpPr/>
          <p:nvPr>
            <p:ph type="title"/>
          </p:nvPr>
        </p:nvSpPr>
        <p:spPr>
          <a:xfrm>
            <a:off x="812800" y="2255540"/>
            <a:ext cx="9156700" cy="1732161"/>
          </a:xfrm>
          <a:prstGeom prst="rect">
            <a:avLst/>
          </a:prstGeom>
          <a:noFill/>
          <a:ln/>
        </p:spPr>
        <p:txBody>
          <a:bodyPr wrap="square" lIns="0" tIns="0" rIns="0" bIns="0" rtlCol="0" anchor="t">
            <a:normAutofit/>
          </a:bodyPr>
          <a:lstStyle/>
          <a:p>
            <a:pPr algn="l" indent="0" marL="0">
              <a:lnSpc>
                <a:spcPts val="6720"/>
              </a:lnSpc>
              <a:buNone/>
            </a:pPr>
            <a:r>
              <a:rPr lang="en-US" sz="6400" b="1" i="0" dirty="0">
                <a:solidFill>
                  <a:srgbClr val="F6F3EC"/>
                </a:solidFill>
                <a:latin typeface="Source Serif 4" pitchFamily="18" charset="0"/>
                <a:ea typeface="Source Serif 4" pitchFamily="18" charset="-122"/>
                <a:cs typeface="Source Serif 4" pitchFamily="18" charset="-120"/>
              </a:rPr>
              <a:t>El sitio en funcionamiento</a:t>
            </a:r>
            <a:endParaRPr lang="en-US" sz="6400" dirty="0"/>
          </a:p>
        </p:txBody>
      </p:sp>
      <p:sp>
        <p:nvSpPr>
          <p:cNvPr id="4" name="Text 2"/>
          <p:cNvSpPr/>
          <p:nvPr/>
        </p:nvSpPr>
        <p:spPr>
          <a:xfrm>
            <a:off x="812800" y="5156200"/>
            <a:ext cx="85026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F6F3EC"/>
                </a:solidFill>
                <a:latin typeface="IBM Plex Sans" pitchFamily="34" charset="0"/>
                <a:ea typeface="IBM Plex Sans" pitchFamily="34" charset="-122"/>
                <a:cs typeface="IBM Plex Sans" pitchFamily="34" charset="-120"/>
              </a:rPr>
              <a:t>Crear una cuenta, subir una imagen, leer los resultados y descargar los archivos.</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PARTE INFORMATIVA</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Seis secciones en el menú</a:t>
            </a:r>
            <a:endParaRPr lang="en-US" sz="3600" dirty="0"/>
          </a:p>
        </p:txBody>
      </p:sp>
      <p:sp>
        <p:nvSpPr>
          <p:cNvPr id="4" name="Shape 2"/>
          <p:cNvSpPr/>
          <p:nvPr/>
        </p:nvSpPr>
        <p:spPr>
          <a:xfrm>
            <a:off x="815975" y="1905496"/>
            <a:ext cx="3431084" cy="1151830"/>
          </a:xfrm>
          <a:prstGeom prst="roundRect">
            <a:avLst>
              <a:gd name="adj" fmla="val 8545"/>
            </a:avLst>
          </a:prstGeom>
          <a:solidFill>
            <a:srgbClr val="FCFBF7"/>
          </a:solidFill>
          <a:ln w="6350">
            <a:solidFill>
              <a:srgbClr val="DDD8CC"/>
            </a:solidFill>
            <a:prstDash val="solid"/>
          </a:ln>
        </p:spPr>
      </p:sp>
      <p:sp>
        <p:nvSpPr>
          <p:cNvPr id="5" name="Text 3"/>
          <p:cNvSpPr/>
          <p:nvPr/>
        </p:nvSpPr>
        <p:spPr>
          <a:xfrm>
            <a:off x="996950" y="2086471"/>
            <a:ext cx="31612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5D7C"/>
                </a:solidFill>
                <a:latin typeface="IBM Plex Sans" pitchFamily="34" charset="0"/>
                <a:ea typeface="IBM Plex Sans" pitchFamily="34" charset="-122"/>
                <a:cs typeface="IBM Plex Sans" pitchFamily="34" charset="-120"/>
              </a:rPr>
              <a:t>Inicio</a:t>
            </a:r>
            <a:endParaRPr lang="en-US" sz="1700" dirty="0"/>
          </a:p>
        </p:txBody>
      </p:sp>
      <p:sp>
        <p:nvSpPr>
          <p:cNvPr id="6" name="Text 4"/>
          <p:cNvSpPr/>
          <p:nvPr/>
        </p:nvSpPr>
        <p:spPr>
          <a:xfrm>
            <a:off x="996950" y="2396331"/>
            <a:ext cx="316120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Título, presentación y botón para analizar.</a:t>
            </a:r>
            <a:endParaRPr lang="en-US" sz="1400" dirty="0"/>
          </a:p>
        </p:txBody>
      </p:sp>
      <p:sp>
        <p:nvSpPr>
          <p:cNvPr id="7" name="Shape 5"/>
          <p:cNvSpPr/>
          <p:nvPr/>
        </p:nvSpPr>
        <p:spPr>
          <a:xfrm>
            <a:off x="4380409" y="1905496"/>
            <a:ext cx="3431084" cy="1151830"/>
          </a:xfrm>
          <a:prstGeom prst="roundRect">
            <a:avLst>
              <a:gd name="adj" fmla="val 8545"/>
            </a:avLst>
          </a:prstGeom>
          <a:solidFill>
            <a:srgbClr val="FCFBF7"/>
          </a:solidFill>
          <a:ln w="6350">
            <a:solidFill>
              <a:srgbClr val="DDD8CC"/>
            </a:solidFill>
            <a:prstDash val="solid"/>
          </a:ln>
        </p:spPr>
      </p:sp>
      <p:sp>
        <p:nvSpPr>
          <p:cNvPr id="8" name="Text 6"/>
          <p:cNvSpPr/>
          <p:nvPr/>
        </p:nvSpPr>
        <p:spPr>
          <a:xfrm>
            <a:off x="4561384" y="2086471"/>
            <a:ext cx="31612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5D7C"/>
                </a:solidFill>
                <a:latin typeface="IBM Plex Sans" pitchFamily="34" charset="0"/>
                <a:ea typeface="IBM Plex Sans" pitchFamily="34" charset="-122"/>
                <a:cs typeface="IBM Plex Sans" pitchFamily="34" charset="-120"/>
              </a:rPr>
              <a:t>Nosotros</a:t>
            </a:r>
            <a:endParaRPr lang="en-US" sz="1700" dirty="0"/>
          </a:p>
        </p:txBody>
      </p:sp>
      <p:sp>
        <p:nvSpPr>
          <p:cNvPr id="9" name="Text 7"/>
          <p:cNvSpPr/>
          <p:nvPr/>
        </p:nvSpPr>
        <p:spPr>
          <a:xfrm>
            <a:off x="4561384" y="2396331"/>
            <a:ext cx="316120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Qué es Image Bio Pro.</a:t>
            </a:r>
            <a:endParaRPr lang="en-US" sz="1400" dirty="0"/>
          </a:p>
        </p:txBody>
      </p:sp>
      <p:sp>
        <p:nvSpPr>
          <p:cNvPr id="10" name="Shape 8"/>
          <p:cNvSpPr/>
          <p:nvPr/>
        </p:nvSpPr>
        <p:spPr>
          <a:xfrm>
            <a:off x="7944842" y="1905496"/>
            <a:ext cx="3431084" cy="1151830"/>
          </a:xfrm>
          <a:prstGeom prst="roundRect">
            <a:avLst>
              <a:gd name="adj" fmla="val 8545"/>
            </a:avLst>
          </a:prstGeom>
          <a:solidFill>
            <a:srgbClr val="FCFBF7"/>
          </a:solidFill>
          <a:ln w="6350">
            <a:solidFill>
              <a:srgbClr val="DDD8CC"/>
            </a:solidFill>
            <a:prstDash val="solid"/>
          </a:ln>
        </p:spPr>
      </p:sp>
      <p:sp>
        <p:nvSpPr>
          <p:cNvPr id="11" name="Text 9"/>
          <p:cNvSpPr/>
          <p:nvPr/>
        </p:nvSpPr>
        <p:spPr>
          <a:xfrm>
            <a:off x="8125817" y="2086471"/>
            <a:ext cx="31612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5D7C"/>
                </a:solidFill>
                <a:latin typeface="IBM Plex Sans" pitchFamily="34" charset="0"/>
                <a:ea typeface="IBM Plex Sans" pitchFamily="34" charset="-122"/>
                <a:cs typeface="IBM Plex Sans" pitchFamily="34" charset="-120"/>
              </a:rPr>
              <a:t>Aliados</a:t>
            </a:r>
            <a:endParaRPr lang="en-US" sz="1700" dirty="0"/>
          </a:p>
        </p:txBody>
      </p:sp>
      <p:sp>
        <p:nvSpPr>
          <p:cNvPr id="12" name="Text 10"/>
          <p:cNvSpPr/>
          <p:nvPr/>
        </p:nvSpPr>
        <p:spPr>
          <a:xfrm>
            <a:off x="8125817" y="2396331"/>
            <a:ext cx="316120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Tarjetas con nombre y foto de cada persona.</a:t>
            </a:r>
            <a:endParaRPr lang="en-US" sz="1400" dirty="0"/>
          </a:p>
        </p:txBody>
      </p:sp>
      <p:sp>
        <p:nvSpPr>
          <p:cNvPr id="13" name="Shape 11"/>
          <p:cNvSpPr/>
          <p:nvPr/>
        </p:nvSpPr>
        <p:spPr>
          <a:xfrm>
            <a:off x="815975" y="3190677"/>
            <a:ext cx="3431084" cy="1151830"/>
          </a:xfrm>
          <a:prstGeom prst="roundRect">
            <a:avLst>
              <a:gd name="adj" fmla="val 8545"/>
            </a:avLst>
          </a:prstGeom>
          <a:solidFill>
            <a:srgbClr val="FCFBF7"/>
          </a:solidFill>
          <a:ln w="6350">
            <a:solidFill>
              <a:srgbClr val="DDD8CC"/>
            </a:solidFill>
            <a:prstDash val="solid"/>
          </a:ln>
        </p:spPr>
      </p:sp>
      <p:sp>
        <p:nvSpPr>
          <p:cNvPr id="14" name="Text 12"/>
          <p:cNvSpPr/>
          <p:nvPr/>
        </p:nvSpPr>
        <p:spPr>
          <a:xfrm>
            <a:off x="996950" y="3371652"/>
            <a:ext cx="31612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5D7C"/>
                </a:solidFill>
                <a:latin typeface="IBM Plex Sans" pitchFamily="34" charset="0"/>
                <a:ea typeface="IBM Plex Sans" pitchFamily="34" charset="-122"/>
                <a:cs typeface="IBM Plex Sans" pitchFamily="34" charset="-120"/>
              </a:rPr>
              <a:t>Infografías y videos</a:t>
            </a:r>
            <a:endParaRPr lang="en-US" sz="1700" dirty="0"/>
          </a:p>
        </p:txBody>
      </p:sp>
      <p:sp>
        <p:nvSpPr>
          <p:cNvPr id="15" name="Text 13"/>
          <p:cNvSpPr/>
          <p:nvPr/>
        </p:nvSpPr>
        <p:spPr>
          <a:xfrm>
            <a:off x="996950" y="3681512"/>
            <a:ext cx="316120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Como un blog; unos cuatro videos incrustados.</a:t>
            </a:r>
            <a:endParaRPr lang="en-US" sz="1400" dirty="0"/>
          </a:p>
        </p:txBody>
      </p:sp>
      <p:sp>
        <p:nvSpPr>
          <p:cNvPr id="16" name="Shape 14"/>
          <p:cNvSpPr/>
          <p:nvPr/>
        </p:nvSpPr>
        <p:spPr>
          <a:xfrm>
            <a:off x="4377234" y="3187502"/>
            <a:ext cx="3437434" cy="1158180"/>
          </a:xfrm>
          <a:prstGeom prst="roundRect">
            <a:avLst>
              <a:gd name="adj" fmla="val 8772"/>
            </a:avLst>
          </a:prstGeom>
          <a:solidFill>
            <a:srgbClr val="A8201A"/>
          </a:solidFill>
          <a:ln/>
        </p:spPr>
      </p:sp>
      <p:sp>
        <p:nvSpPr>
          <p:cNvPr id="17" name="Text 15"/>
          <p:cNvSpPr/>
          <p:nvPr/>
        </p:nvSpPr>
        <p:spPr>
          <a:xfrm>
            <a:off x="4555034" y="3365302"/>
            <a:ext cx="317428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3EC"/>
                </a:solidFill>
                <a:latin typeface="IBM Plex Sans" pitchFamily="34" charset="0"/>
                <a:ea typeface="IBM Plex Sans" pitchFamily="34" charset="-122"/>
                <a:cs typeface="IBM Plex Sans" pitchFamily="34" charset="-120"/>
              </a:rPr>
              <a:t>Inteligencia Artificial</a:t>
            </a:r>
            <a:endParaRPr lang="en-US" sz="1700" dirty="0"/>
          </a:p>
        </p:txBody>
      </p:sp>
      <p:sp>
        <p:nvSpPr>
          <p:cNvPr id="18" name="Text 16"/>
          <p:cNvSpPr/>
          <p:nvPr/>
        </p:nvSpPr>
        <p:spPr>
          <a:xfrm>
            <a:off x="4555034" y="3675162"/>
            <a:ext cx="3174289"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6F3EC"/>
                </a:solidFill>
                <a:latin typeface="IBM Plex Sans" pitchFamily="34" charset="0"/>
                <a:ea typeface="IBM Plex Sans" pitchFamily="34" charset="-122"/>
                <a:cs typeface="IBM Plex Sans" pitchFamily="34" charset="-120"/>
              </a:rPr>
              <a:t>El análisis de imágenes. Requiere cuenta.</a:t>
            </a:r>
            <a:endParaRPr lang="en-US" sz="1400" dirty="0"/>
          </a:p>
        </p:txBody>
      </p:sp>
      <p:sp>
        <p:nvSpPr>
          <p:cNvPr id="19" name="Shape 17"/>
          <p:cNvSpPr/>
          <p:nvPr/>
        </p:nvSpPr>
        <p:spPr>
          <a:xfrm>
            <a:off x="7944842" y="3190677"/>
            <a:ext cx="3431084" cy="1151830"/>
          </a:xfrm>
          <a:prstGeom prst="roundRect">
            <a:avLst>
              <a:gd name="adj" fmla="val 8545"/>
            </a:avLst>
          </a:prstGeom>
          <a:solidFill>
            <a:srgbClr val="FCFBF7"/>
          </a:solidFill>
          <a:ln w="6350">
            <a:solidFill>
              <a:srgbClr val="DDD8CC"/>
            </a:solidFill>
            <a:prstDash val="solid"/>
          </a:ln>
        </p:spPr>
      </p:sp>
      <p:sp>
        <p:nvSpPr>
          <p:cNvPr id="20" name="Text 18"/>
          <p:cNvSpPr/>
          <p:nvPr/>
        </p:nvSpPr>
        <p:spPr>
          <a:xfrm>
            <a:off x="8125817" y="3371652"/>
            <a:ext cx="31612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5D7C"/>
                </a:solidFill>
                <a:latin typeface="IBM Plex Sans" pitchFamily="34" charset="0"/>
                <a:ea typeface="IBM Plex Sans" pitchFamily="34" charset="-122"/>
                <a:cs typeface="IBM Plex Sans" pitchFamily="34" charset="-120"/>
              </a:rPr>
              <a:t>Contacto</a:t>
            </a:r>
            <a:endParaRPr lang="en-US" sz="1700" dirty="0"/>
          </a:p>
        </p:txBody>
      </p:sp>
      <p:sp>
        <p:nvSpPr>
          <p:cNvPr id="21" name="Text 19"/>
          <p:cNvSpPr/>
          <p:nvPr/>
        </p:nvSpPr>
        <p:spPr>
          <a:xfrm>
            <a:off x="8125817" y="3681512"/>
            <a:ext cx="316120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Formulario. El destino del correo se define con el grupo.</a:t>
            </a:r>
            <a:endParaRPr lang="en-US" sz="1400" dirty="0"/>
          </a:p>
        </p:txBody>
      </p:sp>
      <p:sp>
        <p:nvSpPr>
          <p:cNvPr id="22" name="Text 20"/>
          <p:cNvSpPr/>
          <p:nvPr/>
        </p:nvSpPr>
        <p:spPr>
          <a:xfrm>
            <a:off x="812800" y="4625082"/>
            <a:ext cx="98107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Selector ES | EN con el traductor de Google. Los textos y las imágenes son de relleno hasta que el grupo entregue el contenido definitivo.</a:t>
            </a:r>
            <a:endParaRPr lang="en-US" sz="14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RUTA DE LA DEMOSTRACIÓN</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Cinco pasos, de la cuenta a los archivos</a:t>
            </a:r>
            <a:endParaRPr lang="en-US" sz="3600" dirty="0"/>
          </a:p>
        </p:txBody>
      </p:sp>
      <p:sp>
        <p:nvSpPr>
          <p:cNvPr id="4" name="Shape 2"/>
          <p:cNvSpPr/>
          <p:nvPr/>
        </p:nvSpPr>
        <p:spPr>
          <a:xfrm>
            <a:off x="815975" y="1981696"/>
            <a:ext cx="1781770" cy="1217116"/>
          </a:xfrm>
          <a:prstGeom prst="roundRect">
            <a:avLst>
              <a:gd name="adj" fmla="val 8087"/>
            </a:avLst>
          </a:prstGeom>
          <a:solidFill>
            <a:srgbClr val="FCFBF7"/>
          </a:solidFill>
          <a:ln w="6350">
            <a:solidFill>
              <a:srgbClr val="DDD8CC"/>
            </a:solidFill>
            <a:prstDash val="solid"/>
          </a:ln>
        </p:spPr>
      </p:sp>
      <p:sp>
        <p:nvSpPr>
          <p:cNvPr id="5" name="Text 3"/>
          <p:cNvSpPr/>
          <p:nvPr/>
        </p:nvSpPr>
        <p:spPr>
          <a:xfrm>
            <a:off x="958850" y="2162671"/>
            <a:ext cx="15468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201A"/>
                </a:solidFill>
                <a:latin typeface="IBM Plex Sans" pitchFamily="34" charset="0"/>
                <a:ea typeface="IBM Plex Sans" pitchFamily="34" charset="-122"/>
                <a:cs typeface="IBM Plex Sans" pitchFamily="34" charset="-120"/>
              </a:rPr>
              <a:t>1</a:t>
            </a:r>
            <a:endParaRPr lang="en-US" sz="1300" dirty="0"/>
          </a:p>
        </p:txBody>
      </p:sp>
      <p:sp>
        <p:nvSpPr>
          <p:cNvPr id="6" name="Text 4"/>
          <p:cNvSpPr/>
          <p:nvPr/>
        </p:nvSpPr>
        <p:spPr>
          <a:xfrm>
            <a:off x="958850" y="2457252"/>
            <a:ext cx="154682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630"/>
                </a:solidFill>
                <a:latin typeface="IBM Plex Sans" pitchFamily="34" charset="0"/>
                <a:ea typeface="IBM Plex Sans" pitchFamily="34" charset="-122"/>
                <a:cs typeface="IBM Plex Sans" pitchFamily="34" charset="-120"/>
              </a:rPr>
              <a:t>Cuenta</a:t>
            </a:r>
            <a:endParaRPr lang="en-US" sz="1800" dirty="0"/>
          </a:p>
        </p:txBody>
      </p:sp>
      <p:sp>
        <p:nvSpPr>
          <p:cNvPr id="7" name="Text 5"/>
          <p:cNvSpPr/>
          <p:nvPr/>
        </p:nvSpPr>
        <p:spPr>
          <a:xfrm>
            <a:off x="958850" y="2794992"/>
            <a:ext cx="154682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06B"/>
                </a:solidFill>
                <a:latin typeface="IBM Plex Sans" pitchFamily="34" charset="0"/>
                <a:ea typeface="IBM Plex Sans" pitchFamily="34" charset="-122"/>
                <a:cs typeface="IBM Plex Sans" pitchFamily="34" charset="-120"/>
              </a:rPr>
              <a:t>Registrarse y entrar</a:t>
            </a:r>
            <a:endParaRPr lang="en-US" sz="1300" dirty="0"/>
          </a:p>
        </p:txBody>
      </p:sp>
      <p:pic>
        <p:nvPicPr>
          <p:cNvPr id="8" name="Image 0" descr="arrow-right">    </p:cNvPr>
          <p:cNvPicPr>
            <a:picLocks noChangeAspect="1"/>
          </p:cNvPicPr>
          <p:nvPr/>
        </p:nvPicPr>
        <p:blipFill>
          <a:blip r:embed="rId1"/>
          <a:srcRect l="0" r="0" t="0" b="0"/>
          <a:stretch/>
        </p:blipFill>
        <p:spPr>
          <a:xfrm>
            <a:off x="2677120" y="2501305"/>
            <a:ext cx="254000" cy="177800"/>
          </a:xfrm>
          <a:prstGeom prst="rect">
            <a:avLst/>
          </a:prstGeom>
        </p:spPr>
      </p:pic>
      <p:sp>
        <p:nvSpPr>
          <p:cNvPr id="9" name="Shape 6"/>
          <p:cNvSpPr/>
          <p:nvPr/>
        </p:nvSpPr>
        <p:spPr>
          <a:xfrm>
            <a:off x="3010495" y="1981696"/>
            <a:ext cx="1781870" cy="1217116"/>
          </a:xfrm>
          <a:prstGeom prst="roundRect">
            <a:avLst>
              <a:gd name="adj" fmla="val 8087"/>
            </a:avLst>
          </a:prstGeom>
          <a:solidFill>
            <a:srgbClr val="FCFBF7"/>
          </a:solidFill>
          <a:ln w="6350">
            <a:solidFill>
              <a:srgbClr val="DDD8CC"/>
            </a:solidFill>
            <a:prstDash val="solid"/>
          </a:ln>
        </p:spPr>
      </p:sp>
      <p:sp>
        <p:nvSpPr>
          <p:cNvPr id="10" name="Text 7"/>
          <p:cNvSpPr/>
          <p:nvPr/>
        </p:nvSpPr>
        <p:spPr>
          <a:xfrm>
            <a:off x="3153370" y="2162671"/>
            <a:ext cx="15469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201A"/>
                </a:solidFill>
                <a:latin typeface="IBM Plex Sans" pitchFamily="34" charset="0"/>
                <a:ea typeface="IBM Plex Sans" pitchFamily="34" charset="-122"/>
                <a:cs typeface="IBM Plex Sans" pitchFamily="34" charset="-120"/>
              </a:rPr>
              <a:t>2</a:t>
            </a:r>
            <a:endParaRPr lang="en-US" sz="1300" dirty="0"/>
          </a:p>
        </p:txBody>
      </p:sp>
      <p:sp>
        <p:nvSpPr>
          <p:cNvPr id="11" name="Text 8"/>
          <p:cNvSpPr/>
          <p:nvPr/>
        </p:nvSpPr>
        <p:spPr>
          <a:xfrm>
            <a:off x="3153370" y="2457252"/>
            <a:ext cx="154692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630"/>
                </a:solidFill>
                <a:latin typeface="IBM Plex Sans" pitchFamily="34" charset="0"/>
                <a:ea typeface="IBM Plex Sans" pitchFamily="34" charset="-122"/>
                <a:cs typeface="IBM Plex Sans" pitchFamily="34" charset="-120"/>
              </a:rPr>
              <a:t>Subir</a:t>
            </a:r>
            <a:endParaRPr lang="en-US" sz="1800" dirty="0"/>
          </a:p>
        </p:txBody>
      </p:sp>
      <p:sp>
        <p:nvSpPr>
          <p:cNvPr id="12" name="Text 9"/>
          <p:cNvSpPr/>
          <p:nvPr/>
        </p:nvSpPr>
        <p:spPr>
          <a:xfrm>
            <a:off x="3153370" y="2794992"/>
            <a:ext cx="154692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06B"/>
                </a:solidFill>
                <a:latin typeface="IBM Plex Sans" pitchFamily="34" charset="0"/>
                <a:ea typeface="IBM Plex Sans" pitchFamily="34" charset="-122"/>
                <a:cs typeface="IBM Plex Sans" pitchFamily="34" charset="-120"/>
              </a:rPr>
              <a:t>Hasta 10 imágenes</a:t>
            </a:r>
            <a:endParaRPr lang="en-US" sz="1300" dirty="0"/>
          </a:p>
        </p:txBody>
      </p:sp>
      <p:pic>
        <p:nvPicPr>
          <p:cNvPr id="13" name="Image 1" descr="arrow-right">    </p:cNvPr>
          <p:cNvPicPr>
            <a:picLocks noChangeAspect="1"/>
          </p:cNvPicPr>
          <p:nvPr/>
        </p:nvPicPr>
        <p:blipFill>
          <a:blip r:embed="rId2"/>
          <a:srcRect l="0" r="0" t="0" b="0"/>
          <a:stretch/>
        </p:blipFill>
        <p:spPr>
          <a:xfrm>
            <a:off x="4871740" y="2501305"/>
            <a:ext cx="254000" cy="177800"/>
          </a:xfrm>
          <a:prstGeom prst="rect">
            <a:avLst/>
          </a:prstGeom>
        </p:spPr>
      </p:pic>
      <p:sp>
        <p:nvSpPr>
          <p:cNvPr id="14" name="Shape 10"/>
          <p:cNvSpPr/>
          <p:nvPr/>
        </p:nvSpPr>
        <p:spPr>
          <a:xfrm>
            <a:off x="5205115" y="1981696"/>
            <a:ext cx="1781770" cy="1217116"/>
          </a:xfrm>
          <a:prstGeom prst="roundRect">
            <a:avLst>
              <a:gd name="adj" fmla="val 8087"/>
            </a:avLst>
          </a:prstGeom>
          <a:solidFill>
            <a:srgbClr val="FCFBF7"/>
          </a:solidFill>
          <a:ln w="6350">
            <a:solidFill>
              <a:srgbClr val="DDD8CC"/>
            </a:solidFill>
            <a:prstDash val="solid"/>
          </a:ln>
        </p:spPr>
      </p:sp>
      <p:sp>
        <p:nvSpPr>
          <p:cNvPr id="15" name="Text 11"/>
          <p:cNvSpPr/>
          <p:nvPr/>
        </p:nvSpPr>
        <p:spPr>
          <a:xfrm>
            <a:off x="5347990" y="2162671"/>
            <a:ext cx="15468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201A"/>
                </a:solidFill>
                <a:latin typeface="IBM Plex Sans" pitchFamily="34" charset="0"/>
                <a:ea typeface="IBM Plex Sans" pitchFamily="34" charset="-122"/>
                <a:cs typeface="IBM Plex Sans" pitchFamily="34" charset="-120"/>
              </a:rPr>
              <a:t>3</a:t>
            </a:r>
            <a:endParaRPr lang="en-US" sz="1300" dirty="0"/>
          </a:p>
        </p:txBody>
      </p:sp>
      <p:sp>
        <p:nvSpPr>
          <p:cNvPr id="16" name="Text 12"/>
          <p:cNvSpPr/>
          <p:nvPr/>
        </p:nvSpPr>
        <p:spPr>
          <a:xfrm>
            <a:off x="5347990" y="2457252"/>
            <a:ext cx="154682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630"/>
                </a:solidFill>
                <a:latin typeface="IBM Plex Sans" pitchFamily="34" charset="0"/>
                <a:ea typeface="IBM Plex Sans" pitchFamily="34" charset="-122"/>
                <a:cs typeface="IBM Plex Sans" pitchFamily="34" charset="-120"/>
              </a:rPr>
              <a:t>Esperar</a:t>
            </a:r>
            <a:endParaRPr lang="en-US" sz="1800" dirty="0"/>
          </a:p>
        </p:txBody>
      </p:sp>
      <p:sp>
        <p:nvSpPr>
          <p:cNvPr id="17" name="Text 13"/>
          <p:cNvSpPr/>
          <p:nvPr/>
        </p:nvSpPr>
        <p:spPr>
          <a:xfrm>
            <a:off x="5347990" y="2794992"/>
            <a:ext cx="154682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06B"/>
                </a:solidFill>
                <a:latin typeface="IBM Plex Sans" pitchFamily="34" charset="0"/>
                <a:ea typeface="IBM Plex Sans" pitchFamily="34" charset="-122"/>
                <a:cs typeface="IBM Plex Sans" pitchFamily="34" charset="-120"/>
              </a:rPr>
              <a:t>Barra de progreso</a:t>
            </a:r>
            <a:endParaRPr lang="en-US" sz="1300" dirty="0"/>
          </a:p>
        </p:txBody>
      </p:sp>
      <p:pic>
        <p:nvPicPr>
          <p:cNvPr id="18" name="Image 2" descr="arrow-right">    </p:cNvPr>
          <p:cNvPicPr>
            <a:picLocks noChangeAspect="1"/>
          </p:cNvPicPr>
          <p:nvPr/>
        </p:nvPicPr>
        <p:blipFill>
          <a:blip r:embed="rId3"/>
          <a:srcRect l="0" r="0" t="0" b="0"/>
          <a:stretch/>
        </p:blipFill>
        <p:spPr>
          <a:xfrm>
            <a:off x="7066260" y="2501305"/>
            <a:ext cx="254000" cy="177800"/>
          </a:xfrm>
          <a:prstGeom prst="rect">
            <a:avLst/>
          </a:prstGeom>
        </p:spPr>
      </p:pic>
      <p:sp>
        <p:nvSpPr>
          <p:cNvPr id="19" name="Shape 14"/>
          <p:cNvSpPr/>
          <p:nvPr/>
        </p:nvSpPr>
        <p:spPr>
          <a:xfrm>
            <a:off x="7399635" y="1981696"/>
            <a:ext cx="1781870" cy="1217116"/>
          </a:xfrm>
          <a:prstGeom prst="roundRect">
            <a:avLst>
              <a:gd name="adj" fmla="val 8087"/>
            </a:avLst>
          </a:prstGeom>
          <a:solidFill>
            <a:srgbClr val="FCFBF7"/>
          </a:solidFill>
          <a:ln w="6350">
            <a:solidFill>
              <a:srgbClr val="DDD8CC"/>
            </a:solidFill>
            <a:prstDash val="solid"/>
          </a:ln>
        </p:spPr>
      </p:sp>
      <p:sp>
        <p:nvSpPr>
          <p:cNvPr id="20" name="Text 15"/>
          <p:cNvSpPr/>
          <p:nvPr/>
        </p:nvSpPr>
        <p:spPr>
          <a:xfrm>
            <a:off x="7542510" y="2162671"/>
            <a:ext cx="15469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201A"/>
                </a:solidFill>
                <a:latin typeface="IBM Plex Sans" pitchFamily="34" charset="0"/>
                <a:ea typeface="IBM Plex Sans" pitchFamily="34" charset="-122"/>
                <a:cs typeface="IBM Plex Sans" pitchFamily="34" charset="-120"/>
              </a:rPr>
              <a:t>4</a:t>
            </a:r>
            <a:endParaRPr lang="en-US" sz="1300" dirty="0"/>
          </a:p>
        </p:txBody>
      </p:sp>
      <p:sp>
        <p:nvSpPr>
          <p:cNvPr id="21" name="Text 16"/>
          <p:cNvSpPr/>
          <p:nvPr/>
        </p:nvSpPr>
        <p:spPr>
          <a:xfrm>
            <a:off x="7542510" y="2457252"/>
            <a:ext cx="154692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630"/>
                </a:solidFill>
                <a:latin typeface="IBM Plex Sans" pitchFamily="34" charset="0"/>
                <a:ea typeface="IBM Plex Sans" pitchFamily="34" charset="-122"/>
                <a:cs typeface="IBM Plex Sans" pitchFamily="34" charset="-120"/>
              </a:rPr>
              <a:t>Leer</a:t>
            </a:r>
            <a:endParaRPr lang="en-US" sz="1800" dirty="0"/>
          </a:p>
        </p:txBody>
      </p:sp>
      <p:sp>
        <p:nvSpPr>
          <p:cNvPr id="22" name="Text 17"/>
          <p:cNvSpPr/>
          <p:nvPr/>
        </p:nvSpPr>
        <p:spPr>
          <a:xfrm>
            <a:off x="7542510" y="2794992"/>
            <a:ext cx="154692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06B"/>
                </a:solidFill>
                <a:latin typeface="IBM Plex Sans" pitchFamily="34" charset="0"/>
                <a:ea typeface="IBM Plex Sans" pitchFamily="34" charset="-122"/>
                <a:cs typeface="IBM Plex Sans" pitchFamily="34" charset="-120"/>
              </a:rPr>
              <a:t>Resultados y zoom</a:t>
            </a:r>
            <a:endParaRPr lang="en-US" sz="1300" dirty="0"/>
          </a:p>
        </p:txBody>
      </p:sp>
      <p:pic>
        <p:nvPicPr>
          <p:cNvPr id="23" name="Image 3" descr="arrow-right">    </p:cNvPr>
          <p:cNvPicPr>
            <a:picLocks noChangeAspect="1"/>
          </p:cNvPicPr>
          <p:nvPr/>
        </p:nvPicPr>
        <p:blipFill>
          <a:blip r:embed="rId4"/>
          <a:srcRect l="0" r="0" t="0" b="0"/>
          <a:stretch/>
        </p:blipFill>
        <p:spPr>
          <a:xfrm>
            <a:off x="9260880" y="2501305"/>
            <a:ext cx="254000" cy="177800"/>
          </a:xfrm>
          <a:prstGeom prst="rect">
            <a:avLst/>
          </a:prstGeom>
        </p:spPr>
      </p:pic>
      <p:sp>
        <p:nvSpPr>
          <p:cNvPr id="24" name="Shape 18"/>
          <p:cNvSpPr/>
          <p:nvPr/>
        </p:nvSpPr>
        <p:spPr>
          <a:xfrm>
            <a:off x="9594255" y="1981696"/>
            <a:ext cx="1781770" cy="1217116"/>
          </a:xfrm>
          <a:prstGeom prst="roundRect">
            <a:avLst>
              <a:gd name="adj" fmla="val 8087"/>
            </a:avLst>
          </a:prstGeom>
          <a:solidFill>
            <a:srgbClr val="FCFBF7"/>
          </a:solidFill>
          <a:ln w="6350">
            <a:solidFill>
              <a:srgbClr val="DDD8CC"/>
            </a:solidFill>
            <a:prstDash val="solid"/>
          </a:ln>
        </p:spPr>
      </p:sp>
      <p:sp>
        <p:nvSpPr>
          <p:cNvPr id="25" name="Text 19"/>
          <p:cNvSpPr/>
          <p:nvPr/>
        </p:nvSpPr>
        <p:spPr>
          <a:xfrm>
            <a:off x="9737130" y="2162671"/>
            <a:ext cx="15468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201A"/>
                </a:solidFill>
                <a:latin typeface="IBM Plex Sans" pitchFamily="34" charset="0"/>
                <a:ea typeface="IBM Plex Sans" pitchFamily="34" charset="-122"/>
                <a:cs typeface="IBM Plex Sans" pitchFamily="34" charset="-120"/>
              </a:rPr>
              <a:t>5</a:t>
            </a:r>
            <a:endParaRPr lang="en-US" sz="1300" dirty="0"/>
          </a:p>
        </p:txBody>
      </p:sp>
      <p:sp>
        <p:nvSpPr>
          <p:cNvPr id="26" name="Text 20"/>
          <p:cNvSpPr/>
          <p:nvPr/>
        </p:nvSpPr>
        <p:spPr>
          <a:xfrm>
            <a:off x="9737130" y="2457252"/>
            <a:ext cx="154682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630"/>
                </a:solidFill>
                <a:latin typeface="IBM Plex Sans" pitchFamily="34" charset="0"/>
                <a:ea typeface="IBM Plex Sans" pitchFamily="34" charset="-122"/>
                <a:cs typeface="IBM Plex Sans" pitchFamily="34" charset="-120"/>
              </a:rPr>
              <a:t>Descargar</a:t>
            </a:r>
            <a:endParaRPr lang="en-US" sz="1800" dirty="0"/>
          </a:p>
        </p:txBody>
      </p:sp>
      <p:sp>
        <p:nvSpPr>
          <p:cNvPr id="27" name="Text 21"/>
          <p:cNvSpPr/>
          <p:nvPr/>
        </p:nvSpPr>
        <p:spPr>
          <a:xfrm>
            <a:off x="9737130" y="2794992"/>
            <a:ext cx="154682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06B"/>
                </a:solidFill>
                <a:latin typeface="IBM Plex Sans" pitchFamily="34" charset="0"/>
                <a:ea typeface="IBM Plex Sans" pitchFamily="34" charset="-122"/>
                <a:cs typeface="IBM Plex Sans" pitchFamily="34" charset="-120"/>
              </a:rPr>
              <a:t>CSV, PDF e historial</a:t>
            </a:r>
            <a:endParaRPr lang="en-US" sz="1300" dirty="0"/>
          </a:p>
        </p:txBody>
      </p:sp>
      <p:sp>
        <p:nvSpPr>
          <p:cNvPr id="28" name="Text 2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CUENTA</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Tres datos y una contraseña protegida</a:t>
            </a:r>
            <a:endParaRPr lang="en-US" sz="3600" dirty="0"/>
          </a:p>
        </p:txBody>
      </p:sp>
      <p:sp>
        <p:nvSpPr>
          <p:cNvPr id="4" name="Shape 2"/>
          <p:cNvSpPr/>
          <p:nvPr/>
        </p:nvSpPr>
        <p:spPr>
          <a:xfrm>
            <a:off x="815975" y="1880096"/>
            <a:ext cx="4438650" cy="3486150"/>
          </a:xfrm>
          <a:prstGeom prst="roundRect">
            <a:avLst>
              <a:gd name="adj" fmla="val 2823"/>
            </a:avLst>
          </a:prstGeom>
          <a:solidFill>
            <a:srgbClr val="FCFBF7"/>
          </a:solidFill>
          <a:ln w="6350">
            <a:solidFill>
              <a:srgbClr val="DDD8CC"/>
            </a:solidFill>
            <a:prstDash val="solid"/>
          </a:ln>
        </p:spPr>
      </p:sp>
      <p:sp>
        <p:nvSpPr>
          <p:cNvPr id="5" name="Text 3"/>
          <p:cNvSpPr/>
          <p:nvPr/>
        </p:nvSpPr>
        <p:spPr>
          <a:xfrm>
            <a:off x="1047750" y="2111871"/>
            <a:ext cx="409435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5D7C"/>
                </a:solidFill>
                <a:latin typeface="IBM Plex Sans" pitchFamily="34" charset="0"/>
                <a:ea typeface="IBM Plex Sans" pitchFamily="34" charset="-122"/>
                <a:cs typeface="IBM Plex Sans" pitchFamily="34" charset="-120"/>
              </a:rPr>
              <a:t>Crear cuenta</a:t>
            </a:r>
            <a:endParaRPr lang="en-US" sz="1600" dirty="0"/>
          </a:p>
        </p:txBody>
      </p:sp>
      <p:sp>
        <p:nvSpPr>
          <p:cNvPr id="6" name="Text 4"/>
          <p:cNvSpPr/>
          <p:nvPr/>
        </p:nvSpPr>
        <p:spPr>
          <a:xfrm>
            <a:off x="1047750" y="2457252"/>
            <a:ext cx="409435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Nombre</a:t>
            </a:r>
            <a:endParaRPr lang="en-US" sz="1300" dirty="0"/>
          </a:p>
        </p:txBody>
      </p:sp>
      <p:sp>
        <p:nvSpPr>
          <p:cNvPr id="7" name="Shape 5"/>
          <p:cNvSpPr/>
          <p:nvPr/>
        </p:nvSpPr>
        <p:spPr>
          <a:xfrm>
            <a:off x="1050925" y="2793107"/>
            <a:ext cx="3968750" cy="298450"/>
          </a:xfrm>
          <a:prstGeom prst="roundRect">
            <a:avLst>
              <a:gd name="adj" fmla="val 15957"/>
            </a:avLst>
          </a:prstGeom>
          <a:solidFill>
            <a:srgbClr val="F6F3EC"/>
          </a:solidFill>
          <a:ln w="6350">
            <a:solidFill>
              <a:srgbClr val="C9C2B2"/>
            </a:solidFill>
            <a:prstDash val="solid"/>
          </a:ln>
        </p:spPr>
      </p:sp>
      <p:sp>
        <p:nvSpPr>
          <p:cNvPr id="8" name="Text 6"/>
          <p:cNvSpPr/>
          <p:nvPr/>
        </p:nvSpPr>
        <p:spPr>
          <a:xfrm>
            <a:off x="1047750" y="3196332"/>
            <a:ext cx="409435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Correo electrónico</a:t>
            </a:r>
            <a:endParaRPr lang="en-US" sz="1300" dirty="0"/>
          </a:p>
        </p:txBody>
      </p:sp>
      <p:sp>
        <p:nvSpPr>
          <p:cNvPr id="9" name="Shape 7"/>
          <p:cNvSpPr/>
          <p:nvPr/>
        </p:nvSpPr>
        <p:spPr>
          <a:xfrm>
            <a:off x="1050925" y="3532188"/>
            <a:ext cx="3968750" cy="298450"/>
          </a:xfrm>
          <a:prstGeom prst="roundRect">
            <a:avLst>
              <a:gd name="adj" fmla="val 15957"/>
            </a:avLst>
          </a:prstGeom>
          <a:solidFill>
            <a:srgbClr val="F6F3EC"/>
          </a:solidFill>
          <a:ln w="6350">
            <a:solidFill>
              <a:srgbClr val="C9C2B2"/>
            </a:solidFill>
            <a:prstDash val="solid"/>
          </a:ln>
        </p:spPr>
      </p:sp>
      <p:sp>
        <p:nvSpPr>
          <p:cNvPr id="10" name="Text 8"/>
          <p:cNvSpPr/>
          <p:nvPr/>
        </p:nvSpPr>
        <p:spPr>
          <a:xfrm>
            <a:off x="1047750" y="3935413"/>
            <a:ext cx="409435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Contraseña · al menos 8 caracteres</a:t>
            </a:r>
            <a:endParaRPr lang="en-US" sz="1300" dirty="0"/>
          </a:p>
        </p:txBody>
      </p:sp>
      <p:sp>
        <p:nvSpPr>
          <p:cNvPr id="11" name="Shape 9"/>
          <p:cNvSpPr/>
          <p:nvPr/>
        </p:nvSpPr>
        <p:spPr>
          <a:xfrm>
            <a:off x="1050925" y="4271268"/>
            <a:ext cx="3968750" cy="298450"/>
          </a:xfrm>
          <a:prstGeom prst="roundRect">
            <a:avLst>
              <a:gd name="adj" fmla="val 15957"/>
            </a:avLst>
          </a:prstGeom>
          <a:solidFill>
            <a:srgbClr val="F6F3EC"/>
          </a:solidFill>
          <a:ln w="6350">
            <a:solidFill>
              <a:srgbClr val="C9C2B2"/>
            </a:solidFill>
            <a:prstDash val="solid"/>
          </a:ln>
        </p:spPr>
      </p:sp>
      <p:sp>
        <p:nvSpPr>
          <p:cNvPr id="12" name="Text 10"/>
          <p:cNvSpPr/>
          <p:nvPr/>
        </p:nvSpPr>
        <p:spPr>
          <a:xfrm>
            <a:off x="1054100" y="4680843"/>
            <a:ext cx="1447800" cy="388541"/>
          </a:xfrm>
          <a:prstGeom prst="roundRect">
            <a:avLst>
              <a:gd name="adj" fmla="val 11440"/>
            </a:avLst>
          </a:prstGeom>
          <a:noFill/>
          <a:ln w="12700">
            <a:solidFill>
              <a:srgbClr val="A8201A"/>
            </a:solidFill>
            <a:prstDash val="solid"/>
          </a:ln>
        </p:spPr>
        <p:txBody>
          <a:bodyPr wrap="square" lIns="94931" tIns="56831" rIns="94931" bIns="31431" rtlCol="0" anchor="t">
            <a:normAutofit/>
          </a:bodyPr>
          <a:lstStyle/>
          <a:p>
            <a:pPr algn="ctr" indent="0" marL="0">
              <a:lnSpc>
                <a:spcPts val="1960"/>
              </a:lnSpc>
              <a:buNone/>
            </a:pPr>
            <a:r>
              <a:rPr lang="en-US" sz="1400" b="1" dirty="0">
                <a:solidFill>
                  <a:srgbClr val="A8201A"/>
                </a:solidFill>
                <a:latin typeface="IBM Plex Sans" pitchFamily="34" charset="0"/>
                <a:ea typeface="IBM Plex Sans" pitchFamily="34" charset="-122"/>
                <a:cs typeface="IBM Plex Sans" pitchFamily="34" charset="-120"/>
              </a:rPr>
              <a:t>Registrarme</a:t>
            </a:r>
            <a:endParaRPr lang="en-US" sz="1400" dirty="0"/>
          </a:p>
        </p:txBody>
      </p:sp>
      <p:sp>
        <p:nvSpPr>
          <p:cNvPr id="13" name="Text 11"/>
          <p:cNvSpPr/>
          <p:nvPr/>
        </p:nvSpPr>
        <p:spPr>
          <a:xfrm>
            <a:off x="5562600" y="1876921"/>
            <a:ext cx="5816600" cy="768350"/>
          </a:xfrm>
          <a:prstGeom prst="rect">
            <a:avLst/>
          </a:prstGeom>
          <a:solidFill>
            <a:srgbClr val="FCFBF7"/>
          </a:solidFill>
          <a:ln/>
        </p:spPr>
        <p:txBody>
          <a:bodyPr wrap="square" lIns="228600" tIns="127000" rIns="15494" bIns="101600" rtlCol="0" anchor="t">
            <a:normAutofit/>
          </a:bodyPr>
          <a:lstStyle/>
          <a:p>
            <a:pPr algn="l" indent="0" marL="0">
              <a:lnSpc>
                <a:spcPts val="2025"/>
              </a:lnSpc>
              <a:buNone/>
            </a:pPr>
            <a:r>
              <a:rPr lang="en-US" sz="1500" b="1" dirty="0">
                <a:solidFill>
                  <a:srgbClr val="1C2630"/>
                </a:solidFill>
                <a:latin typeface="IBM Plex Sans" pitchFamily="34" charset="0"/>
                <a:ea typeface="IBM Plex Sans" pitchFamily="34" charset="-122"/>
                <a:cs typeface="IBM Plex Sans" pitchFamily="34" charset="-120"/>
              </a:rPr>
              <a:t>Sin aprobación.</a:t>
            </a:r>
            <a:r>
              <a:rPr lang="en-US" sz="1500" dirty="0">
                <a:solidFill>
                  <a:srgbClr val="1C2630"/>
                </a:solidFill>
                <a:latin typeface="IBM Plex Sans" pitchFamily="34" charset="0"/>
                <a:ea typeface="IBM Plex Sans" pitchFamily="34" charset="-122"/>
                <a:cs typeface="IBM Plex Sans" pitchFamily="34" charset="-120"/>
              </a:rPr>
              <a:t> Cualquier persona se registra; no hay panel de administración.</a:t>
            </a:r>
            <a:endParaRPr lang="en-US" sz="1500" dirty="0"/>
          </a:p>
        </p:txBody>
      </p:sp>
      <p:sp>
        <p:nvSpPr>
          <p:cNvPr id="14" name="Shape 12"/>
          <p:cNvSpPr/>
          <p:nvPr/>
        </p:nvSpPr>
        <p:spPr>
          <a:xfrm>
            <a:off x="5588000" y="1876921"/>
            <a:ext cx="0" cy="768350"/>
          </a:xfrm>
          <a:prstGeom prst="line">
            <a:avLst/>
          </a:prstGeom>
          <a:noFill/>
          <a:ln w="50800">
            <a:solidFill>
              <a:srgbClr val="2F5D7C"/>
            </a:solidFill>
            <a:prstDash val="solid"/>
          </a:ln>
        </p:spPr>
      </p:sp>
      <p:sp>
        <p:nvSpPr>
          <p:cNvPr id="15" name="Text 13"/>
          <p:cNvSpPr/>
          <p:nvPr/>
        </p:nvSpPr>
        <p:spPr>
          <a:xfrm>
            <a:off x="5562600" y="2784971"/>
            <a:ext cx="5816600" cy="768350"/>
          </a:xfrm>
          <a:prstGeom prst="rect">
            <a:avLst/>
          </a:prstGeom>
          <a:solidFill>
            <a:srgbClr val="FCFBF7"/>
          </a:solidFill>
          <a:ln/>
        </p:spPr>
        <p:txBody>
          <a:bodyPr wrap="square" lIns="228600" tIns="127000" rIns="15494" bIns="101600" rtlCol="0" anchor="t">
            <a:normAutofit/>
          </a:bodyPr>
          <a:lstStyle/>
          <a:p>
            <a:pPr algn="l" indent="0" marL="0">
              <a:lnSpc>
                <a:spcPts val="2025"/>
              </a:lnSpc>
              <a:buNone/>
            </a:pPr>
            <a:r>
              <a:rPr lang="en-US" sz="1500" b="1" dirty="0">
                <a:solidFill>
                  <a:srgbClr val="1C2630"/>
                </a:solidFill>
                <a:latin typeface="IBM Plex Sans" pitchFamily="34" charset="0"/>
                <a:ea typeface="IBM Plex Sans" pitchFamily="34" charset="-122"/>
                <a:cs typeface="IBM Plex Sans" pitchFamily="34" charset="-120"/>
              </a:rPr>
              <a:t>Contraseña cifrada.</a:t>
            </a:r>
            <a:r>
              <a:rPr lang="en-US" sz="1500" dirty="0">
                <a:solidFill>
                  <a:srgbClr val="1C2630"/>
                </a:solidFill>
                <a:latin typeface="IBM Plex Sans" pitchFamily="34" charset="0"/>
                <a:ea typeface="IBM Plex Sans" pitchFamily="34" charset="-122"/>
                <a:cs typeface="IBM Plex Sans" pitchFamily="34" charset="-120"/>
              </a:rPr>
              <a:t> Se guarda un resumen que no se puede invertir.</a:t>
            </a:r>
            <a:endParaRPr lang="en-US" sz="1500" dirty="0"/>
          </a:p>
        </p:txBody>
      </p:sp>
      <p:sp>
        <p:nvSpPr>
          <p:cNvPr id="16" name="Shape 14"/>
          <p:cNvSpPr/>
          <p:nvPr/>
        </p:nvSpPr>
        <p:spPr>
          <a:xfrm>
            <a:off x="5588000" y="2784971"/>
            <a:ext cx="0" cy="768350"/>
          </a:xfrm>
          <a:prstGeom prst="line">
            <a:avLst/>
          </a:prstGeom>
          <a:noFill/>
          <a:ln w="50800">
            <a:solidFill>
              <a:srgbClr val="2F5D7C"/>
            </a:solidFill>
            <a:prstDash val="solid"/>
          </a:ln>
        </p:spPr>
      </p:sp>
      <p:sp>
        <p:nvSpPr>
          <p:cNvPr id="17" name="Text 15"/>
          <p:cNvSpPr/>
          <p:nvPr/>
        </p:nvSpPr>
        <p:spPr>
          <a:xfrm>
            <a:off x="5562600" y="3693021"/>
            <a:ext cx="5816600" cy="768350"/>
          </a:xfrm>
          <a:prstGeom prst="rect">
            <a:avLst/>
          </a:prstGeom>
          <a:solidFill>
            <a:srgbClr val="FCFBF7"/>
          </a:solidFill>
          <a:ln/>
        </p:spPr>
        <p:txBody>
          <a:bodyPr wrap="square" lIns="228600" tIns="127000" rIns="15494" bIns="101600" rtlCol="0" anchor="t">
            <a:normAutofit/>
          </a:bodyPr>
          <a:lstStyle/>
          <a:p>
            <a:pPr algn="l" indent="0" marL="0">
              <a:lnSpc>
                <a:spcPts val="2025"/>
              </a:lnSpc>
              <a:buNone/>
            </a:pPr>
            <a:r>
              <a:rPr lang="en-US" sz="1500" b="1" dirty="0">
                <a:solidFill>
                  <a:srgbClr val="1C2630"/>
                </a:solidFill>
                <a:latin typeface="IBM Plex Sans" pitchFamily="34" charset="0"/>
                <a:ea typeface="IBM Plex Sans" pitchFamily="34" charset="-122"/>
                <a:cs typeface="IBM Plex Sans" pitchFamily="34" charset="-120"/>
              </a:rPr>
              <a:t>Formularios protegidos.</a:t>
            </a:r>
            <a:r>
              <a:rPr lang="en-US" sz="1500" dirty="0">
                <a:solidFill>
                  <a:srgbClr val="1C2630"/>
                </a:solidFill>
                <a:latin typeface="IBM Plex Sans" pitchFamily="34" charset="0"/>
                <a:ea typeface="IBM Plex Sans" pitchFamily="34" charset="-122"/>
                <a:cs typeface="IBM Plex Sans" pitchFamily="34" charset="-120"/>
              </a:rPr>
              <a:t> Un código oculto evita la falsificación de peticiones.</a:t>
            </a:r>
            <a:endParaRPr lang="en-US" sz="1500" dirty="0"/>
          </a:p>
        </p:txBody>
      </p:sp>
      <p:sp>
        <p:nvSpPr>
          <p:cNvPr id="18" name="Shape 16"/>
          <p:cNvSpPr/>
          <p:nvPr/>
        </p:nvSpPr>
        <p:spPr>
          <a:xfrm>
            <a:off x="5588000" y="3693021"/>
            <a:ext cx="0" cy="768350"/>
          </a:xfrm>
          <a:prstGeom prst="line">
            <a:avLst/>
          </a:prstGeom>
          <a:noFill/>
          <a:ln w="50800">
            <a:solidFill>
              <a:srgbClr val="2F5D7C"/>
            </a:solidFill>
            <a:prstDash val="solid"/>
          </a:ln>
        </p:spPr>
      </p:sp>
      <p:sp>
        <p:nvSpPr>
          <p:cNvPr id="19" name="Text 17"/>
          <p:cNvSpPr/>
          <p:nvPr/>
        </p:nvSpPr>
        <p:spPr>
          <a:xfrm>
            <a:off x="5562600" y="4601071"/>
            <a:ext cx="5816600" cy="768350"/>
          </a:xfrm>
          <a:prstGeom prst="rect">
            <a:avLst/>
          </a:prstGeom>
          <a:solidFill>
            <a:srgbClr val="ECE7DA"/>
          </a:solidFill>
          <a:ln/>
        </p:spPr>
        <p:txBody>
          <a:bodyPr wrap="square" lIns="228600" tIns="127000" rIns="15494" bIns="101600" rtlCol="0" anchor="t">
            <a:normAutofit/>
          </a:bodyPr>
          <a:lstStyle/>
          <a:p>
            <a:pPr algn="l" indent="0" marL="0">
              <a:lnSpc>
                <a:spcPts val="2025"/>
              </a:lnSpc>
              <a:buNone/>
            </a:pPr>
            <a:r>
              <a:rPr lang="en-US" sz="1500" b="1" dirty="0">
                <a:solidFill>
                  <a:srgbClr val="1C2630"/>
                </a:solidFill>
                <a:latin typeface="IBM Plex Sans" pitchFamily="34" charset="0"/>
                <a:ea typeface="IBM Plex Sans" pitchFamily="34" charset="-122"/>
                <a:cs typeface="IBM Plex Sans" pitchFamily="34" charset="-120"/>
              </a:rPr>
              <a:t>Siguiente paso.</a:t>
            </a:r>
            <a:r>
              <a:rPr lang="en-US" sz="1500" dirty="0">
                <a:solidFill>
                  <a:srgbClr val="1C2630"/>
                </a:solidFill>
                <a:latin typeface="IBM Plex Sans" pitchFamily="34" charset="0"/>
                <a:ea typeface="IBM Plex Sans" pitchFamily="34" charset="-122"/>
                <a:cs typeface="IBM Plex Sans" pitchFamily="34" charset="-120"/>
              </a:rPr>
              <a:t> Confirmación de correo y recuperación de contraseña, a definir con el grupo.</a:t>
            </a:r>
            <a:endParaRPr lang="en-US" sz="1500" dirty="0"/>
          </a:p>
        </p:txBody>
      </p:sp>
      <p:sp>
        <p:nvSpPr>
          <p:cNvPr id="20" name="Shape 18"/>
          <p:cNvSpPr/>
          <p:nvPr/>
        </p:nvSpPr>
        <p:spPr>
          <a:xfrm>
            <a:off x="5588000" y="4601071"/>
            <a:ext cx="0" cy="768350"/>
          </a:xfrm>
          <a:prstGeom prst="line">
            <a:avLst/>
          </a:prstGeom>
          <a:noFill/>
          <a:ln w="50800">
            <a:solidFill>
              <a:srgbClr val="A8201A"/>
            </a:solidFill>
            <a:prstDash val="solid"/>
          </a:ln>
        </p:spPr>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SUBIR IMÁGENES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Un campo y un botón</a:t>
            </a:r>
            <a:endParaRPr lang="en-US" sz="3600" dirty="0"/>
          </a:p>
        </p:txBody>
      </p:sp>
      <p:sp>
        <p:nvSpPr>
          <p:cNvPr id="4" name="Shape 2"/>
          <p:cNvSpPr/>
          <p:nvPr/>
        </p:nvSpPr>
        <p:spPr>
          <a:xfrm>
            <a:off x="815975" y="1880096"/>
            <a:ext cx="4819650" cy="2971800"/>
          </a:xfrm>
          <a:prstGeom prst="roundRect">
            <a:avLst>
              <a:gd name="adj" fmla="val 3312"/>
            </a:avLst>
          </a:prstGeom>
          <a:solidFill>
            <a:srgbClr val="FCFBF7"/>
          </a:solidFill>
          <a:ln w="6350">
            <a:solidFill>
              <a:srgbClr val="DDD8CC"/>
            </a:solidFill>
            <a:prstDash val="solid"/>
          </a:ln>
        </p:spPr>
      </p:sp>
      <p:sp>
        <p:nvSpPr>
          <p:cNvPr id="5" name="Text 3"/>
          <p:cNvSpPr/>
          <p:nvPr/>
        </p:nvSpPr>
        <p:spPr>
          <a:xfrm>
            <a:off x="1047750" y="2111871"/>
            <a:ext cx="448678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5D7C"/>
                </a:solidFill>
                <a:latin typeface="IBM Plex Sans" pitchFamily="34" charset="0"/>
                <a:ea typeface="IBM Plex Sans" pitchFamily="34" charset="-122"/>
                <a:cs typeface="IBM Plex Sans" pitchFamily="34" charset="-120"/>
              </a:rPr>
              <a:t>Analizar imagen</a:t>
            </a:r>
            <a:endParaRPr lang="en-US" sz="1600" dirty="0"/>
          </a:p>
        </p:txBody>
      </p:sp>
      <p:sp>
        <p:nvSpPr>
          <p:cNvPr id="6" name="Text 4"/>
          <p:cNvSpPr/>
          <p:nvPr/>
        </p:nvSpPr>
        <p:spPr>
          <a:xfrm>
            <a:off x="1047750" y="2469952"/>
            <a:ext cx="44867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Sube tus imágenes (hasta 10)</a:t>
            </a:r>
            <a:endParaRPr lang="en-US" sz="1400" dirty="0"/>
          </a:p>
        </p:txBody>
      </p:sp>
      <p:sp>
        <p:nvSpPr>
          <p:cNvPr id="7" name="Shape 5"/>
          <p:cNvSpPr/>
          <p:nvPr/>
        </p:nvSpPr>
        <p:spPr>
          <a:xfrm>
            <a:off x="1054100" y="2839442"/>
            <a:ext cx="4343400" cy="393700"/>
          </a:xfrm>
          <a:prstGeom prst="roundRect">
            <a:avLst>
              <a:gd name="adj" fmla="val 11290"/>
            </a:avLst>
          </a:prstGeom>
          <a:solidFill>
            <a:srgbClr val="F6F3EC"/>
          </a:solidFill>
          <a:ln w="12700">
            <a:solidFill>
              <a:srgbClr val="C9C2B2"/>
            </a:solidFill>
            <a:prstDash val="dash"/>
          </a:ln>
        </p:spPr>
      </p:sp>
      <p:sp>
        <p:nvSpPr>
          <p:cNvPr id="8" name="Text 6"/>
          <p:cNvSpPr/>
          <p:nvPr/>
        </p:nvSpPr>
        <p:spPr>
          <a:xfrm>
            <a:off x="1047750" y="3353792"/>
            <a:ext cx="4356100" cy="426641"/>
          </a:xfrm>
          <a:prstGeom prst="roundRect">
            <a:avLst>
              <a:gd name="adj" fmla="val 11907"/>
            </a:avLst>
          </a:prstGeom>
          <a:solidFill>
            <a:srgbClr val="A8201A"/>
          </a:solidFill>
          <a:ln/>
        </p:spPr>
        <p:txBody>
          <a:bodyPr wrap="square" lIns="50590" tIns="74021" rIns="50590" bIns="48621" rtlCol="0" anchor="t">
            <a:normAutofit/>
          </a:bodyPr>
          <a:lstStyle/>
          <a:p>
            <a:pPr algn="ct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Analizar</a:t>
            </a:r>
            <a:endParaRPr lang="en-US" sz="1400" dirty="0"/>
          </a:p>
        </p:txBody>
      </p:sp>
      <p:sp>
        <p:nvSpPr>
          <p:cNvPr id="9" name="Text 7"/>
          <p:cNvSpPr/>
          <p:nvPr/>
        </p:nvSpPr>
        <p:spPr>
          <a:xfrm>
            <a:off x="1054100" y="3901083"/>
            <a:ext cx="4343400" cy="413941"/>
          </a:xfrm>
          <a:prstGeom prst="roundRect">
            <a:avLst>
              <a:gd name="adj" fmla="val 10738"/>
            </a:avLst>
          </a:prstGeom>
          <a:noFill/>
          <a:ln w="12700">
            <a:solidFill>
              <a:srgbClr val="A8201A"/>
            </a:solidFill>
            <a:prstDash val="solid"/>
          </a:ln>
        </p:spPr>
        <p:txBody>
          <a:bodyPr wrap="square" lIns="59181" tIns="69531" rIns="59181" bIns="44131" rtlCol="0" anchor="t">
            <a:normAutofit/>
          </a:bodyPr>
          <a:lstStyle/>
          <a:p>
            <a:pPr algn="ctr" indent="0" marL="0">
              <a:lnSpc>
                <a:spcPts val="1960"/>
              </a:lnSpc>
              <a:buNone/>
            </a:pPr>
            <a:r>
              <a:rPr lang="en-US" sz="1400" b="1" dirty="0">
                <a:solidFill>
                  <a:srgbClr val="A8201A"/>
                </a:solidFill>
                <a:latin typeface="IBM Plex Sans" pitchFamily="34" charset="0"/>
                <a:ea typeface="IBM Plex Sans" pitchFamily="34" charset="-122"/>
                <a:cs typeface="IBM Plex Sans" pitchFamily="34" charset="-120"/>
              </a:rPr>
              <a:t>Probar con la imagen de ejemplo</a:t>
            </a:r>
            <a:endParaRPr lang="en-US" sz="1400" dirty="0"/>
          </a:p>
        </p:txBody>
      </p:sp>
      <p:sp>
        <p:nvSpPr>
          <p:cNvPr id="10" name="Text 8"/>
          <p:cNvSpPr/>
          <p:nvPr/>
        </p:nvSpPr>
        <p:spPr>
          <a:xfrm>
            <a:off x="5943600" y="1876921"/>
            <a:ext cx="5435600" cy="511175"/>
          </a:xfrm>
          <a:prstGeom prst="rect">
            <a:avLst/>
          </a:prstGeom>
          <a:solidFill>
            <a:srgbClr val="FCFBF7"/>
          </a:solidFill>
          <a:ln/>
        </p:spPr>
        <p:txBody>
          <a:bodyPr wrap="square" lIns="228600" tIns="127000" rIns="26924" bIns="101600" rtlCol="0" anchor="t">
            <a:normAutofit/>
          </a:bodyPr>
          <a:lstStyle/>
          <a:p>
            <a:pPr algn="l" indent="0" marL="0">
              <a:lnSpc>
                <a:spcPts val="2025"/>
              </a:lnSpc>
              <a:buNone/>
            </a:pPr>
            <a:r>
              <a:rPr lang="en-US" sz="1500" b="1" dirty="0">
                <a:solidFill>
                  <a:srgbClr val="1C2630"/>
                </a:solidFill>
                <a:latin typeface="IBM Plex Sans" pitchFamily="34" charset="0"/>
                <a:ea typeface="IBM Plex Sans" pitchFamily="34" charset="-122"/>
                <a:cs typeface="IBM Plex Sans" pitchFamily="34" charset="-120"/>
              </a:rPr>
              <a:t>Hasta 10 imágenes</a:t>
            </a:r>
            <a:r>
              <a:rPr lang="en-US" sz="1500" dirty="0">
                <a:solidFill>
                  <a:srgbClr val="1C2630"/>
                </a:solidFill>
                <a:latin typeface="IBM Plex Sans" pitchFamily="34" charset="0"/>
                <a:ea typeface="IBM Plex Sans" pitchFamily="34" charset="-122"/>
                <a:cs typeface="IBM Plex Sans" pitchFamily="34" charset="-120"/>
              </a:rPr>
              <a:t> por envío y unos 300 MB.</a:t>
            </a:r>
            <a:endParaRPr lang="en-US" sz="1500" dirty="0"/>
          </a:p>
        </p:txBody>
      </p:sp>
      <p:sp>
        <p:nvSpPr>
          <p:cNvPr id="11" name="Shape 9"/>
          <p:cNvSpPr/>
          <p:nvPr/>
        </p:nvSpPr>
        <p:spPr>
          <a:xfrm>
            <a:off x="5969000" y="1876921"/>
            <a:ext cx="0" cy="511175"/>
          </a:xfrm>
          <a:prstGeom prst="line">
            <a:avLst/>
          </a:prstGeom>
          <a:noFill/>
          <a:ln w="50800">
            <a:solidFill>
              <a:srgbClr val="2F5D7C"/>
            </a:solidFill>
            <a:prstDash val="solid"/>
          </a:ln>
        </p:spPr>
      </p:sp>
      <p:sp>
        <p:nvSpPr>
          <p:cNvPr id="12" name="Text 10"/>
          <p:cNvSpPr/>
          <p:nvPr/>
        </p:nvSpPr>
        <p:spPr>
          <a:xfrm>
            <a:off x="5943600" y="2527796"/>
            <a:ext cx="5435600" cy="768350"/>
          </a:xfrm>
          <a:prstGeom prst="rect">
            <a:avLst/>
          </a:prstGeom>
          <a:solidFill>
            <a:srgbClr val="FCFBF7"/>
          </a:solidFill>
          <a:ln/>
        </p:spPr>
        <p:txBody>
          <a:bodyPr wrap="square" lIns="228600" tIns="127000" rIns="26924" bIns="101600" rtlCol="0" anchor="t">
            <a:normAutofit/>
          </a:bodyPr>
          <a:lstStyle/>
          <a:p>
            <a:pPr algn="l" indent="0" marL="0">
              <a:lnSpc>
                <a:spcPts val="2025"/>
              </a:lnSpc>
              <a:buNone/>
            </a:pPr>
            <a:r>
              <a:rPr lang="en-US" sz="1500" b="1" dirty="0">
                <a:solidFill>
                  <a:srgbClr val="1C2630"/>
                </a:solidFill>
                <a:latin typeface="IBM Plex Sans" pitchFamily="34" charset="0"/>
                <a:ea typeface="IBM Plex Sans" pitchFamily="34" charset="-122"/>
                <a:cs typeface="IBM Plex Sans" pitchFamily="34" charset="-120"/>
              </a:rPr>
              <a:t>BMP, PNG o TIFF.</a:t>
            </a:r>
            <a:r>
              <a:rPr lang="en-US" sz="1500" dirty="0">
                <a:solidFill>
                  <a:srgbClr val="1C2630"/>
                </a:solidFill>
                <a:latin typeface="IBM Plex Sans" pitchFamily="34" charset="0"/>
                <a:ea typeface="IBM Plex Sans" pitchFamily="34" charset="-122"/>
                <a:cs typeface="IBM Plex Sans" pitchFamily="34" charset="-120"/>
              </a:rPr>
              <a:t> El JPG se acepta con aviso, porque pierde calidad.</a:t>
            </a:r>
            <a:endParaRPr lang="en-US" sz="1500" dirty="0"/>
          </a:p>
        </p:txBody>
      </p:sp>
      <p:sp>
        <p:nvSpPr>
          <p:cNvPr id="13" name="Shape 11"/>
          <p:cNvSpPr/>
          <p:nvPr/>
        </p:nvSpPr>
        <p:spPr>
          <a:xfrm>
            <a:off x="5969000" y="2527796"/>
            <a:ext cx="0" cy="768350"/>
          </a:xfrm>
          <a:prstGeom prst="line">
            <a:avLst/>
          </a:prstGeom>
          <a:noFill/>
          <a:ln w="50800">
            <a:solidFill>
              <a:srgbClr val="2F5D7C"/>
            </a:solidFill>
            <a:prstDash val="solid"/>
          </a:ln>
        </p:spPr>
      </p:sp>
      <p:sp>
        <p:nvSpPr>
          <p:cNvPr id="14" name="Text 12"/>
          <p:cNvSpPr/>
          <p:nvPr/>
        </p:nvSpPr>
        <p:spPr>
          <a:xfrm>
            <a:off x="5943600" y="3435846"/>
            <a:ext cx="5435600" cy="768350"/>
          </a:xfrm>
          <a:prstGeom prst="rect">
            <a:avLst/>
          </a:prstGeom>
          <a:solidFill>
            <a:srgbClr val="FCFBF7"/>
          </a:solidFill>
          <a:ln/>
        </p:spPr>
        <p:txBody>
          <a:bodyPr wrap="square" lIns="228600" tIns="127000" rIns="26924" bIns="101600" rtlCol="0" anchor="t">
            <a:normAutofit/>
          </a:bodyPr>
          <a:lstStyle/>
          <a:p>
            <a:pPr algn="l" indent="0" marL="0">
              <a:lnSpc>
                <a:spcPts val="2025"/>
              </a:lnSpc>
              <a:buNone/>
            </a:pPr>
            <a:r>
              <a:rPr lang="en-US" sz="1500" b="1" dirty="0">
                <a:solidFill>
                  <a:srgbClr val="1C2630"/>
                </a:solidFill>
                <a:latin typeface="IBM Plex Sans" pitchFamily="34" charset="0"/>
                <a:ea typeface="IBM Plex Sans" pitchFamily="34" charset="-122"/>
                <a:cs typeface="IBM Plex Sans" pitchFamily="34" charset="-120"/>
              </a:rPr>
              <a:t>Sin parámetros.</a:t>
            </a:r>
            <a:r>
              <a:rPr lang="en-US" sz="1500" dirty="0">
                <a:solidFill>
                  <a:srgbClr val="1C2630"/>
                </a:solidFill>
                <a:latin typeface="IBM Plex Sans" pitchFamily="34" charset="0"/>
                <a:ea typeface="IBM Plex Sans" pitchFamily="34" charset="-122"/>
                <a:cs typeface="IBM Plex Sans" pitchFamily="34" charset="-120"/>
              </a:rPr>
              <a:t> Solo el botón de ejecutar, como se acordó.</a:t>
            </a:r>
            <a:endParaRPr lang="en-US" sz="1500" dirty="0"/>
          </a:p>
        </p:txBody>
      </p:sp>
      <p:sp>
        <p:nvSpPr>
          <p:cNvPr id="15" name="Shape 13"/>
          <p:cNvSpPr/>
          <p:nvPr/>
        </p:nvSpPr>
        <p:spPr>
          <a:xfrm>
            <a:off x="5969000" y="3435846"/>
            <a:ext cx="0" cy="768350"/>
          </a:xfrm>
          <a:prstGeom prst="line">
            <a:avLst/>
          </a:prstGeom>
          <a:noFill/>
          <a:ln w="50800">
            <a:solidFill>
              <a:srgbClr val="2F5D7C"/>
            </a:solidFill>
            <a:prstDash val="solid"/>
          </a:ln>
        </p:spPr>
      </p:sp>
      <p:sp>
        <p:nvSpPr>
          <p:cNvPr id="16" name="Text 14"/>
          <p:cNvSpPr/>
          <p:nvPr/>
        </p:nvSpPr>
        <p:spPr>
          <a:xfrm>
            <a:off x="5943600" y="4343896"/>
            <a:ext cx="5435600" cy="511175"/>
          </a:xfrm>
          <a:prstGeom prst="rect">
            <a:avLst/>
          </a:prstGeom>
          <a:solidFill>
            <a:srgbClr val="FCFBF7"/>
          </a:solidFill>
          <a:ln/>
        </p:spPr>
        <p:txBody>
          <a:bodyPr wrap="square" lIns="228600" tIns="127000" rIns="26924" bIns="101600" rtlCol="0" anchor="t">
            <a:normAutofit/>
          </a:bodyPr>
          <a:lstStyle/>
          <a:p>
            <a:pPr algn="l" indent="0" marL="0">
              <a:lnSpc>
                <a:spcPts val="2025"/>
              </a:lnSpc>
              <a:buNone/>
            </a:pPr>
            <a:r>
              <a:rPr lang="en-US" sz="1500" b="1" dirty="0">
                <a:solidFill>
                  <a:srgbClr val="1C2630"/>
                </a:solidFill>
                <a:latin typeface="IBM Plex Sans" pitchFamily="34" charset="0"/>
                <a:ea typeface="IBM Plex Sans" pitchFamily="34" charset="-122"/>
                <a:cs typeface="IBM Plex Sans" pitchFamily="34" charset="-120"/>
              </a:rPr>
              <a:t>Originales.</a:t>
            </a:r>
            <a:r>
              <a:rPr lang="en-US" sz="1500" dirty="0">
                <a:solidFill>
                  <a:srgbClr val="1C2630"/>
                </a:solidFill>
                <a:latin typeface="IBM Plex Sans" pitchFamily="34" charset="0"/>
                <a:ea typeface="IBM Plex Sans" pitchFamily="34" charset="-122"/>
                <a:cs typeface="IBM Plex Sans" pitchFamily="34" charset="-120"/>
              </a:rPr>
              <a:t> Sin compresión y sin pasar por mensajería.</a:t>
            </a:r>
            <a:endParaRPr lang="en-US" sz="1500" dirty="0"/>
          </a:p>
        </p:txBody>
      </p:sp>
      <p:sp>
        <p:nvSpPr>
          <p:cNvPr id="17" name="Shape 15"/>
          <p:cNvSpPr/>
          <p:nvPr/>
        </p:nvSpPr>
        <p:spPr>
          <a:xfrm>
            <a:off x="5969000" y="4343896"/>
            <a:ext cx="0" cy="511175"/>
          </a:xfrm>
          <a:prstGeom prst="line">
            <a:avLst/>
          </a:prstGeom>
          <a:noFill/>
          <a:ln w="50800">
            <a:solidFill>
              <a:srgbClr val="2F5D7C"/>
            </a:solidFill>
            <a:prstDash val="solid"/>
          </a:ln>
        </p:spPr>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MIENTRAS SE ESPERA</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Lo que pasa en el servidor con cada imagen</a:t>
            </a:r>
            <a:endParaRPr lang="en-US" sz="3600" dirty="0"/>
          </a:p>
        </p:txBody>
      </p:sp>
      <p:sp>
        <p:nvSpPr>
          <p:cNvPr id="4" name="Shape 2"/>
          <p:cNvSpPr/>
          <p:nvPr/>
        </p:nvSpPr>
        <p:spPr>
          <a:xfrm>
            <a:off x="815975" y="1880096"/>
            <a:ext cx="2540000" cy="1080591"/>
          </a:xfrm>
          <a:prstGeom prst="roundRect">
            <a:avLst>
              <a:gd name="adj" fmla="val 9108"/>
            </a:avLst>
          </a:prstGeom>
          <a:solidFill>
            <a:srgbClr val="FCFBF7"/>
          </a:solidFill>
          <a:ln w="6350">
            <a:solidFill>
              <a:srgbClr val="DDD8CC"/>
            </a:solidFill>
            <a:prstDash val="solid"/>
          </a:ln>
        </p:spPr>
      </p:sp>
      <p:sp>
        <p:nvSpPr>
          <p:cNvPr id="5" name="Text 3"/>
          <p:cNvSpPr/>
          <p:nvPr/>
        </p:nvSpPr>
        <p:spPr>
          <a:xfrm>
            <a:off x="984250" y="2048371"/>
            <a:ext cx="226955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201A"/>
                </a:solidFill>
                <a:latin typeface="IBM Plex Sans" pitchFamily="34" charset="0"/>
                <a:ea typeface="IBM Plex Sans" pitchFamily="34" charset="-122"/>
                <a:cs typeface="IBM Plex Sans" pitchFamily="34" charset="-120"/>
              </a:rPr>
              <a:t>1</a:t>
            </a:r>
            <a:endParaRPr lang="en-US" sz="1300" dirty="0"/>
          </a:p>
        </p:txBody>
      </p:sp>
      <p:sp>
        <p:nvSpPr>
          <p:cNvPr id="6" name="Text 4"/>
          <p:cNvSpPr/>
          <p:nvPr/>
        </p:nvSpPr>
        <p:spPr>
          <a:xfrm>
            <a:off x="984250" y="2330252"/>
            <a:ext cx="226955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C2630"/>
                </a:solidFill>
                <a:latin typeface="IBM Plex Sans" pitchFamily="34" charset="0"/>
                <a:ea typeface="IBM Plex Sans" pitchFamily="34" charset="-122"/>
                <a:cs typeface="IBM Plex Sans" pitchFamily="34" charset="-120"/>
              </a:rPr>
              <a:t>Recibe el archivo y revisa la extensión</a:t>
            </a:r>
            <a:endParaRPr lang="en-US" sz="1400" dirty="0"/>
          </a:p>
        </p:txBody>
      </p:sp>
      <p:sp>
        <p:nvSpPr>
          <p:cNvPr id="7" name="Shape 5"/>
          <p:cNvSpPr/>
          <p:nvPr/>
        </p:nvSpPr>
        <p:spPr>
          <a:xfrm>
            <a:off x="3489325" y="1880096"/>
            <a:ext cx="2540000" cy="1080591"/>
          </a:xfrm>
          <a:prstGeom prst="roundRect">
            <a:avLst>
              <a:gd name="adj" fmla="val 9108"/>
            </a:avLst>
          </a:prstGeom>
          <a:solidFill>
            <a:srgbClr val="FCFBF7"/>
          </a:solidFill>
          <a:ln w="6350">
            <a:solidFill>
              <a:srgbClr val="DDD8CC"/>
            </a:solidFill>
            <a:prstDash val="solid"/>
          </a:ln>
        </p:spPr>
      </p:sp>
      <p:sp>
        <p:nvSpPr>
          <p:cNvPr id="8" name="Text 6"/>
          <p:cNvSpPr/>
          <p:nvPr/>
        </p:nvSpPr>
        <p:spPr>
          <a:xfrm>
            <a:off x="3657600" y="2048371"/>
            <a:ext cx="226955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201A"/>
                </a:solidFill>
                <a:latin typeface="IBM Plex Sans" pitchFamily="34" charset="0"/>
                <a:ea typeface="IBM Plex Sans" pitchFamily="34" charset="-122"/>
                <a:cs typeface="IBM Plex Sans" pitchFamily="34" charset="-120"/>
              </a:rPr>
              <a:t>2</a:t>
            </a:r>
            <a:endParaRPr lang="en-US" sz="1300" dirty="0"/>
          </a:p>
        </p:txBody>
      </p:sp>
      <p:sp>
        <p:nvSpPr>
          <p:cNvPr id="9" name="Text 7"/>
          <p:cNvSpPr/>
          <p:nvPr/>
        </p:nvSpPr>
        <p:spPr>
          <a:xfrm>
            <a:off x="3657600" y="2330252"/>
            <a:ext cx="226955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C2630"/>
                </a:solidFill>
                <a:latin typeface="IBM Plex Sans" pitchFamily="34" charset="0"/>
                <a:ea typeface="IBM Plex Sans" pitchFamily="34" charset="-122"/>
                <a:cs typeface="IBM Plex Sans" pitchFamily="34" charset="-120"/>
              </a:rPr>
              <a:t>Mide el brillo de la fotografía</a:t>
            </a:r>
            <a:endParaRPr lang="en-US" sz="1400" dirty="0"/>
          </a:p>
        </p:txBody>
      </p:sp>
      <p:sp>
        <p:nvSpPr>
          <p:cNvPr id="10" name="Shape 8"/>
          <p:cNvSpPr/>
          <p:nvPr/>
        </p:nvSpPr>
        <p:spPr>
          <a:xfrm>
            <a:off x="6162675" y="1880096"/>
            <a:ext cx="2540000" cy="1080591"/>
          </a:xfrm>
          <a:prstGeom prst="roundRect">
            <a:avLst>
              <a:gd name="adj" fmla="val 9108"/>
            </a:avLst>
          </a:prstGeom>
          <a:solidFill>
            <a:srgbClr val="FCFBF7"/>
          </a:solidFill>
          <a:ln w="6350">
            <a:solidFill>
              <a:srgbClr val="DDD8CC"/>
            </a:solidFill>
            <a:prstDash val="solid"/>
          </a:ln>
        </p:spPr>
      </p:sp>
      <p:sp>
        <p:nvSpPr>
          <p:cNvPr id="11" name="Text 9"/>
          <p:cNvSpPr/>
          <p:nvPr/>
        </p:nvSpPr>
        <p:spPr>
          <a:xfrm>
            <a:off x="6330950" y="2048371"/>
            <a:ext cx="226955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201A"/>
                </a:solidFill>
                <a:latin typeface="IBM Plex Sans" pitchFamily="34" charset="0"/>
                <a:ea typeface="IBM Plex Sans" pitchFamily="34" charset="-122"/>
                <a:cs typeface="IBM Plex Sans" pitchFamily="34" charset="-120"/>
              </a:rPr>
              <a:t>3</a:t>
            </a:r>
            <a:endParaRPr lang="en-US" sz="1300" dirty="0"/>
          </a:p>
        </p:txBody>
      </p:sp>
      <p:sp>
        <p:nvSpPr>
          <p:cNvPr id="12" name="Text 10"/>
          <p:cNvSpPr/>
          <p:nvPr/>
        </p:nvSpPr>
        <p:spPr>
          <a:xfrm>
            <a:off x="6330950" y="2330252"/>
            <a:ext cx="226955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C2630"/>
                </a:solidFill>
                <a:latin typeface="IBM Plex Sans" pitchFamily="34" charset="0"/>
                <a:ea typeface="IBM Plex Sans" pitchFamily="34" charset="-122"/>
                <a:cs typeface="IBM Plex Sans" pitchFamily="34" charset="-120"/>
              </a:rPr>
              <a:t>Elige el modelo: fondo oscuro o claro</a:t>
            </a:r>
            <a:endParaRPr lang="en-US" sz="1400" dirty="0"/>
          </a:p>
        </p:txBody>
      </p:sp>
      <p:sp>
        <p:nvSpPr>
          <p:cNvPr id="13" name="Shape 11"/>
          <p:cNvSpPr/>
          <p:nvPr/>
        </p:nvSpPr>
        <p:spPr>
          <a:xfrm>
            <a:off x="8836025" y="1880096"/>
            <a:ext cx="2540000" cy="1080591"/>
          </a:xfrm>
          <a:prstGeom prst="roundRect">
            <a:avLst>
              <a:gd name="adj" fmla="val 9108"/>
            </a:avLst>
          </a:prstGeom>
          <a:solidFill>
            <a:srgbClr val="FCFBF7"/>
          </a:solidFill>
          <a:ln w="6350">
            <a:solidFill>
              <a:srgbClr val="DDD8CC"/>
            </a:solidFill>
            <a:prstDash val="solid"/>
          </a:ln>
        </p:spPr>
      </p:sp>
      <p:sp>
        <p:nvSpPr>
          <p:cNvPr id="14" name="Text 12"/>
          <p:cNvSpPr/>
          <p:nvPr/>
        </p:nvSpPr>
        <p:spPr>
          <a:xfrm>
            <a:off x="9004300" y="2048371"/>
            <a:ext cx="226955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201A"/>
                </a:solidFill>
                <a:latin typeface="IBM Plex Sans" pitchFamily="34" charset="0"/>
                <a:ea typeface="IBM Plex Sans" pitchFamily="34" charset="-122"/>
                <a:cs typeface="IBM Plex Sans" pitchFamily="34" charset="-120"/>
              </a:rPr>
              <a:t>4</a:t>
            </a:r>
            <a:endParaRPr lang="en-US" sz="1300" dirty="0"/>
          </a:p>
        </p:txBody>
      </p:sp>
      <p:sp>
        <p:nvSpPr>
          <p:cNvPr id="15" name="Text 13"/>
          <p:cNvSpPr/>
          <p:nvPr/>
        </p:nvSpPr>
        <p:spPr>
          <a:xfrm>
            <a:off x="9004300" y="2330252"/>
            <a:ext cx="226955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C2630"/>
                </a:solidFill>
                <a:latin typeface="IBM Plex Sans" pitchFamily="34" charset="0"/>
                <a:ea typeface="IBM Plex Sans" pitchFamily="34" charset="-122"/>
                <a:cs typeface="IBM Plex Sans" pitchFamily="34" charset="-120"/>
              </a:rPr>
              <a:t>La corta en teselas que se solapan</a:t>
            </a:r>
            <a:endParaRPr lang="en-US" sz="1400" dirty="0"/>
          </a:p>
        </p:txBody>
      </p:sp>
      <p:sp>
        <p:nvSpPr>
          <p:cNvPr id="16" name="Shape 14"/>
          <p:cNvSpPr/>
          <p:nvPr/>
        </p:nvSpPr>
        <p:spPr>
          <a:xfrm>
            <a:off x="815975" y="3094038"/>
            <a:ext cx="2540000" cy="1080591"/>
          </a:xfrm>
          <a:prstGeom prst="roundRect">
            <a:avLst>
              <a:gd name="adj" fmla="val 9108"/>
            </a:avLst>
          </a:prstGeom>
          <a:solidFill>
            <a:srgbClr val="FCFBF7"/>
          </a:solidFill>
          <a:ln w="6350">
            <a:solidFill>
              <a:srgbClr val="DDD8CC"/>
            </a:solidFill>
            <a:prstDash val="solid"/>
          </a:ln>
        </p:spPr>
      </p:sp>
      <p:sp>
        <p:nvSpPr>
          <p:cNvPr id="17" name="Text 15"/>
          <p:cNvSpPr/>
          <p:nvPr/>
        </p:nvSpPr>
        <p:spPr>
          <a:xfrm>
            <a:off x="984250" y="3262313"/>
            <a:ext cx="226955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201A"/>
                </a:solidFill>
                <a:latin typeface="IBM Plex Sans" pitchFamily="34" charset="0"/>
                <a:ea typeface="IBM Plex Sans" pitchFamily="34" charset="-122"/>
                <a:cs typeface="IBM Plex Sans" pitchFamily="34" charset="-120"/>
              </a:rPr>
              <a:t>5</a:t>
            </a:r>
            <a:endParaRPr lang="en-US" sz="1300" dirty="0"/>
          </a:p>
        </p:txBody>
      </p:sp>
      <p:sp>
        <p:nvSpPr>
          <p:cNvPr id="18" name="Text 16"/>
          <p:cNvSpPr/>
          <p:nvPr/>
        </p:nvSpPr>
        <p:spPr>
          <a:xfrm>
            <a:off x="984250" y="3544193"/>
            <a:ext cx="226955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C2630"/>
                </a:solidFill>
                <a:latin typeface="IBM Plex Sans" pitchFamily="34" charset="0"/>
                <a:ea typeface="IBM Plex Sans" pitchFamily="34" charset="-122"/>
                <a:cs typeface="IBM Plex Sans" pitchFamily="34" charset="-120"/>
              </a:rPr>
              <a:t>La red traza un contorno por espermatozoide</a:t>
            </a:r>
            <a:endParaRPr lang="en-US" sz="1400" dirty="0"/>
          </a:p>
        </p:txBody>
      </p:sp>
      <p:sp>
        <p:nvSpPr>
          <p:cNvPr id="19" name="Shape 17"/>
          <p:cNvSpPr/>
          <p:nvPr/>
        </p:nvSpPr>
        <p:spPr>
          <a:xfrm>
            <a:off x="3489325" y="3094038"/>
            <a:ext cx="2540000" cy="1080591"/>
          </a:xfrm>
          <a:prstGeom prst="roundRect">
            <a:avLst>
              <a:gd name="adj" fmla="val 9108"/>
            </a:avLst>
          </a:prstGeom>
          <a:solidFill>
            <a:srgbClr val="FCFBF7"/>
          </a:solidFill>
          <a:ln w="6350">
            <a:solidFill>
              <a:srgbClr val="DDD8CC"/>
            </a:solidFill>
            <a:prstDash val="solid"/>
          </a:ln>
        </p:spPr>
      </p:sp>
      <p:sp>
        <p:nvSpPr>
          <p:cNvPr id="20" name="Text 18"/>
          <p:cNvSpPr/>
          <p:nvPr/>
        </p:nvSpPr>
        <p:spPr>
          <a:xfrm>
            <a:off x="3657600" y="3262313"/>
            <a:ext cx="226955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201A"/>
                </a:solidFill>
                <a:latin typeface="IBM Plex Sans" pitchFamily="34" charset="0"/>
                <a:ea typeface="IBM Plex Sans" pitchFamily="34" charset="-122"/>
                <a:cs typeface="IBM Plex Sans" pitchFamily="34" charset="-120"/>
              </a:rPr>
              <a:t>6</a:t>
            </a:r>
            <a:endParaRPr lang="en-US" sz="1300" dirty="0"/>
          </a:p>
        </p:txBody>
      </p:sp>
      <p:sp>
        <p:nvSpPr>
          <p:cNvPr id="21" name="Text 19"/>
          <p:cNvSpPr/>
          <p:nvPr/>
        </p:nvSpPr>
        <p:spPr>
          <a:xfrm>
            <a:off x="3657600" y="3544193"/>
            <a:ext cx="226955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C2630"/>
                </a:solidFill>
                <a:latin typeface="IBM Plex Sans" pitchFamily="34" charset="0"/>
                <a:ea typeface="IBM Plex Sans" pitchFamily="34" charset="-122"/>
                <a:cs typeface="IBM Plex Sans" pitchFamily="34" charset="-120"/>
              </a:rPr>
              <a:t>Junta las teselas y quita los contornos repetidos</a:t>
            </a:r>
            <a:endParaRPr lang="en-US" sz="1400" dirty="0"/>
          </a:p>
        </p:txBody>
      </p:sp>
      <p:sp>
        <p:nvSpPr>
          <p:cNvPr id="22" name="Shape 20"/>
          <p:cNvSpPr/>
          <p:nvPr/>
        </p:nvSpPr>
        <p:spPr>
          <a:xfrm>
            <a:off x="6162675" y="3094038"/>
            <a:ext cx="2540000" cy="1080591"/>
          </a:xfrm>
          <a:prstGeom prst="roundRect">
            <a:avLst>
              <a:gd name="adj" fmla="val 9108"/>
            </a:avLst>
          </a:prstGeom>
          <a:solidFill>
            <a:srgbClr val="FCFBF7"/>
          </a:solidFill>
          <a:ln w="6350">
            <a:solidFill>
              <a:srgbClr val="DDD8CC"/>
            </a:solidFill>
            <a:prstDash val="solid"/>
          </a:ln>
        </p:spPr>
      </p:sp>
      <p:sp>
        <p:nvSpPr>
          <p:cNvPr id="23" name="Text 21"/>
          <p:cNvSpPr/>
          <p:nvPr/>
        </p:nvSpPr>
        <p:spPr>
          <a:xfrm>
            <a:off x="6330950" y="3262313"/>
            <a:ext cx="226955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201A"/>
                </a:solidFill>
                <a:latin typeface="IBM Plex Sans" pitchFamily="34" charset="0"/>
                <a:ea typeface="IBM Plex Sans" pitchFamily="34" charset="-122"/>
                <a:cs typeface="IBM Plex Sans" pitchFamily="34" charset="-120"/>
              </a:rPr>
              <a:t>7</a:t>
            </a:r>
            <a:endParaRPr lang="en-US" sz="1300" dirty="0"/>
          </a:p>
        </p:txBody>
      </p:sp>
      <p:sp>
        <p:nvSpPr>
          <p:cNvPr id="24" name="Text 22"/>
          <p:cNvSpPr/>
          <p:nvPr/>
        </p:nvSpPr>
        <p:spPr>
          <a:xfrm>
            <a:off x="6330950" y="3544193"/>
            <a:ext cx="226955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C2630"/>
                </a:solidFill>
                <a:latin typeface="IBM Plex Sans" pitchFamily="34" charset="0"/>
                <a:ea typeface="IBM Plex Sans" pitchFamily="34" charset="-122"/>
                <a:cs typeface="IBM Plex Sans" pitchFamily="34" charset="-120"/>
              </a:rPr>
              <a:t>Mide cada contorno y resume</a:t>
            </a:r>
            <a:endParaRPr lang="en-US" sz="1400" dirty="0"/>
          </a:p>
        </p:txBody>
      </p:sp>
      <p:sp>
        <p:nvSpPr>
          <p:cNvPr id="25" name="Text 23"/>
          <p:cNvSpPr/>
          <p:nvPr/>
        </p:nvSpPr>
        <p:spPr>
          <a:xfrm>
            <a:off x="8832850" y="3090863"/>
            <a:ext cx="2546350" cy="1086941"/>
          </a:xfrm>
          <a:prstGeom prst="roundRect">
            <a:avLst>
              <a:gd name="adj" fmla="val 9347"/>
            </a:avLst>
          </a:prstGeom>
          <a:solidFill>
            <a:srgbClr val="2F5D7C"/>
          </a:solidFill>
          <a:ln/>
        </p:spPr>
        <p:txBody>
          <a:bodyPr wrap="square" lIns="135342" tIns="135342" rIns="68858" bIns="135342" rtlCol="0" anchor="t">
            <a:normAutofit/>
          </a:bodyPr>
          <a:lstStyle/>
          <a:p>
            <a:pPr algn="l" indent="0" marL="0">
              <a:lnSpc>
                <a:spcPts val="1820"/>
              </a:lnSpc>
              <a:buNone/>
            </a:pPr>
            <a:r>
              <a:rPr lang="en-US" sz="1400" dirty="0">
                <a:solidFill>
                  <a:srgbClr val="F6F3EC"/>
                </a:solidFill>
                <a:latin typeface="IBM Plex Sans" pitchFamily="34" charset="0"/>
                <a:ea typeface="IBM Plex Sans" pitchFamily="34" charset="-122"/>
                <a:cs typeface="IBM Plex Sans" pitchFamily="34" charset="-120"/>
              </a:rPr>
              <a:t>Todo en procesador, sin tarjeta gráfica</a:t>
            </a:r>
            <a:endParaRPr lang="en-US" sz="1400" dirty="0"/>
          </a:p>
        </p:txBody>
      </p:sp>
      <p:sp>
        <p:nvSpPr>
          <p:cNvPr id="26" name="Text 2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TIEMPO DE ANÁLISIS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Cuánto tarda una imagen</a:t>
            </a:r>
            <a:endParaRPr lang="en-US" sz="3600" dirty="0"/>
          </a:p>
        </p:txBody>
      </p:sp>
      <p:sp>
        <p:nvSpPr>
          <p:cNvPr id="4" name="Shape 2"/>
          <p:cNvSpPr/>
          <p:nvPr/>
        </p:nvSpPr>
        <p:spPr>
          <a:xfrm>
            <a:off x="815975" y="1905496"/>
            <a:ext cx="3414117" cy="2882900"/>
          </a:xfrm>
          <a:prstGeom prst="roundRect">
            <a:avLst>
              <a:gd name="adj" fmla="val 3414"/>
            </a:avLst>
          </a:prstGeom>
          <a:solidFill>
            <a:srgbClr val="FCFBF7"/>
          </a:solidFill>
          <a:ln w="6350">
            <a:solidFill>
              <a:srgbClr val="DDD8CC"/>
            </a:solidFill>
            <a:prstDash val="solid"/>
          </a:ln>
        </p:spPr>
      </p:sp>
      <p:sp>
        <p:nvSpPr>
          <p:cNvPr id="5" name="Text 3"/>
          <p:cNvSpPr/>
          <p:nvPr/>
        </p:nvSpPr>
        <p:spPr>
          <a:xfrm>
            <a:off x="1047750" y="2137271"/>
            <a:ext cx="303908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F5D7C"/>
                </a:solidFill>
                <a:latin typeface="Source Serif 4" pitchFamily="18" charset="0"/>
                <a:ea typeface="Source Serif 4" pitchFamily="18" charset="-122"/>
                <a:cs typeface="Source Serif 4" pitchFamily="18" charset="-120"/>
              </a:rPr>
              <a:t>~40 s</a:t>
            </a:r>
            <a:endParaRPr lang="en-US" sz="4800" dirty="0"/>
          </a:p>
        </p:txBody>
      </p:sp>
      <p:sp>
        <p:nvSpPr>
          <p:cNvPr id="6" name="Text 4"/>
          <p:cNvSpPr/>
          <p:nvPr/>
        </p:nvSpPr>
        <p:spPr>
          <a:xfrm>
            <a:off x="1047750" y="2823071"/>
            <a:ext cx="303908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630"/>
                </a:solidFill>
                <a:latin typeface="IBM Plex Sans" pitchFamily="34" charset="0"/>
                <a:ea typeface="IBM Plex Sans" pitchFamily="34" charset="-122"/>
                <a:cs typeface="IBM Plex Sans" pitchFamily="34" charset="-120"/>
              </a:rPr>
              <a:t>fotografía grande de fluorescencia, en escritorio</a:t>
            </a:r>
            <a:endParaRPr lang="en-US" sz="1500" dirty="0"/>
          </a:p>
        </p:txBody>
      </p:sp>
      <p:sp>
        <p:nvSpPr>
          <p:cNvPr id="7" name="Shape 5"/>
          <p:cNvSpPr/>
          <p:nvPr/>
        </p:nvSpPr>
        <p:spPr>
          <a:xfrm>
            <a:off x="4388842" y="1905496"/>
            <a:ext cx="3414216" cy="2882900"/>
          </a:xfrm>
          <a:prstGeom prst="roundRect">
            <a:avLst>
              <a:gd name="adj" fmla="val 3414"/>
            </a:avLst>
          </a:prstGeom>
          <a:solidFill>
            <a:srgbClr val="FCFBF7"/>
          </a:solidFill>
          <a:ln w="6350">
            <a:solidFill>
              <a:srgbClr val="DDD8CC"/>
            </a:solidFill>
            <a:prstDash val="solid"/>
          </a:ln>
        </p:spPr>
      </p:sp>
      <p:sp>
        <p:nvSpPr>
          <p:cNvPr id="8" name="Text 6"/>
          <p:cNvSpPr/>
          <p:nvPr/>
        </p:nvSpPr>
        <p:spPr>
          <a:xfrm>
            <a:off x="4620617" y="2137271"/>
            <a:ext cx="303918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F5D7C"/>
                </a:solidFill>
                <a:latin typeface="Source Serif 4" pitchFamily="18" charset="0"/>
                <a:ea typeface="Source Serif 4" pitchFamily="18" charset="-122"/>
                <a:cs typeface="Source Serif 4" pitchFamily="18" charset="-120"/>
              </a:rPr>
              <a:t>10–20 s</a:t>
            </a:r>
            <a:endParaRPr lang="en-US" sz="4800" dirty="0"/>
          </a:p>
        </p:txBody>
      </p:sp>
      <p:sp>
        <p:nvSpPr>
          <p:cNvPr id="9" name="Text 7"/>
          <p:cNvSpPr/>
          <p:nvPr/>
        </p:nvSpPr>
        <p:spPr>
          <a:xfrm>
            <a:off x="4620617" y="2823071"/>
            <a:ext cx="303918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630"/>
                </a:solidFill>
                <a:latin typeface="IBM Plex Sans" pitchFamily="34" charset="0"/>
                <a:ea typeface="IBM Plex Sans" pitchFamily="34" charset="-122"/>
                <a:cs typeface="IBM Plex Sans" pitchFamily="34" charset="-120"/>
              </a:rPr>
              <a:t>fotografía de fondo claro, en escritorio</a:t>
            </a:r>
            <a:endParaRPr lang="en-US" sz="1500" dirty="0"/>
          </a:p>
        </p:txBody>
      </p:sp>
      <p:sp>
        <p:nvSpPr>
          <p:cNvPr id="10" name="Shape 8"/>
          <p:cNvSpPr/>
          <p:nvPr/>
        </p:nvSpPr>
        <p:spPr>
          <a:xfrm>
            <a:off x="7961809" y="1905496"/>
            <a:ext cx="3414216" cy="2882900"/>
          </a:xfrm>
          <a:prstGeom prst="roundRect">
            <a:avLst>
              <a:gd name="adj" fmla="val 3414"/>
            </a:avLst>
          </a:prstGeom>
          <a:solidFill>
            <a:srgbClr val="ECE7DA"/>
          </a:solidFill>
          <a:ln w="6350">
            <a:solidFill>
              <a:srgbClr val="DDD8CC"/>
            </a:solidFill>
            <a:prstDash val="solid"/>
          </a:ln>
        </p:spPr>
      </p:sp>
      <p:sp>
        <p:nvSpPr>
          <p:cNvPr id="11" name="Text 9"/>
          <p:cNvSpPr/>
          <p:nvPr/>
        </p:nvSpPr>
        <p:spPr>
          <a:xfrm>
            <a:off x="8193584" y="2137271"/>
            <a:ext cx="3039186" cy="18542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A8201A"/>
                </a:solidFill>
                <a:latin typeface="Source Serif 4" pitchFamily="18" charset="0"/>
                <a:ea typeface="Source Serif 4" pitchFamily="18" charset="-122"/>
                <a:cs typeface="Source Serif 4" pitchFamily="18" charset="-120"/>
              </a:rPr>
              <a:t>A confirmar</a:t>
            </a:r>
            <a:endParaRPr lang="en-US" sz="4800" dirty="0"/>
          </a:p>
        </p:txBody>
      </p:sp>
      <p:sp>
        <p:nvSpPr>
          <p:cNvPr id="12" name="Text 10"/>
          <p:cNvSpPr/>
          <p:nvPr/>
        </p:nvSpPr>
        <p:spPr>
          <a:xfrm>
            <a:off x="8193584" y="4042271"/>
            <a:ext cx="303918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630"/>
                </a:solidFill>
                <a:latin typeface="IBM Plex Sans" pitchFamily="34" charset="0"/>
                <a:ea typeface="IBM Plex Sans" pitchFamily="34" charset="-122"/>
                <a:cs typeface="IBM Plex Sans" pitchFamily="34" charset="-120"/>
              </a:rPr>
              <a:t>en el servidor contratado, quizá varias veces más</a:t>
            </a:r>
            <a:endParaRPr lang="en-US" sz="1500" dirty="0"/>
          </a:p>
        </p:txBody>
      </p:sp>
      <p:sp>
        <p:nvSpPr>
          <p:cNvPr id="13" name="Text 11"/>
          <p:cNvSpPr/>
          <p:nvPr/>
        </p:nvSpPr>
        <p:spPr>
          <a:xfrm>
            <a:off x="812800" y="507097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Diez imágenes se analizan una tras otra: el tiempo total es la suma.</a:t>
            </a:r>
            <a:endParaRPr lang="en-US" sz="1500" dirty="0"/>
          </a:p>
        </p:txBody>
      </p:sp>
      <p:sp>
        <p:nvSpPr>
          <p:cNvPr id="14" name="Text 12"/>
          <p:cNvSpPr/>
          <p:nvPr/>
        </p:nvSpPr>
        <p:spPr>
          <a:xfrm>
            <a:off x="812800" y="541387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5606B"/>
                </a:solidFill>
                <a:latin typeface="IBM Plex Sans" pitchFamily="34" charset="0"/>
                <a:ea typeface="IBM Plex Sans" pitchFamily="34" charset="-122"/>
                <a:cs typeface="IBM Plex Sans" pitchFamily="34" charset="-120"/>
              </a:rPr>
              <a:t>Se aceptó una espera de 2 o 3 minutos. Si no alcanza: limitar imágenes por envío o analizar en segundo plano.</a:t>
            </a:r>
            <a:endParaRPr lang="en-US" sz="1500" dirty="0"/>
          </a:p>
        </p:txBody>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RESULTADOS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Cómo está organizada la página</a:t>
            </a:r>
            <a:endParaRPr lang="en-US" sz="3600" dirty="0"/>
          </a:p>
        </p:txBody>
      </p:sp>
      <p:sp>
        <p:nvSpPr>
          <p:cNvPr id="4" name="Text 2"/>
          <p:cNvSpPr/>
          <p:nvPr/>
        </p:nvSpPr>
        <p:spPr>
          <a:xfrm>
            <a:off x="812800" y="1826121"/>
            <a:ext cx="5232400" cy="392410"/>
          </a:xfrm>
          <a:prstGeom prst="rect">
            <a:avLst/>
          </a:prstGeom>
          <a:solidFill>
            <a:srgbClr val="F1DFA8"/>
          </a:solidFill>
          <a:ln/>
        </p:spPr>
        <p:txBody>
          <a:bodyPr wrap="square" lIns="127000" tIns="88900" rIns="0" bIns="63500" rtlCol="0" anchor="t">
            <a:normAutofit/>
          </a:bodyPr>
          <a:lstStyle/>
          <a:p>
            <a:pPr algn="l" indent="0" marL="0">
              <a:lnSpc>
                <a:spcPts val="1690"/>
              </a:lnSpc>
              <a:buNone/>
            </a:pPr>
            <a:r>
              <a:rPr lang="en-US" sz="1300" dirty="0">
                <a:solidFill>
                  <a:srgbClr val="1C2630"/>
                </a:solidFill>
                <a:latin typeface="IBM Plex Sans" pitchFamily="34" charset="0"/>
                <a:ea typeface="IBM Plex Sans" pitchFamily="34" charset="-122"/>
                <a:cs typeface="IBM Plex Sans" pitchFamily="34" charset="-120"/>
              </a:rPr>
              <a:t>Contexto: modelo entrenado con un número acotado de imágenes</a:t>
            </a:r>
            <a:endParaRPr lang="en-US" sz="1300" dirty="0"/>
          </a:p>
        </p:txBody>
      </p:sp>
      <p:sp>
        <p:nvSpPr>
          <p:cNvPr id="5" name="Text 3"/>
          <p:cNvSpPr/>
          <p:nvPr/>
        </p:nvSpPr>
        <p:spPr>
          <a:xfrm>
            <a:off x="6146800" y="1826121"/>
            <a:ext cx="5232400" cy="392410"/>
          </a:xfrm>
          <a:prstGeom prst="rect">
            <a:avLst/>
          </a:prstGeom>
          <a:solidFill>
            <a:srgbClr val="C9DCE8"/>
          </a:solidFill>
          <a:ln/>
        </p:spPr>
        <p:txBody>
          <a:bodyPr wrap="square" lIns="127000" tIns="88900" rIns="0" bIns="63500" rtlCol="0" anchor="t">
            <a:normAutofit/>
          </a:bodyPr>
          <a:lstStyle/>
          <a:p>
            <a:pPr algn="l" indent="0" marL="0">
              <a:lnSpc>
                <a:spcPts val="1690"/>
              </a:lnSpc>
              <a:buNone/>
            </a:pPr>
            <a:r>
              <a:rPr lang="en-US" sz="1300" dirty="0">
                <a:solidFill>
                  <a:srgbClr val="1C2630"/>
                </a:solidFill>
                <a:latin typeface="IBM Plex Sans" pitchFamily="34" charset="0"/>
                <a:ea typeface="IBM Plex Sans" pitchFamily="34" charset="-122"/>
                <a:cs typeface="IBM Plex Sans" pitchFamily="34" charset="-120"/>
              </a:rPr>
              <a:t>Contexto: escala de referencia, 60 px = 1 micra</a:t>
            </a:r>
            <a:endParaRPr lang="en-US" sz="1300" dirty="0"/>
          </a:p>
        </p:txBody>
      </p:sp>
      <p:pic>
        <p:nvPicPr>
          <p:cNvPr id="6" name="Image 0" descr="Esquema de una fotografía oscura con contornos de espermatozoides marcados">    </p:cNvPr>
          <p:cNvPicPr>
            <a:picLocks noChangeAspect="1"/>
          </p:cNvPicPr>
          <p:nvPr/>
        </p:nvPicPr>
        <p:blipFill>
          <a:blip r:embed="rId1"/>
          <a:srcRect l="0" r="0" t="0" b="0"/>
          <a:stretch/>
        </p:blipFill>
        <p:spPr>
          <a:xfrm>
            <a:off x="812800" y="2421731"/>
            <a:ext cx="5842000" cy="2540000"/>
          </a:xfrm>
          <a:prstGeom prst="rect">
            <a:avLst/>
          </a:prstGeom>
        </p:spPr>
      </p:pic>
      <p:sp>
        <p:nvSpPr>
          <p:cNvPr id="7" name="Text 4"/>
          <p:cNvSpPr/>
          <p:nvPr/>
        </p:nvSpPr>
        <p:spPr>
          <a:xfrm>
            <a:off x="812800" y="5037931"/>
            <a:ext cx="60172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Imagen marcada: contornos numerados y regla de escala. Clic para ampliar.</a:t>
            </a:r>
            <a:endParaRPr lang="en-US" sz="1300" dirty="0"/>
          </a:p>
        </p:txBody>
      </p:sp>
      <p:sp>
        <p:nvSpPr>
          <p:cNvPr id="8" name="Text 5"/>
          <p:cNvSpPr/>
          <p:nvPr/>
        </p:nvSpPr>
        <p:spPr>
          <a:xfrm>
            <a:off x="6810375" y="2424906"/>
            <a:ext cx="1466850" cy="424160"/>
          </a:xfrm>
          <a:prstGeom prst="roundRect">
            <a:avLst>
              <a:gd name="adj" fmla="val 17216"/>
            </a:avLst>
          </a:prstGeom>
          <a:solidFill>
            <a:srgbClr val="FCFBF7"/>
          </a:solidFill>
          <a:ln w="6350">
            <a:solidFill>
              <a:srgbClr val="DDD8CC"/>
            </a:solidFill>
            <a:prstDash val="solid"/>
          </a:ln>
        </p:spPr>
        <p:txBody>
          <a:bodyPr wrap="square" lIns="57987" tIns="83387" rIns="57987" bIns="57987" rtlCol="0" anchor="t">
            <a:normAutofit/>
          </a:bodyPr>
          <a:lstStyle/>
          <a:p>
            <a:pPr algn="ctr" indent="0" marL="0">
              <a:lnSpc>
                <a:spcPts val="1690"/>
              </a:lnSpc>
              <a:buNone/>
            </a:pPr>
            <a:r>
              <a:rPr lang="en-US" sz="1300" dirty="0">
                <a:solidFill>
                  <a:srgbClr val="1C2630"/>
                </a:solidFill>
                <a:latin typeface="IBM Plex Sans" pitchFamily="34" charset="0"/>
                <a:ea typeface="IBM Plex Sans" pitchFamily="34" charset="-122"/>
                <a:cs typeface="IBM Plex Sans" pitchFamily="34" charset="-120"/>
              </a:rPr>
              <a:t>Conteo</a:t>
            </a:r>
            <a:endParaRPr lang="en-US" sz="1300" dirty="0"/>
          </a:p>
        </p:txBody>
      </p:sp>
      <p:sp>
        <p:nvSpPr>
          <p:cNvPr id="9" name="Text 6"/>
          <p:cNvSpPr/>
          <p:nvPr/>
        </p:nvSpPr>
        <p:spPr>
          <a:xfrm>
            <a:off x="8359775" y="2424906"/>
            <a:ext cx="1466850" cy="424160"/>
          </a:xfrm>
          <a:prstGeom prst="roundRect">
            <a:avLst>
              <a:gd name="adj" fmla="val 17216"/>
            </a:avLst>
          </a:prstGeom>
          <a:solidFill>
            <a:srgbClr val="FCFBF7"/>
          </a:solidFill>
          <a:ln w="6350">
            <a:solidFill>
              <a:srgbClr val="DDD8CC"/>
            </a:solidFill>
            <a:prstDash val="solid"/>
          </a:ln>
        </p:spPr>
        <p:txBody>
          <a:bodyPr wrap="square" lIns="57987" tIns="83387" rIns="57987" bIns="57987" rtlCol="0" anchor="t">
            <a:normAutofit/>
          </a:bodyPr>
          <a:lstStyle/>
          <a:p>
            <a:pPr algn="ctr" indent="0" marL="0">
              <a:lnSpc>
                <a:spcPts val="1690"/>
              </a:lnSpc>
              <a:buNone/>
            </a:pPr>
            <a:r>
              <a:rPr lang="en-US" sz="1300" dirty="0">
                <a:solidFill>
                  <a:srgbClr val="1C2630"/>
                </a:solidFill>
                <a:latin typeface="IBM Plex Sans" pitchFamily="34" charset="0"/>
                <a:ea typeface="IBM Plex Sans" pitchFamily="34" charset="-122"/>
                <a:cs typeface="IBM Plex Sans" pitchFamily="34" charset="-120"/>
              </a:rPr>
              <a:t>Área media</a:t>
            </a:r>
            <a:endParaRPr lang="en-US" sz="1300" dirty="0"/>
          </a:p>
        </p:txBody>
      </p:sp>
      <p:sp>
        <p:nvSpPr>
          <p:cNvPr id="10" name="Text 7"/>
          <p:cNvSpPr/>
          <p:nvPr/>
        </p:nvSpPr>
        <p:spPr>
          <a:xfrm>
            <a:off x="9909175" y="2424906"/>
            <a:ext cx="1466850" cy="424160"/>
          </a:xfrm>
          <a:prstGeom prst="roundRect">
            <a:avLst>
              <a:gd name="adj" fmla="val 17216"/>
            </a:avLst>
          </a:prstGeom>
          <a:solidFill>
            <a:srgbClr val="FCFBF7"/>
          </a:solidFill>
          <a:ln w="6350">
            <a:solidFill>
              <a:srgbClr val="DDD8CC"/>
            </a:solidFill>
            <a:prstDash val="solid"/>
          </a:ln>
        </p:spPr>
        <p:txBody>
          <a:bodyPr wrap="square" lIns="57987" tIns="83387" rIns="57987" bIns="57987" rtlCol="0" anchor="t">
            <a:normAutofit/>
          </a:bodyPr>
          <a:lstStyle/>
          <a:p>
            <a:pPr algn="ctr" indent="0" marL="0">
              <a:lnSpc>
                <a:spcPts val="1690"/>
              </a:lnSpc>
              <a:buNone/>
            </a:pPr>
            <a:r>
              <a:rPr lang="en-US" sz="1300" dirty="0">
                <a:solidFill>
                  <a:srgbClr val="1C2630"/>
                </a:solidFill>
                <a:latin typeface="IBM Plex Sans" pitchFamily="34" charset="0"/>
                <a:ea typeface="IBM Plex Sans" pitchFamily="34" charset="-122"/>
                <a:cs typeface="IBM Plex Sans" pitchFamily="34" charset="-120"/>
              </a:rPr>
              <a:t>Desv. est.</a:t>
            </a:r>
            <a:endParaRPr lang="en-US" sz="1300" dirty="0"/>
          </a:p>
        </p:txBody>
      </p:sp>
      <p:pic>
        <p:nvPicPr>
          <p:cNvPr id="11" name="Image 1" descr="Esquema de un histograma de distribución de tamaños">    </p:cNvPr>
          <p:cNvPicPr>
            <a:picLocks noChangeAspect="1"/>
          </p:cNvPicPr>
          <p:nvPr/>
        </p:nvPicPr>
        <p:blipFill>
          <a:blip r:embed="rId2"/>
          <a:srcRect l="0" r="0" t="0" b="0"/>
          <a:stretch/>
        </p:blipFill>
        <p:spPr>
          <a:xfrm>
            <a:off x="6807200" y="2953841"/>
            <a:ext cx="4064000" cy="1460500"/>
          </a:xfrm>
          <a:prstGeom prst="rect">
            <a:avLst/>
          </a:prstGeom>
        </p:spPr>
      </p:pic>
      <p:sp>
        <p:nvSpPr>
          <p:cNvPr id="12" name="Text 8"/>
          <p:cNvSpPr/>
          <p:nvPr/>
        </p:nvSpPr>
        <p:spPr>
          <a:xfrm>
            <a:off x="6807200" y="4515941"/>
            <a:ext cx="470916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Distribución de tamaños, más la tabla de detalle por espermatozoide.</a:t>
            </a:r>
            <a:endParaRPr lang="en-US" sz="1300" dirty="0"/>
          </a:p>
        </p:txBody>
      </p:sp>
      <p:sp>
        <p:nvSpPr>
          <p:cNvPr id="13"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DATOS PRINCIPALES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Qué se mide y cómo</a:t>
            </a:r>
            <a:endParaRPr lang="en-US" sz="3600" dirty="0"/>
          </a:p>
        </p:txBody>
      </p:sp>
      <p:sp>
        <p:nvSpPr>
          <p:cNvPr id="4" name="Shape 2"/>
          <p:cNvSpPr/>
          <p:nvPr/>
        </p:nvSpPr>
        <p:spPr>
          <a:xfrm>
            <a:off x="815975" y="1905496"/>
            <a:ext cx="3414117" cy="1261070"/>
          </a:xfrm>
          <a:prstGeom prst="roundRect">
            <a:avLst>
              <a:gd name="adj" fmla="val 7805"/>
            </a:avLst>
          </a:prstGeom>
          <a:solidFill>
            <a:srgbClr val="FCFBF7"/>
          </a:solidFill>
          <a:ln w="6350">
            <a:solidFill>
              <a:srgbClr val="DDD8CC"/>
            </a:solidFill>
            <a:prstDash val="solid"/>
          </a:ln>
        </p:spPr>
      </p:sp>
      <p:sp>
        <p:nvSpPr>
          <p:cNvPr id="5" name="Text 3"/>
          <p:cNvSpPr/>
          <p:nvPr/>
        </p:nvSpPr>
        <p:spPr>
          <a:xfrm>
            <a:off x="1022350" y="2111871"/>
            <a:ext cx="30914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5D7C"/>
                </a:solidFill>
                <a:latin typeface="IBM Plex Sans" pitchFamily="34" charset="0"/>
                <a:ea typeface="IBM Plex Sans" pitchFamily="34" charset="-122"/>
                <a:cs typeface="IBM Plex Sans" pitchFamily="34" charset="-120"/>
              </a:rPr>
              <a:t>Conteo</a:t>
            </a:r>
            <a:endParaRPr lang="en-US" sz="2000" dirty="0"/>
          </a:p>
        </p:txBody>
      </p:sp>
      <p:sp>
        <p:nvSpPr>
          <p:cNvPr id="6" name="Text 4"/>
          <p:cNvSpPr/>
          <p:nvPr/>
        </p:nvSpPr>
        <p:spPr>
          <a:xfrm>
            <a:off x="1022350" y="2480171"/>
            <a:ext cx="309140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Cuántos espermatozoides se detectaron en la imagen.</a:t>
            </a:r>
            <a:endParaRPr lang="en-US" sz="1400" dirty="0"/>
          </a:p>
        </p:txBody>
      </p:sp>
      <p:sp>
        <p:nvSpPr>
          <p:cNvPr id="7" name="Shape 5"/>
          <p:cNvSpPr/>
          <p:nvPr/>
        </p:nvSpPr>
        <p:spPr>
          <a:xfrm>
            <a:off x="4388842" y="1905496"/>
            <a:ext cx="3414216" cy="1261070"/>
          </a:xfrm>
          <a:prstGeom prst="roundRect">
            <a:avLst>
              <a:gd name="adj" fmla="val 7805"/>
            </a:avLst>
          </a:prstGeom>
          <a:solidFill>
            <a:srgbClr val="FCFBF7"/>
          </a:solidFill>
          <a:ln w="6350">
            <a:solidFill>
              <a:srgbClr val="DDD8CC"/>
            </a:solidFill>
            <a:prstDash val="solid"/>
          </a:ln>
        </p:spPr>
      </p:sp>
      <p:sp>
        <p:nvSpPr>
          <p:cNvPr id="8" name="Text 6"/>
          <p:cNvSpPr/>
          <p:nvPr/>
        </p:nvSpPr>
        <p:spPr>
          <a:xfrm>
            <a:off x="4595217" y="2111871"/>
            <a:ext cx="309151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5D7C"/>
                </a:solidFill>
                <a:latin typeface="IBM Plex Sans" pitchFamily="34" charset="0"/>
                <a:ea typeface="IBM Plex Sans" pitchFamily="34" charset="-122"/>
                <a:cs typeface="IBM Plex Sans" pitchFamily="34" charset="-120"/>
              </a:rPr>
              <a:t>Área</a:t>
            </a:r>
            <a:endParaRPr lang="en-US" sz="2000" dirty="0"/>
          </a:p>
        </p:txBody>
      </p:sp>
      <p:sp>
        <p:nvSpPr>
          <p:cNvPr id="9" name="Text 7"/>
          <p:cNvSpPr/>
          <p:nvPr/>
        </p:nvSpPr>
        <p:spPr>
          <a:xfrm>
            <a:off x="4595217" y="2480171"/>
            <a:ext cx="309151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Píxeles dentro del contorno; media y desviación estándar.</a:t>
            </a:r>
            <a:endParaRPr lang="en-US" sz="1400" dirty="0"/>
          </a:p>
        </p:txBody>
      </p:sp>
      <p:sp>
        <p:nvSpPr>
          <p:cNvPr id="10" name="Shape 8"/>
          <p:cNvSpPr/>
          <p:nvPr/>
        </p:nvSpPr>
        <p:spPr>
          <a:xfrm>
            <a:off x="7961809" y="1905496"/>
            <a:ext cx="3414216" cy="1261070"/>
          </a:xfrm>
          <a:prstGeom prst="roundRect">
            <a:avLst>
              <a:gd name="adj" fmla="val 7805"/>
            </a:avLst>
          </a:prstGeom>
          <a:solidFill>
            <a:srgbClr val="FCFBF7"/>
          </a:solidFill>
          <a:ln w="6350">
            <a:solidFill>
              <a:srgbClr val="DDD8CC"/>
            </a:solidFill>
            <a:prstDash val="solid"/>
          </a:ln>
        </p:spPr>
      </p:sp>
      <p:sp>
        <p:nvSpPr>
          <p:cNvPr id="11" name="Text 9"/>
          <p:cNvSpPr/>
          <p:nvPr/>
        </p:nvSpPr>
        <p:spPr>
          <a:xfrm>
            <a:off x="8168184" y="2111871"/>
            <a:ext cx="309151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5D7C"/>
                </a:solidFill>
                <a:latin typeface="IBM Plex Sans" pitchFamily="34" charset="0"/>
                <a:ea typeface="IBM Plex Sans" pitchFamily="34" charset="-122"/>
                <a:cs typeface="IBM Plex Sans" pitchFamily="34" charset="-120"/>
              </a:rPr>
              <a:t>Largo</a:t>
            </a:r>
            <a:endParaRPr lang="en-US" sz="2000" dirty="0"/>
          </a:p>
        </p:txBody>
      </p:sp>
      <p:sp>
        <p:nvSpPr>
          <p:cNvPr id="12" name="Text 10"/>
          <p:cNvSpPr/>
          <p:nvPr/>
        </p:nvSpPr>
        <p:spPr>
          <a:xfrm>
            <a:off x="8168184" y="2480171"/>
            <a:ext cx="309151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Se mide a lo largo de la curva, no en línea recta.</a:t>
            </a:r>
            <a:endParaRPr lang="en-US" sz="1400" dirty="0"/>
          </a:p>
        </p:txBody>
      </p:sp>
      <p:sp>
        <p:nvSpPr>
          <p:cNvPr id="13" name="Text 11"/>
          <p:cNvSpPr/>
          <p:nvPr/>
        </p:nvSpPr>
        <p:spPr>
          <a:xfrm>
            <a:off x="812800" y="3449141"/>
            <a:ext cx="10566400" cy="742950"/>
          </a:xfrm>
          <a:prstGeom prst="rect">
            <a:avLst/>
          </a:prstGeom>
          <a:solidFill>
            <a:srgbClr val="FCFBF7"/>
          </a:solidFill>
          <a:ln/>
        </p:spPr>
        <p:txBody>
          <a:bodyPr wrap="square" lIns="228600" tIns="114300" rIns="0" bIns="88900" rtlCol="0" anchor="t">
            <a:normAutofit/>
          </a:bodyPr>
          <a:lstStyle/>
          <a:p>
            <a:pPr algn="l" indent="0" marL="0">
              <a:lnSpc>
                <a:spcPts val="2025"/>
              </a:lnSpc>
              <a:buNone/>
            </a:pPr>
            <a:r>
              <a:rPr lang="en-US" sz="1500" dirty="0">
                <a:solidFill>
                  <a:srgbClr val="1C2630"/>
                </a:solidFill>
                <a:latin typeface="IBM Plex Sans" pitchFamily="34" charset="0"/>
                <a:ea typeface="IBM Plex Sans" pitchFamily="34" charset="-122"/>
                <a:cs typeface="IBM Plex Sans" pitchFamily="34" charset="-120"/>
              </a:rPr>
              <a:t>El contorno cubre el espermatozoide visible completo: cabeza y primer tramo de la cola. Por eso se dice «espermatozoide» y no «cabeza».</a:t>
            </a:r>
            <a:endParaRPr lang="en-US" sz="1500" dirty="0"/>
          </a:p>
        </p:txBody>
      </p:sp>
      <p:sp>
        <p:nvSpPr>
          <p:cNvPr id="14" name="Shape 12"/>
          <p:cNvSpPr/>
          <p:nvPr/>
        </p:nvSpPr>
        <p:spPr>
          <a:xfrm>
            <a:off x="838200" y="3449141"/>
            <a:ext cx="0" cy="742950"/>
          </a:xfrm>
          <a:prstGeom prst="line">
            <a:avLst/>
          </a:prstGeom>
          <a:noFill/>
          <a:ln w="50800">
            <a:solidFill>
              <a:srgbClr val="2F5D7C"/>
            </a:solidFill>
            <a:prstDash val="solid"/>
          </a:ln>
        </p:spPr>
      </p:sp>
      <p:sp>
        <p:nvSpPr>
          <p:cNvPr id="15" name="Text 13"/>
          <p:cNvSpPr/>
          <p:nvPr/>
        </p:nvSpPr>
        <p:spPr>
          <a:xfrm>
            <a:off x="812800" y="4306391"/>
            <a:ext cx="10566400" cy="485775"/>
          </a:xfrm>
          <a:prstGeom prst="rect">
            <a:avLst/>
          </a:prstGeom>
          <a:solidFill>
            <a:srgbClr val="ECE7DA"/>
          </a:solidFill>
          <a:ln/>
        </p:spPr>
        <p:txBody>
          <a:bodyPr wrap="square" lIns="228600" tIns="114300" rIns="0" bIns="88900" rtlCol="0" anchor="t">
            <a:normAutofit/>
          </a:bodyPr>
          <a:lstStyle/>
          <a:p>
            <a:pPr algn="l" indent="0" marL="0">
              <a:lnSpc>
                <a:spcPts val="2025"/>
              </a:lnSpc>
              <a:buNone/>
            </a:pPr>
            <a:r>
              <a:rPr lang="en-US" sz="1500" dirty="0">
                <a:solidFill>
                  <a:srgbClr val="1C2630"/>
                </a:solidFill>
                <a:latin typeface="IBM Plex Sans" pitchFamily="34" charset="0"/>
                <a:ea typeface="IBM Plex Sans" pitchFamily="34" charset="-122"/>
                <a:cs typeface="IBM Plex Sans" pitchFamily="34" charset="-120"/>
              </a:rPr>
              <a:t>Reto de la siguiente etapa: las medidas de cabeza a cola (recta y distancia real), que requieren distinguir la frontera.</a:t>
            </a:r>
            <a:endParaRPr lang="en-US" sz="1500" dirty="0"/>
          </a:p>
        </p:txBody>
      </p:sp>
      <p:sp>
        <p:nvSpPr>
          <p:cNvPr id="16" name="Shape 14"/>
          <p:cNvSpPr/>
          <p:nvPr/>
        </p:nvSpPr>
        <p:spPr>
          <a:xfrm>
            <a:off x="838200" y="4306391"/>
            <a:ext cx="0" cy="485775"/>
          </a:xfrm>
          <a:prstGeom prst="line">
            <a:avLst/>
          </a:prstGeom>
          <a:noFill/>
          <a:ln w="50800">
            <a:solidFill>
              <a:srgbClr val="A8201A"/>
            </a:solidFill>
            <a:prstDash val="solid"/>
          </a:ln>
        </p:spPr>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REVISAR LA IMAGEN</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Zoom y detalle por espermatozoide</a:t>
            </a:r>
            <a:endParaRPr lang="en-US" sz="3600" dirty="0"/>
          </a:p>
        </p:txBody>
      </p:sp>
      <p:sp>
        <p:nvSpPr>
          <p:cNvPr id="4" name="Shape 2"/>
          <p:cNvSpPr/>
          <p:nvPr/>
        </p:nvSpPr>
        <p:spPr>
          <a:xfrm>
            <a:off x="815975" y="1905496"/>
            <a:ext cx="5175250" cy="2321322"/>
          </a:xfrm>
          <a:prstGeom prst="roundRect">
            <a:avLst>
              <a:gd name="adj" fmla="val 4240"/>
            </a:avLst>
          </a:prstGeom>
          <a:solidFill>
            <a:srgbClr val="FCFBF7"/>
          </a:solidFill>
          <a:ln w="6350">
            <a:solidFill>
              <a:srgbClr val="DDD8CC"/>
            </a:solidFill>
            <a:prstDash val="solid"/>
          </a:ln>
        </p:spPr>
      </p:sp>
      <p:sp>
        <p:nvSpPr>
          <p:cNvPr id="5" name="Text 3"/>
          <p:cNvSpPr/>
          <p:nvPr/>
        </p:nvSpPr>
        <p:spPr>
          <a:xfrm>
            <a:off x="1047750" y="2137271"/>
            <a:ext cx="485305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Controles del visor</a:t>
            </a:r>
            <a:endParaRPr lang="en-US" sz="1800" dirty="0"/>
          </a:p>
        </p:txBody>
      </p:sp>
      <p:sp>
        <p:nvSpPr>
          <p:cNvPr id="6" name="Text 4"/>
          <p:cNvSpPr/>
          <p:nvPr/>
        </p:nvSpPr>
        <p:spPr>
          <a:xfrm>
            <a:off x="1118870" y="2525812"/>
            <a:ext cx="4774311" cy="11684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1C2630"/>
                </a:solidFill>
                <a:latin typeface="IBM Plex Sans" pitchFamily="34" charset="0"/>
                <a:ea typeface="IBM Plex Sans" pitchFamily="34" charset="-122"/>
                <a:cs typeface="IBM Plex Sans" pitchFamily="34" charset="-120"/>
              </a:rPr>
              <a:t>Menos y más: alejar y acercar</a:t>
            </a:r>
            <a:endParaRPr lang="en-US" sz="1500" dirty="0"/>
          </a:p>
          <a:p>
            <a:pPr algn="l" marL="182880" indent="-182880">
              <a:lnSpc>
                <a:spcPts val="2250"/>
              </a:lnSpc>
              <a:buSzPct val="100000"/>
              <a:buChar char="•"/>
            </a:pPr>
            <a:r>
              <a:rPr lang="en-US" sz="1500" dirty="0">
                <a:solidFill>
                  <a:srgbClr val="1C2630"/>
                </a:solidFill>
                <a:latin typeface="IBM Plex Sans" pitchFamily="34" charset="0"/>
                <a:ea typeface="IBM Plex Sans" pitchFamily="34" charset="-122"/>
                <a:cs typeface="IBM Plex Sans" pitchFamily="34" charset="-120"/>
              </a:rPr>
              <a:t>Ajustar: ver la imagen entera</a:t>
            </a:r>
            <a:endParaRPr lang="en-US" sz="1500" dirty="0"/>
          </a:p>
          <a:p>
            <a:pPr algn="l" marL="182880" indent="-182880">
              <a:lnSpc>
                <a:spcPts val="2250"/>
              </a:lnSpc>
              <a:buSzPct val="100000"/>
              <a:buChar char="•"/>
            </a:pPr>
            <a:r>
              <a:rPr lang="en-US" sz="1500" dirty="0">
                <a:solidFill>
                  <a:srgbClr val="1C2630"/>
                </a:solidFill>
                <a:latin typeface="IBM Plex Sans" pitchFamily="34" charset="0"/>
                <a:ea typeface="IBM Plex Sans" pitchFamily="34" charset="-122"/>
                <a:cs typeface="IBM Plex Sans" pitchFamily="34" charset="-120"/>
              </a:rPr>
              <a:t>100 %: un píxel de imagen por píxel de pantalla</a:t>
            </a:r>
            <a:endParaRPr lang="en-US" sz="1500" dirty="0"/>
          </a:p>
          <a:p>
            <a:pPr algn="l" marL="182880" indent="-182880">
              <a:lnSpc>
                <a:spcPts val="2250"/>
              </a:lnSpc>
              <a:buSzPct val="100000"/>
              <a:buChar char="•"/>
            </a:pPr>
            <a:r>
              <a:rPr lang="en-US" sz="1500" dirty="0">
                <a:solidFill>
                  <a:srgbClr val="1C2630"/>
                </a:solidFill>
                <a:latin typeface="IBM Plex Sans" pitchFamily="34" charset="0"/>
                <a:ea typeface="IBM Plex Sans" pitchFamily="34" charset="-122"/>
                <a:cs typeface="IBM Plex Sans" pitchFamily="34" charset="-120"/>
              </a:rPr>
              <a:t>Rueda del ratón, arrastrar y doble clic</a:t>
            </a:r>
            <a:endParaRPr lang="en-US" sz="1500" dirty="0"/>
          </a:p>
        </p:txBody>
      </p:sp>
      <p:sp>
        <p:nvSpPr>
          <p:cNvPr id="7" name="Shape 5"/>
          <p:cNvSpPr/>
          <p:nvPr/>
        </p:nvSpPr>
        <p:spPr>
          <a:xfrm>
            <a:off x="6200775" y="1905496"/>
            <a:ext cx="5175250" cy="2321322"/>
          </a:xfrm>
          <a:prstGeom prst="roundRect">
            <a:avLst>
              <a:gd name="adj" fmla="val 4240"/>
            </a:avLst>
          </a:prstGeom>
          <a:solidFill>
            <a:srgbClr val="FCFBF7"/>
          </a:solidFill>
          <a:ln w="6350">
            <a:solidFill>
              <a:srgbClr val="DDD8CC"/>
            </a:solidFill>
            <a:prstDash val="solid"/>
          </a:ln>
        </p:spPr>
      </p:sp>
      <p:sp>
        <p:nvSpPr>
          <p:cNvPr id="8" name="Text 6"/>
          <p:cNvSpPr/>
          <p:nvPr/>
        </p:nvSpPr>
        <p:spPr>
          <a:xfrm>
            <a:off x="6432550" y="2137271"/>
            <a:ext cx="485305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Al pasar el cursor</a:t>
            </a:r>
            <a:endParaRPr lang="en-US" sz="1800" dirty="0"/>
          </a:p>
        </p:txBody>
      </p:sp>
      <p:sp>
        <p:nvSpPr>
          <p:cNvPr id="9" name="Text 7"/>
          <p:cNvSpPr/>
          <p:nvPr/>
        </p:nvSpPr>
        <p:spPr>
          <a:xfrm>
            <a:off x="6503670" y="2525812"/>
            <a:ext cx="4774311" cy="882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1C2630"/>
                </a:solidFill>
                <a:latin typeface="IBM Plex Sans" pitchFamily="34" charset="0"/>
                <a:ea typeface="IBM Plex Sans" pitchFamily="34" charset="-122"/>
                <a:cs typeface="IBM Plex Sans" pitchFamily="34" charset="-120"/>
              </a:rPr>
              <a:t>Número del espermatozoide</a:t>
            </a:r>
            <a:endParaRPr lang="en-US" sz="1500" dirty="0"/>
          </a:p>
          <a:p>
            <a:pPr algn="l" marL="182880" indent="-182880">
              <a:lnSpc>
                <a:spcPts val="2250"/>
              </a:lnSpc>
              <a:buSzPct val="100000"/>
              <a:buChar char="•"/>
            </a:pPr>
            <a:r>
              <a:rPr lang="en-US" sz="1500" dirty="0">
                <a:solidFill>
                  <a:srgbClr val="1C2630"/>
                </a:solidFill>
                <a:latin typeface="IBM Plex Sans" pitchFamily="34" charset="0"/>
                <a:ea typeface="IBM Plex Sans" pitchFamily="34" charset="-122"/>
                <a:cs typeface="IBM Plex Sans" pitchFamily="34" charset="-120"/>
              </a:rPr>
              <a:t>Área y largo en píxeles</a:t>
            </a:r>
            <a:endParaRPr lang="en-US" sz="1500" dirty="0"/>
          </a:p>
          <a:p>
            <a:pPr algn="l" marL="182880" indent="-182880">
              <a:lnSpc>
                <a:spcPts val="2250"/>
              </a:lnSpc>
              <a:buSzPct val="100000"/>
              <a:buChar char="•"/>
            </a:pPr>
            <a:r>
              <a:rPr lang="en-US" sz="1500" dirty="0">
                <a:solidFill>
                  <a:srgbClr val="1C2630"/>
                </a:solidFill>
                <a:latin typeface="IBM Plex Sans" pitchFamily="34" charset="0"/>
                <a:ea typeface="IBM Plex Sans" pitchFamily="34" charset="-122"/>
                <a:cs typeface="IBM Plex Sans" pitchFamily="34" charset="-120"/>
              </a:rPr>
              <a:t>Área y largo en micras</a:t>
            </a:r>
            <a:endParaRPr lang="en-US" sz="1500" dirty="0"/>
          </a:p>
        </p:txBody>
      </p:sp>
      <p:sp>
        <p:nvSpPr>
          <p:cNvPr id="10" name="Text 8"/>
          <p:cNvSpPr/>
          <p:nvPr/>
        </p:nvSpPr>
        <p:spPr>
          <a:xfrm>
            <a:off x="6432550" y="3497362"/>
            <a:ext cx="485305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La pregunta de la revisión: ¿están todas las células que hay, y solo ellas?</a:t>
            </a:r>
            <a:endParaRPr lang="en-US" sz="14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TRAZABILIDAD</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Cada contorno tiene su fila</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5021"/>
          <a:ext cx="10553700" cy="1651000"/>
        </p:xfrm>
        <a:graphic>
          <a:graphicData uri="http://schemas.openxmlformats.org/drawingml/2006/table">
            <a:tbl>
              <a:tblPr/>
              <a:tblGrid>
                <a:gridCol w="1266444"/>
                <a:gridCol w="2321814"/>
                <a:gridCol w="2321814"/>
                <a:gridCol w="2321814"/>
                <a:gridCol w="2321814"/>
              </a:tblGrid>
              <a:tr h="412750">
                <a:tc>
                  <a:txBody>
                    <a:bodyPr/>
                    <a:lstStyle/>
                    <a:p>
                      <a:pPr indent="0" marL="0">
                        <a:lnSpc>
                          <a:spcPts val="2100"/>
                        </a:lnSpc>
                        <a:buNone/>
                      </a:pPr>
                      <a:r>
                        <a:rPr lang="en-US" sz="1500" b="1" dirty="0">
                          <a:solidFill>
                            <a:srgbClr val="1C2630"/>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C2630"/>
                          </a:solidFill>
                          <a:latin typeface="IBM Plex Sans" pitchFamily="34" charset="0"/>
                          <a:ea typeface="IBM Plex Sans" pitchFamily="34" charset="-122"/>
                          <a:cs typeface="IBM Plex Sans" pitchFamily="34" charset="-120"/>
                        </a:rPr>
                        <a:t>Área (px)</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C2630"/>
                          </a:solidFill>
                          <a:latin typeface="IBM Plex Sans" pitchFamily="34" charset="0"/>
                          <a:ea typeface="IBM Plex Sans" pitchFamily="34" charset="-122"/>
                          <a:cs typeface="IBM Plex Sans" pitchFamily="34" charset="-120"/>
                        </a:rPr>
                        <a:t>Largo (px)</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C2630"/>
                          </a:solidFill>
                          <a:latin typeface="IBM Plex Sans" pitchFamily="34" charset="0"/>
                          <a:ea typeface="IBM Plex Sans" pitchFamily="34" charset="-122"/>
                          <a:cs typeface="IBM Plex Sans" pitchFamily="34" charset="-120"/>
                        </a:rPr>
                        <a:t>Área (µm²)</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C2630"/>
                          </a:solidFill>
                          <a:latin typeface="IBM Plex Sans" pitchFamily="34" charset="0"/>
                          <a:ea typeface="IBM Plex Sans" pitchFamily="34" charset="-122"/>
                          <a:cs typeface="IBM Plex Sans" pitchFamily="34" charset="-120"/>
                        </a:rPr>
                        <a:t>Largo (µm)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412750">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384542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El número coincide con el de la imagen marcada.</a:t>
            </a:r>
            <a:endParaRPr lang="en-US" sz="1500" dirty="0"/>
          </a:p>
        </p:txBody>
      </p:sp>
      <p:sp>
        <p:nvSpPr>
          <p:cNvPr id="6" name="Text 3"/>
          <p:cNvSpPr/>
          <p:nvPr/>
        </p:nvSpPr>
        <p:spPr>
          <a:xfrm>
            <a:off x="812800" y="420102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Es la misma información que lleva el CSV.</a:t>
            </a:r>
            <a:endParaRPr lang="en-US" sz="1500" dirty="0"/>
          </a:p>
        </p:txBody>
      </p:sp>
      <p:sp>
        <p:nvSpPr>
          <p:cNvPr id="7" name="Text 4"/>
          <p:cNvSpPr/>
          <p:nvPr/>
        </p:nvSpPr>
        <p:spPr>
          <a:xfrm>
            <a:off x="812800" y="455662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5606B"/>
                </a:solidFill>
                <a:latin typeface="IBM Plex Sans" pitchFamily="34" charset="0"/>
                <a:ea typeface="IBM Plex Sans" pitchFamily="34" charset="-122"/>
                <a:cs typeface="IBM Plex Sans" pitchFamily="34" charset="-120"/>
              </a:rPr>
              <a:t>Si el conteo dice 114, aquí están los 114 contornos, cada uno ubicable en la imagen.</a:t>
            </a:r>
            <a:endParaRPr lang="en-US" sz="1500" dirty="0"/>
          </a:p>
        </p:txBody>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EJEMPLO HIPOTÉTICO · NÚMEROS INVENTADOS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Leer dos resultados con criterio</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4221"/>
          <a:ext cx="10553700" cy="1157883"/>
        </p:xfrm>
        <a:graphic>
          <a:graphicData uri="http://schemas.openxmlformats.org/drawingml/2006/table">
            <a:tbl>
              <a:tblPr/>
              <a:tblGrid>
                <a:gridCol w="1688592"/>
                <a:gridCol w="2321814"/>
                <a:gridCol w="2110740"/>
                <a:gridCol w="2110740"/>
                <a:gridCol w="2321814"/>
              </a:tblGrid>
              <a:tr h="385961">
                <a:tc>
                  <a:txBody>
                    <a:bodyPr/>
                    <a:lstStyle/>
                    <a:p>
                      <a:pPr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Imagen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Espermatozoides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Área media (px)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Desv. estándar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Dispersión relativa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5961">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Primera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120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900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150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17 %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Segunda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80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1100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250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23 %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3250704"/>
            <a:ext cx="10883392"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C2630"/>
                </a:solidFill>
                <a:latin typeface="IBM Plex Sans" pitchFamily="34" charset="0"/>
                <a:ea typeface="IBM Plex Sans" pitchFamily="34" charset="-122"/>
                <a:cs typeface="IBM Plex Sans" pitchFamily="34" charset="-120"/>
              </a:rPr>
              <a:t>Conteo.</a:t>
            </a:r>
            <a:r>
              <a:rPr lang="en-US" sz="1500" dirty="0">
                <a:solidFill>
                  <a:srgbClr val="1C2630"/>
                </a:solidFill>
                <a:latin typeface="IBM Plex Sans" pitchFamily="34" charset="0"/>
                <a:ea typeface="IBM Plex Sans" pitchFamily="34" charset="-122"/>
                <a:cs typeface="IBM Plex Sans" pitchFamily="34" charset="-120"/>
              </a:rPr>
              <a:t> Depende de la zona fotografiada y de cuánta muestra había.</a:t>
            </a:r>
            <a:endParaRPr lang="en-US" sz="1500" dirty="0"/>
          </a:p>
        </p:txBody>
      </p:sp>
      <p:sp>
        <p:nvSpPr>
          <p:cNvPr id="6" name="Text 3"/>
          <p:cNvSpPr/>
          <p:nvPr/>
        </p:nvSpPr>
        <p:spPr>
          <a:xfrm>
            <a:off x="812800" y="3596779"/>
            <a:ext cx="10883392"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C2630"/>
                </a:solidFill>
                <a:latin typeface="IBM Plex Sans" pitchFamily="34" charset="0"/>
                <a:ea typeface="IBM Plex Sans" pitchFamily="34" charset="-122"/>
                <a:cs typeface="IBM Plex Sans" pitchFamily="34" charset="-120"/>
              </a:rPr>
              <a:t>Media.</a:t>
            </a:r>
            <a:r>
              <a:rPr lang="en-US" sz="1500" dirty="0">
                <a:solidFill>
                  <a:srgbClr val="1C2630"/>
                </a:solidFill>
                <a:latin typeface="IBM Plex Sans" pitchFamily="34" charset="0"/>
                <a:ea typeface="IBM Plex Sans" pitchFamily="34" charset="-122"/>
                <a:cs typeface="IBM Plex Sans" pitchFamily="34" charset="-120"/>
              </a:rPr>
              <a:t> ¿La diferencia entre 900 y 1100 es real o es ruido? Hace falta una prueba estadística.</a:t>
            </a:r>
            <a:endParaRPr lang="en-US" sz="1500" dirty="0"/>
          </a:p>
        </p:txBody>
      </p:sp>
      <p:sp>
        <p:nvSpPr>
          <p:cNvPr id="7" name="Text 4"/>
          <p:cNvSpPr/>
          <p:nvPr/>
        </p:nvSpPr>
        <p:spPr>
          <a:xfrm>
            <a:off x="812800" y="3942854"/>
            <a:ext cx="10883392"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C2630"/>
                </a:solidFill>
                <a:latin typeface="IBM Plex Sans" pitchFamily="34" charset="0"/>
                <a:ea typeface="IBM Plex Sans" pitchFamily="34" charset="-122"/>
                <a:cs typeface="IBM Plex Sans" pitchFamily="34" charset="-120"/>
              </a:rPr>
              <a:t>Histograma.</a:t>
            </a:r>
            <a:r>
              <a:rPr lang="en-US" sz="1500" dirty="0">
                <a:solidFill>
                  <a:srgbClr val="1C2630"/>
                </a:solidFill>
                <a:latin typeface="IBM Plex Sans" pitchFamily="34" charset="0"/>
                <a:ea typeface="IBM Plex Sans" pitchFamily="34" charset="-122"/>
                <a:cs typeface="IBM Plex Sans" pitchFamily="34" charset="-120"/>
              </a:rPr>
              <a:t> Dos imágenes con la misma media pueden verse muy distintas.</a:t>
            </a:r>
            <a:endParaRPr lang="en-US" sz="1500" dirty="0"/>
          </a:p>
        </p:txBody>
      </p:sp>
      <p:sp>
        <p:nvSpPr>
          <p:cNvPr id="8" name="Text 5"/>
          <p:cNvSpPr/>
          <p:nvPr/>
        </p:nvSpPr>
        <p:spPr>
          <a:xfrm>
            <a:off x="812800" y="4288929"/>
            <a:ext cx="10883392"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C2630"/>
                </a:solidFill>
                <a:latin typeface="IBM Plex Sans" pitchFamily="34" charset="0"/>
                <a:ea typeface="IBM Plex Sans" pitchFamily="34" charset="-122"/>
                <a:cs typeface="IBM Plex Sans" pitchFamily="34" charset="-120"/>
              </a:rPr>
              <a:t>Aglomeración.</a:t>
            </a:r>
            <a:r>
              <a:rPr lang="en-US" sz="1500" dirty="0">
                <a:solidFill>
                  <a:srgbClr val="1C2630"/>
                </a:solidFill>
                <a:latin typeface="IBM Plex Sans" pitchFamily="34" charset="0"/>
                <a:ea typeface="IBM Plex Sans" pitchFamily="34" charset="-122"/>
                <a:cs typeface="IBM Plex Sans" pitchFamily="34" charset="-120"/>
              </a:rPr>
              <a:t> El conteo de la imagen más amontonada es el menos confiable.</a:t>
            </a:r>
            <a:endParaRPr lang="en-US" sz="1500" dirty="0"/>
          </a:p>
        </p:txBody>
      </p:sp>
      <p:sp>
        <p:nvSpPr>
          <p:cNvPr id="9"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CASOS QUE EL SISTEMA RECONOCE</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Siempre se dice qué pasó</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4221"/>
          <a:ext cx="10553700" cy="3087688"/>
        </p:xfrm>
        <a:graphic>
          <a:graphicData uri="http://schemas.openxmlformats.org/drawingml/2006/table">
            <a:tbl>
              <a:tblPr/>
              <a:tblGrid>
                <a:gridCol w="3799332"/>
                <a:gridCol w="6754368"/>
              </a:tblGrid>
              <a:tr h="385961">
                <a:tc>
                  <a:txBody>
                    <a:bodyPr/>
                    <a:lstStyle/>
                    <a:p>
                      <a:pPr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Situación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Qué responde el sitio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5961">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No se elige ninguna imagen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Pide elegir al menos una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Más de diez imágenes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El máximo es diez por vez</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Extensión no admitida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Rechaza el envío y nombra los archivos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Archivo dañado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No se pudo abrir como imagen; no se analizó</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No se encuentra nada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No es factible analizar la imagen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Menos de tres espermatozoides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La distribución de tamaños no es confiable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Faltan los modelos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Usa una detección de respaldo y lo anuncia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5180509"/>
            <a:ext cx="98107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Reto de la siguiente etapa: distinguir «no es una muestra de espermatozoides» de «mala calidad». Haría falta mostrarle al modelo imágenes de otro tipo.</a:t>
            </a:r>
            <a:endParaRPr lang="en-US" sz="14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DOS MODELOS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El brillo decide cuál se aplica</a:t>
            </a:r>
            <a:endParaRPr lang="en-US" sz="3600" dirty="0"/>
          </a:p>
        </p:txBody>
      </p:sp>
      <p:sp>
        <p:nvSpPr>
          <p:cNvPr id="4" name="Text 2"/>
          <p:cNvSpPr/>
          <p:nvPr/>
        </p:nvSpPr>
        <p:spPr>
          <a:xfrm>
            <a:off x="812800" y="1876921"/>
            <a:ext cx="10566400" cy="812800"/>
          </a:xfrm>
          <a:prstGeom prst="rect">
            <a:avLst/>
          </a:prstGeom>
          <a:solidFill>
            <a:srgbClr val="ECE7DA"/>
          </a:solidFill>
          <a:ln/>
        </p:spPr>
        <p:txBody>
          <a:bodyPr wrap="square" lIns="254000" tIns="139700" rIns="0" bIns="11430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Valor máximo de rojo, verde y azul en cada píxel, mediana de esos valores, y comparación con 127 en una escala de 0 a 255.</a:t>
            </a:r>
            <a:endParaRPr lang="en-US" sz="1500" dirty="0"/>
          </a:p>
        </p:txBody>
      </p:sp>
      <p:sp>
        <p:nvSpPr>
          <p:cNvPr id="5" name="Shape 3"/>
          <p:cNvSpPr/>
          <p:nvPr/>
        </p:nvSpPr>
        <p:spPr>
          <a:xfrm>
            <a:off x="838200" y="1876921"/>
            <a:ext cx="0" cy="812800"/>
          </a:xfrm>
          <a:prstGeom prst="line">
            <a:avLst/>
          </a:prstGeom>
          <a:noFill/>
          <a:ln w="50800">
            <a:solidFill>
              <a:srgbClr val="2F5D7C"/>
            </a:solidFill>
            <a:prstDash val="solid"/>
          </a:ln>
        </p:spPr>
      </p:sp>
      <p:sp>
        <p:nvSpPr>
          <p:cNvPr id="6" name="Shape 4"/>
          <p:cNvSpPr/>
          <p:nvPr/>
        </p:nvSpPr>
        <p:spPr>
          <a:xfrm>
            <a:off x="812800" y="2943721"/>
            <a:ext cx="5200650" cy="1673622"/>
          </a:xfrm>
          <a:prstGeom prst="roundRect">
            <a:avLst>
              <a:gd name="adj" fmla="val 6071"/>
            </a:avLst>
          </a:prstGeom>
          <a:solidFill>
            <a:srgbClr val="15222E"/>
          </a:solidFill>
          <a:ln/>
        </p:spPr>
      </p:sp>
      <p:sp>
        <p:nvSpPr>
          <p:cNvPr id="7" name="Text 5"/>
          <p:cNvSpPr/>
          <p:nvPr/>
        </p:nvSpPr>
        <p:spPr>
          <a:xfrm>
            <a:off x="1041400" y="3172321"/>
            <a:ext cx="488575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87F"/>
                </a:solidFill>
                <a:latin typeface="IBM Plex Sans" pitchFamily="34" charset="0"/>
                <a:ea typeface="IBM Plex Sans" pitchFamily="34" charset="-122"/>
                <a:cs typeface="IBM Plex Sans" pitchFamily="34" charset="-120"/>
              </a:rPr>
              <a:t>Mediana de 127 o menos</a:t>
            </a:r>
            <a:endParaRPr lang="en-US" sz="1400" dirty="0"/>
          </a:p>
        </p:txBody>
      </p:sp>
      <p:sp>
        <p:nvSpPr>
          <p:cNvPr id="8" name="Text 6"/>
          <p:cNvSpPr/>
          <p:nvPr/>
        </p:nvSpPr>
        <p:spPr>
          <a:xfrm>
            <a:off x="1041400" y="3497362"/>
            <a:ext cx="488575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EFE8"/>
                </a:solidFill>
                <a:latin typeface="IBM Plex Sans" pitchFamily="34" charset="0"/>
                <a:ea typeface="IBM Plex Sans" pitchFamily="34" charset="-122"/>
                <a:cs typeface="IBM Plex Sans" pitchFamily="34" charset="-120"/>
              </a:rPr>
              <a:t>Fondo oscuro</a:t>
            </a:r>
            <a:endParaRPr lang="en-US" sz="2000" dirty="0"/>
          </a:p>
        </p:txBody>
      </p:sp>
      <p:sp>
        <p:nvSpPr>
          <p:cNvPr id="9" name="Text 7"/>
          <p:cNvSpPr/>
          <p:nvPr/>
        </p:nvSpPr>
        <p:spPr>
          <a:xfrm>
            <a:off x="1041400" y="3878362"/>
            <a:ext cx="49720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4CE"/>
                </a:solidFill>
                <a:latin typeface="IBM Plex Sans" pitchFamily="34" charset="0"/>
                <a:ea typeface="IBM Plex Sans" pitchFamily="34" charset="-122"/>
                <a:cs typeface="IBM Plex Sans" pitchFamily="34" charset="-120"/>
              </a:rPr>
              <a:t>Fluorescencia. 4 fotos y 258 etiquetas. Teselas de 512 px.</a:t>
            </a:r>
            <a:endParaRPr lang="en-US" sz="1400" dirty="0"/>
          </a:p>
        </p:txBody>
      </p:sp>
      <p:sp>
        <p:nvSpPr>
          <p:cNvPr id="10" name="Shape 8"/>
          <p:cNvSpPr/>
          <p:nvPr/>
        </p:nvSpPr>
        <p:spPr>
          <a:xfrm>
            <a:off x="6169025" y="2946896"/>
            <a:ext cx="5207000" cy="1667272"/>
          </a:xfrm>
          <a:prstGeom prst="roundRect">
            <a:avLst>
              <a:gd name="adj" fmla="val 5903"/>
            </a:avLst>
          </a:prstGeom>
          <a:solidFill>
            <a:srgbClr val="FCFBF7"/>
          </a:solidFill>
          <a:ln w="6350">
            <a:solidFill>
              <a:srgbClr val="DDD8CC"/>
            </a:solidFill>
            <a:prstDash val="solid"/>
          </a:ln>
        </p:spPr>
      </p:sp>
      <p:sp>
        <p:nvSpPr>
          <p:cNvPr id="11" name="Text 9"/>
          <p:cNvSpPr/>
          <p:nvPr/>
        </p:nvSpPr>
        <p:spPr>
          <a:xfrm>
            <a:off x="6400800" y="3178671"/>
            <a:ext cx="488575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201A"/>
                </a:solidFill>
                <a:latin typeface="IBM Plex Sans" pitchFamily="34" charset="0"/>
                <a:ea typeface="IBM Plex Sans" pitchFamily="34" charset="-122"/>
                <a:cs typeface="IBM Plex Sans" pitchFamily="34" charset="-120"/>
              </a:rPr>
              <a:t>Mediana mayor de 127</a:t>
            </a:r>
            <a:endParaRPr lang="en-US" sz="1400" dirty="0"/>
          </a:p>
        </p:txBody>
      </p:sp>
      <p:sp>
        <p:nvSpPr>
          <p:cNvPr id="12" name="Text 10"/>
          <p:cNvSpPr/>
          <p:nvPr/>
        </p:nvSpPr>
        <p:spPr>
          <a:xfrm>
            <a:off x="6400800" y="3503712"/>
            <a:ext cx="488575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2630"/>
                </a:solidFill>
                <a:latin typeface="IBM Plex Sans" pitchFamily="34" charset="0"/>
                <a:ea typeface="IBM Plex Sans" pitchFamily="34" charset="-122"/>
                <a:cs typeface="IBM Plex Sans" pitchFamily="34" charset="-120"/>
              </a:rPr>
              <a:t>Fondo claro</a:t>
            </a:r>
            <a:endParaRPr lang="en-US" sz="2000" dirty="0"/>
          </a:p>
        </p:txBody>
      </p:sp>
      <p:sp>
        <p:nvSpPr>
          <p:cNvPr id="13" name="Text 11"/>
          <p:cNvSpPr/>
          <p:nvPr/>
        </p:nvSpPr>
        <p:spPr>
          <a:xfrm>
            <a:off x="6400800" y="3884712"/>
            <a:ext cx="488575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Campo claro. 4 fotos y 45 etiquetas. Fotos reducidas a la mitad, teselas de 640 px.</a:t>
            </a:r>
            <a:endParaRPr lang="en-US" sz="1400" dirty="0"/>
          </a:p>
        </p:txBody>
      </p:sp>
      <p:sp>
        <p:nvSpPr>
          <p:cNvPr id="14" name="Text 12"/>
          <p:cNvSpPr/>
          <p:nvPr/>
        </p:nvSpPr>
        <p:spPr>
          <a:xfrm>
            <a:off x="812800" y="4871343"/>
            <a:ext cx="98107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Cada imagen de un lote se analiza por separado, y el sitio guarda con qué detector se hizo.</a:t>
            </a:r>
            <a:endParaRPr lang="en-US" sz="1400" dirty="0"/>
          </a:p>
        </p:txBody>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ESCALA EN MICRAS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Escala de referencia: 60 píxeles por micra</a:t>
            </a:r>
            <a:endParaRPr lang="en-US" sz="3600" dirty="0"/>
          </a:p>
        </p:txBody>
      </p:sp>
      <p:sp>
        <p:nvSpPr>
          <p:cNvPr id="4" name="Shape 2"/>
          <p:cNvSpPr/>
          <p:nvPr/>
        </p:nvSpPr>
        <p:spPr>
          <a:xfrm>
            <a:off x="815975" y="1854696"/>
            <a:ext cx="5200650" cy="2058293"/>
          </a:xfrm>
          <a:prstGeom prst="roundRect">
            <a:avLst>
              <a:gd name="adj" fmla="val 4782"/>
            </a:avLst>
          </a:prstGeom>
          <a:solidFill>
            <a:srgbClr val="FCFBF7"/>
          </a:solidFill>
          <a:ln w="6350">
            <a:solidFill>
              <a:srgbClr val="DDD8CC"/>
            </a:solidFill>
            <a:prstDash val="solid"/>
          </a:ln>
        </p:spPr>
      </p:sp>
      <p:sp>
        <p:nvSpPr>
          <p:cNvPr id="5" name="Text 3"/>
          <p:cNvSpPr/>
          <p:nvPr/>
        </p:nvSpPr>
        <p:spPr>
          <a:xfrm>
            <a:off x="1022350" y="2061071"/>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5D7C"/>
                </a:solidFill>
                <a:latin typeface="IBM Plex Sans" pitchFamily="34" charset="0"/>
                <a:ea typeface="IBM Plex Sans" pitchFamily="34" charset="-122"/>
                <a:cs typeface="IBM Plex Sans" pitchFamily="34" charset="-120"/>
              </a:rPr>
              <a:t>Por qué no se puede deducir</a:t>
            </a:r>
            <a:endParaRPr lang="en-US" sz="1700" dirty="0"/>
          </a:p>
        </p:txBody>
      </p:sp>
      <p:sp>
        <p:nvSpPr>
          <p:cNvPr id="6" name="Text 4"/>
          <p:cNvSpPr/>
          <p:nvPr/>
        </p:nvSpPr>
        <p:spPr>
          <a:xfrm>
            <a:off x="1022350" y="2409031"/>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Depende del aumento, el sensor, el adaptador y la resolución. Las fotos no traen barra de escala.</a:t>
            </a:r>
            <a:endParaRPr lang="en-US" sz="1400" dirty="0"/>
          </a:p>
        </p:txBody>
      </p:sp>
      <p:sp>
        <p:nvSpPr>
          <p:cNvPr id="7" name="Text 5"/>
          <p:cNvSpPr/>
          <p:nvPr/>
        </p:nvSpPr>
        <p:spPr>
          <a:xfrm>
            <a:off x="1022350" y="2995613"/>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Suponer el tamaño de una estructura para calibrar sería un razonamiento circular.</a:t>
            </a:r>
            <a:endParaRPr lang="en-US" sz="1400" dirty="0"/>
          </a:p>
        </p:txBody>
      </p:sp>
      <p:sp>
        <p:nvSpPr>
          <p:cNvPr id="8" name="Shape 6"/>
          <p:cNvSpPr/>
          <p:nvPr/>
        </p:nvSpPr>
        <p:spPr>
          <a:xfrm>
            <a:off x="6175375" y="1854696"/>
            <a:ext cx="5200650" cy="2058293"/>
          </a:xfrm>
          <a:prstGeom prst="roundRect">
            <a:avLst>
              <a:gd name="adj" fmla="val 4782"/>
            </a:avLst>
          </a:prstGeom>
          <a:solidFill>
            <a:srgbClr val="FCFBF7"/>
          </a:solidFill>
          <a:ln w="6350">
            <a:solidFill>
              <a:srgbClr val="DDD8CC"/>
            </a:solidFill>
            <a:prstDash val="solid"/>
          </a:ln>
        </p:spPr>
      </p:sp>
      <p:sp>
        <p:nvSpPr>
          <p:cNvPr id="9" name="Text 7"/>
          <p:cNvSpPr/>
          <p:nvPr/>
        </p:nvSpPr>
        <p:spPr>
          <a:xfrm>
            <a:off x="6381750" y="2061071"/>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5D7C"/>
                </a:solidFill>
                <a:latin typeface="IBM Plex Sans" pitchFamily="34" charset="0"/>
                <a:ea typeface="IBM Plex Sans" pitchFamily="34" charset="-122"/>
                <a:cs typeface="IBM Plex Sans" pitchFamily="34" charset="-120"/>
              </a:rPr>
              <a:t>Cómo calibrarla</a:t>
            </a:r>
            <a:endParaRPr lang="en-US" sz="1700" dirty="0"/>
          </a:p>
        </p:txBody>
      </p:sp>
      <p:sp>
        <p:nvSpPr>
          <p:cNvPr id="10" name="Text 8"/>
          <p:cNvSpPr/>
          <p:nvPr/>
        </p:nvSpPr>
        <p:spPr>
          <a:xfrm>
            <a:off x="6438602" y="2409031"/>
            <a:ext cx="4867065" cy="771922"/>
          </a:xfrm>
          <a:prstGeom prst="rect">
            <a:avLst/>
          </a:prstGeom>
          <a:noFill/>
          <a:ln/>
        </p:spPr>
        <p:txBody>
          <a:bodyPr wrap="square" lIns="0" tIns="0" rIns="0" bIns="0" rtlCol="0" anchor="t">
            <a:normAutofit/>
          </a:bodyPr>
          <a:lstStyle/>
          <a:p>
            <a:pPr algn="l" marL="197148" indent="-197148">
              <a:lnSpc>
                <a:spcPts val="1960"/>
              </a:lnSpc>
              <a:buSzPct val="100000"/>
              <a:buFontTx/>
              <a:buAutoNum type="arabicPeriod" startAt="1"/>
            </a:pPr>
            <a:r>
              <a:rPr lang="en-US" sz="1400" dirty="0">
                <a:solidFill>
                  <a:srgbClr val="1C2630"/>
                </a:solidFill>
                <a:latin typeface="IBM Plex Sans" pitchFamily="34" charset="0"/>
                <a:ea typeface="IBM Plex Sans" pitchFamily="34" charset="-122"/>
                <a:cs typeface="IBM Plex Sans" pitchFamily="34" charset="-120"/>
              </a:rPr>
              <a:t>Foto de una regla de calibración a 40x</a:t>
            </a:r>
            <a:endParaRPr lang="en-US" sz="1400" dirty="0"/>
          </a:p>
          <a:p>
            <a:pPr algn="l" marL="197148" indent="-197148">
              <a:lnSpc>
                <a:spcPts val="1960"/>
              </a:lnSpc>
              <a:buSzPct val="100000"/>
              <a:buFontTx/>
              <a:buAutoNum type="arabicPeriod" startAt="1"/>
            </a:pPr>
            <a:r>
              <a:rPr lang="en-US" sz="1400" dirty="0">
                <a:solidFill>
                  <a:srgbClr val="1C2630"/>
                </a:solidFill>
                <a:latin typeface="IBM Plex Sans" pitchFamily="34" charset="0"/>
                <a:ea typeface="IBM Plex Sans" pitchFamily="34" charset="-122"/>
                <a:cs typeface="IBM Plex Sans" pitchFamily="34" charset="-120"/>
              </a:rPr>
              <a:t>Calibración del programa de la cámara</a:t>
            </a:r>
            <a:endParaRPr lang="en-US" sz="1400" dirty="0"/>
          </a:p>
          <a:p>
            <a:pPr algn="l" marL="197148" indent="-197148">
              <a:lnSpc>
                <a:spcPts val="1960"/>
              </a:lnSpc>
              <a:buSzPct val="100000"/>
              <a:buFontTx/>
              <a:buAutoNum type="arabicPeriod" startAt="1"/>
            </a:pPr>
            <a:r>
              <a:rPr lang="en-US" sz="1400" dirty="0">
                <a:solidFill>
                  <a:srgbClr val="1C2630"/>
                </a:solidFill>
                <a:latin typeface="IBM Plex Sans" pitchFamily="34" charset="0"/>
                <a:ea typeface="IBM Plex Sans" pitchFamily="34" charset="-122"/>
                <a:cs typeface="IBM Plex Sans" pitchFamily="34" charset="-120"/>
              </a:rPr>
              <a:t>Ficha técnica de cámara y adaptador</a:t>
            </a:r>
            <a:endParaRPr lang="en-US" sz="1400" dirty="0"/>
          </a:p>
        </p:txBody>
      </p:sp>
      <p:sp>
        <p:nvSpPr>
          <p:cNvPr id="11" name="Text 9"/>
          <p:cNvSpPr/>
          <p:nvPr/>
        </p:nvSpPr>
        <p:spPr>
          <a:xfrm>
            <a:off x="6381750" y="3244453"/>
            <a:ext cx="493153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Un valor por cada resolución, en una tabla editable sin tocar el código.</a:t>
            </a:r>
            <a:endParaRPr lang="en-US" sz="1300" dirty="0"/>
          </a:p>
        </p:txBody>
      </p:sp>
      <p:sp>
        <p:nvSpPr>
          <p:cNvPr id="12" name="Text 10"/>
          <p:cNvSpPr/>
          <p:nvPr/>
        </p:nvSpPr>
        <p:spPr>
          <a:xfrm>
            <a:off x="812800" y="4144764"/>
            <a:ext cx="10566400" cy="751681"/>
          </a:xfrm>
          <a:prstGeom prst="rect">
            <a:avLst/>
          </a:prstGeom>
          <a:solidFill>
            <a:srgbClr val="ECE7DA"/>
          </a:solidFill>
          <a:ln/>
        </p:spPr>
        <p:txBody>
          <a:bodyPr wrap="square" lIns="254000" tIns="127000" rIns="0" bIns="101600" rtlCol="0" anchor="t">
            <a:normAutofit/>
          </a:bodyPr>
          <a:lstStyle/>
          <a:p>
            <a:pPr algn="l"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Lo que pedimos al grupo:</a:t>
            </a:r>
            <a:r>
              <a:rPr lang="en-US" sz="1400" dirty="0">
                <a:solidFill>
                  <a:srgbClr val="1C2630"/>
                </a:solidFill>
                <a:latin typeface="IBM Plex Sans" pitchFamily="34" charset="0"/>
                <a:ea typeface="IBM Plex Sans" pitchFamily="34" charset="-122"/>
                <a:cs typeface="IBM Plex Sans" pitchFamily="34" charset="-120"/>
              </a:rPr>
              <a:t> marca y modelo de la cámara y del programa; si tienen una regla de calibración; y si las fotos de los dos tamaños son del mismo campo.</a:t>
            </a:r>
            <a:endParaRPr lang="en-US" sz="1400" dirty="0"/>
          </a:p>
        </p:txBody>
      </p:sp>
      <p:sp>
        <p:nvSpPr>
          <p:cNvPr id="13" name="Shape 11"/>
          <p:cNvSpPr/>
          <p:nvPr/>
        </p:nvSpPr>
        <p:spPr>
          <a:xfrm>
            <a:off x="838200" y="4144764"/>
            <a:ext cx="0" cy="751681"/>
          </a:xfrm>
          <a:prstGeom prst="line">
            <a:avLst/>
          </a:prstGeom>
          <a:noFill/>
          <a:ln w="50800">
            <a:solidFill>
              <a:srgbClr val="A8201A"/>
            </a:solidFill>
            <a:prstDash val="solid"/>
          </a:ln>
        </p:spPr>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SALIDAS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CSV para trabajar, PDF para compartir</a:t>
            </a:r>
            <a:endParaRPr lang="en-US" sz="3600" dirty="0"/>
          </a:p>
        </p:txBody>
      </p:sp>
      <p:sp>
        <p:nvSpPr>
          <p:cNvPr id="4" name="Shape 2"/>
          <p:cNvSpPr/>
          <p:nvPr/>
        </p:nvSpPr>
        <p:spPr>
          <a:xfrm>
            <a:off x="815975" y="1880096"/>
            <a:ext cx="5200650" cy="2500412"/>
          </a:xfrm>
          <a:prstGeom prst="roundRect">
            <a:avLst>
              <a:gd name="adj" fmla="val 3936"/>
            </a:avLst>
          </a:prstGeom>
          <a:solidFill>
            <a:srgbClr val="FCFBF7"/>
          </a:solidFill>
          <a:ln w="6350">
            <a:solidFill>
              <a:srgbClr val="DDD8CC"/>
            </a:solidFill>
            <a:prstDash val="solid"/>
          </a:ln>
        </p:spPr>
      </p:sp>
      <p:sp>
        <p:nvSpPr>
          <p:cNvPr id="5" name="Text 3"/>
          <p:cNvSpPr/>
          <p:nvPr/>
        </p:nvSpPr>
        <p:spPr>
          <a:xfrm>
            <a:off x="1022350" y="2086471"/>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CSV</a:t>
            </a:r>
            <a:endParaRPr lang="en-US" sz="1800" dirty="0"/>
          </a:p>
        </p:txBody>
      </p:sp>
      <p:sp>
        <p:nvSpPr>
          <p:cNvPr id="6" name="Text 4"/>
          <p:cNvSpPr/>
          <p:nvPr/>
        </p:nvSpPr>
        <p:spPr>
          <a:xfrm>
            <a:off x="1022350" y="2449612"/>
            <a:ext cx="493153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Una fila por espermatozoide y seis columnas:</a:t>
            </a:r>
            <a:endParaRPr lang="en-US" sz="1400" dirty="0"/>
          </a:p>
        </p:txBody>
      </p:sp>
      <p:sp>
        <p:nvSpPr>
          <p:cNvPr id="7" name="Text 5"/>
          <p:cNvSpPr/>
          <p:nvPr/>
        </p:nvSpPr>
        <p:spPr>
          <a:xfrm>
            <a:off x="1100582" y="2787352"/>
            <a:ext cx="4845685" cy="10922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1C2630"/>
                </a:solidFill>
                <a:latin typeface="IBM Plex Sans" pitchFamily="34" charset="0"/>
                <a:ea typeface="IBM Plex Sans" pitchFamily="34" charset="-122"/>
                <a:cs typeface="IBM Plex Sans" pitchFamily="34" charset="-120"/>
              </a:rPr>
              <a:t>imagen</a:t>
            </a:r>
            <a:endParaRPr lang="en-US" sz="1400" dirty="0"/>
          </a:p>
          <a:p>
            <a:pPr algn="l" marL="175768" indent="-175768">
              <a:lnSpc>
                <a:spcPts val="2100"/>
              </a:lnSpc>
              <a:buSzPct val="100000"/>
              <a:buChar char="•"/>
            </a:pPr>
            <a:r>
              <a:rPr lang="en-US" sz="1400" dirty="0">
                <a:solidFill>
                  <a:srgbClr val="1C2630"/>
                </a:solidFill>
                <a:latin typeface="IBM Plex Sans" pitchFamily="34" charset="0"/>
                <a:ea typeface="IBM Plex Sans" pitchFamily="34" charset="-122"/>
                <a:cs typeface="IBM Plex Sans" pitchFamily="34" charset="-120"/>
              </a:rPr>
              <a:t>espermatozoide</a:t>
            </a:r>
            <a:endParaRPr lang="en-US" sz="1400" dirty="0"/>
          </a:p>
          <a:p>
            <a:pPr algn="l" marL="175768" indent="-175768">
              <a:lnSpc>
                <a:spcPts val="2100"/>
              </a:lnSpc>
              <a:buSzPct val="100000"/>
              <a:buChar char="•"/>
            </a:pPr>
            <a:r>
              <a:rPr lang="en-US" sz="1400" dirty="0">
                <a:solidFill>
                  <a:srgbClr val="1C2630"/>
                </a:solidFill>
                <a:latin typeface="IBM Plex Sans" pitchFamily="34" charset="0"/>
                <a:ea typeface="IBM Plex Sans" pitchFamily="34" charset="-122"/>
                <a:cs typeface="IBM Plex Sans" pitchFamily="34" charset="-120"/>
              </a:rPr>
              <a:t>area_px y longitud_px</a:t>
            </a:r>
            <a:endParaRPr lang="en-US" sz="1400" dirty="0"/>
          </a:p>
          <a:p>
            <a:pPr algn="l" marL="175768" indent="-175768">
              <a:lnSpc>
                <a:spcPts val="2100"/>
              </a:lnSpc>
              <a:buSzPct val="100000"/>
              <a:buChar char="•"/>
            </a:pPr>
            <a:r>
              <a:rPr lang="en-US" sz="1400" dirty="0">
                <a:solidFill>
                  <a:srgbClr val="1C2630"/>
                </a:solidFill>
                <a:latin typeface="IBM Plex Sans" pitchFamily="34" charset="0"/>
                <a:ea typeface="IBM Plex Sans" pitchFamily="34" charset="-122"/>
                <a:cs typeface="IBM Plex Sans" pitchFamily="34" charset="-120"/>
              </a:rPr>
              <a:t>area_um2 y longitud_um</a:t>
            </a:r>
            <a:endParaRPr lang="en-US" sz="1400" dirty="0"/>
          </a:p>
        </p:txBody>
      </p:sp>
      <p:sp>
        <p:nvSpPr>
          <p:cNvPr id="8" name="Text 6"/>
          <p:cNvSpPr/>
          <p:nvPr/>
        </p:nvSpPr>
        <p:spPr>
          <a:xfrm>
            <a:off x="1022350" y="3943052"/>
            <a:ext cx="493153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Varias imágenes en un mismo archivo.</a:t>
            </a:r>
            <a:endParaRPr lang="en-US" sz="1300" dirty="0"/>
          </a:p>
        </p:txBody>
      </p:sp>
      <p:sp>
        <p:nvSpPr>
          <p:cNvPr id="9" name="Shape 7"/>
          <p:cNvSpPr/>
          <p:nvPr/>
        </p:nvSpPr>
        <p:spPr>
          <a:xfrm>
            <a:off x="6175375" y="1880096"/>
            <a:ext cx="5200650" cy="2500412"/>
          </a:xfrm>
          <a:prstGeom prst="roundRect">
            <a:avLst>
              <a:gd name="adj" fmla="val 3936"/>
            </a:avLst>
          </a:prstGeom>
          <a:solidFill>
            <a:srgbClr val="FCFBF7"/>
          </a:solidFill>
          <a:ln w="6350">
            <a:solidFill>
              <a:srgbClr val="DDD8CC"/>
            </a:solidFill>
            <a:prstDash val="solid"/>
          </a:ln>
        </p:spPr>
      </p:sp>
      <p:sp>
        <p:nvSpPr>
          <p:cNvPr id="10" name="Text 8"/>
          <p:cNvSpPr/>
          <p:nvPr/>
        </p:nvSpPr>
        <p:spPr>
          <a:xfrm>
            <a:off x="6381750" y="2086471"/>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PDF</a:t>
            </a:r>
            <a:endParaRPr lang="en-US" sz="1800" dirty="0"/>
          </a:p>
        </p:txBody>
      </p:sp>
      <p:sp>
        <p:nvSpPr>
          <p:cNvPr id="11" name="Text 9"/>
          <p:cNvSpPr/>
          <p:nvPr/>
        </p:nvSpPr>
        <p:spPr>
          <a:xfrm>
            <a:off x="6381750" y="2449612"/>
            <a:ext cx="493153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Un solo documento, con un análisis por imagen:</a:t>
            </a:r>
            <a:endParaRPr lang="en-US" sz="1400" dirty="0"/>
          </a:p>
        </p:txBody>
      </p:sp>
      <p:sp>
        <p:nvSpPr>
          <p:cNvPr id="12" name="Text 10"/>
          <p:cNvSpPr/>
          <p:nvPr/>
        </p:nvSpPr>
        <p:spPr>
          <a:xfrm>
            <a:off x="6459982" y="2787352"/>
            <a:ext cx="4845685" cy="13589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1C2630"/>
                </a:solidFill>
                <a:latin typeface="IBM Plex Sans" pitchFamily="34" charset="0"/>
                <a:ea typeface="IBM Plex Sans" pitchFamily="34" charset="-122"/>
                <a:cs typeface="IBM Plex Sans" pitchFamily="34" charset="-120"/>
              </a:rPr>
              <a:t>usuario, fecha, hora y número de imágenes</a:t>
            </a:r>
            <a:endParaRPr lang="en-US" sz="1400" dirty="0"/>
          </a:p>
          <a:p>
            <a:pPr algn="l" marL="175768" indent="-175768">
              <a:lnSpc>
                <a:spcPts val="2100"/>
              </a:lnSpc>
              <a:buSzPct val="100000"/>
              <a:buChar char="•"/>
            </a:pPr>
            <a:r>
              <a:rPr lang="en-US" sz="1400" dirty="0">
                <a:solidFill>
                  <a:srgbClr val="1C2630"/>
                </a:solidFill>
                <a:latin typeface="IBM Plex Sans" pitchFamily="34" charset="0"/>
                <a:ea typeface="IBM Plex Sans" pitchFamily="34" charset="-122"/>
                <a:cs typeface="IBM Plex Sans" pitchFamily="34" charset="-120"/>
              </a:rPr>
              <a:t>recuadros de contexto: escala y estado del modelo</a:t>
            </a:r>
            <a:endParaRPr lang="en-US" sz="1400" dirty="0"/>
          </a:p>
          <a:p>
            <a:pPr algn="l" marL="175768" indent="-175768">
              <a:lnSpc>
                <a:spcPts val="2100"/>
              </a:lnSpc>
              <a:buSzPct val="100000"/>
              <a:buChar char="•"/>
            </a:pPr>
            <a:r>
              <a:rPr lang="en-US" sz="1400" dirty="0">
                <a:solidFill>
                  <a:srgbClr val="1C2630"/>
                </a:solidFill>
                <a:latin typeface="IBM Plex Sans" pitchFamily="34" charset="0"/>
                <a:ea typeface="IBM Plex Sans" pitchFamily="34" charset="-122"/>
                <a:cs typeface="IBM Plex Sans" pitchFamily="34" charset="-120"/>
              </a:rPr>
              <a:t>metadatos, imagen marcada y mensajes</a:t>
            </a:r>
            <a:endParaRPr lang="en-US" sz="1400" dirty="0"/>
          </a:p>
          <a:p>
            <a:pPr algn="l" marL="175768" indent="-175768">
              <a:lnSpc>
                <a:spcPts val="2100"/>
              </a:lnSpc>
              <a:buSzPct val="100000"/>
              <a:buChar char="•"/>
            </a:pPr>
            <a:r>
              <a:rPr lang="en-US" sz="1400" dirty="0">
                <a:solidFill>
                  <a:srgbClr val="1C2630"/>
                </a:solidFill>
                <a:latin typeface="IBM Plex Sans" pitchFamily="34" charset="0"/>
                <a:ea typeface="IBM Plex Sans" pitchFamily="34" charset="-122"/>
                <a:cs typeface="IBM Plex Sans" pitchFamily="34" charset="-120"/>
              </a:rPr>
              <a:t>conteo, media y desviación estándar</a:t>
            </a:r>
            <a:endParaRPr lang="en-US" sz="1400" dirty="0"/>
          </a:p>
          <a:p>
            <a:pPr algn="l" marL="175768" indent="-175768">
              <a:lnSpc>
                <a:spcPts val="2100"/>
              </a:lnSpc>
              <a:buSzPct val="100000"/>
              <a:buChar char="•"/>
            </a:pPr>
            <a:r>
              <a:rPr lang="en-US" sz="1400" dirty="0">
                <a:solidFill>
                  <a:srgbClr val="1C2630"/>
                </a:solidFill>
                <a:latin typeface="IBM Plex Sans" pitchFamily="34" charset="0"/>
                <a:ea typeface="IBM Plex Sans" pitchFamily="34" charset="-122"/>
                <a:cs typeface="IBM Plex Sans" pitchFamily="34" charset="-120"/>
              </a:rPr>
              <a:t>gráfica de distribución y de promedios</a:t>
            </a:r>
            <a:endParaRPr lang="en-US" sz="1400" dirty="0"/>
          </a:p>
        </p:txBody>
      </p:sp>
      <p:sp>
        <p:nvSpPr>
          <p:cNvPr id="13" name="Text 11"/>
          <p:cNvSpPr/>
          <p:nvPr/>
        </p:nvSpPr>
        <p:spPr>
          <a:xfrm>
            <a:off x="812800" y="4637683"/>
            <a:ext cx="98107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El PDF se genera una vez, al terminar el análisis, y se entrega el mismo archivo cada vez que se descarga.</a:t>
            </a:r>
            <a:endParaRPr lang="en-US" sz="14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MIS ANÁLISIS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Qué se guarda y qué se borra</a:t>
            </a:r>
            <a:endParaRPr lang="en-US" sz="3600" dirty="0"/>
          </a:p>
        </p:txBody>
      </p:sp>
      <p:sp>
        <p:nvSpPr>
          <p:cNvPr id="4" name="Shape 2"/>
          <p:cNvSpPr/>
          <p:nvPr/>
        </p:nvSpPr>
        <p:spPr>
          <a:xfrm>
            <a:off x="815975" y="1905496"/>
            <a:ext cx="5200650" cy="1633141"/>
          </a:xfrm>
          <a:prstGeom prst="roundRect">
            <a:avLst>
              <a:gd name="adj" fmla="val 6027"/>
            </a:avLst>
          </a:prstGeom>
          <a:solidFill>
            <a:srgbClr val="FCFBF7"/>
          </a:solidFill>
          <a:ln w="6350">
            <a:solidFill>
              <a:srgbClr val="DDD8CC"/>
            </a:solidFill>
            <a:prstDash val="solid"/>
          </a:ln>
        </p:spPr>
      </p:sp>
      <p:sp>
        <p:nvSpPr>
          <p:cNvPr id="5" name="Text 3"/>
          <p:cNvSpPr/>
          <p:nvPr/>
        </p:nvSpPr>
        <p:spPr>
          <a:xfrm>
            <a:off x="1022350" y="2111871"/>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Se guarda</a:t>
            </a:r>
            <a:endParaRPr lang="en-US" sz="1800" dirty="0"/>
          </a:p>
        </p:txBody>
      </p:sp>
      <p:sp>
        <p:nvSpPr>
          <p:cNvPr id="6" name="Text 4"/>
          <p:cNvSpPr/>
          <p:nvPr/>
        </p:nvSpPr>
        <p:spPr>
          <a:xfrm>
            <a:off x="1093470" y="2475012"/>
            <a:ext cx="4852797" cy="882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1C2630"/>
                </a:solidFill>
                <a:latin typeface="IBM Plex Sans" pitchFamily="34" charset="0"/>
                <a:ea typeface="IBM Plex Sans" pitchFamily="34" charset="-122"/>
                <a:cs typeface="IBM Plex Sans" pitchFamily="34" charset="-120"/>
              </a:rPr>
              <a:t>Resultados completos, con los contornos</a:t>
            </a:r>
            <a:endParaRPr lang="en-US" sz="1500" dirty="0"/>
          </a:p>
          <a:p>
            <a:pPr algn="l" marL="182880" indent="-182880">
              <a:lnSpc>
                <a:spcPts val="2250"/>
              </a:lnSpc>
              <a:buSzPct val="100000"/>
              <a:buChar char="•"/>
            </a:pPr>
            <a:r>
              <a:rPr lang="en-US" sz="1500" dirty="0">
                <a:solidFill>
                  <a:srgbClr val="1C2630"/>
                </a:solidFill>
                <a:latin typeface="IBM Plex Sans" pitchFamily="34" charset="0"/>
                <a:ea typeface="IBM Plex Sans" pitchFamily="34" charset="-122"/>
                <a:cs typeface="IBM Plex Sans" pitchFamily="34" charset="-120"/>
              </a:rPr>
              <a:t>PDF del análisis</a:t>
            </a:r>
            <a:endParaRPr lang="en-US" sz="1500" dirty="0"/>
          </a:p>
          <a:p>
            <a:pPr algn="l" marL="182880" indent="-182880">
              <a:lnSpc>
                <a:spcPts val="2250"/>
              </a:lnSpc>
              <a:buSzPct val="100000"/>
              <a:buChar char="•"/>
            </a:pPr>
            <a:r>
              <a:rPr lang="en-US" sz="1500" dirty="0">
                <a:solidFill>
                  <a:srgbClr val="1C2630"/>
                </a:solidFill>
                <a:latin typeface="IBM Plex Sans" pitchFamily="34" charset="0"/>
                <a:ea typeface="IBM Plex Sans" pitchFamily="34" charset="-122"/>
                <a:cs typeface="IBM Plex Sans" pitchFamily="34" charset="-120"/>
              </a:rPr>
              <a:t>Copia reducida con las marcas y la regla</a:t>
            </a:r>
            <a:endParaRPr lang="en-US" sz="1500" dirty="0"/>
          </a:p>
        </p:txBody>
      </p:sp>
      <p:sp>
        <p:nvSpPr>
          <p:cNvPr id="7" name="Shape 5"/>
          <p:cNvSpPr/>
          <p:nvPr/>
        </p:nvSpPr>
        <p:spPr>
          <a:xfrm>
            <a:off x="6175375" y="1905496"/>
            <a:ext cx="5200650" cy="1633141"/>
          </a:xfrm>
          <a:prstGeom prst="roundRect">
            <a:avLst>
              <a:gd name="adj" fmla="val 6027"/>
            </a:avLst>
          </a:prstGeom>
          <a:solidFill>
            <a:srgbClr val="FCFBF7"/>
          </a:solidFill>
          <a:ln w="6350">
            <a:solidFill>
              <a:srgbClr val="DDD8CC"/>
            </a:solidFill>
            <a:prstDash val="solid"/>
          </a:ln>
        </p:spPr>
      </p:sp>
      <p:sp>
        <p:nvSpPr>
          <p:cNvPr id="8" name="Text 6"/>
          <p:cNvSpPr/>
          <p:nvPr/>
        </p:nvSpPr>
        <p:spPr>
          <a:xfrm>
            <a:off x="6381750" y="2111871"/>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A8201A"/>
                </a:solidFill>
                <a:latin typeface="IBM Plex Sans" pitchFamily="34" charset="0"/>
                <a:ea typeface="IBM Plex Sans" pitchFamily="34" charset="-122"/>
                <a:cs typeface="IBM Plex Sans" pitchFamily="34" charset="-120"/>
              </a:rPr>
              <a:t>Se borra</a:t>
            </a:r>
            <a:endParaRPr lang="en-US" sz="1800" dirty="0"/>
          </a:p>
        </p:txBody>
      </p:sp>
      <p:sp>
        <p:nvSpPr>
          <p:cNvPr id="9" name="Text 7"/>
          <p:cNvSpPr/>
          <p:nvPr/>
        </p:nvSpPr>
        <p:spPr>
          <a:xfrm>
            <a:off x="6452870" y="2475012"/>
            <a:ext cx="4852797" cy="3111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1C2630"/>
                </a:solidFill>
                <a:latin typeface="IBM Plex Sans" pitchFamily="34" charset="0"/>
                <a:ea typeface="IBM Plex Sans" pitchFamily="34" charset="-122"/>
                <a:cs typeface="IBM Plex Sans" pitchFamily="34" charset="-120"/>
              </a:rPr>
              <a:t>La imagen original, al terminar el análisis</a:t>
            </a:r>
            <a:endParaRPr lang="en-US" sz="1500" dirty="0"/>
          </a:p>
        </p:txBody>
      </p:sp>
      <p:sp>
        <p:nvSpPr>
          <p:cNvPr id="10" name="Text 8"/>
          <p:cNvSpPr/>
          <p:nvPr/>
        </p:nvSpPr>
        <p:spPr>
          <a:xfrm>
            <a:off x="6381750" y="2849662"/>
            <a:ext cx="493153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Para volver a analizarla con un modelo nuevo hay que subirla otra vez. Conviene guardar los originales.</a:t>
            </a:r>
            <a:endParaRPr lang="en-US" sz="1300" dirty="0"/>
          </a:p>
        </p:txBody>
      </p:sp>
      <p:sp>
        <p:nvSpPr>
          <p:cNvPr id="11" name="Text 9"/>
          <p:cNvSpPr/>
          <p:nvPr/>
        </p:nvSpPr>
        <p:spPr>
          <a:xfrm>
            <a:off x="812800" y="3821212"/>
            <a:ext cx="10566400" cy="502841"/>
          </a:xfrm>
          <a:prstGeom prst="rect">
            <a:avLst/>
          </a:prstGeom>
          <a:solidFill>
            <a:srgbClr val="ECE7DA"/>
          </a:solidFill>
          <a:ln/>
        </p:spPr>
        <p:txBody>
          <a:bodyPr wrap="square" lIns="254000" tIns="127000" rIns="0" bIns="101600" rtlCol="0" anchor="t">
            <a:normAutofit/>
          </a:bodyPr>
          <a:lstStyle/>
          <a:p>
            <a:pPr algn="l"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Cada análisis es privado: solo lo ve quien lo hizo. Nadie puede ver el código de la red desde el sitio.</a:t>
            </a:r>
            <a:endParaRPr lang="en-US" sz="1400" dirty="0"/>
          </a:p>
        </p:txBody>
      </p:sp>
      <p:sp>
        <p:nvSpPr>
          <p:cNvPr id="12" name="Shape 10"/>
          <p:cNvSpPr/>
          <p:nvPr/>
        </p:nvSpPr>
        <p:spPr>
          <a:xfrm>
            <a:off x="838200" y="3821212"/>
            <a:ext cx="0" cy="502841"/>
          </a:xfrm>
          <a:prstGeom prst="line">
            <a:avLst/>
          </a:prstGeom>
          <a:noFill/>
          <a:ln w="50800">
            <a:solidFill>
              <a:srgbClr val="2F5D7C"/>
            </a:solidFill>
            <a:prstDash val="solid"/>
          </a:ln>
        </p:spPr>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PREGUNTAS FRECUENTES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Dudas de uso del sitio</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4221"/>
          <a:ext cx="10553700" cy="2701727"/>
        </p:xfrm>
        <a:graphic>
          <a:graphicData uri="http://schemas.openxmlformats.org/drawingml/2006/table">
            <a:tbl>
              <a:tblPr/>
              <a:tblGrid>
                <a:gridCol w="4432554"/>
                <a:gridCol w="6121146"/>
              </a:tblGrid>
              <a:tr h="385961">
                <a:tc>
                  <a:txBody>
                    <a:bodyPr/>
                    <a:lstStyle/>
                    <a:p>
                      <a:pPr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Pregunta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Respuesta corta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5961">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Olvidé mi contraseña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Se define con el grupo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Quiero subir más de diez</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Hacer varios envíos; cada uno da su PDF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¿Recupero la imagen original?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No; el sitio la borra al terminar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¿Otros ven mis análisis?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No; son privados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Otra tinción u otra célula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Se puede subir, pero hay que reentrenar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Dice que no pudo analizar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Revisar formato y calidad; avisarme si persiste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BUENAS PRÁCTICAS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Cinco hábitos para usar el sitio</a:t>
            </a:r>
            <a:endParaRPr lang="en-US" sz="3600" dirty="0"/>
          </a:p>
        </p:txBody>
      </p:sp>
      <p:sp>
        <p:nvSpPr>
          <p:cNvPr id="4" name="Shape 2"/>
          <p:cNvSpPr/>
          <p:nvPr/>
        </p:nvSpPr>
        <p:spPr>
          <a:xfrm>
            <a:off x="815975" y="1854696"/>
            <a:ext cx="10560050" cy="661591"/>
          </a:xfrm>
          <a:prstGeom prst="roundRect">
            <a:avLst>
              <a:gd name="adj" fmla="val 14877"/>
            </a:avLst>
          </a:prstGeom>
          <a:solidFill>
            <a:srgbClr val="FCFBF7"/>
          </a:solidFill>
          <a:ln w="6350">
            <a:solidFill>
              <a:srgbClr val="DDD8CC"/>
            </a:solidFill>
            <a:prstDash val="solid"/>
          </a:ln>
        </p:spPr>
      </p:sp>
      <p:sp>
        <p:nvSpPr>
          <p:cNvPr id="5" name="Text 3"/>
          <p:cNvSpPr/>
          <p:nvPr/>
        </p:nvSpPr>
        <p:spPr>
          <a:xfrm>
            <a:off x="1022350" y="1972171"/>
            <a:ext cx="3556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201A"/>
                </a:solidFill>
                <a:latin typeface="Source Serif 4" pitchFamily="18" charset="0"/>
                <a:ea typeface="Source Serif 4" pitchFamily="18" charset="-122"/>
                <a:cs typeface="Source Serif 4" pitchFamily="18" charset="-120"/>
              </a:rPr>
              <a:t>1</a:t>
            </a:r>
            <a:endParaRPr lang="en-US" sz="2400" dirty="0"/>
          </a:p>
        </p:txBody>
      </p:sp>
      <p:sp>
        <p:nvSpPr>
          <p:cNvPr id="6" name="Text 4"/>
          <p:cNvSpPr/>
          <p:nvPr/>
        </p:nvSpPr>
        <p:spPr>
          <a:xfrm>
            <a:off x="1504950" y="2061666"/>
            <a:ext cx="526244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C2630"/>
                </a:solidFill>
                <a:latin typeface="IBM Plex Sans" pitchFamily="34" charset="0"/>
                <a:ea typeface="IBM Plex Sans" pitchFamily="34" charset="-122"/>
                <a:cs typeface="IBM Plex Sans" pitchFamily="34" charset="-120"/>
              </a:rPr>
              <a:t>Trabajar con los archivos originales, sin compresión</a:t>
            </a:r>
            <a:endParaRPr lang="en-US" sz="1500" dirty="0"/>
          </a:p>
        </p:txBody>
      </p:sp>
      <p:sp>
        <p:nvSpPr>
          <p:cNvPr id="7" name="Shape 5"/>
          <p:cNvSpPr/>
          <p:nvPr/>
        </p:nvSpPr>
        <p:spPr>
          <a:xfrm>
            <a:off x="815975" y="2624237"/>
            <a:ext cx="10560050" cy="661591"/>
          </a:xfrm>
          <a:prstGeom prst="roundRect">
            <a:avLst>
              <a:gd name="adj" fmla="val 14877"/>
            </a:avLst>
          </a:prstGeom>
          <a:solidFill>
            <a:srgbClr val="FCFBF7"/>
          </a:solidFill>
          <a:ln w="6350">
            <a:solidFill>
              <a:srgbClr val="DDD8CC"/>
            </a:solidFill>
            <a:prstDash val="solid"/>
          </a:ln>
        </p:spPr>
      </p:sp>
      <p:sp>
        <p:nvSpPr>
          <p:cNvPr id="8" name="Text 6"/>
          <p:cNvSpPr/>
          <p:nvPr/>
        </p:nvSpPr>
        <p:spPr>
          <a:xfrm>
            <a:off x="1022350" y="2741712"/>
            <a:ext cx="3556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201A"/>
                </a:solidFill>
                <a:latin typeface="Source Serif 4" pitchFamily="18" charset="0"/>
                <a:ea typeface="Source Serif 4" pitchFamily="18" charset="-122"/>
                <a:cs typeface="Source Serif 4" pitchFamily="18" charset="-120"/>
              </a:rPr>
              <a:t>2</a:t>
            </a:r>
            <a:endParaRPr lang="en-US" sz="2400" dirty="0"/>
          </a:p>
        </p:txBody>
      </p:sp>
      <p:sp>
        <p:nvSpPr>
          <p:cNvPr id="9" name="Text 7"/>
          <p:cNvSpPr/>
          <p:nvPr/>
        </p:nvSpPr>
        <p:spPr>
          <a:xfrm>
            <a:off x="1504950" y="2831207"/>
            <a:ext cx="467534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C2630"/>
                </a:solidFill>
                <a:latin typeface="IBM Plex Sans" pitchFamily="34" charset="0"/>
                <a:ea typeface="IBM Plex Sans" pitchFamily="34" charset="-122"/>
                <a:cs typeface="IBM Plex Sans" pitchFamily="34" charset="-120"/>
              </a:rPr>
              <a:t>Agrupar las imágenes por tipo y por condición</a:t>
            </a:r>
            <a:endParaRPr lang="en-US" sz="1500" dirty="0"/>
          </a:p>
        </p:txBody>
      </p:sp>
      <p:sp>
        <p:nvSpPr>
          <p:cNvPr id="10" name="Shape 8"/>
          <p:cNvSpPr/>
          <p:nvPr/>
        </p:nvSpPr>
        <p:spPr>
          <a:xfrm>
            <a:off x="815975" y="3393777"/>
            <a:ext cx="10560050" cy="661591"/>
          </a:xfrm>
          <a:prstGeom prst="roundRect">
            <a:avLst>
              <a:gd name="adj" fmla="val 14877"/>
            </a:avLst>
          </a:prstGeom>
          <a:solidFill>
            <a:srgbClr val="FCFBF7"/>
          </a:solidFill>
          <a:ln w="6350">
            <a:solidFill>
              <a:srgbClr val="DDD8CC"/>
            </a:solidFill>
            <a:prstDash val="solid"/>
          </a:ln>
        </p:spPr>
      </p:sp>
      <p:sp>
        <p:nvSpPr>
          <p:cNvPr id="11" name="Text 9"/>
          <p:cNvSpPr/>
          <p:nvPr/>
        </p:nvSpPr>
        <p:spPr>
          <a:xfrm>
            <a:off x="1022350" y="3511252"/>
            <a:ext cx="3556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201A"/>
                </a:solidFill>
                <a:latin typeface="Source Serif 4" pitchFamily="18" charset="0"/>
                <a:ea typeface="Source Serif 4" pitchFamily="18" charset="-122"/>
                <a:cs typeface="Source Serif 4" pitchFamily="18" charset="-120"/>
              </a:rPr>
              <a:t>3</a:t>
            </a:r>
            <a:endParaRPr lang="en-US" sz="2400" dirty="0"/>
          </a:p>
        </p:txBody>
      </p:sp>
      <p:sp>
        <p:nvSpPr>
          <p:cNvPr id="12" name="Text 10"/>
          <p:cNvSpPr/>
          <p:nvPr/>
        </p:nvSpPr>
        <p:spPr>
          <a:xfrm>
            <a:off x="1504950" y="3600748"/>
            <a:ext cx="606980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C2630"/>
                </a:solidFill>
                <a:latin typeface="IBM Plex Sans" pitchFamily="34" charset="0"/>
                <a:ea typeface="IBM Plex Sans" pitchFamily="34" charset="-122"/>
                <a:cs typeface="IBM Plex Sans" pitchFamily="34" charset="-120"/>
              </a:rPr>
              <a:t>Revisar la imagen marcada antes de confiar en los números</a:t>
            </a:r>
            <a:endParaRPr lang="en-US" sz="1500" dirty="0"/>
          </a:p>
        </p:txBody>
      </p:sp>
      <p:sp>
        <p:nvSpPr>
          <p:cNvPr id="13" name="Shape 11"/>
          <p:cNvSpPr/>
          <p:nvPr/>
        </p:nvSpPr>
        <p:spPr>
          <a:xfrm>
            <a:off x="815975" y="4163318"/>
            <a:ext cx="10560050" cy="661591"/>
          </a:xfrm>
          <a:prstGeom prst="roundRect">
            <a:avLst>
              <a:gd name="adj" fmla="val 14877"/>
            </a:avLst>
          </a:prstGeom>
          <a:solidFill>
            <a:srgbClr val="FCFBF7"/>
          </a:solidFill>
          <a:ln w="6350">
            <a:solidFill>
              <a:srgbClr val="DDD8CC"/>
            </a:solidFill>
            <a:prstDash val="solid"/>
          </a:ln>
        </p:spPr>
      </p:sp>
      <p:sp>
        <p:nvSpPr>
          <p:cNvPr id="14" name="Text 12"/>
          <p:cNvSpPr/>
          <p:nvPr/>
        </p:nvSpPr>
        <p:spPr>
          <a:xfrm>
            <a:off x="1022350" y="4280793"/>
            <a:ext cx="3556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201A"/>
                </a:solidFill>
                <a:latin typeface="Source Serif 4" pitchFamily="18" charset="0"/>
                <a:ea typeface="Source Serif 4" pitchFamily="18" charset="-122"/>
                <a:cs typeface="Source Serif 4" pitchFamily="18" charset="-120"/>
              </a:rPr>
              <a:t>4</a:t>
            </a:r>
            <a:endParaRPr lang="en-US" sz="2400" dirty="0"/>
          </a:p>
        </p:txBody>
      </p:sp>
      <p:sp>
        <p:nvSpPr>
          <p:cNvPr id="15" name="Text 13"/>
          <p:cNvSpPr/>
          <p:nvPr/>
        </p:nvSpPr>
        <p:spPr>
          <a:xfrm>
            <a:off x="1504950" y="4370288"/>
            <a:ext cx="326040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C2630"/>
                </a:solidFill>
                <a:latin typeface="IBM Plex Sans" pitchFamily="34" charset="0"/>
                <a:ea typeface="IBM Plex Sans" pitchFamily="34" charset="-122"/>
                <a:cs typeface="IBM Plex Sans" pitchFamily="34" charset="-120"/>
              </a:rPr>
              <a:t>Guardar el CSV junto con el PDF</a:t>
            </a:r>
            <a:endParaRPr lang="en-US" sz="1500" dirty="0"/>
          </a:p>
        </p:txBody>
      </p:sp>
      <p:sp>
        <p:nvSpPr>
          <p:cNvPr id="16" name="Shape 14"/>
          <p:cNvSpPr/>
          <p:nvPr/>
        </p:nvSpPr>
        <p:spPr>
          <a:xfrm>
            <a:off x="815975" y="4932859"/>
            <a:ext cx="10560050" cy="661591"/>
          </a:xfrm>
          <a:prstGeom prst="roundRect">
            <a:avLst>
              <a:gd name="adj" fmla="val 14877"/>
            </a:avLst>
          </a:prstGeom>
          <a:solidFill>
            <a:srgbClr val="FCFBF7"/>
          </a:solidFill>
          <a:ln w="6350">
            <a:solidFill>
              <a:srgbClr val="DDD8CC"/>
            </a:solidFill>
            <a:prstDash val="solid"/>
          </a:ln>
        </p:spPr>
      </p:sp>
      <p:sp>
        <p:nvSpPr>
          <p:cNvPr id="17" name="Text 15"/>
          <p:cNvSpPr/>
          <p:nvPr/>
        </p:nvSpPr>
        <p:spPr>
          <a:xfrm>
            <a:off x="1022350" y="5050334"/>
            <a:ext cx="3556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201A"/>
                </a:solidFill>
                <a:latin typeface="Source Serif 4" pitchFamily="18" charset="0"/>
                <a:ea typeface="Source Serif 4" pitchFamily="18" charset="-122"/>
                <a:cs typeface="Source Serif 4" pitchFamily="18" charset="-120"/>
              </a:rPr>
              <a:t>5</a:t>
            </a:r>
            <a:endParaRPr lang="en-US" sz="2400" dirty="0"/>
          </a:p>
        </p:txBody>
      </p:sp>
      <p:sp>
        <p:nvSpPr>
          <p:cNvPr id="18" name="Text 16"/>
          <p:cNvSpPr/>
          <p:nvPr/>
        </p:nvSpPr>
        <p:spPr>
          <a:xfrm>
            <a:off x="1504950" y="5139829"/>
            <a:ext cx="515957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C2630"/>
                </a:solidFill>
                <a:latin typeface="IBM Plex Sans" pitchFamily="34" charset="0"/>
                <a:ea typeface="IBM Plex Sans" pitchFamily="34" charset="-122"/>
                <a:cs typeface="IBM Plex Sans" pitchFamily="34" charset="-120"/>
              </a:rPr>
              <a:t>Conservar las imágenes que el modelo analiza mal</a:t>
            </a:r>
            <a:endParaRPr lang="en-US" sz="15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RESUMEN DE LA DEMOSTRACIÓN</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Lo que vimos</a:t>
            </a:r>
            <a:endParaRPr lang="en-US" sz="3600" dirty="0"/>
          </a:p>
        </p:txBody>
      </p:sp>
      <p:sp>
        <p:nvSpPr>
          <p:cNvPr id="4" name="Text 2"/>
          <p:cNvSpPr/>
          <p:nvPr/>
        </p:nvSpPr>
        <p:spPr>
          <a:xfrm>
            <a:off x="815975" y="1854696"/>
            <a:ext cx="5213350" cy="551160"/>
          </a:xfrm>
          <a:prstGeom prst="roundRect">
            <a:avLst>
              <a:gd name="adj" fmla="val 17858"/>
            </a:avLst>
          </a:prstGeom>
          <a:solidFill>
            <a:srgbClr val="FCFBF7"/>
          </a:solidFill>
          <a:ln w="6350">
            <a:solidFill>
              <a:srgbClr val="DDD8CC"/>
            </a:solidFill>
            <a:prstDash val="solid"/>
          </a:ln>
        </p:spPr>
        <p:txBody>
          <a:bodyPr wrap="square" lIns="152147" tIns="126747" rIns="6605" bIns="101347"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Sitio informativo bilingüe y análisis con cuenta gratuita</a:t>
            </a:r>
            <a:endParaRPr lang="en-US" sz="1400" dirty="0"/>
          </a:p>
        </p:txBody>
      </p:sp>
      <p:sp>
        <p:nvSpPr>
          <p:cNvPr id="5" name="Text 3"/>
          <p:cNvSpPr/>
          <p:nvPr/>
        </p:nvSpPr>
        <p:spPr>
          <a:xfrm>
            <a:off x="6162675" y="1854696"/>
            <a:ext cx="5213350" cy="551160"/>
          </a:xfrm>
          <a:prstGeom prst="roundRect">
            <a:avLst>
              <a:gd name="adj" fmla="val 17858"/>
            </a:avLst>
          </a:prstGeom>
          <a:solidFill>
            <a:srgbClr val="FCFBF7"/>
          </a:solidFill>
          <a:ln w="6350">
            <a:solidFill>
              <a:srgbClr val="DDD8CC"/>
            </a:solidFill>
            <a:prstDash val="solid"/>
          </a:ln>
        </p:spPr>
        <p:txBody>
          <a:bodyPr wrap="square" lIns="152147" tIns="126747" rIns="6605" bIns="101347"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Hasta diez imágenes; el modelo se elige por el brillo</a:t>
            </a:r>
            <a:endParaRPr lang="en-US" sz="1400" dirty="0"/>
          </a:p>
        </p:txBody>
      </p:sp>
      <p:sp>
        <p:nvSpPr>
          <p:cNvPr id="6" name="Text 4"/>
          <p:cNvSpPr/>
          <p:nvPr/>
        </p:nvSpPr>
        <p:spPr>
          <a:xfrm>
            <a:off x="815975" y="2539206"/>
            <a:ext cx="5213350" cy="791170"/>
          </a:xfrm>
          <a:prstGeom prst="roundRect">
            <a:avLst>
              <a:gd name="adj" fmla="val 12440"/>
            </a:avLst>
          </a:prstGeom>
          <a:solidFill>
            <a:srgbClr val="FCFBF7"/>
          </a:solidFill>
          <a:ln w="6350">
            <a:solidFill>
              <a:srgbClr val="DDD8CC"/>
            </a:solidFill>
            <a:prstDash val="solid"/>
          </a:ln>
        </p:spPr>
        <p:txBody>
          <a:bodyPr wrap="square" lIns="152147" tIns="126747" rIns="6605" bIns="101347"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Conteo, área y largo por espermatozoide, con media y desviación</a:t>
            </a:r>
            <a:endParaRPr lang="en-US" sz="1400" dirty="0"/>
          </a:p>
        </p:txBody>
      </p:sp>
      <p:sp>
        <p:nvSpPr>
          <p:cNvPr id="7" name="Text 5"/>
          <p:cNvSpPr/>
          <p:nvPr/>
        </p:nvSpPr>
        <p:spPr>
          <a:xfrm>
            <a:off x="6162675" y="2539206"/>
            <a:ext cx="5213350" cy="791170"/>
          </a:xfrm>
          <a:prstGeom prst="roundRect">
            <a:avLst>
              <a:gd name="adj" fmla="val 12440"/>
            </a:avLst>
          </a:prstGeom>
          <a:solidFill>
            <a:srgbClr val="FCFBF7"/>
          </a:solidFill>
          <a:ln w="6350">
            <a:solidFill>
              <a:srgbClr val="DDD8CC"/>
            </a:solidFill>
            <a:prstDash val="solid"/>
          </a:ln>
        </p:spPr>
        <p:txBody>
          <a:bodyPr wrap="square" lIns="152147" tIns="126747" rIns="6605" bIns="101347"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Zoom, detalle por contorno y distribución de tamaños</a:t>
            </a:r>
            <a:endParaRPr lang="en-US" sz="1400" dirty="0"/>
          </a:p>
        </p:txBody>
      </p:sp>
      <p:sp>
        <p:nvSpPr>
          <p:cNvPr id="8" name="Text 6"/>
          <p:cNvSpPr/>
          <p:nvPr/>
        </p:nvSpPr>
        <p:spPr>
          <a:xfrm>
            <a:off x="815975" y="3463727"/>
            <a:ext cx="5213350" cy="791170"/>
          </a:xfrm>
          <a:prstGeom prst="roundRect">
            <a:avLst>
              <a:gd name="adj" fmla="val 12440"/>
            </a:avLst>
          </a:prstGeom>
          <a:solidFill>
            <a:srgbClr val="FCFBF7"/>
          </a:solidFill>
          <a:ln w="6350">
            <a:solidFill>
              <a:srgbClr val="DDD8CC"/>
            </a:solidFill>
            <a:prstDash val="solid"/>
          </a:ln>
        </p:spPr>
        <p:txBody>
          <a:bodyPr wrap="square" lIns="152147" tIns="126747" rIns="6605" bIns="101347"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Exportación a CSV y PDF; análisis privados en el perfil</a:t>
            </a:r>
            <a:endParaRPr lang="en-US" sz="1400" dirty="0"/>
          </a:p>
        </p:txBody>
      </p:sp>
      <p:sp>
        <p:nvSpPr>
          <p:cNvPr id="9" name="Text 7"/>
          <p:cNvSpPr/>
          <p:nvPr/>
        </p:nvSpPr>
        <p:spPr>
          <a:xfrm>
            <a:off x="6162675" y="3463727"/>
            <a:ext cx="5213350" cy="791170"/>
          </a:xfrm>
          <a:prstGeom prst="roundRect">
            <a:avLst>
              <a:gd name="adj" fmla="val 12440"/>
            </a:avLst>
          </a:prstGeom>
          <a:solidFill>
            <a:srgbClr val="FCFBF7"/>
          </a:solidFill>
          <a:ln w="6350">
            <a:solidFill>
              <a:srgbClr val="DDD8CC"/>
            </a:solidFill>
            <a:prstDash val="solid"/>
          </a:ln>
        </p:spPr>
        <p:txBody>
          <a:bodyPr wrap="square" lIns="152147" tIns="126747" rIns="6605" bIns="101347"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Contexto claro: escala usada, estado del modelo y casos no analizados</a:t>
            </a:r>
            <a:endParaRPr lang="en-US" sz="1400" dirty="0"/>
          </a:p>
        </p:txBody>
      </p:sp>
      <p:sp>
        <p:nvSpPr>
          <p:cNvPr id="10" name="Text 8"/>
          <p:cNvSpPr/>
          <p:nvPr/>
        </p:nvSpPr>
        <p:spPr>
          <a:xfrm>
            <a:off x="812800" y="4486672"/>
            <a:ext cx="10566400" cy="751681"/>
          </a:xfrm>
          <a:prstGeom prst="rect">
            <a:avLst/>
          </a:prstGeom>
          <a:solidFill>
            <a:srgbClr val="ECE7DA"/>
          </a:solidFill>
          <a:ln/>
        </p:spPr>
        <p:txBody>
          <a:bodyPr wrap="square" lIns="254000" tIns="127000" rIns="0" bIns="101600" rtlCol="0" anchor="t">
            <a:normAutofit/>
          </a:bodyPr>
          <a:lstStyle/>
          <a:p>
            <a:pPr algn="l"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Se define con el grupo:</a:t>
            </a:r>
            <a:r>
              <a:rPr lang="en-US" sz="1400" dirty="0">
                <a:solidFill>
                  <a:srgbClr val="1C2630"/>
                </a:solidFill>
                <a:latin typeface="IBM Plex Sans" pitchFamily="34" charset="0"/>
                <a:ea typeface="IBM Plex Sans" pitchFamily="34" charset="-122"/>
                <a:cs typeface="IBM Plex Sans" pitchFamily="34" charset="-120"/>
              </a:rPr>
              <a:t> dirección del formulario de contacto, contenidos definitivos, aviso de privacidad, recuperación de contraseña y escala calibrada.</a:t>
            </a:r>
            <a:endParaRPr lang="en-US" sz="1400" dirty="0"/>
          </a:p>
        </p:txBody>
      </p:sp>
      <p:sp>
        <p:nvSpPr>
          <p:cNvPr id="11" name="Shape 9"/>
          <p:cNvSpPr/>
          <p:nvPr/>
        </p:nvSpPr>
        <p:spPr>
          <a:xfrm>
            <a:off x="838200" y="4486672"/>
            <a:ext cx="0" cy="751681"/>
          </a:xfrm>
          <a:prstGeom prst="line">
            <a:avLst/>
          </a:prstGeom>
          <a:noFill/>
          <a:ln w="50800">
            <a:solidFill>
              <a:srgbClr val="A8201A"/>
            </a:solidFill>
            <a:prstDash val="solid"/>
          </a:ln>
        </p:spPr>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Demostración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5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9887F"/>
                </a:solidFill>
                <a:latin typeface="IBM Plex Sans" pitchFamily="34" charset="0"/>
                <a:ea typeface="IBM Plex Sans" pitchFamily="34" charset="-122"/>
                <a:cs typeface="IBM Plex Sans" pitchFamily="34" charset="-120"/>
              </a:rPr>
              <a:t>TERCER BLOQUE · 50 MINUTOS</a:t>
            </a:r>
            <a:endParaRPr lang="en-US" sz="1400" dirty="0"/>
          </a:p>
        </p:txBody>
      </p:sp>
      <p:sp>
        <p:nvSpPr>
          <p:cNvPr id="3" name="Text 1"/>
          <p:cNvSpPr/>
          <p:nvPr>
            <p:ph type="title"/>
          </p:nvPr>
        </p:nvSpPr>
        <p:spPr>
          <a:xfrm>
            <a:off x="812800" y="2114649"/>
            <a:ext cx="9810750" cy="1732161"/>
          </a:xfrm>
          <a:prstGeom prst="rect">
            <a:avLst/>
          </a:prstGeom>
          <a:noFill/>
          <a:ln/>
        </p:spPr>
        <p:txBody>
          <a:bodyPr wrap="square" lIns="0" tIns="0" rIns="0" bIns="0" rtlCol="0" anchor="t">
            <a:normAutofit/>
          </a:bodyPr>
          <a:lstStyle/>
          <a:p>
            <a:pPr algn="l" indent="0" marL="0">
              <a:lnSpc>
                <a:spcPts val="6720"/>
              </a:lnSpc>
              <a:buNone/>
            </a:pPr>
            <a:r>
              <a:rPr lang="en-US" sz="6400" b="1" i="0" dirty="0">
                <a:solidFill>
                  <a:srgbClr val="F2EFE8"/>
                </a:solidFill>
                <a:latin typeface="Source Serif 4" pitchFamily="18" charset="0"/>
                <a:ea typeface="Source Serif 4" pitchFamily="18" charset="-122"/>
                <a:cs typeface="Source Serif 4" pitchFamily="18" charset="-120"/>
              </a:rPr>
              <a:t>¿Qué es una red neuronal?</a:t>
            </a:r>
            <a:endParaRPr lang="en-US" sz="6400" dirty="0"/>
          </a:p>
        </p:txBody>
      </p:sp>
      <p:sp>
        <p:nvSpPr>
          <p:cNvPr id="4" name="Text 2"/>
          <p:cNvSpPr/>
          <p:nvPr/>
        </p:nvSpPr>
        <p:spPr>
          <a:xfrm>
            <a:off x="815975" y="4877594"/>
            <a:ext cx="2663825" cy="961231"/>
          </a:xfrm>
          <a:prstGeom prst="roundRect">
            <a:avLst>
              <a:gd name="adj" fmla="val 10239"/>
            </a:avLst>
          </a:prstGeom>
          <a:solidFill>
            <a:srgbClr val="1F3345"/>
          </a:solidFill>
          <a:ln w="6350">
            <a:solidFill>
              <a:srgbClr val="33495C"/>
            </a:solidFill>
            <a:prstDash val="solid"/>
          </a:ln>
        </p:spPr>
        <p:txBody>
          <a:bodyPr wrap="square" lIns="177547" tIns="177547" rIns="110015" bIns="177547" rtlCol="0" anchor="t">
            <a:normAutofit/>
          </a:bodyPr>
          <a:lstStyle/>
          <a:p>
            <a:pPr algn="l" indent="0" marL="0">
              <a:lnSpc>
                <a:spcPts val="2160"/>
              </a:lnSpc>
              <a:buNone/>
            </a:pPr>
            <a:r>
              <a:rPr lang="en-US" sz="1600" dirty="0">
                <a:solidFill>
                  <a:srgbClr val="F2EFE8"/>
                </a:solidFill>
                <a:latin typeface="IBM Plex Sans" pitchFamily="34" charset="0"/>
                <a:ea typeface="IBM Plex Sans" pitchFamily="34" charset="-122"/>
                <a:cs typeface="IBM Plex Sans" pitchFamily="34" charset="-120"/>
              </a:rPr>
              <a:t>Qué es</a:t>
            </a:r>
            <a:endParaRPr lang="en-US" sz="1600" dirty="0"/>
          </a:p>
        </p:txBody>
      </p:sp>
      <p:sp>
        <p:nvSpPr>
          <p:cNvPr id="5" name="Text 3"/>
          <p:cNvSpPr/>
          <p:nvPr/>
        </p:nvSpPr>
        <p:spPr>
          <a:xfrm>
            <a:off x="3638550" y="4877594"/>
            <a:ext cx="2663825" cy="961231"/>
          </a:xfrm>
          <a:prstGeom prst="roundRect">
            <a:avLst>
              <a:gd name="adj" fmla="val 10239"/>
            </a:avLst>
          </a:prstGeom>
          <a:solidFill>
            <a:srgbClr val="1F3345"/>
          </a:solidFill>
          <a:ln w="6350">
            <a:solidFill>
              <a:srgbClr val="33495C"/>
            </a:solidFill>
            <a:prstDash val="solid"/>
          </a:ln>
        </p:spPr>
        <p:txBody>
          <a:bodyPr wrap="square" lIns="177547" tIns="177547" rIns="110015" bIns="177547" rtlCol="0" anchor="t">
            <a:normAutofit/>
          </a:bodyPr>
          <a:lstStyle/>
          <a:p>
            <a:pPr algn="l" indent="0" marL="0">
              <a:lnSpc>
                <a:spcPts val="2160"/>
              </a:lnSpc>
              <a:buNone/>
            </a:pPr>
            <a:r>
              <a:rPr lang="en-US" sz="1600" dirty="0">
                <a:solidFill>
                  <a:srgbClr val="F2EFE8"/>
                </a:solidFill>
                <a:latin typeface="IBM Plex Sans" pitchFamily="34" charset="0"/>
                <a:ea typeface="IBM Plex Sans" pitchFamily="34" charset="-122"/>
                <a:cs typeface="IBM Plex Sans" pitchFamily="34" charset="-120"/>
              </a:rPr>
              <a:t>Cómo aprende</a:t>
            </a:r>
            <a:endParaRPr lang="en-US" sz="1600" dirty="0"/>
          </a:p>
        </p:txBody>
      </p:sp>
      <p:sp>
        <p:nvSpPr>
          <p:cNvPr id="6" name="Text 4"/>
          <p:cNvSpPr/>
          <p:nvPr/>
        </p:nvSpPr>
        <p:spPr>
          <a:xfrm>
            <a:off x="6461125" y="4877594"/>
            <a:ext cx="4914900" cy="961231"/>
          </a:xfrm>
          <a:prstGeom prst="roundRect">
            <a:avLst>
              <a:gd name="adj" fmla="val 10239"/>
            </a:avLst>
          </a:prstGeom>
          <a:solidFill>
            <a:srgbClr val="1F3345"/>
          </a:solidFill>
          <a:ln w="6350">
            <a:solidFill>
              <a:srgbClr val="33495C"/>
            </a:solidFill>
            <a:prstDash val="solid"/>
          </a:ln>
        </p:spPr>
        <p:txBody>
          <a:bodyPr wrap="square" lIns="177547" tIns="177547" rIns="42483" bIns="152147" rtlCol="0" anchor="t">
            <a:normAutofit/>
          </a:bodyPr>
          <a:lstStyle/>
          <a:p>
            <a:pPr algn="l" indent="0" marL="0">
              <a:lnSpc>
                <a:spcPts val="2160"/>
              </a:lnSpc>
              <a:buNone/>
            </a:pPr>
            <a:r>
              <a:rPr lang="en-US" sz="1600" dirty="0">
                <a:solidFill>
                  <a:srgbClr val="F2EFE8"/>
                </a:solidFill>
                <a:latin typeface="IBM Plex Sans" pitchFamily="34" charset="0"/>
                <a:ea typeface="IBM Plex Sans" pitchFamily="34" charset="-122"/>
                <a:cs typeface="IBM Plex Sans" pitchFamily="34" charset="-120"/>
              </a:rPr>
              <a:t>Por qué nos sirve una red entrenada para otra cosa</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LA IDEA DE FONDO</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En lugar de escribir reglas, mostrar ejemplos</a:t>
            </a:r>
            <a:endParaRPr lang="en-US" sz="3600" dirty="0"/>
          </a:p>
        </p:txBody>
      </p:sp>
      <p:sp>
        <p:nvSpPr>
          <p:cNvPr id="4" name="Text 2"/>
          <p:cNvSpPr/>
          <p:nvPr/>
        </p:nvSpPr>
        <p:spPr>
          <a:xfrm>
            <a:off x="812800" y="187692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5606B"/>
                </a:solidFill>
                <a:latin typeface="IBM Plex Sans" pitchFamily="34" charset="0"/>
                <a:ea typeface="IBM Plex Sans" pitchFamily="34" charset="-122"/>
                <a:cs typeface="IBM Plex Sans" pitchFamily="34" charset="-120"/>
              </a:rPr>
              <a:t>Programación tradicional</a:t>
            </a:r>
            <a:endParaRPr lang="en-US" sz="1400" dirty="0"/>
          </a:p>
        </p:txBody>
      </p:sp>
      <p:sp>
        <p:nvSpPr>
          <p:cNvPr id="5" name="Text 3"/>
          <p:cNvSpPr/>
          <p:nvPr/>
        </p:nvSpPr>
        <p:spPr>
          <a:xfrm>
            <a:off x="815975" y="2205137"/>
            <a:ext cx="3079750" cy="621010"/>
          </a:xfrm>
          <a:prstGeom prst="roundRect">
            <a:avLst>
              <a:gd name="adj" fmla="val 11759"/>
            </a:avLst>
          </a:prstGeom>
          <a:solidFill>
            <a:srgbClr val="FCFBF7"/>
          </a:solidFill>
          <a:ln w="6350">
            <a:solidFill>
              <a:srgbClr val="DDD8CC"/>
            </a:solidFill>
            <a:prstDash val="solid"/>
          </a:ln>
        </p:spPr>
        <p:txBody>
          <a:bodyPr wrap="square" lIns="40334" tIns="146887" rIns="40334" bIns="121487" rtlCol="0" anchor="t">
            <a:normAutofit/>
          </a:bodyPr>
          <a:lstStyle/>
          <a:p>
            <a:pPr algn="ct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Reglas + datos</a:t>
            </a:r>
            <a:endParaRPr lang="en-US" sz="1600" dirty="0"/>
          </a:p>
        </p:txBody>
      </p:sp>
      <p:pic>
        <p:nvPicPr>
          <p:cNvPr id="6" name="Image 0" descr="arrow-right">    </p:cNvPr>
          <p:cNvPicPr>
            <a:picLocks noChangeAspect="1"/>
          </p:cNvPicPr>
          <p:nvPr/>
        </p:nvPicPr>
        <p:blipFill>
          <a:blip r:embed="rId1"/>
          <a:srcRect l="0" r="0" t="0" b="0"/>
          <a:stretch/>
        </p:blipFill>
        <p:spPr>
          <a:xfrm>
            <a:off x="4025900" y="2388592"/>
            <a:ext cx="406400" cy="254000"/>
          </a:xfrm>
          <a:prstGeom prst="rect">
            <a:avLst/>
          </a:prstGeom>
        </p:spPr>
      </p:pic>
      <p:sp>
        <p:nvSpPr>
          <p:cNvPr id="7" name="Text 4"/>
          <p:cNvSpPr/>
          <p:nvPr/>
        </p:nvSpPr>
        <p:spPr>
          <a:xfrm>
            <a:off x="4562475" y="2205137"/>
            <a:ext cx="3079750" cy="621010"/>
          </a:xfrm>
          <a:prstGeom prst="roundRect">
            <a:avLst>
              <a:gd name="adj" fmla="val 11759"/>
            </a:avLst>
          </a:prstGeom>
          <a:solidFill>
            <a:srgbClr val="FCFBF7"/>
          </a:solidFill>
          <a:ln w="6350">
            <a:solidFill>
              <a:srgbClr val="DDD8CC"/>
            </a:solidFill>
            <a:prstDash val="solid"/>
          </a:ln>
        </p:spPr>
        <p:txBody>
          <a:bodyPr wrap="square" lIns="40334" tIns="146887" rIns="40334" bIns="121487" rtlCol="0" anchor="t">
            <a:normAutofit/>
          </a:bodyPr>
          <a:lstStyle/>
          <a:p>
            <a:pPr algn="ct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Programa</a:t>
            </a:r>
            <a:endParaRPr lang="en-US" sz="1600" dirty="0"/>
          </a:p>
        </p:txBody>
      </p:sp>
      <p:pic>
        <p:nvPicPr>
          <p:cNvPr id="8" name="Image 1" descr="arrow-right">    </p:cNvPr>
          <p:cNvPicPr>
            <a:picLocks noChangeAspect="1"/>
          </p:cNvPicPr>
          <p:nvPr/>
        </p:nvPicPr>
        <p:blipFill>
          <a:blip r:embed="rId2"/>
          <a:srcRect l="0" r="0" t="0" b="0"/>
          <a:stretch/>
        </p:blipFill>
        <p:spPr>
          <a:xfrm>
            <a:off x="7772400" y="2388592"/>
            <a:ext cx="406400" cy="254000"/>
          </a:xfrm>
          <a:prstGeom prst="rect">
            <a:avLst/>
          </a:prstGeom>
        </p:spPr>
      </p:pic>
      <p:sp>
        <p:nvSpPr>
          <p:cNvPr id="9" name="Text 5"/>
          <p:cNvSpPr/>
          <p:nvPr/>
        </p:nvSpPr>
        <p:spPr>
          <a:xfrm>
            <a:off x="8305800" y="2208312"/>
            <a:ext cx="3073400" cy="614660"/>
          </a:xfrm>
          <a:prstGeom prst="roundRect">
            <a:avLst>
              <a:gd name="adj" fmla="val 12397"/>
            </a:avLst>
          </a:prstGeom>
          <a:solidFill>
            <a:srgbClr val="2F5D7C"/>
          </a:solidFill>
          <a:ln/>
        </p:spPr>
        <p:txBody>
          <a:bodyPr wrap="square" lIns="36229" tIns="142782" rIns="36229" bIns="117382" rtlCol="0" anchor="t">
            <a:normAutofit/>
          </a:bodyPr>
          <a:lstStyle/>
          <a:p>
            <a:pPr algn="ctr" indent="0" marL="0">
              <a:lnSpc>
                <a:spcPts val="2240"/>
              </a:lnSpc>
              <a:buNone/>
            </a:pPr>
            <a:r>
              <a:rPr lang="en-US" sz="1600" b="1" dirty="0">
                <a:solidFill>
                  <a:srgbClr val="F6F3EC"/>
                </a:solidFill>
                <a:latin typeface="IBM Plex Sans" pitchFamily="34" charset="0"/>
                <a:ea typeface="IBM Plex Sans" pitchFamily="34" charset="-122"/>
                <a:cs typeface="IBM Plex Sans" pitchFamily="34" charset="-120"/>
              </a:rPr>
              <a:t>Respuestas</a:t>
            </a:r>
            <a:endParaRPr lang="en-US" sz="1600" dirty="0"/>
          </a:p>
        </p:txBody>
      </p:sp>
      <p:sp>
        <p:nvSpPr>
          <p:cNvPr id="10" name="Text 6"/>
          <p:cNvSpPr/>
          <p:nvPr/>
        </p:nvSpPr>
        <p:spPr>
          <a:xfrm>
            <a:off x="812800" y="308332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5606B"/>
                </a:solidFill>
                <a:latin typeface="IBM Plex Sans" pitchFamily="34" charset="0"/>
                <a:ea typeface="IBM Plex Sans" pitchFamily="34" charset="-122"/>
                <a:cs typeface="IBM Plex Sans" pitchFamily="34" charset="-120"/>
              </a:rPr>
              <a:t>Aprendizaje automático</a:t>
            </a:r>
            <a:endParaRPr lang="en-US" sz="1400" dirty="0"/>
          </a:p>
        </p:txBody>
      </p:sp>
      <p:sp>
        <p:nvSpPr>
          <p:cNvPr id="11" name="Text 7"/>
          <p:cNvSpPr/>
          <p:nvPr/>
        </p:nvSpPr>
        <p:spPr>
          <a:xfrm>
            <a:off x="815975" y="3411538"/>
            <a:ext cx="3079750" cy="621010"/>
          </a:xfrm>
          <a:prstGeom prst="roundRect">
            <a:avLst>
              <a:gd name="adj" fmla="val 11759"/>
            </a:avLst>
          </a:prstGeom>
          <a:solidFill>
            <a:srgbClr val="FCFBF7"/>
          </a:solidFill>
          <a:ln w="6350">
            <a:solidFill>
              <a:srgbClr val="DDD8CC"/>
            </a:solidFill>
            <a:prstDash val="solid"/>
          </a:ln>
        </p:spPr>
        <p:txBody>
          <a:bodyPr wrap="square" lIns="40334" tIns="146887" rIns="40334" bIns="121487" rtlCol="0" anchor="t">
            <a:normAutofit/>
          </a:bodyPr>
          <a:lstStyle/>
          <a:p>
            <a:pPr algn="ct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Datos + respuestas</a:t>
            </a:r>
            <a:endParaRPr lang="en-US" sz="1600" dirty="0"/>
          </a:p>
        </p:txBody>
      </p:sp>
      <p:pic>
        <p:nvPicPr>
          <p:cNvPr id="12" name="Image 2" descr="arrow-right">    </p:cNvPr>
          <p:cNvPicPr>
            <a:picLocks noChangeAspect="1"/>
          </p:cNvPicPr>
          <p:nvPr/>
        </p:nvPicPr>
        <p:blipFill>
          <a:blip r:embed="rId3"/>
          <a:srcRect l="0" r="0" t="0" b="0"/>
          <a:stretch/>
        </p:blipFill>
        <p:spPr>
          <a:xfrm>
            <a:off x="4025900" y="3594993"/>
            <a:ext cx="406400" cy="254000"/>
          </a:xfrm>
          <a:prstGeom prst="rect">
            <a:avLst/>
          </a:prstGeom>
        </p:spPr>
      </p:pic>
      <p:sp>
        <p:nvSpPr>
          <p:cNvPr id="13" name="Text 8"/>
          <p:cNvSpPr/>
          <p:nvPr/>
        </p:nvSpPr>
        <p:spPr>
          <a:xfrm>
            <a:off x="4562475" y="3411538"/>
            <a:ext cx="3079750" cy="621010"/>
          </a:xfrm>
          <a:prstGeom prst="roundRect">
            <a:avLst>
              <a:gd name="adj" fmla="val 11759"/>
            </a:avLst>
          </a:prstGeom>
          <a:solidFill>
            <a:srgbClr val="FCFBF7"/>
          </a:solidFill>
          <a:ln w="6350">
            <a:solidFill>
              <a:srgbClr val="DDD8CC"/>
            </a:solidFill>
            <a:prstDash val="solid"/>
          </a:ln>
        </p:spPr>
        <p:txBody>
          <a:bodyPr wrap="square" lIns="40334" tIns="146887" rIns="40334" bIns="121487" rtlCol="0" anchor="t">
            <a:normAutofit/>
          </a:bodyPr>
          <a:lstStyle/>
          <a:p>
            <a:pPr algn="ctr"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Aprendizaje</a:t>
            </a:r>
            <a:endParaRPr lang="en-US" sz="1600" dirty="0"/>
          </a:p>
        </p:txBody>
      </p:sp>
      <p:pic>
        <p:nvPicPr>
          <p:cNvPr id="14" name="Image 3" descr="arrow-right">    </p:cNvPr>
          <p:cNvPicPr>
            <a:picLocks noChangeAspect="1"/>
          </p:cNvPicPr>
          <p:nvPr/>
        </p:nvPicPr>
        <p:blipFill>
          <a:blip r:embed="rId4"/>
          <a:srcRect l="0" r="0" t="0" b="0"/>
          <a:stretch/>
        </p:blipFill>
        <p:spPr>
          <a:xfrm>
            <a:off x="7772400" y="3594993"/>
            <a:ext cx="406400" cy="254000"/>
          </a:xfrm>
          <a:prstGeom prst="rect">
            <a:avLst/>
          </a:prstGeom>
        </p:spPr>
      </p:pic>
      <p:sp>
        <p:nvSpPr>
          <p:cNvPr id="15" name="Text 9"/>
          <p:cNvSpPr/>
          <p:nvPr/>
        </p:nvSpPr>
        <p:spPr>
          <a:xfrm>
            <a:off x="8305800" y="3414713"/>
            <a:ext cx="3073400" cy="614660"/>
          </a:xfrm>
          <a:prstGeom prst="roundRect">
            <a:avLst>
              <a:gd name="adj" fmla="val 12397"/>
            </a:avLst>
          </a:prstGeom>
          <a:solidFill>
            <a:srgbClr val="A8201A"/>
          </a:solidFill>
          <a:ln/>
        </p:spPr>
        <p:txBody>
          <a:bodyPr wrap="square" lIns="36229" tIns="142782" rIns="36229" bIns="117382" rtlCol="0" anchor="t">
            <a:normAutofit/>
          </a:bodyPr>
          <a:lstStyle/>
          <a:p>
            <a:pPr algn="ctr" indent="0" marL="0">
              <a:lnSpc>
                <a:spcPts val="2240"/>
              </a:lnSpc>
              <a:buNone/>
            </a:pPr>
            <a:r>
              <a:rPr lang="en-US" sz="1600" b="1" dirty="0">
                <a:solidFill>
                  <a:srgbClr val="F6F3EC"/>
                </a:solidFill>
                <a:latin typeface="IBM Plex Sans" pitchFamily="34" charset="0"/>
                <a:ea typeface="IBM Plex Sans" pitchFamily="34" charset="-122"/>
                <a:cs typeface="IBM Plex Sans" pitchFamily="34" charset="-120"/>
              </a:rPr>
              <a:t>Reglas</a:t>
            </a:r>
            <a:endParaRPr lang="en-US" sz="1600" dirty="0"/>
          </a:p>
        </p:txBody>
      </p:sp>
      <p:sp>
        <p:nvSpPr>
          <p:cNvPr id="16" name="Text 10"/>
          <p:cNvSpPr/>
          <p:nvPr/>
        </p:nvSpPr>
        <p:spPr>
          <a:xfrm>
            <a:off x="812800" y="4289723"/>
            <a:ext cx="98107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Una red no entiende qué es un espermatozoide: encuentra pesos que reproducen lo que las personas marcaron en los ejemplos.</a:t>
            </a:r>
            <a:endParaRPr lang="en-US" sz="1400" dirty="0"/>
          </a:p>
        </p:txBody>
      </p:sp>
      <p:sp>
        <p:nvSpPr>
          <p:cNvPr id="17"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EL PROBLEMA</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Por qué no basta un umbral de brillo</a:t>
            </a:r>
            <a:endParaRPr lang="en-US" sz="3600" dirty="0"/>
          </a:p>
        </p:txBody>
      </p:sp>
      <p:sp>
        <p:nvSpPr>
          <p:cNvPr id="4" name="Shape 2"/>
          <p:cNvSpPr/>
          <p:nvPr/>
        </p:nvSpPr>
        <p:spPr>
          <a:xfrm>
            <a:off x="815975" y="1905496"/>
            <a:ext cx="5200650" cy="990501"/>
          </a:xfrm>
          <a:prstGeom prst="roundRect">
            <a:avLst>
              <a:gd name="adj" fmla="val 9937"/>
            </a:avLst>
          </a:prstGeom>
          <a:solidFill>
            <a:srgbClr val="FCFBF7"/>
          </a:solidFill>
          <a:ln w="6350">
            <a:solidFill>
              <a:srgbClr val="DDD8CC"/>
            </a:solidFill>
            <a:prstDash val="solid"/>
          </a:ln>
        </p:spPr>
      </p:sp>
      <p:sp>
        <p:nvSpPr>
          <p:cNvPr id="5" name="Text 3"/>
          <p:cNvSpPr/>
          <p:nvPr/>
        </p:nvSpPr>
        <p:spPr>
          <a:xfrm>
            <a:off x="1022350" y="2111871"/>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Las colas también brillan</a:t>
            </a:r>
            <a:endParaRPr lang="en-US" sz="1800" dirty="0"/>
          </a:p>
        </p:txBody>
      </p:sp>
      <p:sp>
        <p:nvSpPr>
          <p:cNvPr id="6" name="Text 4"/>
          <p:cNvSpPr/>
          <p:nvPr/>
        </p:nvSpPr>
        <p:spPr>
          <a:xfrm>
            <a:off x="1022350" y="2449612"/>
            <a:ext cx="493153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5606B"/>
                </a:solidFill>
                <a:latin typeface="IBM Plex Sans" pitchFamily="34" charset="0"/>
                <a:ea typeface="IBM Plex Sans" pitchFamily="34" charset="-122"/>
                <a:cs typeface="IBM Plex Sans" pitchFamily="34" charset="-120"/>
              </a:rPr>
              <a:t>Y no deben contarse.</a:t>
            </a:r>
            <a:endParaRPr lang="en-US" sz="1400" dirty="0"/>
          </a:p>
        </p:txBody>
      </p:sp>
      <p:sp>
        <p:nvSpPr>
          <p:cNvPr id="7" name="Shape 5"/>
          <p:cNvSpPr/>
          <p:nvPr/>
        </p:nvSpPr>
        <p:spPr>
          <a:xfrm>
            <a:off x="6175375" y="1905496"/>
            <a:ext cx="5200650" cy="990501"/>
          </a:xfrm>
          <a:prstGeom prst="roundRect">
            <a:avLst>
              <a:gd name="adj" fmla="val 9937"/>
            </a:avLst>
          </a:prstGeom>
          <a:solidFill>
            <a:srgbClr val="FCFBF7"/>
          </a:solidFill>
          <a:ln w="6350">
            <a:solidFill>
              <a:srgbClr val="DDD8CC"/>
            </a:solidFill>
            <a:prstDash val="solid"/>
          </a:ln>
        </p:spPr>
      </p:sp>
      <p:sp>
        <p:nvSpPr>
          <p:cNvPr id="8" name="Text 6"/>
          <p:cNvSpPr/>
          <p:nvPr/>
        </p:nvSpPr>
        <p:spPr>
          <a:xfrm>
            <a:off x="6381750" y="2111871"/>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Manchas difusas</a:t>
            </a:r>
            <a:endParaRPr lang="en-US" sz="1800" dirty="0"/>
          </a:p>
        </p:txBody>
      </p:sp>
      <p:sp>
        <p:nvSpPr>
          <p:cNvPr id="9" name="Text 7"/>
          <p:cNvSpPr/>
          <p:nvPr/>
        </p:nvSpPr>
        <p:spPr>
          <a:xfrm>
            <a:off x="6381750" y="2449612"/>
            <a:ext cx="493153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5606B"/>
                </a:solidFill>
                <a:latin typeface="IBM Plex Sans" pitchFamily="34" charset="0"/>
                <a:ea typeface="IBM Plex Sans" pitchFamily="34" charset="-122"/>
                <a:cs typeface="IBM Plex Sans" pitchFamily="34" charset="-120"/>
              </a:rPr>
              <a:t>Grandes y fuera de foco, pasan el umbral.</a:t>
            </a:r>
            <a:endParaRPr lang="en-US" sz="1400" dirty="0"/>
          </a:p>
        </p:txBody>
      </p:sp>
      <p:sp>
        <p:nvSpPr>
          <p:cNvPr id="10" name="Shape 8"/>
          <p:cNvSpPr/>
          <p:nvPr/>
        </p:nvSpPr>
        <p:spPr>
          <a:xfrm>
            <a:off x="815975" y="3054747"/>
            <a:ext cx="5200650" cy="990501"/>
          </a:xfrm>
          <a:prstGeom prst="roundRect">
            <a:avLst>
              <a:gd name="adj" fmla="val 9937"/>
            </a:avLst>
          </a:prstGeom>
          <a:solidFill>
            <a:srgbClr val="FCFBF7"/>
          </a:solidFill>
          <a:ln w="6350">
            <a:solidFill>
              <a:srgbClr val="DDD8CC"/>
            </a:solidFill>
            <a:prstDash val="solid"/>
          </a:ln>
        </p:spPr>
      </p:sp>
      <p:sp>
        <p:nvSpPr>
          <p:cNvPr id="11" name="Text 9"/>
          <p:cNvSpPr/>
          <p:nvPr/>
        </p:nvSpPr>
        <p:spPr>
          <a:xfrm>
            <a:off x="1022350" y="3261122"/>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Células encimadas</a:t>
            </a:r>
            <a:endParaRPr lang="en-US" sz="1800" dirty="0"/>
          </a:p>
        </p:txBody>
      </p:sp>
      <p:sp>
        <p:nvSpPr>
          <p:cNvPr id="12" name="Text 10"/>
          <p:cNvSpPr/>
          <p:nvPr/>
        </p:nvSpPr>
        <p:spPr>
          <a:xfrm>
            <a:off x="1022350" y="3598863"/>
            <a:ext cx="493153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5606B"/>
                </a:solidFill>
                <a:latin typeface="IBM Plex Sans" pitchFamily="34" charset="0"/>
                <a:ea typeface="IBM Plex Sans" pitchFamily="34" charset="-122"/>
                <a:cs typeface="IBM Plex Sans" pitchFamily="34" charset="-120"/>
              </a:rPr>
              <a:t>El umbral las une en una sola mancha.</a:t>
            </a:r>
            <a:endParaRPr lang="en-US" sz="1400" dirty="0"/>
          </a:p>
        </p:txBody>
      </p:sp>
      <p:sp>
        <p:nvSpPr>
          <p:cNvPr id="13" name="Shape 11"/>
          <p:cNvSpPr/>
          <p:nvPr/>
        </p:nvSpPr>
        <p:spPr>
          <a:xfrm>
            <a:off x="6175375" y="3054747"/>
            <a:ext cx="5200650" cy="990501"/>
          </a:xfrm>
          <a:prstGeom prst="roundRect">
            <a:avLst>
              <a:gd name="adj" fmla="val 9937"/>
            </a:avLst>
          </a:prstGeom>
          <a:solidFill>
            <a:srgbClr val="FCFBF7"/>
          </a:solidFill>
          <a:ln w="6350">
            <a:solidFill>
              <a:srgbClr val="DDD8CC"/>
            </a:solidFill>
            <a:prstDash val="solid"/>
          </a:ln>
        </p:spPr>
      </p:sp>
      <p:sp>
        <p:nvSpPr>
          <p:cNvPr id="14" name="Text 12"/>
          <p:cNvSpPr/>
          <p:nvPr/>
        </p:nvSpPr>
        <p:spPr>
          <a:xfrm>
            <a:off x="6381750" y="3261122"/>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Iluminación y tinción</a:t>
            </a:r>
            <a:endParaRPr lang="en-US" sz="1800" dirty="0"/>
          </a:p>
        </p:txBody>
      </p:sp>
      <p:sp>
        <p:nvSpPr>
          <p:cNvPr id="15" name="Text 13"/>
          <p:cNvSpPr/>
          <p:nvPr/>
        </p:nvSpPr>
        <p:spPr>
          <a:xfrm>
            <a:off x="6381750" y="3598863"/>
            <a:ext cx="493153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5606B"/>
                </a:solidFill>
                <a:latin typeface="IBM Plex Sans" pitchFamily="34" charset="0"/>
                <a:ea typeface="IBM Plex Sans" pitchFamily="34" charset="-122"/>
                <a:cs typeface="IBM Plex Sans" pitchFamily="34" charset="-120"/>
              </a:rPr>
              <a:t>Un umbral que sirve hoy falla en la foto siguiente.</a:t>
            </a:r>
            <a:endParaRPr lang="en-US" sz="1400" dirty="0"/>
          </a:p>
        </p:txBody>
      </p:sp>
      <p:sp>
        <p:nvSpPr>
          <p:cNvPr id="16" name="Text 14"/>
          <p:cNvSpPr/>
          <p:nvPr/>
        </p:nvSpPr>
        <p:spPr>
          <a:xfrm>
            <a:off x="812800" y="4327823"/>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Cada regla nueva trae sus excepciones, y cada excepción puede romper lo que ya funcionaba. Por eso el sitio usa el umbral solo como detección de respaldo.</a:t>
            </a:r>
            <a:endParaRPr lang="en-US" sz="15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VOCABULARIO</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Cuatro términos que se mezclan</a:t>
            </a:r>
            <a:endParaRPr lang="en-US" sz="3600" dirty="0"/>
          </a:p>
        </p:txBody>
      </p:sp>
      <p:sp>
        <p:nvSpPr>
          <p:cNvPr id="4" name="Shape 2"/>
          <p:cNvSpPr/>
          <p:nvPr/>
        </p:nvSpPr>
        <p:spPr>
          <a:xfrm>
            <a:off x="819150" y="1883271"/>
            <a:ext cx="10553700" cy="2463800"/>
          </a:xfrm>
          <a:prstGeom prst="roundRect">
            <a:avLst>
              <a:gd name="adj" fmla="val 4897"/>
            </a:avLst>
          </a:prstGeom>
          <a:solidFill>
            <a:srgbClr val="E9E4D7"/>
          </a:solidFill>
          <a:ln w="12700">
            <a:solidFill>
              <a:srgbClr val="C9C2B2"/>
            </a:solidFill>
            <a:prstDash val="solid"/>
          </a:ln>
        </p:spPr>
      </p:sp>
      <p:sp>
        <p:nvSpPr>
          <p:cNvPr id="5" name="Text 3"/>
          <p:cNvSpPr/>
          <p:nvPr/>
        </p:nvSpPr>
        <p:spPr>
          <a:xfrm>
            <a:off x="1028700" y="2042021"/>
            <a:ext cx="1043863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630"/>
                </a:solidFill>
                <a:latin typeface="IBM Plex Sans" pitchFamily="34" charset="0"/>
                <a:ea typeface="IBM Plex Sans" pitchFamily="34" charset="-122"/>
                <a:cs typeface="IBM Plex Sans" pitchFamily="34" charset="-120"/>
              </a:rPr>
              <a:t>Inteligencia artificial · técnicas que hacen que una máquina realice tareas que asociamos con la inteligencia</a:t>
            </a:r>
            <a:endParaRPr lang="en-US" sz="1500" dirty="0"/>
          </a:p>
        </p:txBody>
      </p:sp>
      <p:sp>
        <p:nvSpPr>
          <p:cNvPr id="6" name="Shape 4"/>
          <p:cNvSpPr/>
          <p:nvPr/>
        </p:nvSpPr>
        <p:spPr>
          <a:xfrm>
            <a:off x="1035050" y="2403971"/>
            <a:ext cx="10121900" cy="1778000"/>
          </a:xfrm>
          <a:prstGeom prst="roundRect">
            <a:avLst>
              <a:gd name="adj" fmla="val 5357"/>
            </a:avLst>
          </a:prstGeom>
          <a:solidFill>
            <a:srgbClr val="DDE6EC"/>
          </a:solidFill>
          <a:ln w="12700">
            <a:solidFill>
              <a:srgbClr val="9DB6C6"/>
            </a:solidFill>
            <a:prstDash val="solid"/>
          </a:ln>
        </p:spPr>
      </p:sp>
      <p:sp>
        <p:nvSpPr>
          <p:cNvPr id="7" name="Text 5"/>
          <p:cNvSpPr/>
          <p:nvPr/>
        </p:nvSpPr>
        <p:spPr>
          <a:xfrm>
            <a:off x="1219200" y="2550021"/>
            <a:ext cx="1004620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630"/>
                </a:solidFill>
                <a:latin typeface="IBM Plex Sans" pitchFamily="34" charset="0"/>
                <a:ea typeface="IBM Plex Sans" pitchFamily="34" charset="-122"/>
                <a:cs typeface="IBM Plex Sans" pitchFamily="34" charset="-120"/>
              </a:rPr>
              <a:t>Aprendizaje automático · aprende a partir de ejemplos</a:t>
            </a:r>
            <a:endParaRPr lang="en-US" sz="1500" dirty="0"/>
          </a:p>
        </p:txBody>
      </p:sp>
      <p:sp>
        <p:nvSpPr>
          <p:cNvPr id="8" name="Shape 6"/>
          <p:cNvSpPr/>
          <p:nvPr/>
        </p:nvSpPr>
        <p:spPr>
          <a:xfrm>
            <a:off x="1225550" y="2911971"/>
            <a:ext cx="9740900" cy="1117600"/>
          </a:xfrm>
          <a:prstGeom prst="roundRect">
            <a:avLst>
              <a:gd name="adj" fmla="val 6250"/>
            </a:avLst>
          </a:prstGeom>
          <a:solidFill>
            <a:srgbClr val="C9DCE8"/>
          </a:solidFill>
          <a:ln w="12700">
            <a:solidFill>
              <a:srgbClr val="2F5D7C"/>
            </a:solidFill>
            <a:prstDash val="solid"/>
          </a:ln>
        </p:spPr>
      </p:sp>
      <p:sp>
        <p:nvSpPr>
          <p:cNvPr id="9" name="Text 7"/>
          <p:cNvSpPr/>
          <p:nvPr/>
        </p:nvSpPr>
        <p:spPr>
          <a:xfrm>
            <a:off x="1397000" y="3045321"/>
            <a:ext cx="96799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630"/>
                </a:solidFill>
                <a:latin typeface="IBM Plex Sans" pitchFamily="34" charset="0"/>
                <a:ea typeface="IBM Plex Sans" pitchFamily="34" charset="-122"/>
                <a:cs typeface="IBM Plex Sans" pitchFamily="34" charset="-120"/>
              </a:rPr>
              <a:t>Redes neuronales · capas de neuronas con pesos ajustables</a:t>
            </a:r>
            <a:endParaRPr lang="en-US" sz="1500" dirty="0"/>
          </a:p>
        </p:txBody>
      </p:sp>
      <p:sp>
        <p:nvSpPr>
          <p:cNvPr id="10" name="Text 8"/>
          <p:cNvSpPr/>
          <p:nvPr/>
        </p:nvSpPr>
        <p:spPr>
          <a:xfrm>
            <a:off x="1397000" y="3400921"/>
            <a:ext cx="9398000" cy="495300"/>
          </a:xfrm>
          <a:prstGeom prst="roundRect">
            <a:avLst>
              <a:gd name="adj" fmla="val 10256"/>
            </a:avLst>
          </a:prstGeom>
          <a:solidFill>
            <a:srgbClr val="2F5D7C"/>
          </a:solidFill>
          <a:ln/>
        </p:spPr>
        <p:txBody>
          <a:bodyPr wrap="square" lIns="137521" tIns="99421" rIns="0" bIns="74021" rtlCol="0" anchor="t">
            <a:normAutofit/>
          </a:bodyPr>
          <a:lstStyle/>
          <a:p>
            <a:pPr algn="l" indent="0" marL="0">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Aprendizaje profundo · redes con muchas capas. Es lo que usa este proyecto</a:t>
            </a:r>
            <a:endParaRPr lang="en-US" sz="15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LA NEURONA ARTIFICIAL</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Multiplicar, sumar y activar</a:t>
            </a:r>
            <a:endParaRPr lang="en-US" sz="3600" dirty="0"/>
          </a:p>
        </p:txBody>
      </p:sp>
      <p:sp>
        <p:nvSpPr>
          <p:cNvPr id="4" name="Text 2"/>
          <p:cNvSpPr/>
          <p:nvPr/>
        </p:nvSpPr>
        <p:spPr>
          <a:xfrm>
            <a:off x="815975" y="1880096"/>
            <a:ext cx="1002209" cy="407591"/>
          </a:xfrm>
          <a:prstGeom prst="roundRect">
            <a:avLst>
              <a:gd name="adj" fmla="val 14800"/>
            </a:avLst>
          </a:prstGeom>
          <a:solidFill>
            <a:srgbClr val="FCFBF7"/>
          </a:solidFill>
          <a:ln w="6350">
            <a:solidFill>
              <a:srgbClr val="DDD8CC"/>
            </a:solidFill>
            <a:prstDash val="solid"/>
          </a:ln>
        </p:spPr>
        <p:txBody>
          <a:bodyPr wrap="none" lIns="0" tIns="0" rIns="0" bIns="0" rtlCol="0" anchor="ctr">
            <a:normAutofit/>
          </a:bodyPr>
          <a:lstStyle/>
          <a:p>
            <a:pPr algn="ct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entrada 1</a:t>
            </a:r>
            <a:endParaRPr lang="en-US" sz="1400" dirty="0"/>
          </a:p>
        </p:txBody>
      </p:sp>
      <p:sp>
        <p:nvSpPr>
          <p:cNvPr id="5" name="Text 3"/>
          <p:cNvSpPr/>
          <p:nvPr/>
        </p:nvSpPr>
        <p:spPr>
          <a:xfrm>
            <a:off x="1884859" y="1883271"/>
            <a:ext cx="920651" cy="401241"/>
          </a:xfrm>
          <a:prstGeom prst="roundRect">
            <a:avLst>
              <a:gd name="adj" fmla="val 15826"/>
            </a:avLst>
          </a:prstGeom>
          <a:solidFill>
            <a:srgbClr val="2F5D7C"/>
          </a:solidFill>
          <a:ln/>
        </p:spPr>
        <p:txBody>
          <a:bodyPr wrap="none" lIns="0" tIns="0" rIns="0" bIns="0" rtlCol="0" anchor="ctr">
            <a:normAutofit/>
          </a:bodyPr>
          <a:lstStyle/>
          <a:p>
            <a:pPr algn="ct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 peso 1</a:t>
            </a:r>
            <a:endParaRPr lang="en-US" sz="1400" dirty="0"/>
          </a:p>
        </p:txBody>
      </p:sp>
      <p:sp>
        <p:nvSpPr>
          <p:cNvPr id="6" name="Text 4"/>
          <p:cNvSpPr/>
          <p:nvPr/>
        </p:nvSpPr>
        <p:spPr>
          <a:xfrm>
            <a:off x="815975" y="2382937"/>
            <a:ext cx="1002209" cy="407591"/>
          </a:xfrm>
          <a:prstGeom prst="roundRect">
            <a:avLst>
              <a:gd name="adj" fmla="val 14800"/>
            </a:avLst>
          </a:prstGeom>
          <a:solidFill>
            <a:srgbClr val="FCFBF7"/>
          </a:solidFill>
          <a:ln w="6350">
            <a:solidFill>
              <a:srgbClr val="DDD8CC"/>
            </a:solidFill>
            <a:prstDash val="solid"/>
          </a:ln>
        </p:spPr>
        <p:txBody>
          <a:bodyPr wrap="none" lIns="0" tIns="0" rIns="0" bIns="0" rtlCol="0" anchor="ctr">
            <a:normAutofit/>
          </a:bodyPr>
          <a:lstStyle/>
          <a:p>
            <a:pPr algn="ct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entrada 2</a:t>
            </a:r>
            <a:endParaRPr lang="en-US" sz="1400" dirty="0"/>
          </a:p>
        </p:txBody>
      </p:sp>
      <p:sp>
        <p:nvSpPr>
          <p:cNvPr id="7" name="Text 5"/>
          <p:cNvSpPr/>
          <p:nvPr/>
        </p:nvSpPr>
        <p:spPr>
          <a:xfrm>
            <a:off x="1884859" y="2386112"/>
            <a:ext cx="920651" cy="401241"/>
          </a:xfrm>
          <a:prstGeom prst="roundRect">
            <a:avLst>
              <a:gd name="adj" fmla="val 15826"/>
            </a:avLst>
          </a:prstGeom>
          <a:solidFill>
            <a:srgbClr val="2F5D7C"/>
          </a:solidFill>
          <a:ln/>
        </p:spPr>
        <p:txBody>
          <a:bodyPr wrap="none" lIns="0" tIns="0" rIns="0" bIns="0" rtlCol="0" anchor="ctr">
            <a:normAutofit/>
          </a:bodyPr>
          <a:lstStyle/>
          <a:p>
            <a:pPr algn="ct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 peso 2</a:t>
            </a:r>
            <a:endParaRPr lang="en-US" sz="1400" dirty="0"/>
          </a:p>
        </p:txBody>
      </p:sp>
      <p:sp>
        <p:nvSpPr>
          <p:cNvPr id="8" name="Text 6"/>
          <p:cNvSpPr/>
          <p:nvPr/>
        </p:nvSpPr>
        <p:spPr>
          <a:xfrm>
            <a:off x="815975" y="2885777"/>
            <a:ext cx="1002209" cy="407591"/>
          </a:xfrm>
          <a:prstGeom prst="roundRect">
            <a:avLst>
              <a:gd name="adj" fmla="val 14800"/>
            </a:avLst>
          </a:prstGeom>
          <a:solidFill>
            <a:srgbClr val="FCFBF7"/>
          </a:solidFill>
          <a:ln w="6350">
            <a:solidFill>
              <a:srgbClr val="DDD8CC"/>
            </a:solidFill>
            <a:prstDash val="solid"/>
          </a:ln>
        </p:spPr>
        <p:txBody>
          <a:bodyPr wrap="none" lIns="0" tIns="0" rIns="0" bIns="0" rtlCol="0" anchor="ctr">
            <a:normAutofit/>
          </a:bodyPr>
          <a:lstStyle/>
          <a:p>
            <a:pPr algn="ctr"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entrada 3</a:t>
            </a:r>
            <a:endParaRPr lang="en-US" sz="1400" dirty="0"/>
          </a:p>
        </p:txBody>
      </p:sp>
      <p:sp>
        <p:nvSpPr>
          <p:cNvPr id="9" name="Text 7"/>
          <p:cNvSpPr/>
          <p:nvPr/>
        </p:nvSpPr>
        <p:spPr>
          <a:xfrm>
            <a:off x="1884859" y="2888952"/>
            <a:ext cx="920651" cy="401241"/>
          </a:xfrm>
          <a:prstGeom prst="roundRect">
            <a:avLst>
              <a:gd name="adj" fmla="val 15826"/>
            </a:avLst>
          </a:prstGeom>
          <a:solidFill>
            <a:srgbClr val="2F5D7C"/>
          </a:solidFill>
          <a:ln/>
        </p:spPr>
        <p:txBody>
          <a:bodyPr wrap="none" lIns="0" tIns="0" rIns="0" bIns="0" rtlCol="0" anchor="ctr">
            <a:normAutofit/>
          </a:bodyPr>
          <a:lstStyle/>
          <a:p>
            <a:pPr algn="ct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 peso 3</a:t>
            </a:r>
            <a:endParaRPr lang="en-US" sz="1400" dirty="0"/>
          </a:p>
        </p:txBody>
      </p:sp>
      <p:pic>
        <p:nvPicPr>
          <p:cNvPr id="10" name="Image 0" descr="arrow-right">    </p:cNvPr>
          <p:cNvPicPr>
            <a:picLocks noChangeAspect="1"/>
          </p:cNvPicPr>
          <p:nvPr/>
        </p:nvPicPr>
        <p:blipFill>
          <a:blip r:embed="rId1"/>
          <a:srcRect l="0" r="0" t="0" b="0"/>
          <a:stretch/>
        </p:blipFill>
        <p:spPr>
          <a:xfrm>
            <a:off x="2907109" y="2472432"/>
            <a:ext cx="355600" cy="228600"/>
          </a:xfrm>
          <a:prstGeom prst="rect">
            <a:avLst/>
          </a:prstGeom>
        </p:spPr>
      </p:pic>
      <p:sp>
        <p:nvSpPr>
          <p:cNvPr id="11" name="Text 8"/>
          <p:cNvSpPr/>
          <p:nvPr/>
        </p:nvSpPr>
        <p:spPr>
          <a:xfrm>
            <a:off x="3370659" y="2123182"/>
            <a:ext cx="1447800" cy="927100"/>
          </a:xfrm>
          <a:prstGeom prst="roundRect">
            <a:avLst>
              <a:gd name="adj" fmla="val 7534"/>
            </a:avLst>
          </a:prstGeom>
          <a:solidFill>
            <a:srgbClr val="FCFBF7"/>
          </a:solidFill>
          <a:ln w="12700">
            <a:solidFill>
              <a:srgbClr val="A8201A"/>
            </a:solidFill>
            <a:prstDash val="solid"/>
          </a:ln>
        </p:spPr>
        <p:txBody>
          <a:bodyPr wrap="square" lIns="87492" tIns="176392" rIns="87492" bIns="150992" rtlCol="0" anchor="t">
            <a:normAutofit/>
          </a:bodyPr>
          <a:lstStyle/>
          <a:p>
            <a:pPr algn="ctr" indent="0" marL="0">
              <a:lnSpc>
                <a:spcPts val="2100"/>
              </a:lnSpc>
              <a:buNone/>
            </a:pPr>
            <a:r>
              <a:rPr lang="en-US" sz="1500" b="1" dirty="0">
                <a:solidFill>
                  <a:srgbClr val="1C2630"/>
                </a:solidFill>
                <a:latin typeface="IBM Plex Sans" pitchFamily="34" charset="0"/>
                <a:ea typeface="IBM Plex Sans" pitchFamily="34" charset="-122"/>
                <a:cs typeface="IBM Plex Sans" pitchFamily="34" charset="-120"/>
              </a:rPr>
              <a:t>Suma + sesgo</a:t>
            </a:r>
            <a:endParaRPr lang="en-US" sz="1500" dirty="0"/>
          </a:p>
        </p:txBody>
      </p:sp>
      <p:pic>
        <p:nvPicPr>
          <p:cNvPr id="12" name="Image 1" descr="arrow-right">    </p:cNvPr>
          <p:cNvPicPr>
            <a:picLocks noChangeAspect="1"/>
          </p:cNvPicPr>
          <p:nvPr/>
        </p:nvPicPr>
        <p:blipFill>
          <a:blip r:embed="rId2"/>
          <a:srcRect l="0" r="0" t="0" b="0"/>
          <a:stretch/>
        </p:blipFill>
        <p:spPr>
          <a:xfrm>
            <a:off x="4926409" y="2472432"/>
            <a:ext cx="355600" cy="228600"/>
          </a:xfrm>
          <a:prstGeom prst="rect">
            <a:avLst/>
          </a:prstGeom>
        </p:spPr>
      </p:pic>
      <p:sp>
        <p:nvSpPr>
          <p:cNvPr id="13" name="Text 9"/>
          <p:cNvSpPr/>
          <p:nvPr/>
        </p:nvSpPr>
        <p:spPr>
          <a:xfrm>
            <a:off x="5389959" y="2256532"/>
            <a:ext cx="1447800" cy="660400"/>
          </a:xfrm>
          <a:prstGeom prst="roundRect">
            <a:avLst>
              <a:gd name="adj" fmla="val 10577"/>
            </a:avLst>
          </a:prstGeom>
          <a:solidFill>
            <a:srgbClr val="FCFBF7"/>
          </a:solidFill>
          <a:ln w="12700">
            <a:solidFill>
              <a:srgbClr val="A8201A"/>
            </a:solidFill>
            <a:prstDash val="solid"/>
          </a:ln>
        </p:spPr>
        <p:txBody>
          <a:bodyPr wrap="square" lIns="87492" tIns="176392" rIns="87492" bIns="150992" rtlCol="0" anchor="t">
            <a:normAutofit/>
          </a:bodyPr>
          <a:lstStyle/>
          <a:p>
            <a:pPr algn="ctr" indent="0" marL="0">
              <a:lnSpc>
                <a:spcPts val="2100"/>
              </a:lnSpc>
              <a:buNone/>
            </a:pPr>
            <a:r>
              <a:rPr lang="en-US" sz="1500" b="1" dirty="0">
                <a:solidFill>
                  <a:srgbClr val="1C2630"/>
                </a:solidFill>
                <a:latin typeface="IBM Plex Sans" pitchFamily="34" charset="0"/>
                <a:ea typeface="IBM Plex Sans" pitchFamily="34" charset="-122"/>
                <a:cs typeface="IBM Plex Sans" pitchFamily="34" charset="-120"/>
              </a:rPr>
              <a:t>Activación</a:t>
            </a:r>
            <a:endParaRPr lang="en-US" sz="1500" dirty="0"/>
          </a:p>
        </p:txBody>
      </p:sp>
      <p:pic>
        <p:nvPicPr>
          <p:cNvPr id="14" name="Image 2" descr="arrow-right">    </p:cNvPr>
          <p:cNvPicPr>
            <a:picLocks noChangeAspect="1"/>
          </p:cNvPicPr>
          <p:nvPr/>
        </p:nvPicPr>
        <p:blipFill>
          <a:blip r:embed="rId3"/>
          <a:srcRect l="0" r="0" t="0" b="0"/>
          <a:stretch/>
        </p:blipFill>
        <p:spPr>
          <a:xfrm>
            <a:off x="6945709" y="2472432"/>
            <a:ext cx="355600" cy="228600"/>
          </a:xfrm>
          <a:prstGeom prst="rect">
            <a:avLst/>
          </a:prstGeom>
        </p:spPr>
      </p:pic>
      <p:sp>
        <p:nvSpPr>
          <p:cNvPr id="15" name="Text 10"/>
          <p:cNvSpPr/>
          <p:nvPr/>
        </p:nvSpPr>
        <p:spPr>
          <a:xfrm>
            <a:off x="7402909" y="2262882"/>
            <a:ext cx="1079500" cy="647700"/>
          </a:xfrm>
          <a:prstGeom prst="roundRect">
            <a:avLst>
              <a:gd name="adj" fmla="val 11765"/>
            </a:avLst>
          </a:prstGeom>
          <a:solidFill>
            <a:srgbClr val="A8201A"/>
          </a:solidFill>
          <a:ln/>
        </p:spPr>
        <p:txBody>
          <a:bodyPr wrap="square" lIns="79282" tIns="168182" rIns="79282" bIns="142782" rtlCol="0" anchor="t">
            <a:normAutofit/>
          </a:bodyPr>
          <a:lstStyle/>
          <a:p>
            <a:pPr algn="ctr" indent="0" marL="0">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Salida</a:t>
            </a:r>
            <a:endParaRPr lang="en-US" sz="1500" dirty="0"/>
          </a:p>
        </p:txBody>
      </p:sp>
      <p:sp>
        <p:nvSpPr>
          <p:cNvPr id="16" name="Text 11"/>
          <p:cNvSpPr/>
          <p:nvPr/>
        </p:nvSpPr>
        <p:spPr>
          <a:xfrm>
            <a:off x="812800" y="3550543"/>
            <a:ext cx="3523081"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Peso.</a:t>
            </a:r>
            <a:r>
              <a:rPr lang="en-US" sz="1400" dirty="0">
                <a:solidFill>
                  <a:srgbClr val="1C2630"/>
                </a:solidFill>
                <a:latin typeface="IBM Plex Sans" pitchFamily="34" charset="0"/>
                <a:ea typeface="IBM Plex Sans" pitchFamily="34" charset="-122"/>
                <a:cs typeface="IBM Plex Sans" pitchFamily="34" charset="-120"/>
              </a:rPr>
              <a:t> Qué tanto le importa cada entrada.</a:t>
            </a:r>
            <a:endParaRPr lang="en-US" sz="1400" dirty="0"/>
          </a:p>
        </p:txBody>
      </p:sp>
      <p:sp>
        <p:nvSpPr>
          <p:cNvPr id="17" name="Text 12"/>
          <p:cNvSpPr/>
          <p:nvPr/>
        </p:nvSpPr>
        <p:spPr>
          <a:xfrm>
            <a:off x="4385667" y="3550543"/>
            <a:ext cx="3523183"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Sesgo.</a:t>
            </a:r>
            <a:r>
              <a:rPr lang="en-US" sz="1400" dirty="0">
                <a:solidFill>
                  <a:srgbClr val="1C2630"/>
                </a:solidFill>
                <a:latin typeface="IBM Plex Sans" pitchFamily="34" charset="0"/>
                <a:ea typeface="IBM Plex Sans" pitchFamily="34" charset="-122"/>
                <a:cs typeface="IBM Plex Sans" pitchFamily="34" charset="-120"/>
              </a:rPr>
              <a:t> Qué tan exigente es antes de encenderse.</a:t>
            </a:r>
            <a:endParaRPr lang="en-US" sz="1400" dirty="0"/>
          </a:p>
        </p:txBody>
      </p:sp>
      <p:sp>
        <p:nvSpPr>
          <p:cNvPr id="18" name="Text 13"/>
          <p:cNvSpPr/>
          <p:nvPr/>
        </p:nvSpPr>
        <p:spPr>
          <a:xfrm>
            <a:off x="7958634" y="3550543"/>
            <a:ext cx="3523183"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Activación.</a:t>
            </a:r>
            <a:r>
              <a:rPr lang="en-US" sz="1400" dirty="0">
                <a:solidFill>
                  <a:srgbClr val="1C2630"/>
                </a:solidFill>
                <a:latin typeface="IBM Plex Sans" pitchFamily="34" charset="0"/>
                <a:ea typeface="IBM Plex Sans" pitchFamily="34" charset="-122"/>
                <a:cs typeface="IBM Plex Sans" pitchFamily="34" charset="-120"/>
              </a:rPr>
              <a:t> Si la suma es negativa, la salida es cero; si no, es la suma.</a:t>
            </a:r>
            <a:endParaRPr lang="en-US" sz="1400" dirty="0"/>
          </a:p>
        </p:txBody>
      </p:sp>
      <p:sp>
        <p:nvSpPr>
          <p:cNvPr id="19"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CAPAS APILADAS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Cada capa resume a la anterior</a:t>
            </a:r>
            <a:endParaRPr lang="en-US" sz="3600" dirty="0"/>
          </a:p>
        </p:txBody>
      </p:sp>
      <p:pic>
        <p:nvPicPr>
          <p:cNvPr id="4" name="Image 0" descr="Red neuronal con una capa de entrada, tres capas intermedias y una salida, con todas las neuronas conectadas entre capas vecinas">    </p:cNvPr>
          <p:cNvPicPr>
            <a:picLocks noChangeAspect="1"/>
          </p:cNvPicPr>
          <p:nvPr/>
        </p:nvPicPr>
        <p:blipFill>
          <a:blip r:embed="rId1"/>
          <a:srcRect l="-11" r="-11" t="0" b="0"/>
          <a:stretch/>
        </p:blipFill>
        <p:spPr>
          <a:xfrm>
            <a:off x="812800" y="1800721"/>
            <a:ext cx="9398000" cy="2794000"/>
          </a:xfrm>
          <a:prstGeom prst="rect">
            <a:avLst/>
          </a:prstGeom>
        </p:spPr>
      </p:pic>
      <p:sp>
        <p:nvSpPr>
          <p:cNvPr id="5" name="Text 2"/>
          <p:cNvSpPr/>
          <p:nvPr/>
        </p:nvSpPr>
        <p:spPr>
          <a:xfrm>
            <a:off x="787400" y="4772521"/>
            <a:ext cx="132080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C2630"/>
                </a:solidFill>
                <a:latin typeface="IBM Plex Sans" pitchFamily="34" charset="0"/>
                <a:ea typeface="IBM Plex Sans" pitchFamily="34" charset="-122"/>
                <a:cs typeface="IBM Plex Sans" pitchFamily="34" charset="-120"/>
              </a:rPr>
              <a:t>Entrada</a:t>
            </a:r>
            <a:endParaRPr lang="en-US" sz="1300" dirty="0"/>
          </a:p>
        </p:txBody>
      </p:sp>
      <p:sp>
        <p:nvSpPr>
          <p:cNvPr id="6" name="Text 3"/>
          <p:cNvSpPr/>
          <p:nvPr/>
        </p:nvSpPr>
        <p:spPr>
          <a:xfrm>
            <a:off x="2819400" y="4772521"/>
            <a:ext cx="132080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C2630"/>
                </a:solidFill>
                <a:latin typeface="IBM Plex Sans" pitchFamily="34" charset="0"/>
                <a:ea typeface="IBM Plex Sans" pitchFamily="34" charset="-122"/>
                <a:cs typeface="IBM Plex Sans" pitchFamily="34" charset="-120"/>
              </a:rPr>
              <a:t>Capa 1</a:t>
            </a:r>
            <a:endParaRPr lang="en-US" sz="1300" dirty="0"/>
          </a:p>
        </p:txBody>
      </p:sp>
      <p:sp>
        <p:nvSpPr>
          <p:cNvPr id="7" name="Text 4"/>
          <p:cNvSpPr/>
          <p:nvPr/>
        </p:nvSpPr>
        <p:spPr>
          <a:xfrm>
            <a:off x="4851400" y="4772521"/>
            <a:ext cx="132080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C2630"/>
                </a:solidFill>
                <a:latin typeface="IBM Plex Sans" pitchFamily="34" charset="0"/>
                <a:ea typeface="IBM Plex Sans" pitchFamily="34" charset="-122"/>
                <a:cs typeface="IBM Plex Sans" pitchFamily="34" charset="-120"/>
              </a:rPr>
              <a:t>Capa 2</a:t>
            </a:r>
            <a:endParaRPr lang="en-US" sz="1300" dirty="0"/>
          </a:p>
        </p:txBody>
      </p:sp>
      <p:sp>
        <p:nvSpPr>
          <p:cNvPr id="8" name="Text 5"/>
          <p:cNvSpPr/>
          <p:nvPr/>
        </p:nvSpPr>
        <p:spPr>
          <a:xfrm>
            <a:off x="6883400" y="4772521"/>
            <a:ext cx="132080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C2630"/>
                </a:solidFill>
                <a:latin typeface="IBM Plex Sans" pitchFamily="34" charset="0"/>
                <a:ea typeface="IBM Plex Sans" pitchFamily="34" charset="-122"/>
                <a:cs typeface="IBM Plex Sans" pitchFamily="34" charset="-120"/>
              </a:rPr>
              <a:t>Capa 3</a:t>
            </a:r>
            <a:endParaRPr lang="en-US" sz="1300" dirty="0"/>
          </a:p>
        </p:txBody>
      </p:sp>
      <p:sp>
        <p:nvSpPr>
          <p:cNvPr id="9" name="Text 6"/>
          <p:cNvSpPr/>
          <p:nvPr/>
        </p:nvSpPr>
        <p:spPr>
          <a:xfrm>
            <a:off x="8915400" y="4772521"/>
            <a:ext cx="132080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C2630"/>
                </a:solidFill>
                <a:latin typeface="IBM Plex Sans" pitchFamily="34" charset="0"/>
                <a:ea typeface="IBM Plex Sans" pitchFamily="34" charset="-122"/>
                <a:cs typeface="IBM Plex Sans" pitchFamily="34" charset="-120"/>
              </a:rPr>
              <a:t>Salida</a:t>
            </a:r>
            <a:endParaRPr lang="en-US" sz="1300" dirty="0"/>
          </a:p>
        </p:txBody>
      </p:sp>
      <p:sp>
        <p:nvSpPr>
          <p:cNvPr id="10" name="Text 7"/>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Los 176 MB de cada modelo son, sobre todo, la lista de sus pesos. Esquema simplificado.</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CÓMO APRENDE</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Predecir, comparar, ajustar, repetir</a:t>
            </a:r>
            <a:endParaRPr lang="en-US" sz="3600" dirty="0"/>
          </a:p>
        </p:txBody>
      </p:sp>
      <p:sp>
        <p:nvSpPr>
          <p:cNvPr id="4" name="Shape 2"/>
          <p:cNvSpPr/>
          <p:nvPr/>
        </p:nvSpPr>
        <p:spPr>
          <a:xfrm>
            <a:off x="815975" y="1930896"/>
            <a:ext cx="2568575" cy="1174552"/>
          </a:xfrm>
          <a:prstGeom prst="roundRect">
            <a:avLst>
              <a:gd name="adj" fmla="val 8380"/>
            </a:avLst>
          </a:prstGeom>
          <a:solidFill>
            <a:srgbClr val="FCFBF7"/>
          </a:solidFill>
          <a:ln w="6350">
            <a:solidFill>
              <a:srgbClr val="DDD8CC"/>
            </a:solidFill>
            <a:prstDash val="solid"/>
          </a:ln>
        </p:spPr>
      </p:sp>
      <p:sp>
        <p:nvSpPr>
          <p:cNvPr id="5" name="Text 3"/>
          <p:cNvSpPr/>
          <p:nvPr/>
        </p:nvSpPr>
        <p:spPr>
          <a:xfrm>
            <a:off x="996950" y="2111871"/>
            <a:ext cx="227282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630"/>
                </a:solidFill>
                <a:latin typeface="IBM Plex Sans" pitchFamily="34" charset="0"/>
                <a:ea typeface="IBM Plex Sans" pitchFamily="34" charset="-122"/>
                <a:cs typeface="IBM Plex Sans" pitchFamily="34" charset="-120"/>
              </a:rPr>
              <a:t>Predecir</a:t>
            </a:r>
            <a:endParaRPr lang="en-US" sz="1800" dirty="0"/>
          </a:p>
        </p:txBody>
      </p:sp>
      <p:sp>
        <p:nvSpPr>
          <p:cNvPr id="6" name="Text 4"/>
          <p:cNvSpPr/>
          <p:nvPr/>
        </p:nvSpPr>
        <p:spPr>
          <a:xfrm>
            <a:off x="996950" y="2462312"/>
            <a:ext cx="227282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Con los pesos que tiene en ese momento.</a:t>
            </a:r>
            <a:endParaRPr lang="en-US" sz="1300" dirty="0"/>
          </a:p>
        </p:txBody>
      </p:sp>
      <p:sp>
        <p:nvSpPr>
          <p:cNvPr id="7" name="Shape 5"/>
          <p:cNvSpPr/>
          <p:nvPr/>
        </p:nvSpPr>
        <p:spPr>
          <a:xfrm>
            <a:off x="3479800" y="1930896"/>
            <a:ext cx="2568575" cy="1174552"/>
          </a:xfrm>
          <a:prstGeom prst="roundRect">
            <a:avLst>
              <a:gd name="adj" fmla="val 8380"/>
            </a:avLst>
          </a:prstGeom>
          <a:solidFill>
            <a:srgbClr val="FCFBF7"/>
          </a:solidFill>
          <a:ln w="6350">
            <a:solidFill>
              <a:srgbClr val="DDD8CC"/>
            </a:solidFill>
            <a:prstDash val="solid"/>
          </a:ln>
        </p:spPr>
      </p:sp>
      <p:sp>
        <p:nvSpPr>
          <p:cNvPr id="8" name="Text 6"/>
          <p:cNvSpPr/>
          <p:nvPr/>
        </p:nvSpPr>
        <p:spPr>
          <a:xfrm>
            <a:off x="3660775" y="2111871"/>
            <a:ext cx="227282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630"/>
                </a:solidFill>
                <a:latin typeface="IBM Plex Sans" pitchFamily="34" charset="0"/>
                <a:ea typeface="IBM Plex Sans" pitchFamily="34" charset="-122"/>
                <a:cs typeface="IBM Plex Sans" pitchFamily="34" charset="-120"/>
              </a:rPr>
              <a:t>Comparar</a:t>
            </a:r>
            <a:endParaRPr lang="en-US" sz="1800" dirty="0"/>
          </a:p>
        </p:txBody>
      </p:sp>
      <p:sp>
        <p:nvSpPr>
          <p:cNvPr id="9" name="Text 7"/>
          <p:cNvSpPr/>
          <p:nvPr/>
        </p:nvSpPr>
        <p:spPr>
          <a:xfrm>
            <a:off x="3660775" y="2462312"/>
            <a:ext cx="227282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La función de pérdida mide cuánto se equivocó.</a:t>
            </a:r>
            <a:endParaRPr lang="en-US" sz="1300" dirty="0"/>
          </a:p>
        </p:txBody>
      </p:sp>
      <p:sp>
        <p:nvSpPr>
          <p:cNvPr id="10" name="Shape 8"/>
          <p:cNvSpPr/>
          <p:nvPr/>
        </p:nvSpPr>
        <p:spPr>
          <a:xfrm>
            <a:off x="6143625" y="1930896"/>
            <a:ext cx="2568575" cy="1174552"/>
          </a:xfrm>
          <a:prstGeom prst="roundRect">
            <a:avLst>
              <a:gd name="adj" fmla="val 8380"/>
            </a:avLst>
          </a:prstGeom>
          <a:solidFill>
            <a:srgbClr val="FCFBF7"/>
          </a:solidFill>
          <a:ln w="6350">
            <a:solidFill>
              <a:srgbClr val="DDD8CC"/>
            </a:solidFill>
            <a:prstDash val="solid"/>
          </a:ln>
        </p:spPr>
      </p:sp>
      <p:sp>
        <p:nvSpPr>
          <p:cNvPr id="11" name="Text 9"/>
          <p:cNvSpPr/>
          <p:nvPr/>
        </p:nvSpPr>
        <p:spPr>
          <a:xfrm>
            <a:off x="6324600" y="2111871"/>
            <a:ext cx="227282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630"/>
                </a:solidFill>
                <a:latin typeface="IBM Plex Sans" pitchFamily="34" charset="0"/>
                <a:ea typeface="IBM Plex Sans" pitchFamily="34" charset="-122"/>
                <a:cs typeface="IBM Plex Sans" pitchFamily="34" charset="-120"/>
              </a:rPr>
              <a:t>Ajustar</a:t>
            </a:r>
            <a:endParaRPr lang="en-US" sz="1800" dirty="0"/>
          </a:p>
        </p:txBody>
      </p:sp>
      <p:sp>
        <p:nvSpPr>
          <p:cNvPr id="12" name="Text 10"/>
          <p:cNvSpPr/>
          <p:nvPr/>
        </p:nvSpPr>
        <p:spPr>
          <a:xfrm>
            <a:off x="6324600" y="2462312"/>
            <a:ext cx="227282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Descenso del gradiente: un paso que baja la pérdida.</a:t>
            </a:r>
            <a:endParaRPr lang="en-US" sz="1300" dirty="0"/>
          </a:p>
        </p:txBody>
      </p:sp>
      <p:sp>
        <p:nvSpPr>
          <p:cNvPr id="13" name="Shape 11"/>
          <p:cNvSpPr/>
          <p:nvPr/>
        </p:nvSpPr>
        <p:spPr>
          <a:xfrm>
            <a:off x="8807450" y="1930896"/>
            <a:ext cx="2568575" cy="1174552"/>
          </a:xfrm>
          <a:prstGeom prst="roundRect">
            <a:avLst>
              <a:gd name="adj" fmla="val 8380"/>
            </a:avLst>
          </a:prstGeom>
          <a:solidFill>
            <a:srgbClr val="FCFBF7"/>
          </a:solidFill>
          <a:ln w="6350">
            <a:solidFill>
              <a:srgbClr val="DDD8CC"/>
            </a:solidFill>
            <a:prstDash val="solid"/>
          </a:ln>
        </p:spPr>
      </p:sp>
      <p:sp>
        <p:nvSpPr>
          <p:cNvPr id="14" name="Text 12"/>
          <p:cNvSpPr/>
          <p:nvPr/>
        </p:nvSpPr>
        <p:spPr>
          <a:xfrm>
            <a:off x="8988425" y="2111871"/>
            <a:ext cx="227282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630"/>
                </a:solidFill>
                <a:latin typeface="IBM Plex Sans" pitchFamily="34" charset="0"/>
                <a:ea typeface="IBM Plex Sans" pitchFamily="34" charset="-122"/>
                <a:cs typeface="IBM Plex Sans" pitchFamily="34" charset="-120"/>
              </a:rPr>
              <a:t>Repetir</a:t>
            </a:r>
            <a:endParaRPr lang="en-US" sz="1800" dirty="0"/>
          </a:p>
        </p:txBody>
      </p:sp>
      <p:sp>
        <p:nvSpPr>
          <p:cNvPr id="15" name="Text 13"/>
          <p:cNvSpPr/>
          <p:nvPr/>
        </p:nvSpPr>
        <p:spPr>
          <a:xfrm>
            <a:off x="8988425" y="2462312"/>
            <a:ext cx="227282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Por lotes, iteraciones y épocas.</a:t>
            </a:r>
            <a:endParaRPr lang="en-US" sz="1300" dirty="0"/>
          </a:p>
        </p:txBody>
      </p:sp>
      <p:sp>
        <p:nvSpPr>
          <p:cNvPr id="16" name="Text 14"/>
          <p:cNvSpPr/>
          <p:nvPr/>
        </p:nvSpPr>
        <p:spPr>
          <a:xfrm>
            <a:off x="812800" y="3413423"/>
            <a:ext cx="5207000" cy="502841"/>
          </a:xfrm>
          <a:prstGeom prst="rect">
            <a:avLst/>
          </a:prstGeom>
          <a:solidFill>
            <a:srgbClr val="ECE7DA"/>
          </a:solidFill>
          <a:ln/>
        </p:spPr>
        <p:txBody>
          <a:bodyPr wrap="square" lIns="228600" tIns="127000" rIns="33782" bIns="101600" rtlCol="0" anchor="t">
            <a:normAutofit/>
          </a:bodyPr>
          <a:lstStyle/>
          <a:p>
            <a:pPr algn="l"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Las respuestas correctas las dan personas: es la anotación.</a:t>
            </a:r>
            <a:endParaRPr lang="en-US" sz="1400" dirty="0"/>
          </a:p>
        </p:txBody>
      </p:sp>
      <p:sp>
        <p:nvSpPr>
          <p:cNvPr id="17" name="Shape 15"/>
          <p:cNvSpPr/>
          <p:nvPr/>
        </p:nvSpPr>
        <p:spPr>
          <a:xfrm>
            <a:off x="838200" y="3413423"/>
            <a:ext cx="0" cy="502841"/>
          </a:xfrm>
          <a:prstGeom prst="line">
            <a:avLst/>
          </a:prstGeom>
          <a:noFill/>
          <a:ln w="50800">
            <a:solidFill>
              <a:srgbClr val="2F5D7C"/>
            </a:solidFill>
            <a:prstDash val="solid"/>
          </a:ln>
        </p:spPr>
      </p:sp>
      <p:sp>
        <p:nvSpPr>
          <p:cNvPr id="18" name="Text 16"/>
          <p:cNvSpPr/>
          <p:nvPr/>
        </p:nvSpPr>
        <p:spPr>
          <a:xfrm>
            <a:off x="6172200" y="3413423"/>
            <a:ext cx="5207000" cy="502841"/>
          </a:xfrm>
          <a:prstGeom prst="rect">
            <a:avLst/>
          </a:prstGeom>
          <a:solidFill>
            <a:srgbClr val="ECE7DA"/>
          </a:solidFill>
          <a:ln/>
        </p:spPr>
        <p:txBody>
          <a:bodyPr wrap="square" lIns="228600" tIns="127000" rIns="33782" bIns="101600" rtlCol="0" anchor="t">
            <a:normAutofit/>
          </a:bodyPr>
          <a:lstStyle/>
          <a:p>
            <a:pPr algn="l"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El riesgo es memorizar en lugar de aprender: sobreajuste.</a:t>
            </a:r>
            <a:endParaRPr lang="en-US" sz="1400" dirty="0"/>
          </a:p>
        </p:txBody>
      </p:sp>
      <p:sp>
        <p:nvSpPr>
          <p:cNvPr id="19" name="Shape 17"/>
          <p:cNvSpPr/>
          <p:nvPr/>
        </p:nvSpPr>
        <p:spPr>
          <a:xfrm>
            <a:off x="6197600" y="3413423"/>
            <a:ext cx="0" cy="502841"/>
          </a:xfrm>
          <a:prstGeom prst="line">
            <a:avLst/>
          </a:prstGeom>
          <a:noFill/>
          <a:ln w="50800">
            <a:solidFill>
              <a:srgbClr val="A8201A"/>
            </a:solidFill>
            <a:prstDash val="solid"/>
          </a:ln>
        </p:spPr>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5545"/>
          </a:xfrm>
          <a:prstGeom prst="rect">
            <a:avLst/>
          </a:prstGeom>
          <a:noFill/>
          <a:ln/>
        </p:spPr>
        <p:txBody>
          <a:bodyPr wrap="square" lIns="0" tIns="0" rIns="0" bIns="0" rtlCol="0" anchor="t">
            <a:normAutofit/>
          </a:bodyPr>
          <a:lstStyle/>
          <a:p>
            <a:pPr algn="l" indent="0" marL="0">
              <a:lnSpc>
                <a:spcPts val="1672"/>
              </a:lnSpc>
              <a:buNone/>
            </a:pPr>
            <a:r>
              <a:rPr lang="en-US" sz="1194" b="1" spc="100" kern="0" dirty="0">
                <a:solidFill>
                  <a:srgbClr val="A8201A"/>
                </a:solidFill>
                <a:latin typeface="IBM Plex Sans" pitchFamily="34" charset="0"/>
                <a:ea typeface="IBM Plex Sans" pitchFamily="34" charset="-122"/>
                <a:cs typeface="IBM Plex Sans" pitchFamily="34" charset="-120"/>
              </a:rPr>
              <a:t>UN CICLO CON NÚMEROS</a:t>
            </a:r>
            <a:endParaRPr lang="en-US" sz="1194" dirty="0"/>
          </a:p>
        </p:txBody>
      </p:sp>
      <p:sp>
        <p:nvSpPr>
          <p:cNvPr id="3" name="Text 1"/>
          <p:cNvSpPr/>
          <p:nvPr>
            <p:ph type="title"/>
          </p:nvPr>
        </p:nvSpPr>
        <p:spPr>
          <a:xfrm>
            <a:off x="812800" y="1099145"/>
            <a:ext cx="10883392" cy="482898"/>
          </a:xfrm>
          <a:prstGeom prst="rect">
            <a:avLst/>
          </a:prstGeom>
          <a:noFill/>
          <a:ln/>
        </p:spPr>
        <p:txBody>
          <a:bodyPr wrap="square" lIns="0" tIns="0" rIns="0" bIns="0" rtlCol="0" anchor="t">
            <a:normAutofit/>
          </a:bodyPr>
          <a:lstStyle/>
          <a:p>
            <a:pPr algn="l" indent="0" marL="0">
              <a:lnSpc>
                <a:spcPts val="3614"/>
              </a:lnSpc>
              <a:buNone/>
            </a:pPr>
            <a:r>
              <a:rPr lang="en-US" sz="3285" b="1" i="0" dirty="0">
                <a:solidFill>
                  <a:srgbClr val="1C2630"/>
                </a:solidFill>
                <a:latin typeface="Source Serif 4" pitchFamily="18" charset="0"/>
                <a:ea typeface="Source Serif 4" pitchFamily="18" charset="-122"/>
                <a:cs typeface="Source Serif 4" pitchFamily="18" charset="-120"/>
              </a:rPr>
              <a:t>Una neurona, un peso, un error</a:t>
            </a:r>
            <a:endParaRPr lang="en-US" sz="3285" dirty="0"/>
          </a:p>
        </p:txBody>
      </p:sp>
      <p:sp>
        <p:nvSpPr>
          <p:cNvPr id="4" name="Text 2"/>
          <p:cNvSpPr/>
          <p:nvPr/>
        </p:nvSpPr>
        <p:spPr>
          <a:xfrm>
            <a:off x="812800" y="1770063"/>
            <a:ext cx="4574262" cy="1020961"/>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F5D7C"/>
                </a:solidFill>
                <a:latin typeface="Source Serif 4" pitchFamily="18" charset="0"/>
                <a:ea typeface="Source Serif 4" pitchFamily="18" charset="-122"/>
                <a:cs typeface="Source Serif 4" pitchFamily="18" charset="-120"/>
              </a:rPr>
              <a:t>predicción = peso × entrada</a:t>
            </a:r>
            <a:endParaRPr lang="en-US" sz="2800" dirty="0"/>
          </a:p>
        </p:txBody>
      </p:sp>
      <p:sp>
        <p:nvSpPr>
          <p:cNvPr id="5" name="Text 3"/>
          <p:cNvSpPr/>
          <p:nvPr/>
        </p:nvSpPr>
        <p:spPr>
          <a:xfrm>
            <a:off x="5457031" y="2001044"/>
            <a:ext cx="609983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5606B"/>
                </a:solidFill>
                <a:latin typeface="IBM Plex Sans" pitchFamily="34" charset="0"/>
                <a:ea typeface="IBM Plex Sans" pitchFamily="34" charset="-122"/>
                <a:cs typeface="IBM Plex Sans" pitchFamily="34" charset="-120"/>
              </a:rPr>
              <a:t>Entrada 3 · respuesta correcta 9 · tasa de aprendizaje 0,05 · peso inicial 1</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991644"/>
          <a:ext cx="10553700" cy="2139355"/>
        </p:xfrm>
        <a:graphic>
          <a:graphicData uri="http://schemas.openxmlformats.org/drawingml/2006/table">
            <a:tbl>
              <a:tblPr/>
              <a:tblGrid>
                <a:gridCol w="1688592"/>
                <a:gridCol w="2955036"/>
                <a:gridCol w="2955036"/>
                <a:gridCol w="2955036"/>
              </a:tblGrid>
              <a:tr h="427831">
                <a:tc>
                  <a:txBody>
                    <a:bodyPr/>
                    <a:lstStyle/>
                    <a:p>
                      <a:pPr indent="0" marL="0">
                        <a:lnSpc>
                          <a:spcPts val="2179"/>
                        </a:lnSpc>
                        <a:buNone/>
                      </a:pPr>
                      <a:r>
                        <a:rPr lang="en-US" sz="1557" b="1" dirty="0">
                          <a:solidFill>
                            <a:srgbClr val="1C2630"/>
                          </a:solidFill>
                          <a:latin typeface="IBM Plex Sans" pitchFamily="34" charset="0"/>
                          <a:ea typeface="IBM Plex Sans" pitchFamily="34" charset="-122"/>
                          <a:cs typeface="IBM Plex Sans" pitchFamily="34" charset="-120"/>
                        </a:rPr>
                        <a:t>Ciclo</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79"/>
                        </a:lnSpc>
                        <a:buNone/>
                      </a:pPr>
                      <a:r>
                        <a:rPr lang="en-US" sz="1557" b="1" dirty="0">
                          <a:solidFill>
                            <a:srgbClr val="1C2630"/>
                          </a:solidFill>
                          <a:latin typeface="IBM Plex Sans" pitchFamily="34" charset="0"/>
                          <a:ea typeface="IBM Plex Sans" pitchFamily="34" charset="-122"/>
                          <a:cs typeface="IBM Plex Sans" pitchFamily="34" charset="-120"/>
                        </a:rPr>
                        <a:t>Peso</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79"/>
                        </a:lnSpc>
                        <a:buNone/>
                      </a:pPr>
                      <a:r>
                        <a:rPr lang="en-US" sz="1557" b="1" dirty="0">
                          <a:solidFill>
                            <a:srgbClr val="1C2630"/>
                          </a:solidFill>
                          <a:latin typeface="IBM Plex Sans" pitchFamily="34" charset="0"/>
                          <a:ea typeface="IBM Plex Sans" pitchFamily="34" charset="-122"/>
                          <a:cs typeface="IBM Plex Sans" pitchFamily="34" charset="-120"/>
                        </a:rPr>
                        <a:t>Predicción</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79"/>
                        </a:lnSpc>
                        <a:buNone/>
                      </a:pPr>
                      <a:r>
                        <a:rPr lang="en-US" sz="1557" b="1" dirty="0">
                          <a:solidFill>
                            <a:srgbClr val="1C2630"/>
                          </a:solidFill>
                          <a:latin typeface="IBM Plex Sans" pitchFamily="34" charset="0"/>
                          <a:ea typeface="IBM Plex Sans" pitchFamily="34" charset="-122"/>
                          <a:cs typeface="IBM Plex Sans" pitchFamily="34" charset="-120"/>
                        </a:rPr>
                        <a:t>Error</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427831">
                <a:tc>
                  <a:txBody>
                    <a:bodyPr/>
                    <a:lstStyle/>
                    <a:p>
                      <a:pPr indent="0" marL="0">
                        <a:lnSpc>
                          <a:spcPts val="2179"/>
                        </a:lnSpc>
                        <a:buNone/>
                      </a:pPr>
                      <a:r>
                        <a:rPr lang="en-US" sz="1557" dirty="0">
                          <a:solidFill>
                            <a:srgbClr val="1C2630"/>
                          </a:solidFill>
                          <a:latin typeface="IBM Plex Sans" pitchFamily="34" charset="0"/>
                          <a:ea typeface="IBM Plex Sans" pitchFamily="34" charset="-122"/>
                          <a:cs typeface="IBM Plex Sans" pitchFamily="34" charset="-120"/>
                        </a:rPr>
                        <a:t>1</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79"/>
                        </a:lnSpc>
                        <a:buNone/>
                      </a:pPr>
                      <a:r>
                        <a:rPr lang="en-US" sz="1557" dirty="0">
                          <a:solidFill>
                            <a:srgbClr val="1C2630"/>
                          </a:solidFill>
                          <a:latin typeface="IBM Plex Sans" pitchFamily="34" charset="0"/>
                          <a:ea typeface="IBM Plex Sans" pitchFamily="34" charset="-122"/>
                          <a:cs typeface="IBM Plex Sans" pitchFamily="34" charset="-120"/>
                        </a:rPr>
                        <a:t>1</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79"/>
                        </a:lnSpc>
                        <a:buNone/>
                      </a:pPr>
                      <a:r>
                        <a:rPr lang="en-US" sz="1557" dirty="0">
                          <a:solidFill>
                            <a:srgbClr val="1C2630"/>
                          </a:solidFill>
                          <a:latin typeface="IBM Plex Sans" pitchFamily="34" charset="0"/>
                          <a:ea typeface="IBM Plex Sans" pitchFamily="34" charset="-122"/>
                          <a:cs typeface="IBM Plex Sans" pitchFamily="34" charset="-120"/>
                        </a:rPr>
                        <a:t>3</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79"/>
                        </a:lnSpc>
                        <a:buNone/>
                      </a:pPr>
                      <a:r>
                        <a:rPr lang="en-US" sz="1557" dirty="0">
                          <a:solidFill>
                            <a:srgbClr val="1C2630"/>
                          </a:solidFill>
                          <a:latin typeface="IBM Plex Sans" pitchFamily="34" charset="0"/>
                          <a:ea typeface="IBM Plex Sans" pitchFamily="34" charset="-122"/>
                          <a:cs typeface="IBM Plex Sans" pitchFamily="34" charset="-120"/>
                        </a:rPr>
                        <a:t>6</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27831">
                <a:tc>
                  <a:txBody>
                    <a:bodyPr/>
                    <a:lstStyle/>
                    <a:p>
                      <a:pPr indent="0" marL="0">
                        <a:lnSpc>
                          <a:spcPts val="2179"/>
                        </a:lnSpc>
                        <a:buNone/>
                      </a:pPr>
                      <a:r>
                        <a:rPr lang="en-US" sz="1557" dirty="0">
                          <a:solidFill>
                            <a:srgbClr val="1C2630"/>
                          </a:solidFill>
                          <a:latin typeface="IBM Plex Sans" pitchFamily="34" charset="0"/>
                          <a:ea typeface="IBM Plex Sans" pitchFamily="34" charset="-122"/>
                          <a:cs typeface="IBM Plex Sans" pitchFamily="34" charset="-120"/>
                        </a:rPr>
                        <a:t>2</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79"/>
                        </a:lnSpc>
                        <a:buNone/>
                      </a:pPr>
                      <a:r>
                        <a:rPr lang="en-US" sz="1557" dirty="0">
                          <a:solidFill>
                            <a:srgbClr val="1C2630"/>
                          </a:solidFill>
                          <a:latin typeface="IBM Plex Sans" pitchFamily="34" charset="0"/>
                          <a:ea typeface="IBM Plex Sans" pitchFamily="34" charset="-122"/>
                          <a:cs typeface="IBM Plex Sans" pitchFamily="34" charset="-120"/>
                        </a:rPr>
                        <a:t>2,8</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79"/>
                        </a:lnSpc>
                        <a:buNone/>
                      </a:pPr>
                      <a:r>
                        <a:rPr lang="en-US" sz="1557" dirty="0">
                          <a:solidFill>
                            <a:srgbClr val="1C2630"/>
                          </a:solidFill>
                          <a:latin typeface="IBM Plex Sans" pitchFamily="34" charset="0"/>
                          <a:ea typeface="IBM Plex Sans" pitchFamily="34" charset="-122"/>
                          <a:cs typeface="IBM Plex Sans" pitchFamily="34" charset="-120"/>
                        </a:rPr>
                        <a:t>8,4</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79"/>
                        </a:lnSpc>
                        <a:buNone/>
                      </a:pPr>
                      <a:r>
                        <a:rPr lang="en-US" sz="1557" dirty="0">
                          <a:solidFill>
                            <a:srgbClr val="1C2630"/>
                          </a:solidFill>
                          <a:latin typeface="IBM Plex Sans" pitchFamily="34" charset="0"/>
                          <a:ea typeface="IBM Plex Sans" pitchFamily="34" charset="-122"/>
                          <a:cs typeface="IBM Plex Sans" pitchFamily="34" charset="-120"/>
                        </a:rPr>
                        <a:t>0,6</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27930">
                <a:tc>
                  <a:txBody>
                    <a:bodyPr/>
                    <a:lstStyle/>
                    <a:p>
                      <a:pPr indent="0" marL="0">
                        <a:lnSpc>
                          <a:spcPts val="2179"/>
                        </a:lnSpc>
                        <a:buNone/>
                      </a:pPr>
                      <a:r>
                        <a:rPr lang="en-US" sz="1557" dirty="0">
                          <a:solidFill>
                            <a:srgbClr val="1C2630"/>
                          </a:solidFill>
                          <a:latin typeface="IBM Plex Sans" pitchFamily="34" charset="0"/>
                          <a:ea typeface="IBM Plex Sans" pitchFamily="34" charset="-122"/>
                          <a:cs typeface="IBM Plex Sans" pitchFamily="34" charset="-120"/>
                        </a:rPr>
                        <a:t>3</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79"/>
                        </a:lnSpc>
                        <a:buNone/>
                      </a:pPr>
                      <a:r>
                        <a:rPr lang="en-US" sz="1557" dirty="0">
                          <a:solidFill>
                            <a:srgbClr val="1C2630"/>
                          </a:solidFill>
                          <a:latin typeface="IBM Plex Sans" pitchFamily="34" charset="0"/>
                          <a:ea typeface="IBM Plex Sans" pitchFamily="34" charset="-122"/>
                          <a:cs typeface="IBM Plex Sans" pitchFamily="34" charset="-120"/>
                        </a:rPr>
                        <a:t>2,98</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79"/>
                        </a:lnSpc>
                        <a:buNone/>
                      </a:pPr>
                      <a:r>
                        <a:rPr lang="en-US" sz="1557" dirty="0">
                          <a:solidFill>
                            <a:srgbClr val="1C2630"/>
                          </a:solidFill>
                          <a:latin typeface="IBM Plex Sans" pitchFamily="34" charset="0"/>
                          <a:ea typeface="IBM Plex Sans" pitchFamily="34" charset="-122"/>
                          <a:cs typeface="IBM Plex Sans" pitchFamily="34" charset="-120"/>
                        </a:rPr>
                        <a:t>8,94</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79"/>
                        </a:lnSpc>
                        <a:buNone/>
                      </a:pPr>
                      <a:r>
                        <a:rPr lang="en-US" sz="1557" dirty="0">
                          <a:solidFill>
                            <a:srgbClr val="1C2630"/>
                          </a:solidFill>
                          <a:latin typeface="IBM Plex Sans" pitchFamily="34" charset="0"/>
                          <a:ea typeface="IBM Plex Sans" pitchFamily="34" charset="-122"/>
                          <a:cs typeface="IBM Plex Sans" pitchFamily="34" charset="-120"/>
                        </a:rPr>
                        <a:t>0,06</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27930">
                <a:tc>
                  <a:txBody>
                    <a:bodyPr/>
                    <a:lstStyle/>
                    <a:p>
                      <a:pPr indent="0" marL="0">
                        <a:lnSpc>
                          <a:spcPts val="2179"/>
                        </a:lnSpc>
                        <a:buNone/>
                      </a:pPr>
                      <a:r>
                        <a:rPr lang="en-US" sz="1557" dirty="0">
                          <a:solidFill>
                            <a:srgbClr val="1C2630"/>
                          </a:solidFill>
                          <a:latin typeface="IBM Plex Sans" pitchFamily="34" charset="0"/>
                          <a:ea typeface="IBM Plex Sans" pitchFamily="34" charset="-122"/>
                          <a:cs typeface="IBM Plex Sans" pitchFamily="34" charset="-120"/>
                        </a:rPr>
                        <a:t>…</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79"/>
                        </a:lnSpc>
                        <a:buNone/>
                      </a:pPr>
                      <a:r>
                        <a:rPr lang="en-US" sz="1557" dirty="0">
                          <a:solidFill>
                            <a:srgbClr val="1C2630"/>
                          </a:solidFill>
                          <a:latin typeface="IBM Plex Sans" pitchFamily="34" charset="0"/>
                          <a:ea typeface="IBM Plex Sans" pitchFamily="34" charset="-122"/>
                          <a:cs typeface="IBM Plex Sans" pitchFamily="34" charset="-120"/>
                        </a:rPr>
                        <a:t>→ 3</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79"/>
                        </a:lnSpc>
                        <a:buNone/>
                      </a:pPr>
                      <a:r>
                        <a:rPr lang="en-US" sz="1557" dirty="0">
                          <a:solidFill>
                            <a:srgbClr val="1C2630"/>
                          </a:solidFill>
                          <a:latin typeface="IBM Plex Sans" pitchFamily="34" charset="0"/>
                          <a:ea typeface="IBM Plex Sans" pitchFamily="34" charset="-122"/>
                          <a:cs typeface="IBM Plex Sans" pitchFamily="34" charset="-120"/>
                        </a:rPr>
                        <a:t>→ 9</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79"/>
                        </a:lnSpc>
                        <a:buNone/>
                      </a:pPr>
                      <a:r>
                        <a:rPr lang="en-US" sz="1557" dirty="0">
                          <a:solidFill>
                            <a:srgbClr val="1C2630"/>
                          </a:solidFill>
                          <a:latin typeface="IBM Plex Sans" pitchFamily="34" charset="0"/>
                          <a:ea typeface="IBM Plex Sans" pitchFamily="34" charset="-122"/>
                          <a:cs typeface="IBM Plex Sans" pitchFamily="34" charset="-120"/>
                        </a:rPr>
                        <a:t>→ 0</a:t>
                      </a:r>
                      <a:endParaRPr lang="en-US" sz="1557" dirty="0">
                        <a:latin typeface="IBM Plex Sans" charset="0"/>
                        <a:ea typeface="IBM Plex Sans" charset="0"/>
                        <a:cs typeface="IBM Plex Sans" charset="0"/>
                      </a:endParaRPr>
                    </a:p>
                  </a:txBody>
                  <a:tcPr marL="69189" marR="69189" marT="69189" marB="69189"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7" name="Text 4"/>
          <p:cNvSpPr/>
          <p:nvPr/>
        </p:nvSpPr>
        <p:spPr>
          <a:xfrm>
            <a:off x="812800" y="5384998"/>
            <a:ext cx="11379200" cy="482402"/>
          </a:xfrm>
          <a:prstGeom prst="rect">
            <a:avLst/>
          </a:prstGeom>
          <a:noFill/>
          <a:ln/>
        </p:spPr>
        <p:txBody>
          <a:bodyPr wrap="square" lIns="0" tIns="0" rIns="0" bIns="0" rtlCol="0" anchor="t">
            <a:normAutofit/>
          </a:bodyPr>
          <a:lstStyle/>
          <a:p>
            <a:pPr algn="l" indent="0" marL="0">
              <a:lnSpc>
                <a:spcPts val="1838"/>
              </a:lnSpc>
              <a:buNone/>
            </a:pPr>
            <a:r>
              <a:rPr lang="en-US" sz="1313" dirty="0">
                <a:solidFill>
                  <a:srgbClr val="55606B"/>
                </a:solidFill>
                <a:latin typeface="IBM Plex Sans" pitchFamily="34" charset="0"/>
                <a:ea typeface="IBM Plex Sans" pitchFamily="34" charset="-122"/>
                <a:cs typeface="IBM Plex Sans" pitchFamily="34" charset="-120"/>
              </a:rPr>
              <a:t>Cada ajuste es proporcional al error: los primeros pasos son grandes y los últimos diminutos. Es la forma de la curva de pérdida.</a:t>
            </a:r>
            <a:endParaRPr lang="en-US" sz="1313" dirty="0"/>
          </a:p>
        </p:txBody>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LA TASA DE APRENDIZAJE</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El tamaño del paso importa</a:t>
            </a:r>
            <a:endParaRPr lang="en-US" sz="3600" dirty="0"/>
          </a:p>
        </p:txBody>
      </p:sp>
      <p:sp>
        <p:nvSpPr>
          <p:cNvPr id="4" name="Shape 2"/>
          <p:cNvSpPr/>
          <p:nvPr/>
        </p:nvSpPr>
        <p:spPr>
          <a:xfrm>
            <a:off x="815975" y="1905496"/>
            <a:ext cx="3414117" cy="1779091"/>
          </a:xfrm>
          <a:prstGeom prst="roundRect">
            <a:avLst>
              <a:gd name="adj" fmla="val 5532"/>
            </a:avLst>
          </a:prstGeom>
          <a:solidFill>
            <a:srgbClr val="FCFBF7"/>
          </a:solidFill>
          <a:ln w="6350">
            <a:solidFill>
              <a:srgbClr val="DDD8CC"/>
            </a:solidFill>
            <a:prstDash val="solid"/>
          </a:ln>
        </p:spPr>
      </p:sp>
      <p:sp>
        <p:nvSpPr>
          <p:cNvPr id="5" name="Text 3"/>
          <p:cNvSpPr/>
          <p:nvPr/>
        </p:nvSpPr>
        <p:spPr>
          <a:xfrm>
            <a:off x="1022350" y="2111871"/>
            <a:ext cx="309140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F5D7C"/>
                </a:solidFill>
                <a:latin typeface="Source Serif 4" pitchFamily="18" charset="0"/>
                <a:ea typeface="Source Serif 4" pitchFamily="18" charset="-122"/>
                <a:cs typeface="Source Serif 4" pitchFamily="18" charset="-120"/>
              </a:rPr>
              <a:t>0,05</a:t>
            </a:r>
            <a:endParaRPr lang="en-US" sz="3600" dirty="0"/>
          </a:p>
        </p:txBody>
      </p:sp>
      <p:sp>
        <p:nvSpPr>
          <p:cNvPr id="6" name="Text 4"/>
          <p:cNvSpPr/>
          <p:nvPr/>
        </p:nvSpPr>
        <p:spPr>
          <a:xfrm>
            <a:off x="1022350" y="2645271"/>
            <a:ext cx="30914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630"/>
                </a:solidFill>
                <a:latin typeface="IBM Plex Sans" pitchFamily="34" charset="0"/>
                <a:ea typeface="IBM Plex Sans" pitchFamily="34" charset="-122"/>
                <a:cs typeface="IBM Plex Sans" pitchFamily="34" charset="-120"/>
              </a:rPr>
              <a:t>Converge</a:t>
            </a:r>
            <a:endParaRPr lang="en-US" sz="1700" dirty="0"/>
          </a:p>
        </p:txBody>
      </p:sp>
      <p:sp>
        <p:nvSpPr>
          <p:cNvPr id="7" name="Text 5"/>
          <p:cNvSpPr/>
          <p:nvPr/>
        </p:nvSpPr>
        <p:spPr>
          <a:xfrm>
            <a:off x="1022350" y="2980531"/>
            <a:ext cx="309140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El peso va de 1 a 2,8 y a 2,98: se acerca a 3.</a:t>
            </a:r>
            <a:endParaRPr lang="en-US" sz="1400" dirty="0"/>
          </a:p>
        </p:txBody>
      </p:sp>
      <p:sp>
        <p:nvSpPr>
          <p:cNvPr id="8" name="Shape 6"/>
          <p:cNvSpPr/>
          <p:nvPr/>
        </p:nvSpPr>
        <p:spPr>
          <a:xfrm>
            <a:off x="4388842" y="1905496"/>
            <a:ext cx="3414216" cy="1779091"/>
          </a:xfrm>
          <a:prstGeom prst="roundRect">
            <a:avLst>
              <a:gd name="adj" fmla="val 5532"/>
            </a:avLst>
          </a:prstGeom>
          <a:solidFill>
            <a:srgbClr val="FCFBF7"/>
          </a:solidFill>
          <a:ln w="6350">
            <a:solidFill>
              <a:srgbClr val="DDD8CC"/>
            </a:solidFill>
            <a:prstDash val="solid"/>
          </a:ln>
        </p:spPr>
      </p:sp>
      <p:sp>
        <p:nvSpPr>
          <p:cNvPr id="9" name="Text 7"/>
          <p:cNvSpPr/>
          <p:nvPr/>
        </p:nvSpPr>
        <p:spPr>
          <a:xfrm>
            <a:off x="4595217" y="2111871"/>
            <a:ext cx="309151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8201A"/>
                </a:solidFill>
                <a:latin typeface="Source Serif 4" pitchFamily="18" charset="0"/>
                <a:ea typeface="Source Serif 4" pitchFamily="18" charset="-122"/>
                <a:cs typeface="Source Serif 4" pitchFamily="18" charset="-120"/>
              </a:rPr>
              <a:t>0,5</a:t>
            </a:r>
            <a:endParaRPr lang="en-US" sz="3600" dirty="0"/>
          </a:p>
        </p:txBody>
      </p:sp>
      <p:sp>
        <p:nvSpPr>
          <p:cNvPr id="10" name="Text 8"/>
          <p:cNvSpPr/>
          <p:nvPr/>
        </p:nvSpPr>
        <p:spPr>
          <a:xfrm>
            <a:off x="4595217" y="2645271"/>
            <a:ext cx="309151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630"/>
                </a:solidFill>
                <a:latin typeface="IBM Plex Sans" pitchFamily="34" charset="0"/>
                <a:ea typeface="IBM Plex Sans" pitchFamily="34" charset="-122"/>
                <a:cs typeface="IBM Plex Sans" pitchFamily="34" charset="-120"/>
              </a:rPr>
              <a:t>Se pasa del valle</a:t>
            </a:r>
            <a:endParaRPr lang="en-US" sz="1700" dirty="0"/>
          </a:p>
        </p:txBody>
      </p:sp>
      <p:sp>
        <p:nvSpPr>
          <p:cNvPr id="11" name="Text 9"/>
          <p:cNvSpPr/>
          <p:nvPr/>
        </p:nvSpPr>
        <p:spPr>
          <a:xfrm>
            <a:off x="4595217" y="2980531"/>
            <a:ext cx="30915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El peso salta de 1 a 19 y la predicción es 57, cuando debía ser 9.</a:t>
            </a:r>
            <a:endParaRPr lang="en-US" sz="1400" dirty="0"/>
          </a:p>
        </p:txBody>
      </p:sp>
      <p:sp>
        <p:nvSpPr>
          <p:cNvPr id="12" name="Shape 10"/>
          <p:cNvSpPr/>
          <p:nvPr/>
        </p:nvSpPr>
        <p:spPr>
          <a:xfrm>
            <a:off x="7961809" y="1905496"/>
            <a:ext cx="3414216" cy="1779091"/>
          </a:xfrm>
          <a:prstGeom prst="roundRect">
            <a:avLst>
              <a:gd name="adj" fmla="val 5532"/>
            </a:avLst>
          </a:prstGeom>
          <a:solidFill>
            <a:srgbClr val="FCFBF7"/>
          </a:solidFill>
          <a:ln w="6350">
            <a:solidFill>
              <a:srgbClr val="DDD8CC"/>
            </a:solidFill>
            <a:prstDash val="solid"/>
          </a:ln>
        </p:spPr>
      </p:sp>
      <p:sp>
        <p:nvSpPr>
          <p:cNvPr id="13" name="Text 11"/>
          <p:cNvSpPr/>
          <p:nvPr/>
        </p:nvSpPr>
        <p:spPr>
          <a:xfrm>
            <a:off x="8168184" y="2111871"/>
            <a:ext cx="309151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55606B"/>
                </a:solidFill>
                <a:latin typeface="Source Serif 4" pitchFamily="18" charset="0"/>
                <a:ea typeface="Source Serif 4" pitchFamily="18" charset="-122"/>
                <a:cs typeface="Source Serif 4" pitchFamily="18" charset="-120"/>
              </a:rPr>
              <a:t>0,0001</a:t>
            </a:r>
            <a:endParaRPr lang="en-US" sz="3600" dirty="0"/>
          </a:p>
        </p:txBody>
      </p:sp>
      <p:sp>
        <p:nvSpPr>
          <p:cNvPr id="14" name="Text 12"/>
          <p:cNvSpPr/>
          <p:nvPr/>
        </p:nvSpPr>
        <p:spPr>
          <a:xfrm>
            <a:off x="8168184" y="2645271"/>
            <a:ext cx="309151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630"/>
                </a:solidFill>
                <a:latin typeface="IBM Plex Sans" pitchFamily="34" charset="0"/>
                <a:ea typeface="IBM Plex Sans" pitchFamily="34" charset="-122"/>
                <a:cs typeface="IBM Plex Sans" pitchFamily="34" charset="-120"/>
              </a:rPr>
              <a:t>Casi no avanza</a:t>
            </a:r>
            <a:endParaRPr lang="en-US" sz="1700" dirty="0"/>
          </a:p>
        </p:txBody>
      </p:sp>
      <p:sp>
        <p:nvSpPr>
          <p:cNvPr id="15" name="Text 13"/>
          <p:cNvSpPr/>
          <p:nvPr/>
        </p:nvSpPr>
        <p:spPr>
          <a:xfrm>
            <a:off x="8168184" y="2980531"/>
            <a:ext cx="30915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El peso se mueve unas milésimas por ciclo: harían falta miles.</a:t>
            </a:r>
            <a:endParaRPr lang="en-US" sz="1400" dirty="0"/>
          </a:p>
        </p:txBody>
      </p:sp>
      <p:sp>
        <p:nvSpPr>
          <p:cNvPr id="16" name="Text 14"/>
          <p:cNvSpPr/>
          <p:nvPr/>
        </p:nvSpPr>
        <p:spPr>
          <a:xfrm>
            <a:off x="812800" y="3967163"/>
            <a:ext cx="10566400" cy="502841"/>
          </a:xfrm>
          <a:prstGeom prst="rect">
            <a:avLst/>
          </a:prstGeom>
          <a:solidFill>
            <a:srgbClr val="ECE7DA"/>
          </a:solidFill>
          <a:ln/>
        </p:spPr>
        <p:txBody>
          <a:bodyPr wrap="square" lIns="254000" tIns="127000" rIns="0" bIns="101600" rtlCol="0" anchor="t">
            <a:normAutofit/>
          </a:bodyPr>
          <a:lstStyle/>
          <a:p>
            <a:pPr algn="l"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Si la pérdida se vuelve un valor inválido, el cuaderno de entrenamiento se detiene y sugiere bajar la tasa de aprendizaje.</a:t>
            </a:r>
            <a:endParaRPr lang="en-US" sz="1400" dirty="0"/>
          </a:p>
        </p:txBody>
      </p:sp>
      <p:sp>
        <p:nvSpPr>
          <p:cNvPr id="17" name="Shape 15"/>
          <p:cNvSpPr/>
          <p:nvPr/>
        </p:nvSpPr>
        <p:spPr>
          <a:xfrm>
            <a:off x="838200" y="3967163"/>
            <a:ext cx="0" cy="502841"/>
          </a:xfrm>
          <a:prstGeom prst="line">
            <a:avLst/>
          </a:prstGeom>
          <a:noFill/>
          <a:ln w="50800">
            <a:solidFill>
              <a:srgbClr val="2F5D7C"/>
            </a:solidFill>
            <a:prstDash val="solid"/>
          </a:ln>
        </p:spPr>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UN ENTRENAMIENTO, DE LADO</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La pérdida baja y la validación sube</a:t>
            </a:r>
            <a:endParaRPr lang="en-US" sz="3600" dirty="0"/>
          </a:p>
        </p:txBody>
      </p:sp>
      <p:pic>
        <p:nvPicPr>
          <p:cNvPr id="4" name="Image 0" descr="Esquema: la pérdida de entrenamiento baja rápido y luego se aplana a lo largo de las épocas">    </p:cNvPr>
          <p:cNvPicPr>
            <a:picLocks noChangeAspect="1"/>
          </p:cNvPicPr>
          <p:nvPr/>
        </p:nvPicPr>
        <p:blipFill>
          <a:blip r:embed="rId1"/>
          <a:srcRect l="0" r="0" t="0" b="0"/>
          <a:stretch/>
        </p:blipFill>
        <p:spPr>
          <a:xfrm>
            <a:off x="812800" y="1826121"/>
            <a:ext cx="5080000" cy="2159000"/>
          </a:xfrm>
          <a:prstGeom prst="rect">
            <a:avLst/>
          </a:prstGeom>
        </p:spPr>
      </p:pic>
      <p:sp>
        <p:nvSpPr>
          <p:cNvPr id="5" name="Text 2"/>
          <p:cNvSpPr/>
          <p:nvPr/>
        </p:nvSpPr>
        <p:spPr>
          <a:xfrm>
            <a:off x="812800" y="4048621"/>
            <a:ext cx="53370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Pérdida de entrenamiento</a:t>
            </a:r>
            <a:endParaRPr lang="en-US" sz="1400" dirty="0"/>
          </a:p>
        </p:txBody>
      </p:sp>
      <p:sp>
        <p:nvSpPr>
          <p:cNvPr id="6" name="Text 3"/>
          <p:cNvSpPr/>
          <p:nvPr/>
        </p:nvSpPr>
        <p:spPr>
          <a:xfrm>
            <a:off x="812800" y="4360962"/>
            <a:ext cx="533704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06B"/>
                </a:solidFill>
                <a:latin typeface="IBM Plex Sans" pitchFamily="34" charset="0"/>
                <a:ea typeface="IBM Plex Sans" pitchFamily="34" charset="-122"/>
                <a:cs typeface="IBM Plex Sans" pitchFamily="34" charset="-120"/>
              </a:rPr>
              <a:t>Baja rápido y luego se aplana. Esquema, no datos reales.</a:t>
            </a:r>
            <a:endParaRPr lang="en-US" sz="1300" dirty="0"/>
          </a:p>
        </p:txBody>
      </p:sp>
      <p:pic>
        <p:nvPicPr>
          <p:cNvPr id="7" name="Image 1" descr="Esquema: la calidad medida en validación sube y luego se estabiliza a lo largo de las épocas">    </p:cNvPr>
          <p:cNvPicPr>
            <a:picLocks noChangeAspect="1"/>
          </p:cNvPicPr>
          <p:nvPr/>
        </p:nvPicPr>
        <p:blipFill>
          <a:blip r:embed="rId2"/>
          <a:srcRect l="0" r="0" t="0" b="0"/>
          <a:stretch/>
        </p:blipFill>
        <p:spPr>
          <a:xfrm>
            <a:off x="6197600" y="1826121"/>
            <a:ext cx="5080000" cy="2159000"/>
          </a:xfrm>
          <a:prstGeom prst="rect">
            <a:avLst/>
          </a:prstGeom>
        </p:spPr>
      </p:pic>
      <p:sp>
        <p:nvSpPr>
          <p:cNvPr id="8" name="Text 4"/>
          <p:cNvSpPr/>
          <p:nvPr/>
        </p:nvSpPr>
        <p:spPr>
          <a:xfrm>
            <a:off x="6197600" y="4048621"/>
            <a:ext cx="53370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Calidad en validación (AP50)</a:t>
            </a:r>
            <a:endParaRPr lang="en-US" sz="1400" dirty="0"/>
          </a:p>
        </p:txBody>
      </p:sp>
      <p:sp>
        <p:nvSpPr>
          <p:cNvPr id="9" name="Text 5"/>
          <p:cNvSpPr/>
          <p:nvPr/>
        </p:nvSpPr>
        <p:spPr>
          <a:xfrm>
            <a:off x="6197600" y="4360962"/>
            <a:ext cx="533704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06B"/>
                </a:solidFill>
                <a:latin typeface="IBM Plex Sans" pitchFamily="34" charset="0"/>
                <a:ea typeface="IBM Plex Sans" pitchFamily="34" charset="-122"/>
                <a:cs typeface="IBM Plex Sans" pitchFamily="34" charset="-120"/>
              </a:rPr>
              <a:t>Sube y se estabiliza. Se guarda la copia con el mejor resultado.</a:t>
            </a:r>
            <a:endParaRPr lang="en-US" sz="1300" dirty="0"/>
          </a:p>
        </p:txBody>
      </p:sp>
      <p:sp>
        <p:nvSpPr>
          <p:cNvPr id="10" name="Text 6"/>
          <p:cNvSpPr/>
          <p:nvPr/>
        </p:nvSpPr>
        <p:spPr>
          <a:xfrm>
            <a:off x="812800" y="4787007"/>
            <a:ext cx="10566400" cy="477441"/>
          </a:xfrm>
          <a:prstGeom prst="rect">
            <a:avLst/>
          </a:prstGeom>
          <a:solidFill>
            <a:srgbClr val="ECE7DA"/>
          </a:solidFill>
          <a:ln/>
        </p:spPr>
        <p:txBody>
          <a:bodyPr wrap="square" lIns="254000" tIns="114300" rIns="0" bIns="88900" rtlCol="0" anchor="t">
            <a:normAutofit/>
          </a:bodyPr>
          <a:lstStyle/>
          <a:p>
            <a:pPr algn="l"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Si la pérdida de entrenamiento sigue bajando pero la validación deja de mejorar, es sobreajuste: el modelo ya memoriza.</a:t>
            </a:r>
            <a:endParaRPr lang="en-US" sz="1400" dirty="0"/>
          </a:p>
        </p:txBody>
      </p:sp>
      <p:sp>
        <p:nvSpPr>
          <p:cNvPr id="11" name="Shape 7"/>
          <p:cNvSpPr/>
          <p:nvPr/>
        </p:nvSpPr>
        <p:spPr>
          <a:xfrm>
            <a:off x="838200" y="4787007"/>
            <a:ext cx="0" cy="477441"/>
          </a:xfrm>
          <a:prstGeom prst="line">
            <a:avLst/>
          </a:prstGeom>
          <a:noFill/>
          <a:ln w="50800">
            <a:solidFill>
              <a:srgbClr val="A8201A"/>
            </a:solidFill>
            <a:prstDash val="solid"/>
          </a:ln>
        </p:spPr>
      </p:sp>
      <p:sp>
        <p:nvSpPr>
          <p:cNvPr id="12"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QUÉ ES UNA IMAGEN PARA LA COMPUTADORA</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Una tabla de números</a:t>
            </a:r>
            <a:endParaRPr lang="en-US" sz="3600" dirty="0"/>
          </a:p>
        </p:txBody>
      </p:sp>
      <p:sp>
        <p:nvSpPr>
          <p:cNvPr id="4" name="Text 2"/>
          <p:cNvSpPr/>
          <p:nvPr/>
        </p:nvSpPr>
        <p:spPr>
          <a:xfrm>
            <a:off x="812800" y="1876921"/>
            <a:ext cx="609600" cy="609600"/>
          </a:xfrm>
          <a:prstGeom prst="rect">
            <a:avLst/>
          </a:prstGeom>
          <a:solidFill>
            <a:srgbClr val="17222C"/>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12</a:t>
            </a:r>
            <a:endParaRPr lang="en-US" sz="1400" dirty="0"/>
          </a:p>
        </p:txBody>
      </p:sp>
      <p:sp>
        <p:nvSpPr>
          <p:cNvPr id="5" name="Text 3"/>
          <p:cNvSpPr/>
          <p:nvPr/>
        </p:nvSpPr>
        <p:spPr>
          <a:xfrm>
            <a:off x="1447800" y="1876921"/>
            <a:ext cx="609600" cy="609600"/>
          </a:xfrm>
          <a:prstGeom prst="rect">
            <a:avLst/>
          </a:prstGeom>
          <a:solidFill>
            <a:srgbClr val="17222C"/>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10</a:t>
            </a:r>
            <a:endParaRPr lang="en-US" sz="1400" dirty="0"/>
          </a:p>
        </p:txBody>
      </p:sp>
      <p:sp>
        <p:nvSpPr>
          <p:cNvPr id="6" name="Text 4"/>
          <p:cNvSpPr/>
          <p:nvPr/>
        </p:nvSpPr>
        <p:spPr>
          <a:xfrm>
            <a:off x="2082800" y="1876921"/>
            <a:ext cx="609600" cy="609600"/>
          </a:xfrm>
          <a:prstGeom prst="rect">
            <a:avLst/>
          </a:prstGeom>
          <a:solidFill>
            <a:srgbClr val="17222C"/>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14</a:t>
            </a:r>
            <a:endParaRPr lang="en-US" sz="1400" dirty="0"/>
          </a:p>
        </p:txBody>
      </p:sp>
      <p:sp>
        <p:nvSpPr>
          <p:cNvPr id="7" name="Text 5"/>
          <p:cNvSpPr/>
          <p:nvPr/>
        </p:nvSpPr>
        <p:spPr>
          <a:xfrm>
            <a:off x="2717800" y="1876921"/>
            <a:ext cx="609600" cy="609600"/>
          </a:xfrm>
          <a:prstGeom prst="rect">
            <a:avLst/>
          </a:prstGeom>
          <a:solidFill>
            <a:srgbClr val="17222C"/>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13</a:t>
            </a:r>
            <a:endParaRPr lang="en-US" sz="1400" dirty="0"/>
          </a:p>
        </p:txBody>
      </p:sp>
      <p:sp>
        <p:nvSpPr>
          <p:cNvPr id="8" name="Text 6"/>
          <p:cNvSpPr/>
          <p:nvPr/>
        </p:nvSpPr>
        <p:spPr>
          <a:xfrm>
            <a:off x="3352800" y="1876921"/>
            <a:ext cx="609600" cy="609600"/>
          </a:xfrm>
          <a:prstGeom prst="rect">
            <a:avLst/>
          </a:prstGeom>
          <a:solidFill>
            <a:srgbClr val="17222C"/>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11</a:t>
            </a:r>
            <a:endParaRPr lang="en-US" sz="1400" dirty="0"/>
          </a:p>
        </p:txBody>
      </p:sp>
      <p:sp>
        <p:nvSpPr>
          <p:cNvPr id="9" name="Text 7"/>
          <p:cNvSpPr/>
          <p:nvPr/>
        </p:nvSpPr>
        <p:spPr>
          <a:xfrm>
            <a:off x="812800" y="2511921"/>
            <a:ext cx="609600" cy="609600"/>
          </a:xfrm>
          <a:prstGeom prst="rect">
            <a:avLst/>
          </a:prstGeom>
          <a:solidFill>
            <a:srgbClr val="17222C"/>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11</a:t>
            </a:r>
            <a:endParaRPr lang="en-US" sz="1400" dirty="0"/>
          </a:p>
        </p:txBody>
      </p:sp>
      <p:sp>
        <p:nvSpPr>
          <p:cNvPr id="10" name="Text 8"/>
          <p:cNvSpPr/>
          <p:nvPr/>
        </p:nvSpPr>
        <p:spPr>
          <a:xfrm>
            <a:off x="1447800" y="2511921"/>
            <a:ext cx="609600" cy="609600"/>
          </a:xfrm>
          <a:prstGeom prst="rect">
            <a:avLst/>
          </a:prstGeom>
          <a:solidFill>
            <a:srgbClr val="1E2B36"/>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20</a:t>
            </a:r>
            <a:endParaRPr lang="en-US" sz="1400" dirty="0"/>
          </a:p>
        </p:txBody>
      </p:sp>
      <p:sp>
        <p:nvSpPr>
          <p:cNvPr id="11" name="Text 9"/>
          <p:cNvSpPr/>
          <p:nvPr/>
        </p:nvSpPr>
        <p:spPr>
          <a:xfrm>
            <a:off x="2082800" y="2511921"/>
            <a:ext cx="609600" cy="609600"/>
          </a:xfrm>
          <a:prstGeom prst="rect">
            <a:avLst/>
          </a:prstGeom>
          <a:solidFill>
            <a:srgbClr val="4B5560"/>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90</a:t>
            </a:r>
            <a:endParaRPr lang="en-US" sz="1400" dirty="0"/>
          </a:p>
        </p:txBody>
      </p:sp>
      <p:sp>
        <p:nvSpPr>
          <p:cNvPr id="12" name="Text 10"/>
          <p:cNvSpPr/>
          <p:nvPr/>
        </p:nvSpPr>
        <p:spPr>
          <a:xfrm>
            <a:off x="2717800" y="2511921"/>
            <a:ext cx="609600" cy="609600"/>
          </a:xfrm>
          <a:prstGeom prst="rect">
            <a:avLst/>
          </a:prstGeom>
          <a:solidFill>
            <a:srgbClr val="1E2B36"/>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18</a:t>
            </a:r>
            <a:endParaRPr lang="en-US" sz="1400" dirty="0"/>
          </a:p>
        </p:txBody>
      </p:sp>
      <p:sp>
        <p:nvSpPr>
          <p:cNvPr id="13" name="Text 11"/>
          <p:cNvSpPr/>
          <p:nvPr/>
        </p:nvSpPr>
        <p:spPr>
          <a:xfrm>
            <a:off x="3352800" y="2511921"/>
            <a:ext cx="609600" cy="609600"/>
          </a:xfrm>
          <a:prstGeom prst="rect">
            <a:avLst/>
          </a:prstGeom>
          <a:solidFill>
            <a:srgbClr val="17222C"/>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12</a:t>
            </a:r>
            <a:endParaRPr lang="en-US" sz="1400" dirty="0"/>
          </a:p>
        </p:txBody>
      </p:sp>
      <p:sp>
        <p:nvSpPr>
          <p:cNvPr id="14" name="Text 12"/>
          <p:cNvSpPr/>
          <p:nvPr/>
        </p:nvSpPr>
        <p:spPr>
          <a:xfrm>
            <a:off x="812800" y="3146921"/>
            <a:ext cx="609600" cy="609600"/>
          </a:xfrm>
          <a:prstGeom prst="rect">
            <a:avLst/>
          </a:prstGeom>
          <a:solidFill>
            <a:srgbClr val="17222C"/>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13</a:t>
            </a:r>
            <a:endParaRPr lang="en-US" sz="1400" dirty="0"/>
          </a:p>
        </p:txBody>
      </p:sp>
      <p:sp>
        <p:nvSpPr>
          <p:cNvPr id="15" name="Text 13"/>
          <p:cNvSpPr/>
          <p:nvPr/>
        </p:nvSpPr>
        <p:spPr>
          <a:xfrm>
            <a:off x="1447800" y="3146921"/>
            <a:ext cx="609600" cy="609600"/>
          </a:xfrm>
          <a:prstGeom prst="rect">
            <a:avLst/>
          </a:prstGeom>
          <a:solidFill>
            <a:srgbClr val="7C858E"/>
          </a:solidFill>
          <a:ln/>
        </p:spPr>
        <p:txBody>
          <a:bodyPr wrap="square" lIns="0" tIns="0" rIns="0" bIns="0" rtlCol="0" anchor="t">
            <a:normAutofit/>
          </a:bodyPr>
          <a:lstStyle/>
          <a:p>
            <a:pPr algn="l" indent="0" marL="0">
              <a:lnSpc>
                <a:spcPts val="1960"/>
              </a:lnSpc>
              <a:buNone/>
            </a:pPr>
            <a:r>
              <a:rPr lang="en-US" sz="1400" dirty="0">
                <a:solidFill>
                  <a:srgbClr val="14202A"/>
                </a:solidFill>
                <a:latin typeface="IBM Plex Sans" pitchFamily="34" charset="0"/>
                <a:ea typeface="IBM Plex Sans" pitchFamily="34" charset="-122"/>
                <a:cs typeface="IBM Plex Sans" pitchFamily="34" charset="-120"/>
              </a:rPr>
              <a:t>140</a:t>
            </a:r>
            <a:endParaRPr lang="en-US" sz="1400" dirty="0"/>
          </a:p>
        </p:txBody>
      </p:sp>
      <p:sp>
        <p:nvSpPr>
          <p:cNvPr id="16" name="Text 14"/>
          <p:cNvSpPr/>
          <p:nvPr/>
        </p:nvSpPr>
        <p:spPr>
          <a:xfrm>
            <a:off x="2082800" y="3146921"/>
            <a:ext cx="609600" cy="609600"/>
          </a:xfrm>
          <a:prstGeom prst="rect">
            <a:avLst/>
          </a:prstGeom>
          <a:solidFill>
            <a:srgbClr val="D7DCE0"/>
          </a:solidFill>
          <a:ln/>
        </p:spPr>
        <p:txBody>
          <a:bodyPr wrap="square" lIns="0" tIns="0" rIns="0" bIns="0" rtlCol="0" anchor="t">
            <a:normAutofit/>
          </a:bodyPr>
          <a:lstStyle/>
          <a:p>
            <a:pPr algn="l" indent="0" marL="0">
              <a:lnSpc>
                <a:spcPts val="1960"/>
              </a:lnSpc>
              <a:buNone/>
            </a:pPr>
            <a:r>
              <a:rPr lang="en-US" sz="1400" dirty="0">
                <a:solidFill>
                  <a:srgbClr val="14202A"/>
                </a:solidFill>
                <a:latin typeface="IBM Plex Sans" pitchFamily="34" charset="0"/>
                <a:ea typeface="IBM Plex Sans" pitchFamily="34" charset="-122"/>
                <a:cs typeface="IBM Plex Sans" pitchFamily="34" charset="-120"/>
              </a:rPr>
              <a:t>220</a:t>
            </a:r>
            <a:endParaRPr lang="en-US" sz="1400" dirty="0"/>
          </a:p>
        </p:txBody>
      </p:sp>
      <p:sp>
        <p:nvSpPr>
          <p:cNvPr id="17" name="Text 15"/>
          <p:cNvSpPr/>
          <p:nvPr/>
        </p:nvSpPr>
        <p:spPr>
          <a:xfrm>
            <a:off x="2717800" y="3146921"/>
            <a:ext cx="609600" cy="609600"/>
          </a:xfrm>
          <a:prstGeom prst="rect">
            <a:avLst/>
          </a:prstGeom>
          <a:solidFill>
            <a:srgbClr val="969FA7"/>
          </a:solidFill>
          <a:ln/>
        </p:spPr>
        <p:txBody>
          <a:bodyPr wrap="square" lIns="0" tIns="0" rIns="0" bIns="0" rtlCol="0" anchor="t">
            <a:normAutofit/>
          </a:bodyPr>
          <a:lstStyle/>
          <a:p>
            <a:pPr algn="l" indent="0" marL="0">
              <a:lnSpc>
                <a:spcPts val="1960"/>
              </a:lnSpc>
              <a:buNone/>
            </a:pPr>
            <a:r>
              <a:rPr lang="en-US" sz="1400" dirty="0">
                <a:solidFill>
                  <a:srgbClr val="14202A"/>
                </a:solidFill>
                <a:latin typeface="IBM Plex Sans" pitchFamily="34" charset="0"/>
                <a:ea typeface="IBM Plex Sans" pitchFamily="34" charset="-122"/>
                <a:cs typeface="IBM Plex Sans" pitchFamily="34" charset="-120"/>
              </a:rPr>
              <a:t>160</a:t>
            </a:r>
            <a:endParaRPr lang="en-US" sz="1400" dirty="0"/>
          </a:p>
        </p:txBody>
      </p:sp>
      <p:sp>
        <p:nvSpPr>
          <p:cNvPr id="18" name="Text 16"/>
          <p:cNvSpPr/>
          <p:nvPr/>
        </p:nvSpPr>
        <p:spPr>
          <a:xfrm>
            <a:off x="3352800" y="3146921"/>
            <a:ext cx="609600" cy="609600"/>
          </a:xfrm>
          <a:prstGeom prst="rect">
            <a:avLst/>
          </a:prstGeom>
          <a:solidFill>
            <a:srgbClr val="17222C"/>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14</a:t>
            </a:r>
            <a:endParaRPr lang="en-US" sz="1400" dirty="0"/>
          </a:p>
        </p:txBody>
      </p:sp>
      <p:sp>
        <p:nvSpPr>
          <p:cNvPr id="19" name="Text 17"/>
          <p:cNvSpPr/>
          <p:nvPr/>
        </p:nvSpPr>
        <p:spPr>
          <a:xfrm>
            <a:off x="812800" y="3781921"/>
            <a:ext cx="609600" cy="609600"/>
          </a:xfrm>
          <a:prstGeom prst="rect">
            <a:avLst/>
          </a:prstGeom>
          <a:solidFill>
            <a:srgbClr val="17222C"/>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12</a:t>
            </a:r>
            <a:endParaRPr lang="en-US" sz="1400" dirty="0"/>
          </a:p>
        </p:txBody>
      </p:sp>
      <p:sp>
        <p:nvSpPr>
          <p:cNvPr id="20" name="Text 18"/>
          <p:cNvSpPr/>
          <p:nvPr/>
        </p:nvSpPr>
        <p:spPr>
          <a:xfrm>
            <a:off x="1447800" y="3781921"/>
            <a:ext cx="609600" cy="609600"/>
          </a:xfrm>
          <a:prstGeom prst="rect">
            <a:avLst/>
          </a:prstGeom>
          <a:solidFill>
            <a:srgbClr val="1E2B36"/>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25</a:t>
            </a:r>
            <a:endParaRPr lang="en-US" sz="1400" dirty="0"/>
          </a:p>
        </p:txBody>
      </p:sp>
      <p:sp>
        <p:nvSpPr>
          <p:cNvPr id="21" name="Text 19"/>
          <p:cNvSpPr/>
          <p:nvPr/>
        </p:nvSpPr>
        <p:spPr>
          <a:xfrm>
            <a:off x="2082800" y="3781921"/>
            <a:ext cx="609600" cy="609600"/>
          </a:xfrm>
          <a:prstGeom prst="rect">
            <a:avLst/>
          </a:prstGeom>
          <a:solidFill>
            <a:srgbClr val="8A939B"/>
          </a:solidFill>
          <a:ln/>
        </p:spPr>
        <p:txBody>
          <a:bodyPr wrap="square" lIns="0" tIns="0" rIns="0" bIns="0" rtlCol="0" anchor="t">
            <a:normAutofit/>
          </a:bodyPr>
          <a:lstStyle/>
          <a:p>
            <a:pPr algn="l" indent="0" marL="0">
              <a:lnSpc>
                <a:spcPts val="1960"/>
              </a:lnSpc>
              <a:buNone/>
            </a:pPr>
            <a:r>
              <a:rPr lang="en-US" sz="1400" dirty="0">
                <a:solidFill>
                  <a:srgbClr val="14202A"/>
                </a:solidFill>
                <a:latin typeface="IBM Plex Sans" pitchFamily="34" charset="0"/>
                <a:ea typeface="IBM Plex Sans" pitchFamily="34" charset="-122"/>
                <a:cs typeface="IBM Plex Sans" pitchFamily="34" charset="-120"/>
              </a:rPr>
              <a:t>150</a:t>
            </a:r>
            <a:endParaRPr lang="en-US" sz="1400" dirty="0"/>
          </a:p>
        </p:txBody>
      </p:sp>
      <p:sp>
        <p:nvSpPr>
          <p:cNvPr id="22" name="Text 20"/>
          <p:cNvSpPr/>
          <p:nvPr/>
        </p:nvSpPr>
        <p:spPr>
          <a:xfrm>
            <a:off x="2717800" y="3781921"/>
            <a:ext cx="609600" cy="609600"/>
          </a:xfrm>
          <a:prstGeom prst="rect">
            <a:avLst/>
          </a:prstGeom>
          <a:solidFill>
            <a:srgbClr val="1E2B36"/>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30</a:t>
            </a:r>
            <a:endParaRPr lang="en-US" sz="1400" dirty="0"/>
          </a:p>
        </p:txBody>
      </p:sp>
      <p:sp>
        <p:nvSpPr>
          <p:cNvPr id="23" name="Text 21"/>
          <p:cNvSpPr/>
          <p:nvPr/>
        </p:nvSpPr>
        <p:spPr>
          <a:xfrm>
            <a:off x="3352800" y="3781921"/>
            <a:ext cx="609600" cy="609600"/>
          </a:xfrm>
          <a:prstGeom prst="rect">
            <a:avLst/>
          </a:prstGeom>
          <a:solidFill>
            <a:srgbClr val="17222C"/>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11</a:t>
            </a:r>
            <a:endParaRPr lang="en-US" sz="1400" dirty="0"/>
          </a:p>
        </p:txBody>
      </p:sp>
      <p:sp>
        <p:nvSpPr>
          <p:cNvPr id="24" name="Text 22"/>
          <p:cNvSpPr/>
          <p:nvPr/>
        </p:nvSpPr>
        <p:spPr>
          <a:xfrm>
            <a:off x="812800" y="4416921"/>
            <a:ext cx="609600" cy="609600"/>
          </a:xfrm>
          <a:prstGeom prst="rect">
            <a:avLst/>
          </a:prstGeom>
          <a:solidFill>
            <a:srgbClr val="17222C"/>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10</a:t>
            </a:r>
            <a:endParaRPr lang="en-US" sz="1400" dirty="0"/>
          </a:p>
        </p:txBody>
      </p:sp>
      <p:sp>
        <p:nvSpPr>
          <p:cNvPr id="25" name="Text 23"/>
          <p:cNvSpPr/>
          <p:nvPr/>
        </p:nvSpPr>
        <p:spPr>
          <a:xfrm>
            <a:off x="1447800" y="4416921"/>
            <a:ext cx="609600" cy="609600"/>
          </a:xfrm>
          <a:prstGeom prst="rect">
            <a:avLst/>
          </a:prstGeom>
          <a:solidFill>
            <a:srgbClr val="17222C"/>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11</a:t>
            </a:r>
            <a:endParaRPr lang="en-US" sz="1400" dirty="0"/>
          </a:p>
        </p:txBody>
      </p:sp>
      <p:sp>
        <p:nvSpPr>
          <p:cNvPr id="26" name="Text 24"/>
          <p:cNvSpPr/>
          <p:nvPr/>
        </p:nvSpPr>
        <p:spPr>
          <a:xfrm>
            <a:off x="2082800" y="4416921"/>
            <a:ext cx="609600" cy="609600"/>
          </a:xfrm>
          <a:prstGeom prst="rect">
            <a:avLst/>
          </a:prstGeom>
          <a:solidFill>
            <a:srgbClr val="17222C"/>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15</a:t>
            </a:r>
            <a:endParaRPr lang="en-US" sz="1400" dirty="0"/>
          </a:p>
        </p:txBody>
      </p:sp>
      <p:sp>
        <p:nvSpPr>
          <p:cNvPr id="27" name="Text 25"/>
          <p:cNvSpPr/>
          <p:nvPr/>
        </p:nvSpPr>
        <p:spPr>
          <a:xfrm>
            <a:off x="2717800" y="4416921"/>
            <a:ext cx="609600" cy="609600"/>
          </a:xfrm>
          <a:prstGeom prst="rect">
            <a:avLst/>
          </a:prstGeom>
          <a:solidFill>
            <a:srgbClr val="17222C"/>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12</a:t>
            </a:r>
            <a:endParaRPr lang="en-US" sz="1400" dirty="0"/>
          </a:p>
        </p:txBody>
      </p:sp>
      <p:sp>
        <p:nvSpPr>
          <p:cNvPr id="28" name="Text 26"/>
          <p:cNvSpPr/>
          <p:nvPr/>
        </p:nvSpPr>
        <p:spPr>
          <a:xfrm>
            <a:off x="3352800" y="4416921"/>
            <a:ext cx="609600" cy="609600"/>
          </a:xfrm>
          <a:prstGeom prst="rect">
            <a:avLst/>
          </a:prstGeom>
          <a:solidFill>
            <a:srgbClr val="17222C"/>
          </a:solid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10</a:t>
            </a:r>
            <a:endParaRPr lang="en-US" sz="1400" dirty="0"/>
          </a:p>
        </p:txBody>
      </p:sp>
      <p:sp>
        <p:nvSpPr>
          <p:cNvPr id="29" name="Text 27"/>
          <p:cNvSpPr/>
          <p:nvPr/>
        </p:nvSpPr>
        <p:spPr>
          <a:xfrm>
            <a:off x="4318000" y="2894211"/>
            <a:ext cx="72730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Cada cuadrito es un píxel: un número de 0 a 255 por canal de color.</a:t>
            </a:r>
            <a:endParaRPr lang="en-US" sz="1600" dirty="0"/>
          </a:p>
        </p:txBody>
      </p:sp>
      <p:sp>
        <p:nvSpPr>
          <p:cNvPr id="30" name="Text 28"/>
          <p:cNvSpPr/>
          <p:nvPr/>
        </p:nvSpPr>
        <p:spPr>
          <a:xfrm>
            <a:off x="4318000" y="3318371"/>
            <a:ext cx="72730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C2630"/>
                </a:solidFill>
                <a:latin typeface="IBM Plex Sans" pitchFamily="34" charset="0"/>
                <a:ea typeface="IBM Plex Sans" pitchFamily="34" charset="-122"/>
                <a:cs typeface="IBM Plex Sans" pitchFamily="34" charset="-120"/>
              </a:rPr>
              <a:t>Una foto de 1792 × 1374 píxeles son más de siete millones de números.</a:t>
            </a:r>
            <a:endParaRPr lang="en-US" sz="1600" dirty="0"/>
          </a:p>
        </p:txBody>
      </p:sp>
      <p:sp>
        <p:nvSpPr>
          <p:cNvPr id="31" name="Text 29"/>
          <p:cNvSpPr/>
          <p:nvPr/>
        </p:nvSpPr>
        <p:spPr>
          <a:xfrm>
            <a:off x="4318000" y="3742531"/>
            <a:ext cx="7874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5606B"/>
                </a:solidFill>
                <a:latin typeface="IBM Plex Sans" pitchFamily="34" charset="0"/>
                <a:ea typeface="IBM Plex Sans" pitchFamily="34" charset="-122"/>
                <a:cs typeface="IBM Plex Sans" pitchFamily="34" charset="-120"/>
              </a:rPr>
              <a:t>No hay células, colas ni fondo: solo valores en una cuadrícula. Valores ilustrativos.</a:t>
            </a:r>
            <a:endParaRPr lang="en-US" sz="1500" dirty="0"/>
          </a:p>
        </p:txBody>
      </p:sp>
      <p:sp>
        <p:nvSpPr>
          <p:cNvPr id="32" name="Text 3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UNA CONVOLUCIÓN A MANO</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Un filtro que busca bordes</a:t>
            </a:r>
            <a:endParaRPr lang="en-US" sz="3600" dirty="0"/>
          </a:p>
        </p:txBody>
      </p:sp>
      <p:sp>
        <p:nvSpPr>
          <p:cNvPr id="4" name="Text 2"/>
          <p:cNvSpPr/>
          <p:nvPr/>
        </p:nvSpPr>
        <p:spPr>
          <a:xfrm>
            <a:off x="812800" y="1851521"/>
            <a:ext cx="201447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Pedazo de imagen</a:t>
            </a:r>
            <a:endParaRPr lang="en-US" sz="1300" dirty="0"/>
          </a:p>
        </p:txBody>
      </p:sp>
      <p:sp>
        <p:nvSpPr>
          <p:cNvPr id="5" name="Text 3"/>
          <p:cNvSpPr/>
          <p:nvPr/>
        </p:nvSpPr>
        <p:spPr>
          <a:xfrm>
            <a:off x="812800" y="2146102"/>
            <a:ext cx="635000" cy="533400"/>
          </a:xfrm>
          <a:prstGeom prst="rect">
            <a:avLst/>
          </a:prstGeom>
          <a:solidFill>
            <a:srgbClr val="17222C"/>
          </a:solidFill>
          <a:ln/>
        </p:spPr>
        <p:txBody>
          <a:bodyPr wrap="square" lIns="0" tIns="0" rIns="0" bIns="0" rtlCol="0" anchor="t">
            <a:normAutofit/>
          </a:bodyPr>
          <a:lstStyle/>
          <a:p>
            <a:pPr algn="l" indent="0" marL="0">
              <a:lnSpc>
                <a:spcPts val="2100"/>
              </a:lnSpc>
              <a:buNone/>
            </a:pPr>
            <a:r>
              <a:rPr lang="en-US" sz="1500" dirty="0">
                <a:solidFill>
                  <a:srgbClr val="F2EFE8"/>
                </a:solidFill>
                <a:latin typeface="IBM Plex Sans" pitchFamily="34" charset="0"/>
                <a:ea typeface="IBM Plex Sans" pitchFamily="34" charset="-122"/>
                <a:cs typeface="IBM Plex Sans" pitchFamily="34" charset="-120"/>
              </a:rPr>
              <a:t>10</a:t>
            </a:r>
            <a:endParaRPr lang="en-US" sz="1500" dirty="0"/>
          </a:p>
        </p:txBody>
      </p:sp>
      <p:sp>
        <p:nvSpPr>
          <p:cNvPr id="6" name="Text 4"/>
          <p:cNvSpPr/>
          <p:nvPr/>
        </p:nvSpPr>
        <p:spPr>
          <a:xfrm>
            <a:off x="1473200" y="2146102"/>
            <a:ext cx="635000" cy="533400"/>
          </a:xfrm>
          <a:prstGeom prst="rect">
            <a:avLst/>
          </a:prstGeom>
          <a:solidFill>
            <a:srgbClr val="17222C"/>
          </a:solidFill>
          <a:ln/>
        </p:spPr>
        <p:txBody>
          <a:bodyPr wrap="square" lIns="0" tIns="0" rIns="0" bIns="0" rtlCol="0" anchor="t">
            <a:normAutofit/>
          </a:bodyPr>
          <a:lstStyle/>
          <a:p>
            <a:pPr algn="l" indent="0" marL="0">
              <a:lnSpc>
                <a:spcPts val="2100"/>
              </a:lnSpc>
              <a:buNone/>
            </a:pPr>
            <a:r>
              <a:rPr lang="en-US" sz="1500" dirty="0">
                <a:solidFill>
                  <a:srgbClr val="F2EFE8"/>
                </a:solidFill>
                <a:latin typeface="IBM Plex Sans" pitchFamily="34" charset="0"/>
                <a:ea typeface="IBM Plex Sans" pitchFamily="34" charset="-122"/>
                <a:cs typeface="IBM Plex Sans" pitchFamily="34" charset="-120"/>
              </a:rPr>
              <a:t>10</a:t>
            </a:r>
            <a:endParaRPr lang="en-US" sz="1500" dirty="0"/>
          </a:p>
        </p:txBody>
      </p:sp>
      <p:sp>
        <p:nvSpPr>
          <p:cNvPr id="7" name="Text 5"/>
          <p:cNvSpPr/>
          <p:nvPr/>
        </p:nvSpPr>
        <p:spPr>
          <a:xfrm>
            <a:off x="2133600" y="2146102"/>
            <a:ext cx="635000" cy="533400"/>
          </a:xfrm>
          <a:prstGeom prst="rect">
            <a:avLst/>
          </a:prstGeom>
          <a:solidFill>
            <a:srgbClr val="D7DCE0"/>
          </a:solidFill>
          <a:ln/>
        </p:spPr>
        <p:txBody>
          <a:bodyPr wrap="square" lIns="0" tIns="0" rIns="0" bIns="0" rtlCol="0" anchor="t">
            <a:normAutofit/>
          </a:bodyPr>
          <a:lstStyle/>
          <a:p>
            <a:pPr algn="l" indent="0" marL="0">
              <a:lnSpc>
                <a:spcPts val="2100"/>
              </a:lnSpc>
              <a:buNone/>
            </a:pPr>
            <a:r>
              <a:rPr lang="en-US" sz="1500" dirty="0">
                <a:solidFill>
                  <a:srgbClr val="14202A"/>
                </a:solidFill>
                <a:latin typeface="IBM Plex Sans" pitchFamily="34" charset="0"/>
                <a:ea typeface="IBM Plex Sans" pitchFamily="34" charset="-122"/>
                <a:cs typeface="IBM Plex Sans" pitchFamily="34" charset="-120"/>
              </a:rPr>
              <a:t>200</a:t>
            </a:r>
            <a:endParaRPr lang="en-US" sz="1500" dirty="0"/>
          </a:p>
        </p:txBody>
      </p:sp>
      <p:sp>
        <p:nvSpPr>
          <p:cNvPr id="8" name="Text 6"/>
          <p:cNvSpPr/>
          <p:nvPr/>
        </p:nvSpPr>
        <p:spPr>
          <a:xfrm>
            <a:off x="812800" y="2704902"/>
            <a:ext cx="635000" cy="533400"/>
          </a:xfrm>
          <a:prstGeom prst="rect">
            <a:avLst/>
          </a:prstGeom>
          <a:solidFill>
            <a:srgbClr val="17222C"/>
          </a:solidFill>
          <a:ln/>
        </p:spPr>
        <p:txBody>
          <a:bodyPr wrap="square" lIns="0" tIns="0" rIns="0" bIns="0" rtlCol="0" anchor="t">
            <a:normAutofit/>
          </a:bodyPr>
          <a:lstStyle/>
          <a:p>
            <a:pPr algn="l" indent="0" marL="0">
              <a:lnSpc>
                <a:spcPts val="2100"/>
              </a:lnSpc>
              <a:buNone/>
            </a:pPr>
            <a:r>
              <a:rPr lang="en-US" sz="1500" dirty="0">
                <a:solidFill>
                  <a:srgbClr val="F2EFE8"/>
                </a:solidFill>
                <a:latin typeface="IBM Plex Sans" pitchFamily="34" charset="0"/>
                <a:ea typeface="IBM Plex Sans" pitchFamily="34" charset="-122"/>
                <a:cs typeface="IBM Plex Sans" pitchFamily="34" charset="-120"/>
              </a:rPr>
              <a:t>10</a:t>
            </a:r>
            <a:endParaRPr lang="en-US" sz="1500" dirty="0"/>
          </a:p>
        </p:txBody>
      </p:sp>
      <p:sp>
        <p:nvSpPr>
          <p:cNvPr id="9" name="Text 7"/>
          <p:cNvSpPr/>
          <p:nvPr/>
        </p:nvSpPr>
        <p:spPr>
          <a:xfrm>
            <a:off x="1473200" y="2704902"/>
            <a:ext cx="635000" cy="533400"/>
          </a:xfrm>
          <a:prstGeom prst="rect">
            <a:avLst/>
          </a:prstGeom>
          <a:solidFill>
            <a:srgbClr val="17222C"/>
          </a:solidFill>
          <a:ln/>
        </p:spPr>
        <p:txBody>
          <a:bodyPr wrap="square" lIns="0" tIns="0" rIns="0" bIns="0" rtlCol="0" anchor="t">
            <a:normAutofit/>
          </a:bodyPr>
          <a:lstStyle/>
          <a:p>
            <a:pPr algn="l" indent="0" marL="0">
              <a:lnSpc>
                <a:spcPts val="2100"/>
              </a:lnSpc>
              <a:buNone/>
            </a:pPr>
            <a:r>
              <a:rPr lang="en-US" sz="1500" dirty="0">
                <a:solidFill>
                  <a:srgbClr val="F2EFE8"/>
                </a:solidFill>
                <a:latin typeface="IBM Plex Sans" pitchFamily="34" charset="0"/>
                <a:ea typeface="IBM Plex Sans" pitchFamily="34" charset="-122"/>
                <a:cs typeface="IBM Plex Sans" pitchFamily="34" charset="-120"/>
              </a:rPr>
              <a:t>10</a:t>
            </a:r>
            <a:endParaRPr lang="en-US" sz="1500" dirty="0"/>
          </a:p>
        </p:txBody>
      </p:sp>
      <p:sp>
        <p:nvSpPr>
          <p:cNvPr id="10" name="Text 8"/>
          <p:cNvSpPr/>
          <p:nvPr/>
        </p:nvSpPr>
        <p:spPr>
          <a:xfrm>
            <a:off x="2133600" y="2704902"/>
            <a:ext cx="635000" cy="533400"/>
          </a:xfrm>
          <a:prstGeom prst="rect">
            <a:avLst/>
          </a:prstGeom>
          <a:solidFill>
            <a:srgbClr val="D7DCE0"/>
          </a:solidFill>
          <a:ln/>
        </p:spPr>
        <p:txBody>
          <a:bodyPr wrap="square" lIns="0" tIns="0" rIns="0" bIns="0" rtlCol="0" anchor="t">
            <a:normAutofit/>
          </a:bodyPr>
          <a:lstStyle/>
          <a:p>
            <a:pPr algn="l" indent="0" marL="0">
              <a:lnSpc>
                <a:spcPts val="2100"/>
              </a:lnSpc>
              <a:buNone/>
            </a:pPr>
            <a:r>
              <a:rPr lang="en-US" sz="1500" dirty="0">
                <a:solidFill>
                  <a:srgbClr val="14202A"/>
                </a:solidFill>
                <a:latin typeface="IBM Plex Sans" pitchFamily="34" charset="0"/>
                <a:ea typeface="IBM Plex Sans" pitchFamily="34" charset="-122"/>
                <a:cs typeface="IBM Plex Sans" pitchFamily="34" charset="-120"/>
              </a:rPr>
              <a:t>200</a:t>
            </a:r>
            <a:endParaRPr lang="en-US" sz="1500" dirty="0"/>
          </a:p>
        </p:txBody>
      </p:sp>
      <p:sp>
        <p:nvSpPr>
          <p:cNvPr id="11" name="Text 9"/>
          <p:cNvSpPr/>
          <p:nvPr/>
        </p:nvSpPr>
        <p:spPr>
          <a:xfrm>
            <a:off x="812800" y="3263702"/>
            <a:ext cx="635000" cy="533400"/>
          </a:xfrm>
          <a:prstGeom prst="rect">
            <a:avLst/>
          </a:prstGeom>
          <a:solidFill>
            <a:srgbClr val="17222C"/>
          </a:solidFill>
          <a:ln/>
        </p:spPr>
        <p:txBody>
          <a:bodyPr wrap="square" lIns="0" tIns="0" rIns="0" bIns="0" rtlCol="0" anchor="t">
            <a:normAutofit/>
          </a:bodyPr>
          <a:lstStyle/>
          <a:p>
            <a:pPr algn="l" indent="0" marL="0">
              <a:lnSpc>
                <a:spcPts val="2100"/>
              </a:lnSpc>
              <a:buNone/>
            </a:pPr>
            <a:r>
              <a:rPr lang="en-US" sz="1500" dirty="0">
                <a:solidFill>
                  <a:srgbClr val="F2EFE8"/>
                </a:solidFill>
                <a:latin typeface="IBM Plex Sans" pitchFamily="34" charset="0"/>
                <a:ea typeface="IBM Plex Sans" pitchFamily="34" charset="-122"/>
                <a:cs typeface="IBM Plex Sans" pitchFamily="34" charset="-120"/>
              </a:rPr>
              <a:t>10</a:t>
            </a:r>
            <a:endParaRPr lang="en-US" sz="1500" dirty="0"/>
          </a:p>
        </p:txBody>
      </p:sp>
      <p:sp>
        <p:nvSpPr>
          <p:cNvPr id="12" name="Text 10"/>
          <p:cNvSpPr/>
          <p:nvPr/>
        </p:nvSpPr>
        <p:spPr>
          <a:xfrm>
            <a:off x="1473200" y="3263702"/>
            <a:ext cx="635000" cy="533400"/>
          </a:xfrm>
          <a:prstGeom prst="rect">
            <a:avLst/>
          </a:prstGeom>
          <a:solidFill>
            <a:srgbClr val="17222C"/>
          </a:solidFill>
          <a:ln/>
        </p:spPr>
        <p:txBody>
          <a:bodyPr wrap="square" lIns="0" tIns="0" rIns="0" bIns="0" rtlCol="0" anchor="t">
            <a:normAutofit/>
          </a:bodyPr>
          <a:lstStyle/>
          <a:p>
            <a:pPr algn="l" indent="0" marL="0">
              <a:lnSpc>
                <a:spcPts val="2100"/>
              </a:lnSpc>
              <a:buNone/>
            </a:pPr>
            <a:r>
              <a:rPr lang="en-US" sz="1500" dirty="0">
                <a:solidFill>
                  <a:srgbClr val="F2EFE8"/>
                </a:solidFill>
                <a:latin typeface="IBM Plex Sans" pitchFamily="34" charset="0"/>
                <a:ea typeface="IBM Plex Sans" pitchFamily="34" charset="-122"/>
                <a:cs typeface="IBM Plex Sans" pitchFamily="34" charset="-120"/>
              </a:rPr>
              <a:t>10</a:t>
            </a:r>
            <a:endParaRPr lang="en-US" sz="1500" dirty="0"/>
          </a:p>
        </p:txBody>
      </p:sp>
      <p:sp>
        <p:nvSpPr>
          <p:cNvPr id="13" name="Text 11"/>
          <p:cNvSpPr/>
          <p:nvPr/>
        </p:nvSpPr>
        <p:spPr>
          <a:xfrm>
            <a:off x="2133600" y="3263702"/>
            <a:ext cx="635000" cy="533400"/>
          </a:xfrm>
          <a:prstGeom prst="rect">
            <a:avLst/>
          </a:prstGeom>
          <a:solidFill>
            <a:srgbClr val="D7DCE0"/>
          </a:solidFill>
          <a:ln/>
        </p:spPr>
        <p:txBody>
          <a:bodyPr wrap="square" lIns="0" tIns="0" rIns="0" bIns="0" rtlCol="0" anchor="t">
            <a:normAutofit/>
          </a:bodyPr>
          <a:lstStyle/>
          <a:p>
            <a:pPr algn="l" indent="0" marL="0">
              <a:lnSpc>
                <a:spcPts val="2100"/>
              </a:lnSpc>
              <a:buNone/>
            </a:pPr>
            <a:r>
              <a:rPr lang="en-US" sz="1500" dirty="0">
                <a:solidFill>
                  <a:srgbClr val="14202A"/>
                </a:solidFill>
                <a:latin typeface="IBM Plex Sans" pitchFamily="34" charset="0"/>
                <a:ea typeface="IBM Plex Sans" pitchFamily="34" charset="-122"/>
                <a:cs typeface="IBM Plex Sans" pitchFamily="34" charset="-120"/>
              </a:rPr>
              <a:t>200</a:t>
            </a:r>
            <a:endParaRPr lang="en-US" sz="1500" dirty="0"/>
          </a:p>
        </p:txBody>
      </p:sp>
      <p:sp>
        <p:nvSpPr>
          <p:cNvPr id="14" name="Text 12"/>
          <p:cNvSpPr/>
          <p:nvPr/>
        </p:nvSpPr>
        <p:spPr>
          <a:xfrm>
            <a:off x="2997200" y="2575421"/>
            <a:ext cx="26422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8201A"/>
                </a:solidFill>
                <a:latin typeface="IBM Plex Sans" pitchFamily="34" charset="0"/>
                <a:ea typeface="IBM Plex Sans" pitchFamily="34" charset="-122"/>
                <a:cs typeface="IBM Plex Sans" pitchFamily="34" charset="-120"/>
              </a:rPr>
              <a:t>×</a:t>
            </a:r>
            <a:endParaRPr lang="en-US" sz="2800" dirty="0"/>
          </a:p>
        </p:txBody>
      </p:sp>
      <p:sp>
        <p:nvSpPr>
          <p:cNvPr id="15" name="Text 13"/>
          <p:cNvSpPr/>
          <p:nvPr/>
        </p:nvSpPr>
        <p:spPr>
          <a:xfrm>
            <a:off x="3439220" y="1851521"/>
            <a:ext cx="201447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Filtro</a:t>
            </a:r>
            <a:endParaRPr lang="en-US" sz="1300" dirty="0"/>
          </a:p>
        </p:txBody>
      </p:sp>
      <p:sp>
        <p:nvSpPr>
          <p:cNvPr id="16" name="Text 14"/>
          <p:cNvSpPr/>
          <p:nvPr/>
        </p:nvSpPr>
        <p:spPr>
          <a:xfrm>
            <a:off x="3439220" y="2146102"/>
            <a:ext cx="635000" cy="533400"/>
          </a:xfrm>
          <a:prstGeom prst="rect">
            <a:avLst/>
          </a:prstGeom>
          <a:solidFill>
            <a:srgbClr val="C9DCE8"/>
          </a:solid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−1</a:t>
            </a:r>
            <a:endParaRPr lang="en-US" sz="1500" dirty="0"/>
          </a:p>
        </p:txBody>
      </p:sp>
      <p:sp>
        <p:nvSpPr>
          <p:cNvPr id="17" name="Text 15"/>
          <p:cNvSpPr/>
          <p:nvPr/>
        </p:nvSpPr>
        <p:spPr>
          <a:xfrm>
            <a:off x="4099620" y="2146102"/>
            <a:ext cx="635000" cy="533400"/>
          </a:xfrm>
          <a:prstGeom prst="rect">
            <a:avLst/>
          </a:prstGeom>
          <a:solidFill>
            <a:srgbClr val="C9DCE8"/>
          </a:solid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0</a:t>
            </a:r>
            <a:endParaRPr lang="en-US" sz="1500" dirty="0"/>
          </a:p>
        </p:txBody>
      </p:sp>
      <p:sp>
        <p:nvSpPr>
          <p:cNvPr id="18" name="Text 16"/>
          <p:cNvSpPr/>
          <p:nvPr/>
        </p:nvSpPr>
        <p:spPr>
          <a:xfrm>
            <a:off x="4760020" y="2146102"/>
            <a:ext cx="635000" cy="533400"/>
          </a:xfrm>
          <a:prstGeom prst="rect">
            <a:avLst/>
          </a:prstGeom>
          <a:solidFill>
            <a:srgbClr val="C9DCE8"/>
          </a:solid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1</a:t>
            </a:r>
            <a:endParaRPr lang="en-US" sz="1500" dirty="0"/>
          </a:p>
        </p:txBody>
      </p:sp>
      <p:sp>
        <p:nvSpPr>
          <p:cNvPr id="19" name="Text 17"/>
          <p:cNvSpPr/>
          <p:nvPr/>
        </p:nvSpPr>
        <p:spPr>
          <a:xfrm>
            <a:off x="3439220" y="2704902"/>
            <a:ext cx="635000" cy="533400"/>
          </a:xfrm>
          <a:prstGeom prst="rect">
            <a:avLst/>
          </a:prstGeom>
          <a:solidFill>
            <a:srgbClr val="C9DCE8"/>
          </a:solid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−1</a:t>
            </a:r>
            <a:endParaRPr lang="en-US" sz="1500" dirty="0"/>
          </a:p>
        </p:txBody>
      </p:sp>
      <p:sp>
        <p:nvSpPr>
          <p:cNvPr id="20" name="Text 18"/>
          <p:cNvSpPr/>
          <p:nvPr/>
        </p:nvSpPr>
        <p:spPr>
          <a:xfrm>
            <a:off x="4099620" y="2704902"/>
            <a:ext cx="635000" cy="533400"/>
          </a:xfrm>
          <a:prstGeom prst="rect">
            <a:avLst/>
          </a:prstGeom>
          <a:solidFill>
            <a:srgbClr val="C9DCE8"/>
          </a:solid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0</a:t>
            </a:r>
            <a:endParaRPr lang="en-US" sz="1500" dirty="0"/>
          </a:p>
        </p:txBody>
      </p:sp>
      <p:sp>
        <p:nvSpPr>
          <p:cNvPr id="21" name="Text 19"/>
          <p:cNvSpPr/>
          <p:nvPr/>
        </p:nvSpPr>
        <p:spPr>
          <a:xfrm>
            <a:off x="4760020" y="2704902"/>
            <a:ext cx="635000" cy="533400"/>
          </a:xfrm>
          <a:prstGeom prst="rect">
            <a:avLst/>
          </a:prstGeom>
          <a:solidFill>
            <a:srgbClr val="C9DCE8"/>
          </a:solid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1</a:t>
            </a:r>
            <a:endParaRPr lang="en-US" sz="1500" dirty="0"/>
          </a:p>
        </p:txBody>
      </p:sp>
      <p:sp>
        <p:nvSpPr>
          <p:cNvPr id="22" name="Text 20"/>
          <p:cNvSpPr/>
          <p:nvPr/>
        </p:nvSpPr>
        <p:spPr>
          <a:xfrm>
            <a:off x="3439220" y="3263702"/>
            <a:ext cx="635000" cy="533400"/>
          </a:xfrm>
          <a:prstGeom prst="rect">
            <a:avLst/>
          </a:prstGeom>
          <a:solidFill>
            <a:srgbClr val="C9DCE8"/>
          </a:solid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−1</a:t>
            </a:r>
            <a:endParaRPr lang="en-US" sz="1500" dirty="0"/>
          </a:p>
        </p:txBody>
      </p:sp>
      <p:sp>
        <p:nvSpPr>
          <p:cNvPr id="23" name="Text 21"/>
          <p:cNvSpPr/>
          <p:nvPr/>
        </p:nvSpPr>
        <p:spPr>
          <a:xfrm>
            <a:off x="4099620" y="3263702"/>
            <a:ext cx="635000" cy="533400"/>
          </a:xfrm>
          <a:prstGeom prst="rect">
            <a:avLst/>
          </a:prstGeom>
          <a:solidFill>
            <a:srgbClr val="C9DCE8"/>
          </a:solid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0</a:t>
            </a:r>
            <a:endParaRPr lang="en-US" sz="1500" dirty="0"/>
          </a:p>
        </p:txBody>
      </p:sp>
      <p:sp>
        <p:nvSpPr>
          <p:cNvPr id="24" name="Text 22"/>
          <p:cNvSpPr/>
          <p:nvPr/>
        </p:nvSpPr>
        <p:spPr>
          <a:xfrm>
            <a:off x="4760020" y="3263702"/>
            <a:ext cx="635000" cy="533400"/>
          </a:xfrm>
          <a:prstGeom prst="rect">
            <a:avLst/>
          </a:prstGeom>
          <a:solidFill>
            <a:srgbClr val="C9DCE8"/>
          </a:solid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1</a:t>
            </a:r>
            <a:endParaRPr lang="en-US" sz="1500" dirty="0"/>
          </a:p>
        </p:txBody>
      </p:sp>
      <p:sp>
        <p:nvSpPr>
          <p:cNvPr id="25" name="Text 23"/>
          <p:cNvSpPr/>
          <p:nvPr/>
        </p:nvSpPr>
        <p:spPr>
          <a:xfrm>
            <a:off x="5623620" y="2575421"/>
            <a:ext cx="26422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8201A"/>
                </a:solidFill>
                <a:latin typeface="IBM Plex Sans" pitchFamily="34" charset="0"/>
                <a:ea typeface="IBM Plex Sans" pitchFamily="34" charset="-122"/>
                <a:cs typeface="IBM Plex Sans" pitchFamily="34" charset="-120"/>
              </a:rPr>
              <a:t>=</a:t>
            </a:r>
            <a:endParaRPr lang="en-US" sz="2800" dirty="0"/>
          </a:p>
        </p:txBody>
      </p:sp>
      <p:sp>
        <p:nvSpPr>
          <p:cNvPr id="26" name="Text 24"/>
          <p:cNvSpPr/>
          <p:nvPr/>
        </p:nvSpPr>
        <p:spPr>
          <a:xfrm>
            <a:off x="6065639" y="2148681"/>
            <a:ext cx="232330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Por fila: −10 + 0 + 200</a:t>
            </a:r>
            <a:endParaRPr lang="en-US" sz="1300" dirty="0"/>
          </a:p>
        </p:txBody>
      </p:sp>
      <p:sp>
        <p:nvSpPr>
          <p:cNvPr id="27" name="Text 25"/>
          <p:cNvSpPr/>
          <p:nvPr/>
        </p:nvSpPr>
        <p:spPr>
          <a:xfrm>
            <a:off x="6065639" y="2443262"/>
            <a:ext cx="232330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A8201A"/>
                </a:solidFill>
                <a:latin typeface="Source Serif 4" pitchFamily="18" charset="0"/>
                <a:ea typeface="Source Serif 4" pitchFamily="18" charset="-122"/>
                <a:cs typeface="Source Serif 4" pitchFamily="18" charset="-120"/>
              </a:rPr>
              <a:t>570</a:t>
            </a:r>
            <a:endParaRPr lang="en-US" sz="6000" dirty="0"/>
          </a:p>
        </p:txBody>
      </p:sp>
      <p:sp>
        <p:nvSpPr>
          <p:cNvPr id="28" name="Text 26"/>
          <p:cNvSpPr/>
          <p:nvPr/>
        </p:nvSpPr>
        <p:spPr>
          <a:xfrm>
            <a:off x="6065639" y="3268762"/>
            <a:ext cx="27067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190 por cada una de las 3 filas</a:t>
            </a:r>
            <a:endParaRPr lang="en-US" sz="1300" dirty="0"/>
          </a:p>
        </p:txBody>
      </p:sp>
      <p:sp>
        <p:nvSpPr>
          <p:cNvPr id="29" name="Text 27"/>
          <p:cNvSpPr/>
          <p:nvPr/>
        </p:nvSpPr>
        <p:spPr>
          <a:xfrm>
            <a:off x="815975" y="4028877"/>
            <a:ext cx="5213350" cy="474960"/>
          </a:xfrm>
          <a:prstGeom prst="roundRect">
            <a:avLst>
              <a:gd name="adj" fmla="val 15375"/>
            </a:avLst>
          </a:prstGeom>
          <a:solidFill>
            <a:srgbClr val="FCFBF7"/>
          </a:solidFill>
          <a:ln w="6350">
            <a:solidFill>
              <a:srgbClr val="DDD8CC"/>
            </a:solidFill>
            <a:prstDash val="solid"/>
          </a:ln>
        </p:spPr>
        <p:txBody>
          <a:bodyPr wrap="square" lIns="134187" tIns="96087" rIns="0" bIns="70687" rtlCol="0" anchor="t">
            <a:normAutofit/>
          </a:bodyPr>
          <a:lstStyle/>
          <a:p>
            <a:pPr algn="l" indent="0" marL="0">
              <a:lnSpc>
                <a:spcPts val="1890"/>
              </a:lnSpc>
              <a:buNone/>
            </a:pPr>
            <a:r>
              <a:rPr lang="en-US" sz="1400" b="1" dirty="0">
                <a:solidFill>
                  <a:srgbClr val="1C2630"/>
                </a:solidFill>
                <a:latin typeface="IBM Plex Sans" pitchFamily="34" charset="0"/>
                <a:ea typeface="IBM Plex Sans" pitchFamily="34" charset="-122"/>
                <a:cs typeface="IBM Plex Sans" pitchFamily="34" charset="-120"/>
              </a:rPr>
              <a:t>Zona uniforme:</a:t>
            </a:r>
            <a:r>
              <a:rPr lang="en-US" sz="1400" dirty="0">
                <a:solidFill>
                  <a:srgbClr val="1C2630"/>
                </a:solidFill>
                <a:latin typeface="IBM Plex Sans" pitchFamily="34" charset="0"/>
                <a:ea typeface="IBM Plex Sans" pitchFamily="34" charset="-122"/>
                <a:cs typeface="IBM Plex Sans" pitchFamily="34" charset="-120"/>
              </a:rPr>
              <a:t> 0. No hay borde.</a:t>
            </a:r>
            <a:endParaRPr lang="en-US" sz="1400" dirty="0"/>
          </a:p>
        </p:txBody>
      </p:sp>
      <p:sp>
        <p:nvSpPr>
          <p:cNvPr id="30" name="Text 28"/>
          <p:cNvSpPr/>
          <p:nvPr/>
        </p:nvSpPr>
        <p:spPr>
          <a:xfrm>
            <a:off x="6162675" y="4028877"/>
            <a:ext cx="5213350" cy="474960"/>
          </a:xfrm>
          <a:prstGeom prst="roundRect">
            <a:avLst>
              <a:gd name="adj" fmla="val 15375"/>
            </a:avLst>
          </a:prstGeom>
          <a:solidFill>
            <a:srgbClr val="FCFBF7"/>
          </a:solidFill>
          <a:ln w="6350">
            <a:solidFill>
              <a:srgbClr val="DDD8CC"/>
            </a:solidFill>
            <a:prstDash val="solid"/>
          </a:ln>
        </p:spPr>
        <p:txBody>
          <a:bodyPr wrap="square" lIns="134187" tIns="96087" rIns="0" bIns="70687" rtlCol="0" anchor="t">
            <a:normAutofit/>
          </a:bodyPr>
          <a:lstStyle/>
          <a:p>
            <a:pPr algn="l" indent="0" marL="0">
              <a:lnSpc>
                <a:spcPts val="1890"/>
              </a:lnSpc>
              <a:buNone/>
            </a:pPr>
            <a:r>
              <a:rPr lang="en-US" sz="1400" b="1" dirty="0">
                <a:solidFill>
                  <a:srgbClr val="1C2630"/>
                </a:solidFill>
                <a:latin typeface="IBM Plex Sans" pitchFamily="34" charset="0"/>
                <a:ea typeface="IBM Plex Sans" pitchFamily="34" charset="-122"/>
                <a:cs typeface="IBM Plex Sans" pitchFamily="34" charset="-120"/>
              </a:rPr>
              <a:t>Borde invertido:</a:t>
            </a:r>
            <a:r>
              <a:rPr lang="en-US" sz="1400" dirty="0">
                <a:solidFill>
                  <a:srgbClr val="1C2630"/>
                </a:solidFill>
                <a:latin typeface="IBM Plex Sans" pitchFamily="34" charset="0"/>
                <a:ea typeface="IBM Plex Sans" pitchFamily="34" charset="-122"/>
                <a:cs typeface="IBM Plex Sans" pitchFamily="34" charset="-120"/>
              </a:rPr>
              <a:t> −570, la activación lo apaga y queda 0.</a:t>
            </a:r>
            <a:endParaRPr lang="en-US" sz="1400" dirty="0"/>
          </a:p>
        </p:txBody>
      </p:sp>
      <p:sp>
        <p:nvSpPr>
          <p:cNvPr id="31" name="Text 2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JERARQUÍA DE CARACTERÍSTICAS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De los bordes a las formas completas</a:t>
            </a:r>
            <a:endParaRPr lang="en-US" sz="3600" dirty="0"/>
          </a:p>
        </p:txBody>
      </p:sp>
      <p:sp>
        <p:nvSpPr>
          <p:cNvPr id="4" name="Shape 2"/>
          <p:cNvSpPr/>
          <p:nvPr/>
        </p:nvSpPr>
        <p:spPr>
          <a:xfrm>
            <a:off x="815975" y="1930896"/>
            <a:ext cx="3143250" cy="2100263"/>
          </a:xfrm>
          <a:prstGeom prst="roundRect">
            <a:avLst>
              <a:gd name="adj" fmla="val 4686"/>
            </a:avLst>
          </a:prstGeom>
          <a:solidFill>
            <a:srgbClr val="FCFBF7"/>
          </a:solidFill>
          <a:ln w="6350">
            <a:solidFill>
              <a:srgbClr val="DDD8CC"/>
            </a:solidFill>
            <a:prstDash val="solid"/>
          </a:ln>
        </p:spPr>
      </p:sp>
      <p:sp>
        <p:nvSpPr>
          <p:cNvPr id="5" name="Text 3"/>
          <p:cNvSpPr/>
          <p:nvPr/>
        </p:nvSpPr>
        <p:spPr>
          <a:xfrm>
            <a:off x="1022350" y="2137271"/>
            <a:ext cx="281241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630"/>
                </a:solidFill>
                <a:latin typeface="IBM Plex Sans" pitchFamily="34" charset="0"/>
                <a:ea typeface="IBM Plex Sans" pitchFamily="34" charset="-122"/>
                <a:cs typeface="IBM Plex Sans" pitchFamily="34" charset="-120"/>
              </a:rPr>
              <a:t>Capas iniciales</a:t>
            </a:r>
            <a:endParaRPr lang="en-US" sz="1800" dirty="0"/>
          </a:p>
        </p:txBody>
      </p:sp>
      <p:sp>
        <p:nvSpPr>
          <p:cNvPr id="6" name="Text 4"/>
          <p:cNvSpPr/>
          <p:nvPr/>
        </p:nvSpPr>
        <p:spPr>
          <a:xfrm>
            <a:off x="1100582" y="2500412"/>
            <a:ext cx="2726563" cy="798711"/>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1C2630"/>
                </a:solidFill>
                <a:latin typeface="IBM Plex Sans" pitchFamily="34" charset="0"/>
                <a:ea typeface="IBM Plex Sans" pitchFamily="34" charset="-122"/>
                <a:cs typeface="IBM Plex Sans" pitchFamily="34" charset="-120"/>
              </a:rPr>
              <a:t>Bordes en varias direcciones</a:t>
            </a:r>
            <a:endParaRPr lang="en-US" sz="1400" dirty="0"/>
          </a:p>
          <a:p>
            <a:pPr algn="l" marL="175768" indent="-175768">
              <a:lnSpc>
                <a:spcPts val="2030"/>
              </a:lnSpc>
              <a:buSzPct val="100000"/>
              <a:buChar char="•"/>
            </a:pPr>
            <a:r>
              <a:rPr lang="en-US" sz="1400" dirty="0">
                <a:solidFill>
                  <a:srgbClr val="1C2630"/>
                </a:solidFill>
                <a:latin typeface="IBM Plex Sans" pitchFamily="34" charset="0"/>
                <a:ea typeface="IBM Plex Sans" pitchFamily="34" charset="-122"/>
                <a:cs typeface="IBM Plex Sans" pitchFamily="34" charset="-120"/>
              </a:rPr>
              <a:t>Cambios de brillo</a:t>
            </a:r>
            <a:endParaRPr lang="en-US" sz="1400" dirty="0"/>
          </a:p>
          <a:p>
            <a:pPr algn="l" marL="175768" indent="-175768">
              <a:lnSpc>
                <a:spcPts val="2030"/>
              </a:lnSpc>
              <a:buSzPct val="100000"/>
              <a:buChar char="•"/>
            </a:pPr>
            <a:r>
              <a:rPr lang="en-US" sz="1400" dirty="0">
                <a:solidFill>
                  <a:srgbClr val="1C2630"/>
                </a:solidFill>
                <a:latin typeface="IBM Plex Sans" pitchFamily="34" charset="0"/>
                <a:ea typeface="IBM Plex Sans" pitchFamily="34" charset="-122"/>
                <a:cs typeface="IBM Plex Sans" pitchFamily="34" charset="-120"/>
              </a:rPr>
              <a:t>Manchas pequeñas</a:t>
            </a:r>
            <a:endParaRPr lang="en-US" sz="1400" dirty="0"/>
          </a:p>
        </p:txBody>
      </p:sp>
      <p:sp>
        <p:nvSpPr>
          <p:cNvPr id="7" name="Text 5"/>
          <p:cNvSpPr/>
          <p:nvPr/>
        </p:nvSpPr>
        <p:spPr>
          <a:xfrm>
            <a:off x="1022350" y="3362623"/>
            <a:ext cx="281241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Valen para cualquier imagen del mundo.</a:t>
            </a:r>
            <a:endParaRPr lang="en-US" sz="1300" dirty="0"/>
          </a:p>
        </p:txBody>
      </p:sp>
      <p:pic>
        <p:nvPicPr>
          <p:cNvPr id="8" name="Image 0" descr="arrow-right">    </p:cNvPr>
          <p:cNvPicPr>
            <a:picLocks noChangeAspect="1"/>
          </p:cNvPicPr>
          <p:nvPr/>
        </p:nvPicPr>
        <p:blipFill>
          <a:blip r:embed="rId1"/>
          <a:srcRect l="0" r="0" t="0" b="0"/>
          <a:stretch/>
        </p:blipFill>
        <p:spPr>
          <a:xfrm>
            <a:off x="4089400" y="2879427"/>
            <a:ext cx="304800" cy="203200"/>
          </a:xfrm>
          <a:prstGeom prst="rect">
            <a:avLst/>
          </a:prstGeom>
        </p:spPr>
      </p:pic>
      <p:sp>
        <p:nvSpPr>
          <p:cNvPr id="9" name="Shape 6"/>
          <p:cNvSpPr/>
          <p:nvPr/>
        </p:nvSpPr>
        <p:spPr>
          <a:xfrm>
            <a:off x="4524375" y="2046387"/>
            <a:ext cx="3143250" cy="1869182"/>
          </a:xfrm>
          <a:prstGeom prst="roundRect">
            <a:avLst>
              <a:gd name="adj" fmla="val 5266"/>
            </a:avLst>
          </a:prstGeom>
          <a:solidFill>
            <a:srgbClr val="FCFBF7"/>
          </a:solidFill>
          <a:ln w="6350">
            <a:solidFill>
              <a:srgbClr val="DDD8CC"/>
            </a:solidFill>
            <a:prstDash val="solid"/>
          </a:ln>
        </p:spPr>
      </p:sp>
      <p:sp>
        <p:nvSpPr>
          <p:cNvPr id="10" name="Text 7"/>
          <p:cNvSpPr/>
          <p:nvPr/>
        </p:nvSpPr>
        <p:spPr>
          <a:xfrm>
            <a:off x="4730750" y="2252762"/>
            <a:ext cx="281241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630"/>
                </a:solidFill>
                <a:latin typeface="IBM Plex Sans" pitchFamily="34" charset="0"/>
                <a:ea typeface="IBM Plex Sans" pitchFamily="34" charset="-122"/>
                <a:cs typeface="IBM Plex Sans" pitchFamily="34" charset="-120"/>
              </a:rPr>
              <a:t>Capas intermedias</a:t>
            </a:r>
            <a:endParaRPr lang="en-US" sz="1800" dirty="0"/>
          </a:p>
        </p:txBody>
      </p:sp>
      <p:sp>
        <p:nvSpPr>
          <p:cNvPr id="11" name="Text 8"/>
          <p:cNvSpPr/>
          <p:nvPr/>
        </p:nvSpPr>
        <p:spPr>
          <a:xfrm>
            <a:off x="4808982" y="2615902"/>
            <a:ext cx="2726563" cy="798711"/>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1C2630"/>
                </a:solidFill>
                <a:latin typeface="IBM Plex Sans" pitchFamily="34" charset="0"/>
                <a:ea typeface="IBM Plex Sans" pitchFamily="34" charset="-122"/>
                <a:cs typeface="IBM Plex Sans" pitchFamily="34" charset="-120"/>
              </a:rPr>
              <a:t>Curvas y esquinas</a:t>
            </a:r>
            <a:endParaRPr lang="en-US" sz="1400" dirty="0"/>
          </a:p>
          <a:p>
            <a:pPr algn="l" marL="175768" indent="-175768">
              <a:lnSpc>
                <a:spcPts val="2030"/>
              </a:lnSpc>
              <a:buSzPct val="100000"/>
              <a:buChar char="•"/>
            </a:pPr>
            <a:r>
              <a:rPr lang="en-US" sz="1400" dirty="0">
                <a:solidFill>
                  <a:srgbClr val="1C2630"/>
                </a:solidFill>
                <a:latin typeface="IBM Plex Sans" pitchFamily="34" charset="0"/>
                <a:ea typeface="IBM Plex Sans" pitchFamily="34" charset="-122"/>
                <a:cs typeface="IBM Plex Sans" pitchFamily="34" charset="-120"/>
              </a:rPr>
              <a:t>Texturas</a:t>
            </a:r>
            <a:endParaRPr lang="en-US" sz="1400" dirty="0"/>
          </a:p>
          <a:p>
            <a:pPr algn="l" marL="175768" indent="-175768">
              <a:lnSpc>
                <a:spcPts val="2030"/>
              </a:lnSpc>
              <a:buSzPct val="100000"/>
              <a:buChar char="•"/>
            </a:pPr>
            <a:r>
              <a:rPr lang="en-US" sz="1400" dirty="0">
                <a:solidFill>
                  <a:srgbClr val="1C2630"/>
                </a:solidFill>
                <a:latin typeface="IBM Plex Sans" pitchFamily="34" charset="0"/>
                <a:ea typeface="IBM Plex Sans" pitchFamily="34" charset="-122"/>
                <a:cs typeface="IBM Plex Sans" pitchFamily="34" charset="-120"/>
              </a:rPr>
              <a:t>Formas alargadas</a:t>
            </a:r>
            <a:endParaRPr lang="en-US" sz="1400" dirty="0"/>
          </a:p>
        </p:txBody>
      </p:sp>
      <p:sp>
        <p:nvSpPr>
          <p:cNvPr id="12" name="Text 9"/>
          <p:cNvSpPr/>
          <p:nvPr/>
        </p:nvSpPr>
        <p:spPr>
          <a:xfrm>
            <a:off x="4730750" y="3478113"/>
            <a:ext cx="281241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Combinaciones todavía genéricas.</a:t>
            </a:r>
            <a:endParaRPr lang="en-US" sz="1300" dirty="0"/>
          </a:p>
        </p:txBody>
      </p:sp>
      <p:pic>
        <p:nvPicPr>
          <p:cNvPr id="13" name="Image 1" descr="arrow-right">    </p:cNvPr>
          <p:cNvPicPr>
            <a:picLocks noChangeAspect="1"/>
          </p:cNvPicPr>
          <p:nvPr/>
        </p:nvPicPr>
        <p:blipFill>
          <a:blip r:embed="rId2"/>
          <a:srcRect l="0" r="0" t="0" b="0"/>
          <a:stretch/>
        </p:blipFill>
        <p:spPr>
          <a:xfrm>
            <a:off x="7797800" y="2879427"/>
            <a:ext cx="304800" cy="203200"/>
          </a:xfrm>
          <a:prstGeom prst="rect">
            <a:avLst/>
          </a:prstGeom>
        </p:spPr>
      </p:pic>
      <p:sp>
        <p:nvSpPr>
          <p:cNvPr id="14" name="Shape 10"/>
          <p:cNvSpPr/>
          <p:nvPr/>
        </p:nvSpPr>
        <p:spPr>
          <a:xfrm>
            <a:off x="8232775" y="2175272"/>
            <a:ext cx="3143250" cy="1611412"/>
          </a:xfrm>
          <a:prstGeom prst="roundRect">
            <a:avLst>
              <a:gd name="adj" fmla="val 6108"/>
            </a:avLst>
          </a:prstGeom>
          <a:solidFill>
            <a:srgbClr val="FCFBF7"/>
          </a:solidFill>
          <a:ln w="6350">
            <a:solidFill>
              <a:srgbClr val="DDD8CC"/>
            </a:solidFill>
            <a:prstDash val="solid"/>
          </a:ln>
        </p:spPr>
      </p:sp>
      <p:sp>
        <p:nvSpPr>
          <p:cNvPr id="15" name="Text 11"/>
          <p:cNvSpPr/>
          <p:nvPr/>
        </p:nvSpPr>
        <p:spPr>
          <a:xfrm>
            <a:off x="8439150" y="2381647"/>
            <a:ext cx="281241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630"/>
                </a:solidFill>
                <a:latin typeface="IBM Plex Sans" pitchFamily="34" charset="0"/>
                <a:ea typeface="IBM Plex Sans" pitchFamily="34" charset="-122"/>
                <a:cs typeface="IBM Plex Sans" pitchFamily="34" charset="-120"/>
              </a:rPr>
              <a:t>Capas profundas</a:t>
            </a:r>
            <a:endParaRPr lang="en-US" sz="1800" dirty="0"/>
          </a:p>
        </p:txBody>
      </p:sp>
      <p:sp>
        <p:nvSpPr>
          <p:cNvPr id="16" name="Text 12"/>
          <p:cNvSpPr/>
          <p:nvPr/>
        </p:nvSpPr>
        <p:spPr>
          <a:xfrm>
            <a:off x="8517382" y="2744788"/>
            <a:ext cx="2726563" cy="540941"/>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1C2630"/>
                </a:solidFill>
                <a:latin typeface="IBM Plex Sans" pitchFamily="34" charset="0"/>
                <a:ea typeface="IBM Plex Sans" pitchFamily="34" charset="-122"/>
                <a:cs typeface="IBM Plex Sans" pitchFamily="34" charset="-120"/>
              </a:rPr>
              <a:t>Formas completas</a:t>
            </a:r>
            <a:endParaRPr lang="en-US" sz="1400" dirty="0"/>
          </a:p>
          <a:p>
            <a:pPr algn="l" marL="175768" indent="-175768">
              <a:lnSpc>
                <a:spcPts val="2030"/>
              </a:lnSpc>
              <a:buSzPct val="100000"/>
              <a:buChar char="•"/>
            </a:pPr>
            <a:r>
              <a:rPr lang="en-US" sz="1400" dirty="0">
                <a:solidFill>
                  <a:srgbClr val="1C2630"/>
                </a:solidFill>
                <a:latin typeface="IBM Plex Sans" pitchFamily="34" charset="0"/>
                <a:ea typeface="IBM Plex Sans" pitchFamily="34" charset="-122"/>
                <a:cs typeface="IBM Plex Sans" pitchFamily="34" charset="-120"/>
              </a:rPr>
              <a:t>Propias de la tarea</a:t>
            </a:r>
            <a:endParaRPr lang="en-US" sz="1400" dirty="0"/>
          </a:p>
        </p:txBody>
      </p:sp>
      <p:sp>
        <p:nvSpPr>
          <p:cNvPr id="17" name="Text 13"/>
          <p:cNvSpPr/>
          <p:nvPr/>
        </p:nvSpPr>
        <p:spPr>
          <a:xfrm>
            <a:off x="8439150" y="3349228"/>
            <a:ext cx="281241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Aquí vive lo específico.</a:t>
            </a:r>
            <a:endParaRPr lang="en-US" sz="1300" dirty="0"/>
          </a:p>
        </p:txBody>
      </p:sp>
      <p:sp>
        <p:nvSpPr>
          <p:cNvPr id="18" name="Text 14"/>
          <p:cNvSpPr/>
          <p:nvPr/>
        </p:nvSpPr>
        <p:spPr>
          <a:xfrm>
            <a:off x="812800" y="4339134"/>
            <a:ext cx="98107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Por eso se puede reutilizar una red ya entrenada: solo hay que volver a aprender las últimas capas.</a:t>
            </a:r>
            <a:endParaRPr lang="en-US" sz="1500" dirty="0"/>
          </a:p>
        </p:txBody>
      </p:sp>
      <p:sp>
        <p:nvSpPr>
          <p:cNvPr id="19"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QUÉ PUEDE DEVOLVER UNA RED</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Cuatro tipos de tarea con imágenes</a:t>
            </a:r>
            <a:endParaRPr lang="en-US" sz="3600" dirty="0"/>
          </a:p>
        </p:txBody>
      </p:sp>
      <p:sp>
        <p:nvSpPr>
          <p:cNvPr id="4" name="Shape 2"/>
          <p:cNvSpPr/>
          <p:nvPr/>
        </p:nvSpPr>
        <p:spPr>
          <a:xfrm>
            <a:off x="815975" y="1905496"/>
            <a:ext cx="2543175" cy="2021681"/>
          </a:xfrm>
          <a:prstGeom prst="roundRect">
            <a:avLst>
              <a:gd name="adj" fmla="val 4868"/>
            </a:avLst>
          </a:prstGeom>
          <a:solidFill>
            <a:srgbClr val="FCFBF7"/>
          </a:solidFill>
          <a:ln w="6350">
            <a:solidFill>
              <a:srgbClr val="DDD8CC"/>
            </a:solidFill>
            <a:prstDash val="solid"/>
          </a:ln>
        </p:spPr>
      </p:sp>
      <p:sp>
        <p:nvSpPr>
          <p:cNvPr id="5" name="Text 3"/>
          <p:cNvSpPr/>
          <p:nvPr/>
        </p:nvSpPr>
        <p:spPr>
          <a:xfrm>
            <a:off x="1009650" y="2099171"/>
            <a:ext cx="222050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5D7C"/>
                </a:solidFill>
                <a:latin typeface="IBM Plex Sans" pitchFamily="34" charset="0"/>
                <a:ea typeface="IBM Plex Sans" pitchFamily="34" charset="-122"/>
                <a:cs typeface="IBM Plex Sans" pitchFamily="34" charset="-120"/>
              </a:rPr>
              <a:t>Clasificación</a:t>
            </a:r>
            <a:endParaRPr lang="en-US" sz="1700" dirty="0"/>
          </a:p>
        </p:txBody>
      </p:sp>
      <p:sp>
        <p:nvSpPr>
          <p:cNvPr id="6" name="Text 4"/>
          <p:cNvSpPr/>
          <p:nvPr/>
        </p:nvSpPr>
        <p:spPr>
          <a:xfrm>
            <a:off x="1009650" y="2447131"/>
            <a:ext cx="22205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¿Qué es esta imagen?</a:t>
            </a:r>
            <a:endParaRPr lang="en-US" sz="1400" dirty="0"/>
          </a:p>
        </p:txBody>
      </p:sp>
      <p:sp>
        <p:nvSpPr>
          <p:cNvPr id="7" name="Text 5"/>
          <p:cNvSpPr/>
          <p:nvPr/>
        </p:nvSpPr>
        <p:spPr>
          <a:xfrm>
            <a:off x="1009650" y="2776041"/>
            <a:ext cx="22205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Una etiqueta para toda la imagen. No dice dónde ni cuántas.</a:t>
            </a:r>
            <a:endParaRPr lang="en-US" sz="1300" dirty="0"/>
          </a:p>
        </p:txBody>
      </p:sp>
      <p:sp>
        <p:nvSpPr>
          <p:cNvPr id="8" name="Shape 6"/>
          <p:cNvSpPr/>
          <p:nvPr/>
        </p:nvSpPr>
        <p:spPr>
          <a:xfrm>
            <a:off x="3492500" y="1905496"/>
            <a:ext cx="2543175" cy="2021681"/>
          </a:xfrm>
          <a:prstGeom prst="roundRect">
            <a:avLst>
              <a:gd name="adj" fmla="val 4868"/>
            </a:avLst>
          </a:prstGeom>
          <a:solidFill>
            <a:srgbClr val="FCFBF7"/>
          </a:solidFill>
          <a:ln w="6350">
            <a:solidFill>
              <a:srgbClr val="DDD8CC"/>
            </a:solidFill>
            <a:prstDash val="solid"/>
          </a:ln>
        </p:spPr>
      </p:sp>
      <p:sp>
        <p:nvSpPr>
          <p:cNvPr id="9" name="Text 7"/>
          <p:cNvSpPr/>
          <p:nvPr/>
        </p:nvSpPr>
        <p:spPr>
          <a:xfrm>
            <a:off x="3686175" y="2099171"/>
            <a:ext cx="222050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5D7C"/>
                </a:solidFill>
                <a:latin typeface="IBM Plex Sans" pitchFamily="34" charset="0"/>
                <a:ea typeface="IBM Plex Sans" pitchFamily="34" charset="-122"/>
                <a:cs typeface="IBM Plex Sans" pitchFamily="34" charset="-120"/>
              </a:rPr>
              <a:t>Detección</a:t>
            </a:r>
            <a:endParaRPr lang="en-US" sz="1700" dirty="0"/>
          </a:p>
        </p:txBody>
      </p:sp>
      <p:sp>
        <p:nvSpPr>
          <p:cNvPr id="10" name="Text 8"/>
          <p:cNvSpPr/>
          <p:nvPr/>
        </p:nvSpPr>
        <p:spPr>
          <a:xfrm>
            <a:off x="3686175" y="2447131"/>
            <a:ext cx="234632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¿Qué objetos hay y dónde?</a:t>
            </a:r>
            <a:endParaRPr lang="en-US" sz="1400" dirty="0"/>
          </a:p>
        </p:txBody>
      </p:sp>
      <p:sp>
        <p:nvSpPr>
          <p:cNvPr id="11" name="Text 9"/>
          <p:cNvSpPr/>
          <p:nvPr/>
        </p:nvSpPr>
        <p:spPr>
          <a:xfrm>
            <a:off x="3686175" y="2776041"/>
            <a:ext cx="222050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Rectángulos. Burdos para una célula curva.</a:t>
            </a:r>
            <a:endParaRPr lang="en-US" sz="1300" dirty="0"/>
          </a:p>
        </p:txBody>
      </p:sp>
      <p:sp>
        <p:nvSpPr>
          <p:cNvPr id="12" name="Shape 10"/>
          <p:cNvSpPr/>
          <p:nvPr/>
        </p:nvSpPr>
        <p:spPr>
          <a:xfrm>
            <a:off x="6169025" y="1905496"/>
            <a:ext cx="2543175" cy="2021681"/>
          </a:xfrm>
          <a:prstGeom prst="roundRect">
            <a:avLst>
              <a:gd name="adj" fmla="val 4868"/>
            </a:avLst>
          </a:prstGeom>
          <a:solidFill>
            <a:srgbClr val="FCFBF7"/>
          </a:solidFill>
          <a:ln w="6350">
            <a:solidFill>
              <a:srgbClr val="DDD8CC"/>
            </a:solidFill>
            <a:prstDash val="solid"/>
          </a:ln>
        </p:spPr>
      </p:sp>
      <p:sp>
        <p:nvSpPr>
          <p:cNvPr id="13" name="Text 11"/>
          <p:cNvSpPr/>
          <p:nvPr/>
        </p:nvSpPr>
        <p:spPr>
          <a:xfrm>
            <a:off x="6362700" y="2099171"/>
            <a:ext cx="2220500"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5D7C"/>
                </a:solidFill>
                <a:latin typeface="IBM Plex Sans" pitchFamily="34" charset="0"/>
                <a:ea typeface="IBM Plex Sans" pitchFamily="34" charset="-122"/>
                <a:cs typeface="IBM Plex Sans" pitchFamily="34" charset="-120"/>
              </a:rPr>
              <a:t>Segmentación semántica</a:t>
            </a:r>
            <a:endParaRPr lang="en-US" sz="1700" dirty="0"/>
          </a:p>
        </p:txBody>
      </p:sp>
      <p:sp>
        <p:nvSpPr>
          <p:cNvPr id="14" name="Text 12"/>
          <p:cNvSpPr/>
          <p:nvPr/>
        </p:nvSpPr>
        <p:spPr>
          <a:xfrm>
            <a:off x="6362700" y="2706191"/>
            <a:ext cx="22205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630"/>
                </a:solidFill>
                <a:latin typeface="IBM Plex Sans" pitchFamily="34" charset="0"/>
                <a:ea typeface="IBM Plex Sans" pitchFamily="34" charset="-122"/>
                <a:cs typeface="IBM Plex Sans" pitchFamily="34" charset="-120"/>
              </a:rPr>
              <a:t>¿Qué es cada píxel?</a:t>
            </a:r>
            <a:endParaRPr lang="en-US" sz="1400" dirty="0"/>
          </a:p>
        </p:txBody>
      </p:sp>
      <p:sp>
        <p:nvSpPr>
          <p:cNvPr id="15" name="Text 13"/>
          <p:cNvSpPr/>
          <p:nvPr/>
        </p:nvSpPr>
        <p:spPr>
          <a:xfrm>
            <a:off x="6362700" y="3035102"/>
            <a:ext cx="222050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Una máscara. Si dos células se tocan, se funden en una.</a:t>
            </a:r>
            <a:endParaRPr lang="en-US" sz="1300" dirty="0"/>
          </a:p>
        </p:txBody>
      </p:sp>
      <p:sp>
        <p:nvSpPr>
          <p:cNvPr id="16" name="Shape 14"/>
          <p:cNvSpPr/>
          <p:nvPr/>
        </p:nvSpPr>
        <p:spPr>
          <a:xfrm>
            <a:off x="8842375" y="1902321"/>
            <a:ext cx="2536825" cy="2028031"/>
          </a:xfrm>
          <a:prstGeom prst="roundRect">
            <a:avLst>
              <a:gd name="adj" fmla="val 5010"/>
            </a:avLst>
          </a:prstGeom>
          <a:solidFill>
            <a:srgbClr val="A8201A"/>
          </a:solidFill>
          <a:ln/>
        </p:spPr>
      </p:sp>
      <p:sp>
        <p:nvSpPr>
          <p:cNvPr id="17" name="Text 15"/>
          <p:cNvSpPr/>
          <p:nvPr/>
        </p:nvSpPr>
        <p:spPr>
          <a:xfrm>
            <a:off x="9032875" y="2092821"/>
            <a:ext cx="2220500"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3EC"/>
                </a:solidFill>
                <a:latin typeface="IBM Plex Sans" pitchFamily="34" charset="0"/>
                <a:ea typeface="IBM Plex Sans" pitchFamily="34" charset="-122"/>
                <a:cs typeface="IBM Plex Sans" pitchFamily="34" charset="-120"/>
              </a:rPr>
              <a:t>Segmentación por instancias</a:t>
            </a:r>
            <a:endParaRPr lang="en-US" sz="1700" dirty="0"/>
          </a:p>
        </p:txBody>
      </p:sp>
      <p:sp>
        <p:nvSpPr>
          <p:cNvPr id="18" name="Text 16"/>
          <p:cNvSpPr/>
          <p:nvPr/>
        </p:nvSpPr>
        <p:spPr>
          <a:xfrm>
            <a:off x="9032875" y="2699841"/>
            <a:ext cx="2220500"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6F3EC"/>
                </a:solidFill>
                <a:latin typeface="IBM Plex Sans" pitchFamily="34" charset="0"/>
                <a:ea typeface="IBM Plex Sans" pitchFamily="34" charset="-122"/>
                <a:cs typeface="IBM Plex Sans" pitchFamily="34" charset="-120"/>
              </a:rPr>
              <a:t>¿Cuántos objetos hay y cuál es la forma exacta de cada uno?</a:t>
            </a:r>
            <a:endParaRPr lang="en-US" sz="1400" dirty="0"/>
          </a:p>
        </p:txBody>
      </p:sp>
      <p:sp>
        <p:nvSpPr>
          <p:cNvPr id="19" name="Text 17"/>
          <p:cNvSpPr/>
          <p:nvPr/>
        </p:nvSpPr>
        <p:spPr>
          <a:xfrm>
            <a:off x="9032875" y="3508772"/>
            <a:ext cx="22205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3EC"/>
                </a:solidFill>
                <a:latin typeface="IBM Plex Sans" pitchFamily="34" charset="0"/>
                <a:ea typeface="IBM Plex Sans" pitchFamily="34" charset="-122"/>
                <a:cs typeface="IBM Plex Sans" pitchFamily="34" charset="-120"/>
              </a:rPr>
              <a:t>La que usa este proyecto.</a:t>
            </a:r>
            <a:endParaRPr lang="en-US" sz="13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APRENDIZAJE POR TRANSFERENCIA</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No empezar de cero</a:t>
            </a:r>
            <a:endParaRPr lang="en-US" sz="3600" dirty="0"/>
          </a:p>
        </p:txBody>
      </p:sp>
      <p:sp>
        <p:nvSpPr>
          <p:cNvPr id="4" name="Shape 2"/>
          <p:cNvSpPr/>
          <p:nvPr/>
        </p:nvSpPr>
        <p:spPr>
          <a:xfrm>
            <a:off x="815975" y="1905496"/>
            <a:ext cx="5200650" cy="1601391"/>
          </a:xfrm>
          <a:prstGeom prst="roundRect">
            <a:avLst>
              <a:gd name="adj" fmla="val 6146"/>
            </a:avLst>
          </a:prstGeom>
          <a:solidFill>
            <a:srgbClr val="FCFBF7"/>
          </a:solidFill>
          <a:ln w="6350">
            <a:solidFill>
              <a:srgbClr val="DDD8CC"/>
            </a:solidFill>
            <a:prstDash val="solid"/>
          </a:ln>
        </p:spPr>
      </p:sp>
      <p:sp>
        <p:nvSpPr>
          <p:cNvPr id="5" name="Text 3"/>
          <p:cNvSpPr/>
          <p:nvPr/>
        </p:nvSpPr>
        <p:spPr>
          <a:xfrm>
            <a:off x="1035050" y="2124571"/>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55606B"/>
                </a:solidFill>
                <a:latin typeface="IBM Plex Sans" pitchFamily="34" charset="0"/>
                <a:ea typeface="IBM Plex Sans" pitchFamily="34" charset="-122"/>
                <a:cs typeface="IBM Plex Sans" pitchFamily="34" charset="-120"/>
              </a:rPr>
              <a:t>Entrenar desde cero</a:t>
            </a:r>
            <a:endParaRPr lang="en-US" sz="1800" dirty="0"/>
          </a:p>
        </p:txBody>
      </p:sp>
      <p:sp>
        <p:nvSpPr>
          <p:cNvPr id="6" name="Text 4"/>
          <p:cNvSpPr/>
          <p:nvPr/>
        </p:nvSpPr>
        <p:spPr>
          <a:xfrm>
            <a:off x="1113282" y="2487712"/>
            <a:ext cx="4819523" cy="8255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1C2630"/>
                </a:solidFill>
                <a:latin typeface="IBM Plex Sans" pitchFamily="34" charset="0"/>
                <a:ea typeface="IBM Plex Sans" pitchFamily="34" charset="-122"/>
                <a:cs typeface="IBM Plex Sans" pitchFamily="34" charset="-120"/>
              </a:rPr>
              <a:t>Decenas de millones de pesos al azar</a:t>
            </a:r>
            <a:endParaRPr lang="en-US" sz="1400" dirty="0"/>
          </a:p>
          <a:p>
            <a:pPr algn="l" marL="175768" indent="-175768">
              <a:lnSpc>
                <a:spcPts val="2100"/>
              </a:lnSpc>
              <a:buSzPct val="100000"/>
              <a:buChar char="•"/>
            </a:pPr>
            <a:r>
              <a:rPr lang="en-US" sz="1400" dirty="0">
                <a:solidFill>
                  <a:srgbClr val="1C2630"/>
                </a:solidFill>
                <a:latin typeface="IBM Plex Sans" pitchFamily="34" charset="0"/>
                <a:ea typeface="IBM Plex Sans" pitchFamily="34" charset="-122"/>
                <a:cs typeface="IBM Plex Sans" pitchFamily="34" charset="-120"/>
              </a:rPr>
              <a:t>Hacen falta millones de ejemplos</a:t>
            </a:r>
            <a:endParaRPr lang="en-US" sz="1400" dirty="0"/>
          </a:p>
          <a:p>
            <a:pPr algn="l" marL="175768" indent="-175768">
              <a:lnSpc>
                <a:spcPts val="2100"/>
              </a:lnSpc>
              <a:buSzPct val="100000"/>
              <a:buChar char="•"/>
            </a:pPr>
            <a:r>
              <a:rPr lang="en-US" sz="1400" dirty="0">
                <a:solidFill>
                  <a:srgbClr val="1C2630"/>
                </a:solidFill>
                <a:latin typeface="IBM Plex Sans" pitchFamily="34" charset="0"/>
                <a:ea typeface="IBM Plex Sans" pitchFamily="34" charset="-122"/>
                <a:cs typeface="IBM Plex Sans" pitchFamily="34" charset="-120"/>
              </a:rPr>
              <a:t>Con 8 fotos, la red memorizaría</a:t>
            </a:r>
            <a:endParaRPr lang="en-US" sz="1400" dirty="0"/>
          </a:p>
        </p:txBody>
      </p:sp>
      <p:sp>
        <p:nvSpPr>
          <p:cNvPr id="7" name="Shape 5"/>
          <p:cNvSpPr/>
          <p:nvPr/>
        </p:nvSpPr>
        <p:spPr>
          <a:xfrm>
            <a:off x="6175375" y="1905496"/>
            <a:ext cx="5200650" cy="1601391"/>
          </a:xfrm>
          <a:prstGeom prst="roundRect">
            <a:avLst>
              <a:gd name="adj" fmla="val 6146"/>
            </a:avLst>
          </a:prstGeom>
          <a:solidFill>
            <a:srgbClr val="FCFBF7"/>
          </a:solidFill>
          <a:ln w="6350">
            <a:solidFill>
              <a:srgbClr val="DDD8CC"/>
            </a:solidFill>
            <a:prstDash val="solid"/>
          </a:ln>
        </p:spPr>
      </p:sp>
      <p:sp>
        <p:nvSpPr>
          <p:cNvPr id="8" name="Text 6"/>
          <p:cNvSpPr/>
          <p:nvPr/>
        </p:nvSpPr>
        <p:spPr>
          <a:xfrm>
            <a:off x="6394450" y="2124571"/>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A8201A"/>
                </a:solidFill>
                <a:latin typeface="IBM Plex Sans" pitchFamily="34" charset="0"/>
                <a:ea typeface="IBM Plex Sans" pitchFamily="34" charset="-122"/>
                <a:cs typeface="IBM Plex Sans" pitchFamily="34" charset="-120"/>
              </a:rPr>
              <a:t>Partir de una red preentrenada</a:t>
            </a:r>
            <a:endParaRPr lang="en-US" sz="1800" dirty="0"/>
          </a:p>
        </p:txBody>
      </p:sp>
      <p:sp>
        <p:nvSpPr>
          <p:cNvPr id="9" name="Text 7"/>
          <p:cNvSpPr/>
          <p:nvPr/>
        </p:nvSpPr>
        <p:spPr>
          <a:xfrm>
            <a:off x="6472682" y="2487712"/>
            <a:ext cx="4819523" cy="8255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1C2630"/>
                </a:solidFill>
                <a:latin typeface="IBM Plex Sans" pitchFamily="34" charset="0"/>
                <a:ea typeface="IBM Plex Sans" pitchFamily="34" charset="-122"/>
                <a:cs typeface="IBM Plex Sans" pitchFamily="34" charset="-120"/>
              </a:rPr>
              <a:t>Mask R-CNN entrenada con COCO</a:t>
            </a:r>
            <a:endParaRPr lang="en-US" sz="1400" dirty="0"/>
          </a:p>
          <a:p>
            <a:pPr algn="l" marL="175768" indent="-175768">
              <a:lnSpc>
                <a:spcPts val="2100"/>
              </a:lnSpc>
              <a:buSzPct val="100000"/>
              <a:buChar char="•"/>
            </a:pPr>
            <a:r>
              <a:rPr lang="en-US" sz="1400" dirty="0">
                <a:solidFill>
                  <a:srgbClr val="1C2630"/>
                </a:solidFill>
                <a:latin typeface="IBM Plex Sans" pitchFamily="34" charset="0"/>
                <a:ea typeface="IBM Plex Sans" pitchFamily="34" charset="-122"/>
                <a:cs typeface="IBM Plex Sans" pitchFamily="34" charset="-120"/>
              </a:rPr>
              <a:t>Más de 300 mil fotos y un millón de objetos</a:t>
            </a:r>
            <a:endParaRPr lang="en-US" sz="1400" dirty="0"/>
          </a:p>
          <a:p>
            <a:pPr algn="l" marL="175768" indent="-175768">
              <a:lnSpc>
                <a:spcPts val="2100"/>
              </a:lnSpc>
              <a:buSzPct val="100000"/>
              <a:buChar char="•"/>
            </a:pPr>
            <a:r>
              <a:rPr lang="en-US" sz="1400" dirty="0">
                <a:solidFill>
                  <a:srgbClr val="1C2630"/>
                </a:solidFill>
                <a:latin typeface="IBM Plex Sans" pitchFamily="34" charset="0"/>
                <a:ea typeface="IBM Plex Sans" pitchFamily="34" charset="-122"/>
                <a:cs typeface="IBM Plex Sans" pitchFamily="34" charset="-120"/>
              </a:rPr>
              <a:t>Ya sabe ver bordes, formas y contornos</a:t>
            </a:r>
            <a:endParaRPr lang="en-US" sz="1400" dirty="0"/>
          </a:p>
        </p:txBody>
      </p:sp>
      <p:sp>
        <p:nvSpPr>
          <p:cNvPr id="10" name="Text 8"/>
          <p:cNvSpPr/>
          <p:nvPr/>
        </p:nvSpPr>
        <p:spPr>
          <a:xfrm>
            <a:off x="812800" y="3789462"/>
            <a:ext cx="10566400" cy="751681"/>
          </a:xfrm>
          <a:prstGeom prst="rect">
            <a:avLst/>
          </a:prstGeom>
          <a:solidFill>
            <a:srgbClr val="ECE7DA"/>
          </a:solidFill>
          <a:ln/>
        </p:spPr>
        <p:txBody>
          <a:bodyPr wrap="square" lIns="254000" tIns="127000" rIns="0" bIns="101600" rtlCol="0" anchor="t">
            <a:normAutofit/>
          </a:bodyPr>
          <a:lstStyle/>
          <a:p>
            <a:pPr algn="l"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COCO tiene 80 categorías cotidianas y ninguna se parece a un espermatozoide. No se aprovechan las categorías: se aprovecha la capacidad de ver.</a:t>
            </a:r>
            <a:endParaRPr lang="en-US" sz="1400" dirty="0"/>
          </a:p>
        </p:txBody>
      </p:sp>
      <p:sp>
        <p:nvSpPr>
          <p:cNvPr id="11" name="Shape 9"/>
          <p:cNvSpPr/>
          <p:nvPr/>
        </p:nvSpPr>
        <p:spPr>
          <a:xfrm>
            <a:off x="838200" y="3789462"/>
            <a:ext cx="0" cy="751681"/>
          </a:xfrm>
          <a:prstGeom prst="line">
            <a:avLst/>
          </a:prstGeom>
          <a:noFill/>
          <a:ln w="50800">
            <a:solidFill>
              <a:srgbClr val="2F5D7C"/>
            </a:solidFill>
            <a:prstDash val="solid"/>
          </a:ln>
        </p:spPr>
      </p:sp>
      <p:sp>
        <p:nvSpPr>
          <p:cNvPr id="12" name="Text 10"/>
          <p:cNvSpPr/>
          <p:nvPr/>
        </p:nvSpPr>
        <p:spPr>
          <a:xfrm>
            <a:off x="812800" y="4820543"/>
            <a:ext cx="98107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Analogía: quien sabe guitarra aprende ukulele en semanas, porque ya tiene oído, ritmo y manos.</a:t>
            </a:r>
            <a:endParaRPr lang="en-US" sz="14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2313"/>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EN EL CUADERNO DE ENTRENAMIENTO</a:t>
            </a:r>
            <a:endParaRPr lang="en-US" sz="1300" dirty="0"/>
          </a:p>
        </p:txBody>
      </p:sp>
      <p:sp>
        <p:nvSpPr>
          <p:cNvPr id="3" name="Text 1"/>
          <p:cNvSpPr/>
          <p:nvPr>
            <p:ph type="title"/>
          </p:nvPr>
        </p:nvSpPr>
        <p:spPr>
          <a:xfrm>
            <a:off x="812800" y="1115913"/>
            <a:ext cx="10883392" cy="519311"/>
          </a:xfrm>
          <a:prstGeom prst="rect">
            <a:avLst/>
          </a:prstGeom>
          <a:noFill/>
          <a:ln/>
        </p:spPr>
        <p:txBody>
          <a:bodyPr wrap="square" lIns="0" tIns="0" rIns="0" bIns="0" rtlCol="0" anchor="t">
            <a:normAutofit/>
          </a:bodyPr>
          <a:lstStyle/>
          <a:p>
            <a:pPr algn="l" indent="0" marL="0">
              <a:lnSpc>
                <a:spcPts val="3923"/>
              </a:lnSpc>
              <a:buNone/>
            </a:pPr>
            <a:r>
              <a:rPr lang="en-US" sz="3566" b="1" i="0" dirty="0">
                <a:solidFill>
                  <a:srgbClr val="1C2630"/>
                </a:solidFill>
                <a:latin typeface="Source Serif 4" pitchFamily="18" charset="0"/>
                <a:ea typeface="Source Serif 4" pitchFamily="18" charset="-122"/>
                <a:cs typeface="Source Serif 4" pitchFamily="18" charset="-120"/>
              </a:rPr>
              <a:t>Cinco pasos de la transferencia</a:t>
            </a:r>
            <a:endParaRPr lang="en-US" sz="3566" dirty="0"/>
          </a:p>
        </p:txBody>
      </p:sp>
      <p:sp>
        <p:nvSpPr>
          <p:cNvPr id="4" name="Shape 2"/>
          <p:cNvSpPr/>
          <p:nvPr/>
        </p:nvSpPr>
        <p:spPr>
          <a:xfrm>
            <a:off x="815975" y="1841599"/>
            <a:ext cx="10560050" cy="589657"/>
          </a:xfrm>
          <a:prstGeom prst="roundRect">
            <a:avLst>
              <a:gd name="adj" fmla="val 16692"/>
            </a:avLst>
          </a:prstGeom>
          <a:solidFill>
            <a:srgbClr val="FCFBF7"/>
          </a:solidFill>
          <a:ln w="6350">
            <a:solidFill>
              <a:srgbClr val="DDD8CC"/>
            </a:solidFill>
            <a:prstDash val="solid"/>
          </a:ln>
        </p:spPr>
      </p:sp>
      <p:sp>
        <p:nvSpPr>
          <p:cNvPr id="5" name="Text 3"/>
          <p:cNvSpPr/>
          <p:nvPr/>
        </p:nvSpPr>
        <p:spPr>
          <a:xfrm>
            <a:off x="1022350" y="1940917"/>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201A"/>
                </a:solidFill>
                <a:latin typeface="Source Serif 4" pitchFamily="18" charset="0"/>
                <a:ea typeface="Source Serif 4" pitchFamily="18" charset="-122"/>
                <a:cs typeface="Source Serif 4" pitchFamily="18" charset="-120"/>
              </a:rPr>
              <a:t>1</a:t>
            </a:r>
            <a:endParaRPr lang="en-US" sz="2200" dirty="0"/>
          </a:p>
        </p:txBody>
      </p:sp>
      <p:sp>
        <p:nvSpPr>
          <p:cNvPr id="6" name="Text 4"/>
          <p:cNvSpPr/>
          <p:nvPr/>
        </p:nvSpPr>
        <p:spPr>
          <a:xfrm>
            <a:off x="1479550" y="2020888"/>
            <a:ext cx="4694158"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C2630"/>
                </a:solidFill>
                <a:latin typeface="IBM Plex Sans" pitchFamily="34" charset="0"/>
                <a:ea typeface="IBM Plex Sans" pitchFamily="34" charset="-122"/>
                <a:cs typeface="IBM Plex Sans" pitchFamily="34" charset="-120"/>
              </a:rPr>
              <a:t>Cargar la red con los pesos del preentrenamiento</a:t>
            </a:r>
            <a:endParaRPr lang="en-US" sz="1400" dirty="0"/>
          </a:p>
        </p:txBody>
      </p:sp>
      <p:sp>
        <p:nvSpPr>
          <p:cNvPr id="7" name="Shape 5"/>
          <p:cNvSpPr/>
          <p:nvPr/>
        </p:nvSpPr>
        <p:spPr>
          <a:xfrm>
            <a:off x="815975" y="2526506"/>
            <a:ext cx="10560050" cy="589657"/>
          </a:xfrm>
          <a:prstGeom prst="roundRect">
            <a:avLst>
              <a:gd name="adj" fmla="val 16692"/>
            </a:avLst>
          </a:prstGeom>
          <a:solidFill>
            <a:srgbClr val="FCFBF7"/>
          </a:solidFill>
          <a:ln w="6350">
            <a:solidFill>
              <a:srgbClr val="DDD8CC"/>
            </a:solidFill>
            <a:prstDash val="solid"/>
          </a:ln>
        </p:spPr>
      </p:sp>
      <p:sp>
        <p:nvSpPr>
          <p:cNvPr id="8" name="Text 6"/>
          <p:cNvSpPr/>
          <p:nvPr/>
        </p:nvSpPr>
        <p:spPr>
          <a:xfrm>
            <a:off x="1022350" y="2625824"/>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201A"/>
                </a:solidFill>
                <a:latin typeface="Source Serif 4" pitchFamily="18" charset="0"/>
                <a:ea typeface="Source Serif 4" pitchFamily="18" charset="-122"/>
                <a:cs typeface="Source Serif 4" pitchFamily="18" charset="-120"/>
              </a:rPr>
              <a:t>2</a:t>
            </a:r>
            <a:endParaRPr lang="en-US" sz="2200" dirty="0"/>
          </a:p>
        </p:txBody>
      </p:sp>
      <p:sp>
        <p:nvSpPr>
          <p:cNvPr id="9" name="Text 7"/>
          <p:cNvSpPr/>
          <p:nvPr/>
        </p:nvSpPr>
        <p:spPr>
          <a:xfrm>
            <a:off x="1479550" y="2705795"/>
            <a:ext cx="592657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C2630"/>
                </a:solidFill>
                <a:latin typeface="IBM Plex Sans" pitchFamily="34" charset="0"/>
                <a:ea typeface="IBM Plex Sans" pitchFamily="34" charset="-122"/>
                <a:cs typeface="IBM Plex Sans" pitchFamily="34" charset="-120"/>
              </a:rPr>
              <a:t>Sustituir las capas finales por otras nuevas, con una sola clase</a:t>
            </a:r>
            <a:endParaRPr lang="en-US" sz="1400" dirty="0"/>
          </a:p>
        </p:txBody>
      </p:sp>
      <p:sp>
        <p:nvSpPr>
          <p:cNvPr id="10" name="Shape 8"/>
          <p:cNvSpPr/>
          <p:nvPr/>
        </p:nvSpPr>
        <p:spPr>
          <a:xfrm>
            <a:off x="815975" y="3211413"/>
            <a:ext cx="10560050" cy="589657"/>
          </a:xfrm>
          <a:prstGeom prst="roundRect">
            <a:avLst>
              <a:gd name="adj" fmla="val 16692"/>
            </a:avLst>
          </a:prstGeom>
          <a:solidFill>
            <a:srgbClr val="FCFBF7"/>
          </a:solidFill>
          <a:ln w="6350">
            <a:solidFill>
              <a:srgbClr val="DDD8CC"/>
            </a:solidFill>
            <a:prstDash val="solid"/>
          </a:ln>
        </p:spPr>
      </p:sp>
      <p:sp>
        <p:nvSpPr>
          <p:cNvPr id="11" name="Text 9"/>
          <p:cNvSpPr/>
          <p:nvPr/>
        </p:nvSpPr>
        <p:spPr>
          <a:xfrm>
            <a:off x="1022350" y="3310731"/>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201A"/>
                </a:solidFill>
                <a:latin typeface="Source Serif 4" pitchFamily="18" charset="0"/>
                <a:ea typeface="Source Serif 4" pitchFamily="18" charset="-122"/>
                <a:cs typeface="Source Serif 4" pitchFamily="18" charset="-120"/>
              </a:rPr>
              <a:t>3</a:t>
            </a:r>
            <a:endParaRPr lang="en-US" sz="2200" dirty="0"/>
          </a:p>
        </p:txBody>
      </p:sp>
      <p:sp>
        <p:nvSpPr>
          <p:cNvPr id="12" name="Text 10"/>
          <p:cNvSpPr/>
          <p:nvPr/>
        </p:nvSpPr>
        <p:spPr>
          <a:xfrm>
            <a:off x="1479550" y="3390702"/>
            <a:ext cx="5336143"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C2630"/>
                </a:solidFill>
                <a:latin typeface="IBM Plex Sans" pitchFamily="34" charset="0"/>
                <a:ea typeface="IBM Plex Sans" pitchFamily="34" charset="-122"/>
                <a:cs typeface="IBM Plex Sans" pitchFamily="34" charset="-120"/>
              </a:rPr>
              <a:t>Dejar libres las capas más profundas y fijas las primeras</a:t>
            </a:r>
            <a:endParaRPr lang="en-US" sz="1400" dirty="0"/>
          </a:p>
        </p:txBody>
      </p:sp>
      <p:sp>
        <p:nvSpPr>
          <p:cNvPr id="13" name="Shape 11"/>
          <p:cNvSpPr/>
          <p:nvPr/>
        </p:nvSpPr>
        <p:spPr>
          <a:xfrm>
            <a:off x="815975" y="3896320"/>
            <a:ext cx="10560050" cy="589657"/>
          </a:xfrm>
          <a:prstGeom prst="roundRect">
            <a:avLst>
              <a:gd name="adj" fmla="val 16692"/>
            </a:avLst>
          </a:prstGeom>
          <a:solidFill>
            <a:srgbClr val="FCFBF7"/>
          </a:solidFill>
          <a:ln w="6350">
            <a:solidFill>
              <a:srgbClr val="DDD8CC"/>
            </a:solidFill>
            <a:prstDash val="solid"/>
          </a:ln>
        </p:spPr>
      </p:sp>
      <p:sp>
        <p:nvSpPr>
          <p:cNvPr id="14" name="Text 12"/>
          <p:cNvSpPr/>
          <p:nvPr/>
        </p:nvSpPr>
        <p:spPr>
          <a:xfrm>
            <a:off x="1022350" y="3995638"/>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201A"/>
                </a:solidFill>
                <a:latin typeface="Source Serif 4" pitchFamily="18" charset="0"/>
                <a:ea typeface="Source Serif 4" pitchFamily="18" charset="-122"/>
                <a:cs typeface="Source Serif 4" pitchFamily="18" charset="-120"/>
              </a:rPr>
              <a:t>4</a:t>
            </a:r>
            <a:endParaRPr lang="en-US" sz="2200" dirty="0"/>
          </a:p>
        </p:txBody>
      </p:sp>
      <p:sp>
        <p:nvSpPr>
          <p:cNvPr id="15" name="Text 13"/>
          <p:cNvSpPr/>
          <p:nvPr/>
        </p:nvSpPr>
        <p:spPr>
          <a:xfrm>
            <a:off x="1479550" y="4075609"/>
            <a:ext cx="7038856"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C2630"/>
                </a:solidFill>
                <a:latin typeface="IBM Plex Sans" pitchFamily="34" charset="0"/>
                <a:ea typeface="IBM Plex Sans" pitchFamily="34" charset="-122"/>
                <a:cs typeface="IBM Plex Sans" pitchFamily="34" charset="-120"/>
              </a:rPr>
              <a:t>Entrenar con tasa pequeña y calentamiento, para no borrar lo que ya sabe</a:t>
            </a:r>
            <a:endParaRPr lang="en-US" sz="1400" dirty="0"/>
          </a:p>
        </p:txBody>
      </p:sp>
      <p:sp>
        <p:nvSpPr>
          <p:cNvPr id="16" name="Shape 14"/>
          <p:cNvSpPr/>
          <p:nvPr/>
        </p:nvSpPr>
        <p:spPr>
          <a:xfrm>
            <a:off x="815975" y="4581227"/>
            <a:ext cx="10560050" cy="589657"/>
          </a:xfrm>
          <a:prstGeom prst="roundRect">
            <a:avLst>
              <a:gd name="adj" fmla="val 16692"/>
            </a:avLst>
          </a:prstGeom>
          <a:solidFill>
            <a:srgbClr val="FCFBF7"/>
          </a:solidFill>
          <a:ln w="6350">
            <a:solidFill>
              <a:srgbClr val="DDD8CC"/>
            </a:solidFill>
            <a:prstDash val="solid"/>
          </a:ln>
        </p:spPr>
      </p:sp>
      <p:sp>
        <p:nvSpPr>
          <p:cNvPr id="17" name="Text 15"/>
          <p:cNvSpPr/>
          <p:nvPr/>
        </p:nvSpPr>
        <p:spPr>
          <a:xfrm>
            <a:off x="1022350" y="4680545"/>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201A"/>
                </a:solidFill>
                <a:latin typeface="Source Serif 4" pitchFamily="18" charset="0"/>
                <a:ea typeface="Source Serif 4" pitchFamily="18" charset="-122"/>
                <a:cs typeface="Source Serif 4" pitchFamily="18" charset="-120"/>
              </a:rPr>
              <a:t>5</a:t>
            </a:r>
            <a:endParaRPr lang="en-US" sz="2200" dirty="0"/>
          </a:p>
        </p:txBody>
      </p:sp>
      <p:sp>
        <p:nvSpPr>
          <p:cNvPr id="18" name="Text 16"/>
          <p:cNvSpPr/>
          <p:nvPr/>
        </p:nvSpPr>
        <p:spPr>
          <a:xfrm>
            <a:off x="1479550" y="4760516"/>
            <a:ext cx="5457349"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C2630"/>
                </a:solidFill>
                <a:latin typeface="IBM Plex Sans" pitchFamily="34" charset="0"/>
                <a:ea typeface="IBM Plex Sans" pitchFamily="34" charset="-122"/>
                <a:cs typeface="IBM Plex Sans" pitchFamily="34" charset="-120"/>
              </a:rPr>
              <a:t>Evaluar con imágenes que no vio y guardar la mejor copia</a:t>
            </a:r>
            <a:endParaRPr lang="en-US" sz="1400" dirty="0"/>
          </a:p>
        </p:txBody>
      </p:sp>
      <p:sp>
        <p:nvSpPr>
          <p:cNvPr id="19" name="Text 17"/>
          <p:cNvSpPr/>
          <p:nvPr/>
        </p:nvSpPr>
        <p:spPr>
          <a:xfrm>
            <a:off x="812800" y="5402659"/>
            <a:ext cx="10566400" cy="439341"/>
          </a:xfrm>
          <a:prstGeom prst="rect">
            <a:avLst/>
          </a:prstGeom>
          <a:solidFill>
            <a:srgbClr val="ECE7DA"/>
          </a:solidFill>
          <a:ln/>
        </p:spPr>
        <p:txBody>
          <a:bodyPr wrap="square" lIns="254000" tIns="101600" rIns="0" bIns="76200" rtlCol="0" anchor="t">
            <a:normAutofit/>
          </a:bodyPr>
          <a:lstStyle/>
          <a:p>
            <a:pPr algn="l" indent="0" marL="0">
              <a:lnSpc>
                <a:spcPts val="1872"/>
              </a:lnSpc>
              <a:buNone/>
            </a:pPr>
            <a:r>
              <a:rPr lang="en-US" sz="1387" dirty="0">
                <a:solidFill>
                  <a:srgbClr val="1C2630"/>
                </a:solidFill>
                <a:latin typeface="IBM Plex Sans" pitchFamily="34" charset="0"/>
                <a:ea typeface="IBM Plex Sans" pitchFamily="34" charset="-122"/>
                <a:cs typeface="IBM Plex Sans" pitchFamily="34" charset="-120"/>
              </a:rPr>
              <a:t>Reduce los datos necesarios, pero no los elimina. Con fotos de una sola muestra, el modelo se especializa en ese caso.</a:t>
            </a:r>
            <a:endParaRPr lang="en-US" sz="1387" dirty="0"/>
          </a:p>
        </p:txBody>
      </p:sp>
      <p:sp>
        <p:nvSpPr>
          <p:cNvPr id="20" name="Shape 18"/>
          <p:cNvSpPr/>
          <p:nvPr/>
        </p:nvSpPr>
        <p:spPr>
          <a:xfrm>
            <a:off x="838200" y="5402659"/>
            <a:ext cx="0" cy="439341"/>
          </a:xfrm>
          <a:prstGeom prst="line">
            <a:avLst/>
          </a:prstGeom>
          <a:noFill/>
          <a:ln w="50800">
            <a:solidFill>
              <a:srgbClr val="A8201A"/>
            </a:solidFill>
            <a:prstDash val="solid"/>
          </a:ln>
        </p:spPr>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QUÉ RECIBE LA RED</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Solo brillo, y variaciones al azar</a:t>
            </a:r>
            <a:endParaRPr lang="en-US" sz="3600" dirty="0"/>
          </a:p>
        </p:txBody>
      </p:sp>
      <p:sp>
        <p:nvSpPr>
          <p:cNvPr id="4" name="Text 2"/>
          <p:cNvSpPr/>
          <p:nvPr/>
        </p:nvSpPr>
        <p:spPr>
          <a:xfrm>
            <a:off x="815975" y="1880096"/>
            <a:ext cx="3431084" cy="603250"/>
          </a:xfrm>
          <a:prstGeom prst="roundRect">
            <a:avLst>
              <a:gd name="adj" fmla="val 16316"/>
            </a:avLst>
          </a:prstGeom>
          <a:solidFill>
            <a:srgbClr val="FCFBF7"/>
          </a:solidFill>
          <a:ln w="6350">
            <a:solidFill>
              <a:srgbClr val="DDD8CC"/>
            </a:solidFill>
            <a:prstDash val="solid"/>
          </a:ln>
        </p:spPr>
        <p:txBody>
          <a:bodyPr wrap="square" lIns="139447" tIns="139447" rIns="46611" bIns="114047" rtlCol="0" anchor="t">
            <a:normAutofit/>
          </a:bodyPr>
          <a:lstStyle/>
          <a:p>
            <a:pPr algn="l" indent="0" marL="0">
              <a:lnSpc>
                <a:spcPts val="2100"/>
              </a:lnSpc>
              <a:buNone/>
            </a:pPr>
            <a:r>
              <a:rPr lang="en-US" sz="1500" b="1" dirty="0">
                <a:solidFill>
                  <a:srgbClr val="2F5D7C"/>
                </a:solidFill>
                <a:latin typeface="IBM Plex Sans" pitchFamily="34" charset="0"/>
                <a:ea typeface="IBM Plex Sans" pitchFamily="34" charset="-122"/>
                <a:cs typeface="IBM Plex Sans" pitchFamily="34" charset="-120"/>
              </a:rPr>
              <a:t>Giros de 90°</a:t>
            </a:r>
            <a:endParaRPr lang="en-US" sz="1500" dirty="0"/>
          </a:p>
        </p:txBody>
      </p:sp>
      <p:sp>
        <p:nvSpPr>
          <p:cNvPr id="5" name="Text 3"/>
          <p:cNvSpPr/>
          <p:nvPr/>
        </p:nvSpPr>
        <p:spPr>
          <a:xfrm>
            <a:off x="4380409" y="1880096"/>
            <a:ext cx="3431084" cy="603250"/>
          </a:xfrm>
          <a:prstGeom prst="roundRect">
            <a:avLst>
              <a:gd name="adj" fmla="val 16316"/>
            </a:avLst>
          </a:prstGeom>
          <a:solidFill>
            <a:srgbClr val="FCFBF7"/>
          </a:solidFill>
          <a:ln w="6350">
            <a:solidFill>
              <a:srgbClr val="DDD8CC"/>
            </a:solidFill>
            <a:prstDash val="solid"/>
          </a:ln>
        </p:spPr>
        <p:txBody>
          <a:bodyPr wrap="square" lIns="139447" tIns="139447" rIns="46611" bIns="114047" rtlCol="0" anchor="t">
            <a:normAutofit/>
          </a:bodyPr>
          <a:lstStyle/>
          <a:p>
            <a:pPr algn="l" indent="0" marL="0">
              <a:lnSpc>
                <a:spcPts val="2100"/>
              </a:lnSpc>
              <a:buNone/>
            </a:pPr>
            <a:r>
              <a:rPr lang="en-US" sz="1500" b="1" dirty="0">
                <a:solidFill>
                  <a:srgbClr val="2F5D7C"/>
                </a:solidFill>
                <a:latin typeface="IBM Plex Sans" pitchFamily="34" charset="0"/>
                <a:ea typeface="IBM Plex Sans" pitchFamily="34" charset="-122"/>
                <a:cs typeface="IBM Plex Sans" pitchFamily="34" charset="-120"/>
              </a:rPr>
              <a:t>Volteos</a:t>
            </a:r>
            <a:endParaRPr lang="en-US" sz="1500" dirty="0"/>
          </a:p>
        </p:txBody>
      </p:sp>
      <p:sp>
        <p:nvSpPr>
          <p:cNvPr id="6" name="Text 4"/>
          <p:cNvSpPr/>
          <p:nvPr/>
        </p:nvSpPr>
        <p:spPr>
          <a:xfrm>
            <a:off x="7944842" y="1880096"/>
            <a:ext cx="3431084" cy="603250"/>
          </a:xfrm>
          <a:prstGeom prst="roundRect">
            <a:avLst>
              <a:gd name="adj" fmla="val 16316"/>
            </a:avLst>
          </a:prstGeom>
          <a:solidFill>
            <a:srgbClr val="FCFBF7"/>
          </a:solidFill>
          <a:ln w="6350">
            <a:solidFill>
              <a:srgbClr val="DDD8CC"/>
            </a:solidFill>
            <a:prstDash val="solid"/>
          </a:ln>
        </p:spPr>
        <p:txBody>
          <a:bodyPr wrap="square" lIns="139447" tIns="139447" rIns="46611" bIns="114047" rtlCol="0" anchor="t">
            <a:normAutofit/>
          </a:bodyPr>
          <a:lstStyle/>
          <a:p>
            <a:pPr algn="l" indent="0" marL="0">
              <a:lnSpc>
                <a:spcPts val="2100"/>
              </a:lnSpc>
              <a:buNone/>
            </a:pPr>
            <a:r>
              <a:rPr lang="en-US" sz="1500" b="1" dirty="0">
                <a:solidFill>
                  <a:srgbClr val="2F5D7C"/>
                </a:solidFill>
                <a:latin typeface="IBM Plex Sans" pitchFamily="34" charset="0"/>
                <a:ea typeface="IBM Plex Sans" pitchFamily="34" charset="-122"/>
                <a:cs typeface="IBM Plex Sans" pitchFamily="34" charset="-120"/>
              </a:rPr>
              <a:t>Acercar o alejar, de 80 % a 125 %</a:t>
            </a:r>
            <a:endParaRPr lang="en-US" sz="1500" dirty="0"/>
          </a:p>
        </p:txBody>
      </p:sp>
      <p:sp>
        <p:nvSpPr>
          <p:cNvPr id="7" name="Text 5"/>
          <p:cNvSpPr/>
          <p:nvPr/>
        </p:nvSpPr>
        <p:spPr>
          <a:xfrm>
            <a:off x="815975" y="2616696"/>
            <a:ext cx="3431084" cy="603250"/>
          </a:xfrm>
          <a:prstGeom prst="roundRect">
            <a:avLst>
              <a:gd name="adj" fmla="val 16316"/>
            </a:avLst>
          </a:prstGeom>
          <a:solidFill>
            <a:srgbClr val="FCFBF7"/>
          </a:solidFill>
          <a:ln w="6350">
            <a:solidFill>
              <a:srgbClr val="DDD8CC"/>
            </a:solidFill>
            <a:prstDash val="solid"/>
          </a:ln>
        </p:spPr>
        <p:txBody>
          <a:bodyPr wrap="square" lIns="139447" tIns="139447" rIns="46611" bIns="114047" rtlCol="0" anchor="t">
            <a:normAutofit/>
          </a:bodyPr>
          <a:lstStyle/>
          <a:p>
            <a:pPr algn="l" indent="0" marL="0">
              <a:lnSpc>
                <a:spcPts val="2100"/>
              </a:lnSpc>
              <a:buNone/>
            </a:pPr>
            <a:r>
              <a:rPr lang="en-US" sz="1500" b="1" dirty="0">
                <a:solidFill>
                  <a:srgbClr val="2F5D7C"/>
                </a:solidFill>
                <a:latin typeface="IBM Plex Sans" pitchFamily="34" charset="0"/>
                <a:ea typeface="IBM Plex Sans" pitchFamily="34" charset="-122"/>
                <a:cs typeface="IBM Plex Sans" pitchFamily="34" charset="-120"/>
              </a:rPr>
              <a:t>Más o menos brillo</a:t>
            </a:r>
            <a:endParaRPr lang="en-US" sz="1500" dirty="0"/>
          </a:p>
        </p:txBody>
      </p:sp>
      <p:sp>
        <p:nvSpPr>
          <p:cNvPr id="8" name="Text 6"/>
          <p:cNvSpPr/>
          <p:nvPr/>
        </p:nvSpPr>
        <p:spPr>
          <a:xfrm>
            <a:off x="4380409" y="2616696"/>
            <a:ext cx="3431084" cy="603250"/>
          </a:xfrm>
          <a:prstGeom prst="roundRect">
            <a:avLst>
              <a:gd name="adj" fmla="val 16316"/>
            </a:avLst>
          </a:prstGeom>
          <a:solidFill>
            <a:srgbClr val="FCFBF7"/>
          </a:solidFill>
          <a:ln w="6350">
            <a:solidFill>
              <a:srgbClr val="DDD8CC"/>
            </a:solidFill>
            <a:prstDash val="solid"/>
          </a:ln>
        </p:spPr>
        <p:txBody>
          <a:bodyPr wrap="square" lIns="139447" tIns="139447" rIns="46611" bIns="114047" rtlCol="0" anchor="t">
            <a:normAutofit/>
          </a:bodyPr>
          <a:lstStyle/>
          <a:p>
            <a:pPr algn="l" indent="0" marL="0">
              <a:lnSpc>
                <a:spcPts val="2100"/>
              </a:lnSpc>
              <a:buNone/>
            </a:pPr>
            <a:r>
              <a:rPr lang="en-US" sz="1500" b="1" dirty="0">
                <a:solidFill>
                  <a:srgbClr val="2F5D7C"/>
                </a:solidFill>
                <a:latin typeface="IBM Plex Sans" pitchFamily="34" charset="0"/>
                <a:ea typeface="IBM Plex Sans" pitchFamily="34" charset="-122"/>
                <a:cs typeface="IBM Plex Sans" pitchFamily="34" charset="-120"/>
              </a:rPr>
              <a:t>Más o menos contraste</a:t>
            </a:r>
            <a:endParaRPr lang="en-US" sz="1500" dirty="0"/>
          </a:p>
        </p:txBody>
      </p:sp>
      <p:sp>
        <p:nvSpPr>
          <p:cNvPr id="9" name="Text 7"/>
          <p:cNvSpPr/>
          <p:nvPr/>
        </p:nvSpPr>
        <p:spPr>
          <a:xfrm>
            <a:off x="7944842" y="2616696"/>
            <a:ext cx="3431084" cy="603250"/>
          </a:xfrm>
          <a:prstGeom prst="roundRect">
            <a:avLst>
              <a:gd name="adj" fmla="val 16316"/>
            </a:avLst>
          </a:prstGeom>
          <a:solidFill>
            <a:srgbClr val="FCFBF7"/>
          </a:solidFill>
          <a:ln w="6350">
            <a:solidFill>
              <a:srgbClr val="DDD8CC"/>
            </a:solidFill>
            <a:prstDash val="solid"/>
          </a:ln>
        </p:spPr>
        <p:txBody>
          <a:bodyPr wrap="square" lIns="139447" tIns="139447" rIns="46611" bIns="114047" rtlCol="0" anchor="t">
            <a:normAutofit/>
          </a:bodyPr>
          <a:lstStyle/>
          <a:p>
            <a:pPr algn="l" indent="0" marL="0">
              <a:lnSpc>
                <a:spcPts val="2100"/>
              </a:lnSpc>
              <a:buNone/>
            </a:pPr>
            <a:r>
              <a:rPr lang="en-US" sz="1500" b="1" dirty="0">
                <a:solidFill>
                  <a:srgbClr val="2F5D7C"/>
                </a:solidFill>
                <a:latin typeface="IBM Plex Sans" pitchFamily="34" charset="0"/>
                <a:ea typeface="IBM Plex Sans" pitchFamily="34" charset="-122"/>
                <a:cs typeface="IBM Plex Sans" pitchFamily="34" charset="-120"/>
              </a:rPr>
              <a:t>Un poco de ruido</a:t>
            </a:r>
            <a:endParaRPr lang="en-US" sz="1500" dirty="0"/>
          </a:p>
        </p:txBody>
      </p:sp>
      <p:sp>
        <p:nvSpPr>
          <p:cNvPr id="10" name="Text 8"/>
          <p:cNvSpPr/>
          <p:nvPr/>
        </p:nvSpPr>
        <p:spPr>
          <a:xfrm>
            <a:off x="812800" y="3477121"/>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Un espermatozoide girado, algo más grande o en una imagen más oscura sigue siendo un espermatozoide. El modelo aprende lo que no cambia.</a:t>
            </a:r>
            <a:endParaRPr lang="en-US" sz="1500" dirty="0"/>
          </a:p>
        </p:txBody>
      </p:sp>
      <p:sp>
        <p:nvSpPr>
          <p:cNvPr id="11" name="Text 9"/>
          <p:cNvSpPr/>
          <p:nvPr/>
        </p:nvSpPr>
        <p:spPr>
          <a:xfrm>
            <a:off x="812800" y="409942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La red ve un solo canal de brillo: el valor más alto de rojo, verde y azul en cada píxel. El sitio hace la misma preparación.</a:t>
            </a:r>
            <a:endParaRPr lang="en-US" sz="1500" dirty="0"/>
          </a:p>
        </p:txBody>
      </p:sp>
      <p:sp>
        <p:nvSpPr>
          <p:cNvPr id="12" name="Text 10"/>
          <p:cNvSpPr/>
          <p:nvPr/>
        </p:nvSpPr>
        <p:spPr>
          <a:xfrm>
            <a:off x="812800" y="445502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Límite: el aumento varía las imágenes que existen, pero no inventa situaciones nuevas.</a:t>
            </a:r>
            <a:endParaRPr lang="en-US" sz="14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DE LA RED A LA MEDICIÓN</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La red no produce medidas, produce formas</a:t>
            </a:r>
            <a:endParaRPr lang="en-US" sz="3600" dirty="0"/>
          </a:p>
        </p:txBody>
      </p:sp>
      <p:sp>
        <p:nvSpPr>
          <p:cNvPr id="4" name="Text 2"/>
          <p:cNvSpPr/>
          <p:nvPr/>
        </p:nvSpPr>
        <p:spPr>
          <a:xfrm>
            <a:off x="815975" y="2036266"/>
            <a:ext cx="1528167" cy="559991"/>
          </a:xfrm>
          <a:custGeom>
            <a:avLst/>
            <a:gdLst/>
            <a:ahLst/>
            <a:cxnLst/>
            <a:rect l="l" t="t" r="r" b="b"/>
            <a:pathLst>
              <a:path w="1528167" h="559991">
                <a:moveTo>
                  <a:pt x="73025" y="0"/>
                </a:moveTo>
                <a:lnTo>
                  <a:pt x="1455142" y="0"/>
                </a:lnTo>
                <a:arcTo hR="73025" wR="73025" stAng="16200000" swAng="5400000"/>
                <a:lnTo>
                  <a:pt x="1528167" y="486966"/>
                </a:lnTo>
                <a:arcTo hR="73025" wR="73025" stAng="0" swAng="5400000"/>
                <a:lnTo>
                  <a:pt x="73025" y="559991"/>
                </a:lnTo>
                <a:arcTo hR="73025" wR="73025" stAng="5400000" swAng="5400000"/>
                <a:lnTo>
                  <a:pt x="0" y="73025"/>
                </a:lnTo>
                <a:arcTo hR="73025" wR="73025" stAng="10800000" swAng="5400000"/>
                <a:close/>
              </a:path>
            </a:pathLst>
          </a:custGeom>
          <a:solidFill>
            <a:srgbClr val="FCFBF7"/>
          </a:solidFill>
          <a:ln w="6350">
            <a:solidFill>
              <a:srgbClr val="DDD8CC"/>
            </a:solidFill>
            <a:prstDash val="solid"/>
          </a:ln>
        </p:spPr>
        <p:txBody>
          <a:bodyPr wrap="square" lIns="41275" tIns="155575" rIns="41275" bIns="130175" rtlCol="0" anchor="t">
            <a:normAutofit/>
          </a:bodyPr>
          <a:lstStyle/>
          <a:p>
            <a:pPr algn="ctr"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Imagen</a:t>
            </a:r>
            <a:endParaRPr lang="en-US" sz="1400" dirty="0"/>
          </a:p>
        </p:txBody>
      </p:sp>
      <p:pic>
        <p:nvPicPr>
          <p:cNvPr id="5" name="Image 0" descr="arrow-right">    </p:cNvPr>
          <p:cNvPicPr>
            <a:picLocks noChangeAspect="1"/>
          </p:cNvPicPr>
          <p:nvPr/>
        </p:nvPicPr>
        <p:blipFill>
          <a:blip r:embed="rId1"/>
          <a:srcRect l="0" r="0" t="0" b="0"/>
          <a:stretch/>
        </p:blipFill>
        <p:spPr>
          <a:xfrm>
            <a:off x="2423517" y="2227362"/>
            <a:ext cx="254000" cy="177800"/>
          </a:xfrm>
          <a:prstGeom prst="rect">
            <a:avLst/>
          </a:prstGeom>
        </p:spPr>
      </p:pic>
      <p:sp>
        <p:nvSpPr>
          <p:cNvPr id="6" name="Text 3"/>
          <p:cNvSpPr/>
          <p:nvPr/>
        </p:nvSpPr>
        <p:spPr>
          <a:xfrm>
            <a:off x="2753717" y="1915021"/>
            <a:ext cx="1940322" cy="802481"/>
          </a:xfrm>
          <a:custGeom>
            <a:avLst/>
            <a:gdLst/>
            <a:ahLst/>
            <a:cxnLst/>
            <a:rect l="l" t="t" r="r" b="b"/>
            <a:pathLst>
              <a:path w="1940322" h="802481">
                <a:moveTo>
                  <a:pt x="76200" y="0"/>
                </a:moveTo>
                <a:lnTo>
                  <a:pt x="1864122" y="0"/>
                </a:lnTo>
                <a:arcTo hR="76200" wR="76200" stAng="16200000" swAng="5400000"/>
                <a:lnTo>
                  <a:pt x="1940322" y="726281"/>
                </a:lnTo>
                <a:arcTo hR="76200" wR="76200" stAng="0" swAng="5400000"/>
                <a:lnTo>
                  <a:pt x="76200" y="802481"/>
                </a:lnTo>
                <a:arcTo hR="76200" wR="76200" stAng="5400000" swAng="5400000"/>
                <a:lnTo>
                  <a:pt x="0" y="76200"/>
                </a:lnTo>
                <a:arcTo hR="76200" wR="76200" stAng="10800000" swAng="5400000"/>
                <a:close/>
              </a:path>
            </a:pathLst>
          </a:custGeom>
          <a:solidFill>
            <a:srgbClr val="2F5D7C"/>
          </a:solidFill>
          <a:ln/>
        </p:spPr>
        <p:txBody>
          <a:bodyPr wrap="square" lIns="36300" tIns="152400" rIns="36300" bIns="127000" rtlCol="0" anchor="t">
            <a:normAutofit/>
          </a:bodyPr>
          <a:lstStyle/>
          <a:p>
            <a:pPr algn="ct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Red neuronal</a:t>
            </a:r>
            <a:endParaRPr lang="en-US" sz="1400" dirty="0"/>
          </a:p>
          <a:p>
            <a:pPr algn="ct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contornos</a:t>
            </a:r>
            <a:endParaRPr lang="en-US" sz="1400" dirty="0"/>
          </a:p>
        </p:txBody>
      </p:sp>
      <p:pic>
        <p:nvPicPr>
          <p:cNvPr id="7" name="Image 1" descr="arrow-right">    </p:cNvPr>
          <p:cNvPicPr>
            <a:picLocks noChangeAspect="1"/>
          </p:cNvPicPr>
          <p:nvPr/>
        </p:nvPicPr>
        <p:blipFill>
          <a:blip r:embed="rId2"/>
          <a:srcRect l="0" r="0" t="0" b="0"/>
          <a:stretch/>
        </p:blipFill>
        <p:spPr>
          <a:xfrm>
            <a:off x="4770239" y="2227362"/>
            <a:ext cx="254000" cy="177800"/>
          </a:xfrm>
          <a:prstGeom prst="rect">
            <a:avLst/>
          </a:prstGeom>
        </p:spPr>
      </p:pic>
      <p:sp>
        <p:nvSpPr>
          <p:cNvPr id="8" name="Text 4"/>
          <p:cNvSpPr/>
          <p:nvPr/>
        </p:nvSpPr>
        <p:spPr>
          <a:xfrm>
            <a:off x="5106789" y="1908671"/>
            <a:ext cx="1953022" cy="815181"/>
          </a:xfrm>
          <a:custGeom>
            <a:avLst/>
            <a:gdLst/>
            <a:ahLst/>
            <a:cxnLst/>
            <a:rect l="l" t="t" r="r" b="b"/>
            <a:pathLst>
              <a:path w="1953022" h="815181">
                <a:moveTo>
                  <a:pt x="69850" y="0"/>
                </a:moveTo>
                <a:lnTo>
                  <a:pt x="1883172" y="0"/>
                </a:lnTo>
                <a:arcTo hR="69850" wR="69850" stAng="16200000" swAng="5400000"/>
                <a:lnTo>
                  <a:pt x="1953022" y="745331"/>
                </a:lnTo>
                <a:arcTo hR="69850" wR="69850" stAng="0" swAng="5400000"/>
                <a:lnTo>
                  <a:pt x="69850" y="815181"/>
                </a:lnTo>
                <a:arcTo hR="69850" wR="69850" stAng="5400000" swAng="5400000"/>
                <a:lnTo>
                  <a:pt x="0" y="69850"/>
                </a:lnTo>
                <a:arcTo hR="69850" wR="69850" stAng="10800000" swAng="5400000"/>
                <a:close/>
              </a:path>
            </a:pathLst>
          </a:custGeom>
          <a:solidFill>
            <a:srgbClr val="FCFBF7"/>
          </a:solidFill>
          <a:ln w="12700">
            <a:solidFill>
              <a:srgbClr val="A8201A"/>
            </a:solidFill>
            <a:prstDash val="solid"/>
          </a:ln>
        </p:spPr>
        <p:txBody>
          <a:bodyPr wrap="square" lIns="42650" tIns="158750" rIns="42650" bIns="133350" rtlCol="0" anchor="t">
            <a:normAutofit/>
          </a:bodyPr>
          <a:lstStyle/>
          <a:p>
            <a:pPr algn="ctr"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Código</a:t>
            </a:r>
            <a:endParaRPr lang="en-US" sz="1400" dirty="0"/>
          </a:p>
          <a:p>
            <a:pPr algn="ctr"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área y largo</a:t>
            </a:r>
            <a:endParaRPr lang="en-US" sz="1400" dirty="0"/>
          </a:p>
        </p:txBody>
      </p:sp>
      <p:pic>
        <p:nvPicPr>
          <p:cNvPr id="9" name="Image 2" descr="arrow-right">    </p:cNvPr>
          <p:cNvPicPr>
            <a:picLocks noChangeAspect="1"/>
          </p:cNvPicPr>
          <p:nvPr/>
        </p:nvPicPr>
        <p:blipFill>
          <a:blip r:embed="rId3"/>
          <a:srcRect l="0" r="0" t="0" b="0"/>
          <a:stretch/>
        </p:blipFill>
        <p:spPr>
          <a:xfrm>
            <a:off x="7142361" y="2227362"/>
            <a:ext cx="254000" cy="177800"/>
          </a:xfrm>
          <a:prstGeom prst="rect">
            <a:avLst/>
          </a:prstGeom>
        </p:spPr>
      </p:pic>
      <p:sp>
        <p:nvSpPr>
          <p:cNvPr id="10" name="Text 5"/>
          <p:cNvSpPr/>
          <p:nvPr/>
        </p:nvSpPr>
        <p:spPr>
          <a:xfrm>
            <a:off x="7478911" y="1908671"/>
            <a:ext cx="1953022" cy="815181"/>
          </a:xfrm>
          <a:custGeom>
            <a:avLst/>
            <a:gdLst/>
            <a:ahLst/>
            <a:cxnLst/>
            <a:rect l="l" t="t" r="r" b="b"/>
            <a:pathLst>
              <a:path w="1953022" h="815181">
                <a:moveTo>
                  <a:pt x="69850" y="0"/>
                </a:moveTo>
                <a:lnTo>
                  <a:pt x="1883172" y="0"/>
                </a:lnTo>
                <a:arcTo hR="69850" wR="69850" stAng="16200000" swAng="5400000"/>
                <a:lnTo>
                  <a:pt x="1953022" y="745331"/>
                </a:lnTo>
                <a:arcTo hR="69850" wR="69850" stAng="0" swAng="5400000"/>
                <a:lnTo>
                  <a:pt x="69850" y="815181"/>
                </a:lnTo>
                <a:arcTo hR="69850" wR="69850" stAng="5400000" swAng="5400000"/>
                <a:lnTo>
                  <a:pt x="0" y="69850"/>
                </a:lnTo>
                <a:arcTo hR="69850" wR="69850" stAng="10800000" swAng="5400000"/>
                <a:close/>
              </a:path>
            </a:pathLst>
          </a:custGeom>
          <a:solidFill>
            <a:srgbClr val="FCFBF7"/>
          </a:solidFill>
          <a:ln w="12700">
            <a:solidFill>
              <a:srgbClr val="A8201A"/>
            </a:solidFill>
            <a:prstDash val="solid"/>
          </a:ln>
        </p:spPr>
        <p:txBody>
          <a:bodyPr wrap="square" lIns="42650" tIns="158750" rIns="42650" bIns="133350" rtlCol="0" anchor="t">
            <a:normAutofit/>
          </a:bodyPr>
          <a:lstStyle/>
          <a:p>
            <a:pPr algn="ctr"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Estadística</a:t>
            </a:r>
            <a:endParaRPr lang="en-US" sz="1400" dirty="0"/>
          </a:p>
          <a:p>
            <a:pPr algn="ctr"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media, histograma</a:t>
            </a:r>
            <a:endParaRPr lang="en-US" sz="1400" dirty="0"/>
          </a:p>
        </p:txBody>
      </p:sp>
      <p:pic>
        <p:nvPicPr>
          <p:cNvPr id="11" name="Image 3" descr="arrow-right">    </p:cNvPr>
          <p:cNvPicPr>
            <a:picLocks noChangeAspect="1"/>
          </p:cNvPicPr>
          <p:nvPr/>
        </p:nvPicPr>
        <p:blipFill>
          <a:blip r:embed="rId4"/>
          <a:srcRect l="0" r="0" t="0" b="0"/>
          <a:stretch/>
        </p:blipFill>
        <p:spPr>
          <a:xfrm>
            <a:off x="9514483" y="2227362"/>
            <a:ext cx="254000" cy="177800"/>
          </a:xfrm>
          <a:prstGeom prst="rect">
            <a:avLst/>
          </a:prstGeom>
        </p:spPr>
      </p:pic>
      <p:sp>
        <p:nvSpPr>
          <p:cNvPr id="12" name="Text 6"/>
          <p:cNvSpPr/>
          <p:nvPr/>
        </p:nvSpPr>
        <p:spPr>
          <a:xfrm>
            <a:off x="9847858" y="2036266"/>
            <a:ext cx="1528167" cy="559991"/>
          </a:xfrm>
          <a:custGeom>
            <a:avLst/>
            <a:gdLst/>
            <a:ahLst/>
            <a:cxnLst/>
            <a:rect l="l" t="t" r="r" b="b"/>
            <a:pathLst>
              <a:path w="1528167" h="559991">
                <a:moveTo>
                  <a:pt x="73025" y="0"/>
                </a:moveTo>
                <a:lnTo>
                  <a:pt x="1455142" y="0"/>
                </a:lnTo>
                <a:arcTo hR="73025" wR="73025" stAng="16200000" swAng="5400000"/>
                <a:lnTo>
                  <a:pt x="1528167" y="486966"/>
                </a:lnTo>
                <a:arcTo hR="73025" wR="73025" stAng="0" swAng="5400000"/>
                <a:lnTo>
                  <a:pt x="73025" y="559991"/>
                </a:lnTo>
                <a:arcTo hR="73025" wR="73025" stAng="5400000" swAng="5400000"/>
                <a:lnTo>
                  <a:pt x="0" y="73025"/>
                </a:lnTo>
                <a:arcTo hR="73025" wR="73025" stAng="10800000" swAng="5400000"/>
                <a:close/>
              </a:path>
            </a:pathLst>
          </a:custGeom>
          <a:solidFill>
            <a:srgbClr val="FCFBF7"/>
          </a:solidFill>
          <a:ln w="6350">
            <a:solidFill>
              <a:srgbClr val="DDD8CC"/>
            </a:solidFill>
            <a:prstDash val="solid"/>
          </a:ln>
        </p:spPr>
        <p:txBody>
          <a:bodyPr wrap="square" lIns="41275" tIns="155575" rIns="41275" bIns="130175" rtlCol="0" anchor="t">
            <a:normAutofit/>
          </a:bodyPr>
          <a:lstStyle/>
          <a:p>
            <a:pPr algn="ctr"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CSV y PDF</a:t>
            </a:r>
            <a:endParaRPr lang="en-US" sz="1400" dirty="0"/>
          </a:p>
        </p:txBody>
      </p:sp>
      <p:sp>
        <p:nvSpPr>
          <p:cNvPr id="13" name="Shape 7"/>
          <p:cNvSpPr/>
          <p:nvPr/>
        </p:nvSpPr>
        <p:spPr>
          <a:xfrm>
            <a:off x="815975" y="3012777"/>
            <a:ext cx="3431084" cy="1362472"/>
          </a:xfrm>
          <a:prstGeom prst="roundRect">
            <a:avLst>
              <a:gd name="adj" fmla="val 7224"/>
            </a:avLst>
          </a:prstGeom>
          <a:solidFill>
            <a:srgbClr val="FCFBF7"/>
          </a:solidFill>
          <a:ln w="6350">
            <a:solidFill>
              <a:srgbClr val="DDD8CC"/>
            </a:solidFill>
            <a:prstDash val="solid"/>
          </a:ln>
        </p:spPr>
      </p:sp>
      <p:sp>
        <p:nvSpPr>
          <p:cNvPr id="14" name="Text 8"/>
          <p:cNvSpPr/>
          <p:nvPr/>
        </p:nvSpPr>
        <p:spPr>
          <a:xfrm>
            <a:off x="996950" y="3193752"/>
            <a:ext cx="31612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5D7C"/>
                </a:solidFill>
                <a:latin typeface="IBM Plex Sans" pitchFamily="34" charset="0"/>
                <a:ea typeface="IBM Plex Sans" pitchFamily="34" charset="-122"/>
                <a:cs typeface="IBM Plex Sans" pitchFamily="34" charset="-120"/>
              </a:rPr>
              <a:t>Verificabilidad</a:t>
            </a:r>
            <a:endParaRPr lang="en-US" sz="1600" dirty="0"/>
          </a:p>
        </p:txBody>
      </p:sp>
      <p:sp>
        <p:nvSpPr>
          <p:cNvPr id="15" name="Text 9"/>
          <p:cNvSpPr/>
          <p:nvPr/>
        </p:nvSpPr>
        <p:spPr>
          <a:xfrm>
            <a:off x="996950" y="3501033"/>
            <a:ext cx="31612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La incertidumbre queda en el contorno, que se revisa a simple vista.</a:t>
            </a:r>
            <a:endParaRPr lang="en-US" sz="1300" dirty="0"/>
          </a:p>
        </p:txBody>
      </p:sp>
      <p:sp>
        <p:nvSpPr>
          <p:cNvPr id="16" name="Shape 10"/>
          <p:cNvSpPr/>
          <p:nvPr/>
        </p:nvSpPr>
        <p:spPr>
          <a:xfrm>
            <a:off x="4380409" y="3012777"/>
            <a:ext cx="3431183" cy="1362472"/>
          </a:xfrm>
          <a:prstGeom prst="roundRect">
            <a:avLst>
              <a:gd name="adj" fmla="val 7224"/>
            </a:avLst>
          </a:prstGeom>
          <a:solidFill>
            <a:srgbClr val="FCFBF7"/>
          </a:solidFill>
          <a:ln w="6350">
            <a:solidFill>
              <a:srgbClr val="DDD8CC"/>
            </a:solidFill>
            <a:prstDash val="solid"/>
          </a:ln>
        </p:spPr>
      </p:sp>
      <p:sp>
        <p:nvSpPr>
          <p:cNvPr id="17" name="Text 11"/>
          <p:cNvSpPr/>
          <p:nvPr/>
        </p:nvSpPr>
        <p:spPr>
          <a:xfrm>
            <a:off x="4561384" y="3193752"/>
            <a:ext cx="31613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5D7C"/>
                </a:solidFill>
                <a:latin typeface="IBM Plex Sans" pitchFamily="34" charset="0"/>
                <a:ea typeface="IBM Plex Sans" pitchFamily="34" charset="-122"/>
                <a:cs typeface="IBM Plex Sans" pitchFamily="34" charset="-120"/>
              </a:rPr>
              <a:t>Flexibilidad</a:t>
            </a:r>
            <a:endParaRPr lang="en-US" sz="1600" dirty="0"/>
          </a:p>
        </p:txBody>
      </p:sp>
      <p:sp>
        <p:nvSpPr>
          <p:cNvPr id="18" name="Text 12"/>
          <p:cNvSpPr/>
          <p:nvPr/>
        </p:nvSpPr>
        <p:spPr>
          <a:xfrm>
            <a:off x="4561384" y="3501033"/>
            <a:ext cx="316131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Cambiar una medida no obliga a reentrenar, y mejorar la red no cambia la medición.</a:t>
            </a:r>
            <a:endParaRPr lang="en-US" sz="1300" dirty="0"/>
          </a:p>
        </p:txBody>
      </p:sp>
      <p:sp>
        <p:nvSpPr>
          <p:cNvPr id="19" name="Shape 13"/>
          <p:cNvSpPr/>
          <p:nvPr/>
        </p:nvSpPr>
        <p:spPr>
          <a:xfrm>
            <a:off x="7944941" y="3012777"/>
            <a:ext cx="3431084" cy="1362472"/>
          </a:xfrm>
          <a:prstGeom prst="roundRect">
            <a:avLst>
              <a:gd name="adj" fmla="val 7224"/>
            </a:avLst>
          </a:prstGeom>
          <a:solidFill>
            <a:srgbClr val="FCFBF7"/>
          </a:solidFill>
          <a:ln w="6350">
            <a:solidFill>
              <a:srgbClr val="DDD8CC"/>
            </a:solidFill>
            <a:prstDash val="solid"/>
          </a:ln>
        </p:spPr>
      </p:sp>
      <p:sp>
        <p:nvSpPr>
          <p:cNvPr id="20" name="Text 14"/>
          <p:cNvSpPr/>
          <p:nvPr/>
        </p:nvSpPr>
        <p:spPr>
          <a:xfrm>
            <a:off x="8125916" y="3193752"/>
            <a:ext cx="31612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5D7C"/>
                </a:solidFill>
                <a:latin typeface="IBM Plex Sans" pitchFamily="34" charset="0"/>
                <a:ea typeface="IBM Plex Sans" pitchFamily="34" charset="-122"/>
                <a:cs typeface="IBM Plex Sans" pitchFamily="34" charset="-120"/>
              </a:rPr>
              <a:t>Pocos datos</a:t>
            </a:r>
            <a:endParaRPr lang="en-US" sz="1600" dirty="0"/>
          </a:p>
        </p:txBody>
      </p:sp>
      <p:sp>
        <p:nvSpPr>
          <p:cNvPr id="21" name="Text 15"/>
          <p:cNvSpPr/>
          <p:nvPr/>
        </p:nvSpPr>
        <p:spPr>
          <a:xfrm>
            <a:off x="8125916" y="3501033"/>
            <a:ext cx="31612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Es más fácil enseñar bien una sola cosa: dónde está el espermatozoide.</a:t>
            </a:r>
            <a:endParaRPr lang="en-US" sz="1300" dirty="0"/>
          </a:p>
        </p:txBody>
      </p:sp>
      <p:sp>
        <p:nvSpPr>
          <p:cNvPr id="22"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EXPECTATIVAS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Un modelo entrenado con pocos ejemplos</a:t>
            </a:r>
            <a:endParaRPr lang="en-US" sz="3600" dirty="0"/>
          </a:p>
        </p:txBody>
      </p:sp>
      <p:sp>
        <p:nvSpPr>
          <p:cNvPr id="4" name="Shape 2"/>
          <p:cNvSpPr/>
          <p:nvPr/>
        </p:nvSpPr>
        <p:spPr>
          <a:xfrm>
            <a:off x="815975" y="1880096"/>
            <a:ext cx="4765377" cy="2309813"/>
          </a:xfrm>
          <a:prstGeom prst="roundRect">
            <a:avLst>
              <a:gd name="adj" fmla="val 4261"/>
            </a:avLst>
          </a:prstGeom>
          <a:solidFill>
            <a:srgbClr val="FCFBF7"/>
          </a:solidFill>
          <a:ln w="6350">
            <a:solidFill>
              <a:srgbClr val="DDD8CC"/>
            </a:solidFill>
            <a:prstDash val="solid"/>
          </a:ln>
        </p:spPr>
      </p:sp>
      <p:sp>
        <p:nvSpPr>
          <p:cNvPr id="5" name="Text 3"/>
          <p:cNvSpPr/>
          <p:nvPr/>
        </p:nvSpPr>
        <p:spPr>
          <a:xfrm>
            <a:off x="1022350" y="2086471"/>
            <a:ext cx="448320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Qué hace bien</a:t>
            </a:r>
            <a:endParaRPr lang="en-US" sz="1800" dirty="0"/>
          </a:p>
        </p:txBody>
      </p:sp>
      <p:sp>
        <p:nvSpPr>
          <p:cNvPr id="6" name="Text 4"/>
          <p:cNvSpPr/>
          <p:nvPr/>
        </p:nvSpPr>
        <p:spPr>
          <a:xfrm>
            <a:off x="1022350" y="2449612"/>
            <a:ext cx="448320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En imágenes parecidas a las de su entrenamiento localiza la mayoría y traza contornos razonables.</a:t>
            </a:r>
            <a:endParaRPr lang="en-US" sz="1400" dirty="0"/>
          </a:p>
        </p:txBody>
      </p:sp>
      <p:sp>
        <p:nvSpPr>
          <p:cNvPr id="7" name="Text 5"/>
          <p:cNvSpPr/>
          <p:nvPr/>
        </p:nvSpPr>
        <p:spPr>
          <a:xfrm>
            <a:off x="1022350" y="3036193"/>
            <a:ext cx="4483206"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6B"/>
                </a:solidFill>
                <a:latin typeface="IBM Plex Sans" pitchFamily="34" charset="0"/>
                <a:ea typeface="IBM Plex Sans" pitchFamily="34" charset="-122"/>
                <a:cs typeface="IBM Plex Sans" pitchFamily="34" charset="-120"/>
              </a:rPr>
              <a:t>El sitio dio los mismos conteos que el cuaderno en cinco fotos de prueba: 114, 9, 2, 1 y 43. Es una comprobación de integración, no de calidad científica.</a:t>
            </a:r>
            <a:endParaRPr lang="en-US" sz="1300" dirty="0"/>
          </a:p>
        </p:txBody>
      </p:sp>
      <p:sp>
        <p:nvSpPr>
          <p:cNvPr id="8" name="Shape 6"/>
          <p:cNvSpPr/>
          <p:nvPr/>
        </p:nvSpPr>
        <p:spPr>
          <a:xfrm>
            <a:off x="5740102" y="1880096"/>
            <a:ext cx="5635923" cy="2309813"/>
          </a:xfrm>
          <a:prstGeom prst="roundRect">
            <a:avLst>
              <a:gd name="adj" fmla="val 4261"/>
            </a:avLst>
          </a:prstGeom>
          <a:solidFill>
            <a:srgbClr val="FCFBF7"/>
          </a:solidFill>
          <a:ln w="6350">
            <a:solidFill>
              <a:srgbClr val="DDD8CC"/>
            </a:solidFill>
            <a:prstDash val="solid"/>
          </a:ln>
        </p:spPr>
      </p:sp>
      <p:sp>
        <p:nvSpPr>
          <p:cNvPr id="9" name="Text 7"/>
          <p:cNvSpPr/>
          <p:nvPr/>
        </p:nvSpPr>
        <p:spPr>
          <a:xfrm>
            <a:off x="5946477" y="2086471"/>
            <a:ext cx="537986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A8201A"/>
                </a:solidFill>
                <a:latin typeface="IBM Plex Sans" pitchFamily="34" charset="0"/>
                <a:ea typeface="IBM Plex Sans" pitchFamily="34" charset="-122"/>
                <a:cs typeface="IBM Plex Sans" pitchFamily="34" charset="-120"/>
              </a:rPr>
              <a:t>Retos</a:t>
            </a:r>
            <a:endParaRPr lang="en-US" sz="1800" dirty="0"/>
          </a:p>
        </p:txBody>
      </p:sp>
      <p:sp>
        <p:nvSpPr>
          <p:cNvPr id="10" name="Text 8"/>
          <p:cNvSpPr/>
          <p:nvPr/>
        </p:nvSpPr>
        <p:spPr>
          <a:xfrm>
            <a:off x="6024709" y="2436912"/>
            <a:ext cx="5294016" cy="1572022"/>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1C2630"/>
                </a:solidFill>
                <a:latin typeface="IBM Plex Sans" pitchFamily="34" charset="0"/>
                <a:ea typeface="IBM Plex Sans" pitchFamily="34" charset="-122"/>
                <a:cs typeface="IBM Plex Sans" pitchFamily="34" charset="-120"/>
              </a:rPr>
              <a:t>Aglomeración: unos 85 de cada 100 en las zonas más amontonadas</a:t>
            </a:r>
            <a:endParaRPr lang="en-US" sz="1400" dirty="0"/>
          </a:p>
          <a:p>
            <a:pPr algn="l" marL="175768" indent="-175768">
              <a:lnSpc>
                <a:spcPts val="2030"/>
              </a:lnSpc>
              <a:buSzPct val="100000"/>
              <a:buChar char="•"/>
            </a:pPr>
            <a:r>
              <a:rPr lang="en-US" sz="1400" dirty="0">
                <a:solidFill>
                  <a:srgbClr val="1C2630"/>
                </a:solidFill>
                <a:latin typeface="IBM Plex Sans" pitchFamily="34" charset="0"/>
                <a:ea typeface="IBM Plex Sans" pitchFamily="34" charset="-122"/>
                <a:cs typeface="IBM Plex Sans" pitchFamily="34" charset="-120"/>
              </a:rPr>
              <a:t>Variedad: solo cuatro fotos de cada tipo</a:t>
            </a:r>
            <a:endParaRPr lang="en-US" sz="1400" dirty="0"/>
          </a:p>
          <a:p>
            <a:pPr algn="l" marL="175768" indent="-175768">
              <a:lnSpc>
                <a:spcPts val="2030"/>
              </a:lnSpc>
              <a:buSzPct val="100000"/>
              <a:buChar char="•"/>
            </a:pPr>
            <a:r>
              <a:rPr lang="en-US" sz="1400" dirty="0">
                <a:solidFill>
                  <a:srgbClr val="1C2630"/>
                </a:solidFill>
                <a:latin typeface="IBM Plex Sans" pitchFamily="34" charset="0"/>
                <a:ea typeface="IBM Plex Sans" pitchFamily="34" charset="-122"/>
                <a:cs typeface="IBM Plex Sans" pitchFamily="34" charset="-120"/>
              </a:rPr>
              <a:t>Lo que no es un espermatozoide: nunca vio ejemplos negativos</a:t>
            </a:r>
            <a:endParaRPr lang="en-US" sz="1400" dirty="0"/>
          </a:p>
          <a:p>
            <a:pPr algn="l" marL="175768" indent="-175768">
              <a:lnSpc>
                <a:spcPts val="2030"/>
              </a:lnSpc>
              <a:buSzPct val="100000"/>
              <a:buChar char="•"/>
            </a:pPr>
            <a:r>
              <a:rPr lang="en-US" sz="1400" dirty="0">
                <a:solidFill>
                  <a:srgbClr val="1C2630"/>
                </a:solidFill>
                <a:latin typeface="IBM Plex Sans" pitchFamily="34" charset="0"/>
                <a:ea typeface="IBM Plex Sans" pitchFamily="34" charset="-122"/>
                <a:cs typeface="IBM Plex Sans" pitchFamily="34" charset="-120"/>
              </a:rPr>
              <a:t>Calibrar la escala y sumar las medidas de cabeza a cola</a:t>
            </a:r>
            <a:endParaRPr lang="en-US" sz="1400" dirty="0"/>
          </a:p>
        </p:txBody>
      </p:sp>
      <p:sp>
        <p:nvSpPr>
          <p:cNvPr id="11" name="Text 9"/>
          <p:cNvSpPr/>
          <p:nvPr/>
        </p:nvSpPr>
        <p:spPr>
          <a:xfrm>
            <a:off x="812800" y="4447084"/>
            <a:ext cx="10566400" cy="502841"/>
          </a:xfrm>
          <a:prstGeom prst="rect">
            <a:avLst/>
          </a:prstGeom>
          <a:solidFill>
            <a:srgbClr val="ECE7DA"/>
          </a:solidFill>
          <a:ln/>
        </p:spPr>
        <p:txBody>
          <a:bodyPr wrap="square" lIns="254000" tIns="127000" rIns="0" bIns="101600" rtlCol="0" anchor="t">
            <a:normAutofit/>
          </a:bodyPr>
          <a:lstStyle/>
          <a:p>
            <a:pPr algn="l"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Qué lo mejora:</a:t>
            </a:r>
            <a:r>
              <a:rPr lang="en-US" sz="1400" dirty="0">
                <a:solidFill>
                  <a:srgbClr val="1C2630"/>
                </a:solidFill>
                <a:latin typeface="IBM Plex Sans" pitchFamily="34" charset="0"/>
                <a:ea typeface="IBM Plex Sans" pitchFamily="34" charset="-122"/>
                <a:cs typeface="IBM Plex Sans" pitchFamily="34" charset="-120"/>
              </a:rPr>
              <a:t> más datos, más variados y mejor etiquetados. La calidad de las anotaciones fija el techo.</a:t>
            </a:r>
            <a:endParaRPr lang="en-US" sz="1400" dirty="0"/>
          </a:p>
        </p:txBody>
      </p:sp>
      <p:sp>
        <p:nvSpPr>
          <p:cNvPr id="12" name="Shape 10"/>
          <p:cNvSpPr/>
          <p:nvPr/>
        </p:nvSpPr>
        <p:spPr>
          <a:xfrm>
            <a:off x="838200" y="4447084"/>
            <a:ext cx="0" cy="502841"/>
          </a:xfrm>
          <a:prstGeom prst="line">
            <a:avLst/>
          </a:prstGeom>
          <a:noFill/>
          <a:ln w="50800">
            <a:solidFill>
              <a:srgbClr val="2F5D7C"/>
            </a:solidFill>
            <a:prstDash val="solid"/>
          </a:ln>
        </p:spPr>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CASO PRÁCTICO</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Una imagen que sale mal</a:t>
            </a:r>
            <a:endParaRPr lang="en-US" sz="3600" dirty="0"/>
          </a:p>
        </p:txBody>
      </p:sp>
      <p:sp>
        <p:nvSpPr>
          <p:cNvPr id="4" name="Shape 2"/>
          <p:cNvSpPr/>
          <p:nvPr/>
        </p:nvSpPr>
        <p:spPr>
          <a:xfrm>
            <a:off x="815975" y="1854696"/>
            <a:ext cx="10560050" cy="600670"/>
          </a:xfrm>
          <a:prstGeom prst="roundRect">
            <a:avLst>
              <a:gd name="adj" fmla="val 16386"/>
            </a:avLst>
          </a:prstGeom>
          <a:solidFill>
            <a:srgbClr val="FCFBF7"/>
          </a:solidFill>
          <a:ln w="6350">
            <a:solidFill>
              <a:srgbClr val="DDD8CC"/>
            </a:solidFill>
            <a:prstDash val="solid"/>
          </a:ln>
        </p:spPr>
      </p:sp>
      <p:sp>
        <p:nvSpPr>
          <p:cNvPr id="5" name="Text 3"/>
          <p:cNvSpPr/>
          <p:nvPr/>
        </p:nvSpPr>
        <p:spPr>
          <a:xfrm>
            <a:off x="1022350" y="1959471"/>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201A"/>
                </a:solidFill>
                <a:latin typeface="Source Serif 4" pitchFamily="18" charset="0"/>
                <a:ea typeface="Source Serif 4" pitchFamily="18" charset="-122"/>
                <a:cs typeface="Source Serif 4" pitchFamily="18" charset="-120"/>
              </a:rPr>
              <a:t>1</a:t>
            </a:r>
            <a:endParaRPr lang="en-US" sz="2200" dirty="0"/>
          </a:p>
        </p:txBody>
      </p:sp>
      <p:sp>
        <p:nvSpPr>
          <p:cNvPr id="6" name="Text 4"/>
          <p:cNvSpPr/>
          <p:nvPr/>
        </p:nvSpPr>
        <p:spPr>
          <a:xfrm>
            <a:off x="1479550" y="2039441"/>
            <a:ext cx="6020038"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C2630"/>
                </a:solidFill>
                <a:latin typeface="IBM Plex Sans" pitchFamily="34" charset="0"/>
                <a:ea typeface="IBM Plex Sans" pitchFamily="34" charset="-122"/>
                <a:cs typeface="IBM Plex Sans" pitchFamily="34" charset="-120"/>
              </a:rPr>
              <a:t>¿Qué tipo de error es?</a:t>
            </a:r>
            <a:r>
              <a:rPr lang="en-US" sz="1400" dirty="0">
                <a:solidFill>
                  <a:srgbClr val="1C2630"/>
                </a:solidFill>
                <a:latin typeface="IBM Plex Sans" pitchFamily="34" charset="0"/>
                <a:ea typeface="IBM Plex Sans" pitchFamily="34" charset="-122"/>
                <a:cs typeface="IBM Plex Sans" pitchFamily="34" charset="-120"/>
              </a:rPr>
              <a:t> Omisión, falso positivo o error de forma.</a:t>
            </a:r>
            <a:endParaRPr lang="en-US" sz="1400" dirty="0"/>
          </a:p>
        </p:txBody>
      </p:sp>
      <p:sp>
        <p:nvSpPr>
          <p:cNvPr id="7" name="Shape 5"/>
          <p:cNvSpPr/>
          <p:nvPr/>
        </p:nvSpPr>
        <p:spPr>
          <a:xfrm>
            <a:off x="815975" y="2550616"/>
            <a:ext cx="10560050" cy="600670"/>
          </a:xfrm>
          <a:prstGeom prst="roundRect">
            <a:avLst>
              <a:gd name="adj" fmla="val 16386"/>
            </a:avLst>
          </a:prstGeom>
          <a:solidFill>
            <a:srgbClr val="FCFBF7"/>
          </a:solidFill>
          <a:ln w="6350">
            <a:solidFill>
              <a:srgbClr val="DDD8CC"/>
            </a:solidFill>
            <a:prstDash val="solid"/>
          </a:ln>
        </p:spPr>
      </p:sp>
      <p:sp>
        <p:nvSpPr>
          <p:cNvPr id="8" name="Text 6"/>
          <p:cNvSpPr/>
          <p:nvPr/>
        </p:nvSpPr>
        <p:spPr>
          <a:xfrm>
            <a:off x="1022350" y="2655391"/>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201A"/>
                </a:solidFill>
                <a:latin typeface="Source Serif 4" pitchFamily="18" charset="0"/>
                <a:ea typeface="Source Serif 4" pitchFamily="18" charset="-122"/>
                <a:cs typeface="Source Serif 4" pitchFamily="18" charset="-120"/>
              </a:rPr>
              <a:t>2</a:t>
            </a:r>
            <a:endParaRPr lang="en-US" sz="2200" dirty="0"/>
          </a:p>
        </p:txBody>
      </p:sp>
      <p:sp>
        <p:nvSpPr>
          <p:cNvPr id="9" name="Text 7"/>
          <p:cNvSpPr/>
          <p:nvPr/>
        </p:nvSpPr>
        <p:spPr>
          <a:xfrm>
            <a:off x="1479550" y="2735362"/>
            <a:ext cx="805565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C2630"/>
                </a:solidFill>
                <a:latin typeface="IBM Plex Sans" pitchFamily="34" charset="0"/>
                <a:ea typeface="IBM Plex Sans" pitchFamily="34" charset="-122"/>
                <a:cs typeface="IBM Plex Sans" pitchFamily="34" charset="-120"/>
              </a:rPr>
              <a:t>¿Es el tipo de imagen del entrenamiento?</a:t>
            </a:r>
            <a:r>
              <a:rPr lang="en-US" sz="1400" dirty="0">
                <a:solidFill>
                  <a:srgbClr val="1C2630"/>
                </a:solidFill>
                <a:latin typeface="IBM Plex Sans" pitchFamily="34" charset="0"/>
                <a:ea typeface="IBM Plex Sans" pitchFamily="34" charset="-122"/>
                <a:cs typeface="IBM Plex Sans" pitchFamily="34" charset="-120"/>
              </a:rPr>
              <a:t> Formato, tipo de fondo, tinción, aumento.</a:t>
            </a:r>
            <a:endParaRPr lang="en-US" sz="1400" dirty="0"/>
          </a:p>
        </p:txBody>
      </p:sp>
      <p:sp>
        <p:nvSpPr>
          <p:cNvPr id="10" name="Shape 8"/>
          <p:cNvSpPr/>
          <p:nvPr/>
        </p:nvSpPr>
        <p:spPr>
          <a:xfrm>
            <a:off x="815975" y="3246537"/>
            <a:ext cx="10560050" cy="600670"/>
          </a:xfrm>
          <a:prstGeom prst="roundRect">
            <a:avLst>
              <a:gd name="adj" fmla="val 16386"/>
            </a:avLst>
          </a:prstGeom>
          <a:solidFill>
            <a:srgbClr val="FCFBF7"/>
          </a:solidFill>
          <a:ln w="6350">
            <a:solidFill>
              <a:srgbClr val="DDD8CC"/>
            </a:solidFill>
            <a:prstDash val="solid"/>
          </a:ln>
        </p:spPr>
      </p:sp>
      <p:sp>
        <p:nvSpPr>
          <p:cNvPr id="11" name="Text 9"/>
          <p:cNvSpPr/>
          <p:nvPr/>
        </p:nvSpPr>
        <p:spPr>
          <a:xfrm>
            <a:off x="1022350" y="3351312"/>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201A"/>
                </a:solidFill>
                <a:latin typeface="Source Serif 4" pitchFamily="18" charset="0"/>
                <a:ea typeface="Source Serif 4" pitchFamily="18" charset="-122"/>
                <a:cs typeface="Source Serif 4" pitchFamily="18" charset="-120"/>
              </a:rPr>
              <a:t>3</a:t>
            </a:r>
            <a:endParaRPr lang="en-US" sz="2200" dirty="0"/>
          </a:p>
        </p:txBody>
      </p:sp>
      <p:sp>
        <p:nvSpPr>
          <p:cNvPr id="12" name="Text 10"/>
          <p:cNvSpPr/>
          <p:nvPr/>
        </p:nvSpPr>
        <p:spPr>
          <a:xfrm>
            <a:off x="1479550" y="3431282"/>
            <a:ext cx="7250906"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C2630"/>
                </a:solidFill>
                <a:latin typeface="IBM Plex Sans" pitchFamily="34" charset="0"/>
                <a:ea typeface="IBM Plex Sans" pitchFamily="34" charset="-122"/>
                <a:cs typeface="IBM Plex Sans" pitchFamily="34" charset="-120"/>
              </a:rPr>
              <a:t>¿El error está en zonas aglomeradas?</a:t>
            </a:r>
            <a:r>
              <a:rPr lang="en-US" sz="1400" dirty="0">
                <a:solidFill>
                  <a:srgbClr val="1C2630"/>
                </a:solidFill>
                <a:latin typeface="IBM Plex Sans" pitchFamily="34" charset="0"/>
                <a:ea typeface="IBM Plex Sans" pitchFamily="34" charset="-122"/>
                <a:cs typeface="IBM Plex Sans" pitchFamily="34" charset="-120"/>
              </a:rPr>
              <a:t> Es la limitación conocida del modelo.</a:t>
            </a:r>
            <a:endParaRPr lang="en-US" sz="1400" dirty="0"/>
          </a:p>
        </p:txBody>
      </p:sp>
      <p:sp>
        <p:nvSpPr>
          <p:cNvPr id="13" name="Shape 11"/>
          <p:cNvSpPr/>
          <p:nvPr/>
        </p:nvSpPr>
        <p:spPr>
          <a:xfrm>
            <a:off x="815975" y="3942457"/>
            <a:ext cx="10560050" cy="600670"/>
          </a:xfrm>
          <a:prstGeom prst="roundRect">
            <a:avLst>
              <a:gd name="adj" fmla="val 16386"/>
            </a:avLst>
          </a:prstGeom>
          <a:solidFill>
            <a:srgbClr val="FCFBF7"/>
          </a:solidFill>
          <a:ln w="6350">
            <a:solidFill>
              <a:srgbClr val="DDD8CC"/>
            </a:solidFill>
            <a:prstDash val="solid"/>
          </a:ln>
        </p:spPr>
      </p:sp>
      <p:sp>
        <p:nvSpPr>
          <p:cNvPr id="14" name="Text 12"/>
          <p:cNvSpPr/>
          <p:nvPr/>
        </p:nvSpPr>
        <p:spPr>
          <a:xfrm>
            <a:off x="1022350" y="4047232"/>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201A"/>
                </a:solidFill>
                <a:latin typeface="Source Serif 4" pitchFamily="18" charset="0"/>
                <a:ea typeface="Source Serif 4" pitchFamily="18" charset="-122"/>
                <a:cs typeface="Source Serif 4" pitchFamily="18" charset="-120"/>
              </a:rPr>
              <a:t>4</a:t>
            </a:r>
            <a:endParaRPr lang="en-US" sz="2200" dirty="0"/>
          </a:p>
        </p:txBody>
      </p:sp>
      <p:sp>
        <p:nvSpPr>
          <p:cNvPr id="15" name="Text 13"/>
          <p:cNvSpPr/>
          <p:nvPr/>
        </p:nvSpPr>
        <p:spPr>
          <a:xfrm>
            <a:off x="1479550" y="4127202"/>
            <a:ext cx="7602498"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C2630"/>
                </a:solidFill>
                <a:latin typeface="IBM Plex Sans" pitchFamily="34" charset="0"/>
                <a:ea typeface="IBM Plex Sans" pitchFamily="34" charset="-122"/>
                <a:cs typeface="IBM Plex Sans" pitchFamily="34" charset="-120"/>
              </a:rPr>
              <a:t>¿Se corrige o se descarta?</a:t>
            </a:r>
            <a:r>
              <a:rPr lang="en-US" sz="1400" dirty="0">
                <a:solidFill>
                  <a:srgbClr val="1C2630"/>
                </a:solidFill>
                <a:latin typeface="IBM Plex Sans" pitchFamily="34" charset="0"/>
                <a:ea typeface="IBM Plex Sans" pitchFamily="34" charset="-122"/>
                <a:cs typeface="IBM Plex Sans" pitchFamily="34" charset="-120"/>
              </a:rPr>
              <a:t> Conservar el resultado y anotar aparte la corrección.</a:t>
            </a:r>
            <a:endParaRPr lang="en-US" sz="1400" dirty="0"/>
          </a:p>
        </p:txBody>
      </p:sp>
      <p:sp>
        <p:nvSpPr>
          <p:cNvPr id="16" name="Text 14"/>
          <p:cNvSpPr/>
          <p:nvPr/>
        </p:nvSpPr>
        <p:spPr>
          <a:xfrm>
            <a:off x="812800" y="4774902"/>
            <a:ext cx="10566400" cy="502841"/>
          </a:xfrm>
          <a:prstGeom prst="roundRect">
            <a:avLst>
              <a:gd name="adj" fmla="val 15154"/>
            </a:avLst>
          </a:prstGeom>
          <a:solidFill>
            <a:srgbClr val="A8201A"/>
          </a:solidFill>
          <a:ln/>
        </p:spPr>
        <p:txBody>
          <a:bodyPr wrap="square" lIns="180882" tIns="104682" rIns="0" bIns="79282" rtlCol="0" anchor="t">
            <a:normAutofit/>
          </a:bodyPr>
          <a:lstStyle/>
          <a:p>
            <a:pPr algn="l"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Guardar la imagen: es candidata para el próximo lote de anotación.</a:t>
            </a:r>
            <a:endParaRPr lang="en-US" sz="14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PARA LLEVARSE</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Seis ideas que conviene matizar</a:t>
            </a:r>
            <a:endParaRPr lang="en-US" sz="3600" dirty="0"/>
          </a:p>
        </p:txBody>
      </p:sp>
      <p:sp>
        <p:nvSpPr>
          <p:cNvPr id="4" name="Shape 2"/>
          <p:cNvSpPr/>
          <p:nvPr/>
        </p:nvSpPr>
        <p:spPr>
          <a:xfrm>
            <a:off x="815975" y="1880096"/>
            <a:ext cx="3431084" cy="1074341"/>
          </a:xfrm>
          <a:prstGeom prst="roundRect">
            <a:avLst>
              <a:gd name="adj" fmla="val 9161"/>
            </a:avLst>
          </a:prstGeom>
          <a:solidFill>
            <a:srgbClr val="FCFBF7"/>
          </a:solidFill>
          <a:ln w="6350">
            <a:solidFill>
              <a:srgbClr val="DDD8CC"/>
            </a:solidFill>
            <a:prstDash val="solid"/>
          </a:ln>
        </p:spPr>
      </p:sp>
      <p:sp>
        <p:nvSpPr>
          <p:cNvPr id="5" name="Text 3"/>
          <p:cNvSpPr/>
          <p:nvPr/>
        </p:nvSpPr>
        <p:spPr>
          <a:xfrm>
            <a:off x="984250" y="2048371"/>
            <a:ext cx="31873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D7C"/>
                </a:solidFill>
                <a:latin typeface="IBM Plex Sans" pitchFamily="34" charset="0"/>
                <a:ea typeface="IBM Plex Sans" pitchFamily="34" charset="-122"/>
                <a:cs typeface="IBM Plex Sans" pitchFamily="34" charset="-120"/>
              </a:rPr>
              <a:t>«La red entiende»</a:t>
            </a:r>
            <a:endParaRPr lang="en-US" sz="1500" dirty="0"/>
          </a:p>
        </p:txBody>
      </p:sp>
      <p:sp>
        <p:nvSpPr>
          <p:cNvPr id="6" name="Text 4"/>
          <p:cNvSpPr/>
          <p:nvPr/>
        </p:nvSpPr>
        <p:spPr>
          <a:xfrm>
            <a:off x="984250" y="2340471"/>
            <a:ext cx="318737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C2630"/>
                </a:solidFill>
                <a:latin typeface="IBM Plex Sans" pitchFamily="34" charset="0"/>
                <a:ea typeface="IBM Plex Sans" pitchFamily="34" charset="-122"/>
                <a:cs typeface="IBM Plex Sans" pitchFamily="34" charset="-120"/>
              </a:rPr>
              <a:t>Calcula con pesos. Ante lo nuevo no razona por analogía.</a:t>
            </a:r>
            <a:endParaRPr lang="en-US" sz="1300" dirty="0"/>
          </a:p>
        </p:txBody>
      </p:sp>
      <p:sp>
        <p:nvSpPr>
          <p:cNvPr id="7" name="Shape 5"/>
          <p:cNvSpPr/>
          <p:nvPr/>
        </p:nvSpPr>
        <p:spPr>
          <a:xfrm>
            <a:off x="4380409" y="1880096"/>
            <a:ext cx="3431084" cy="1074341"/>
          </a:xfrm>
          <a:prstGeom prst="roundRect">
            <a:avLst>
              <a:gd name="adj" fmla="val 9161"/>
            </a:avLst>
          </a:prstGeom>
          <a:solidFill>
            <a:srgbClr val="FCFBF7"/>
          </a:solidFill>
          <a:ln w="6350">
            <a:solidFill>
              <a:srgbClr val="DDD8CC"/>
            </a:solidFill>
            <a:prstDash val="solid"/>
          </a:ln>
        </p:spPr>
      </p:sp>
      <p:sp>
        <p:nvSpPr>
          <p:cNvPr id="8" name="Text 6"/>
          <p:cNvSpPr/>
          <p:nvPr/>
        </p:nvSpPr>
        <p:spPr>
          <a:xfrm>
            <a:off x="4548684" y="2048371"/>
            <a:ext cx="31873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D7C"/>
                </a:solidFill>
                <a:latin typeface="IBM Plex Sans" pitchFamily="34" charset="0"/>
                <a:ea typeface="IBM Plex Sans" pitchFamily="34" charset="-122"/>
                <a:cs typeface="IBM Plex Sans" pitchFamily="34" charset="-120"/>
              </a:rPr>
              <a:t>«Más grande es mejor»</a:t>
            </a:r>
            <a:endParaRPr lang="en-US" sz="1500" dirty="0"/>
          </a:p>
        </p:txBody>
      </p:sp>
      <p:sp>
        <p:nvSpPr>
          <p:cNvPr id="9" name="Text 7"/>
          <p:cNvSpPr/>
          <p:nvPr/>
        </p:nvSpPr>
        <p:spPr>
          <a:xfrm>
            <a:off x="4548684" y="2340471"/>
            <a:ext cx="318737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C2630"/>
                </a:solidFill>
                <a:latin typeface="IBM Plex Sans" pitchFamily="34" charset="0"/>
                <a:ea typeface="IBM Plex Sans" pitchFamily="34" charset="-122"/>
                <a:cs typeface="IBM Plex Sans" pitchFamily="34" charset="-120"/>
              </a:rPr>
              <a:t>Con pocos datos memoriza más. Y el servidor solo tiene procesador.</a:t>
            </a:r>
            <a:endParaRPr lang="en-US" sz="1300" dirty="0"/>
          </a:p>
        </p:txBody>
      </p:sp>
      <p:sp>
        <p:nvSpPr>
          <p:cNvPr id="10" name="Shape 8"/>
          <p:cNvSpPr/>
          <p:nvPr/>
        </p:nvSpPr>
        <p:spPr>
          <a:xfrm>
            <a:off x="7944842" y="1880096"/>
            <a:ext cx="3431084" cy="1074341"/>
          </a:xfrm>
          <a:prstGeom prst="roundRect">
            <a:avLst>
              <a:gd name="adj" fmla="val 9161"/>
            </a:avLst>
          </a:prstGeom>
          <a:solidFill>
            <a:srgbClr val="FCFBF7"/>
          </a:solidFill>
          <a:ln w="6350">
            <a:solidFill>
              <a:srgbClr val="DDD8CC"/>
            </a:solidFill>
            <a:prstDash val="solid"/>
          </a:ln>
        </p:spPr>
      </p:sp>
      <p:sp>
        <p:nvSpPr>
          <p:cNvPr id="11" name="Text 9"/>
          <p:cNvSpPr/>
          <p:nvPr/>
        </p:nvSpPr>
        <p:spPr>
          <a:xfrm>
            <a:off x="8113117" y="2048371"/>
            <a:ext cx="31873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D7C"/>
                </a:solidFill>
                <a:latin typeface="IBM Plex Sans" pitchFamily="34" charset="0"/>
                <a:ea typeface="IBM Plex Sans" pitchFamily="34" charset="-122"/>
                <a:cs typeface="IBM Plex Sans" pitchFamily="34" charset="-120"/>
              </a:rPr>
              <a:t>«Es objetiva»</a:t>
            </a:r>
            <a:endParaRPr lang="en-US" sz="1500" dirty="0"/>
          </a:p>
        </p:txBody>
      </p:sp>
      <p:sp>
        <p:nvSpPr>
          <p:cNvPr id="12" name="Text 10"/>
          <p:cNvSpPr/>
          <p:nvPr/>
        </p:nvSpPr>
        <p:spPr>
          <a:xfrm>
            <a:off x="8113117" y="2340471"/>
            <a:ext cx="318737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C2630"/>
                </a:solidFill>
                <a:latin typeface="IBM Plex Sans" pitchFamily="34" charset="0"/>
                <a:ea typeface="IBM Plex Sans" pitchFamily="34" charset="-122"/>
                <a:cs typeface="IBM Plex Sans" pitchFamily="34" charset="-120"/>
              </a:rPr>
              <a:t>Aplica el criterio de las anotaciones. Es consistente, no neutral.</a:t>
            </a:r>
            <a:endParaRPr lang="en-US" sz="1300" dirty="0"/>
          </a:p>
        </p:txBody>
      </p:sp>
      <p:sp>
        <p:nvSpPr>
          <p:cNvPr id="13" name="Shape 11"/>
          <p:cNvSpPr/>
          <p:nvPr/>
        </p:nvSpPr>
        <p:spPr>
          <a:xfrm>
            <a:off x="815975" y="3087787"/>
            <a:ext cx="3431084" cy="1074341"/>
          </a:xfrm>
          <a:prstGeom prst="roundRect">
            <a:avLst>
              <a:gd name="adj" fmla="val 9161"/>
            </a:avLst>
          </a:prstGeom>
          <a:solidFill>
            <a:srgbClr val="FCFBF7"/>
          </a:solidFill>
          <a:ln w="6350">
            <a:solidFill>
              <a:srgbClr val="DDD8CC"/>
            </a:solidFill>
            <a:prstDash val="solid"/>
          </a:ln>
        </p:spPr>
      </p:sp>
      <p:sp>
        <p:nvSpPr>
          <p:cNvPr id="14" name="Text 12"/>
          <p:cNvSpPr/>
          <p:nvPr/>
        </p:nvSpPr>
        <p:spPr>
          <a:xfrm>
            <a:off x="984250" y="3256062"/>
            <a:ext cx="31873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D7C"/>
                </a:solidFill>
                <a:latin typeface="IBM Plex Sans" pitchFamily="34" charset="0"/>
                <a:ea typeface="IBM Plex Sans" pitchFamily="34" charset="-122"/>
                <a:cs typeface="IBM Plex Sans" pitchFamily="34" charset="-120"/>
              </a:rPr>
              <a:t>«Si va bien aquí, va bien allá»</a:t>
            </a:r>
            <a:endParaRPr lang="en-US" sz="1500" dirty="0"/>
          </a:p>
        </p:txBody>
      </p:sp>
      <p:sp>
        <p:nvSpPr>
          <p:cNvPr id="15" name="Text 13"/>
          <p:cNvSpPr/>
          <p:nvPr/>
        </p:nvSpPr>
        <p:spPr>
          <a:xfrm>
            <a:off x="984250" y="3548162"/>
            <a:ext cx="318737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C2630"/>
                </a:solidFill>
                <a:latin typeface="IBM Plex Sans" pitchFamily="34" charset="0"/>
                <a:ea typeface="IBM Plex Sans" pitchFamily="34" charset="-122"/>
                <a:cs typeface="IBM Plex Sans" pitchFamily="34" charset="-120"/>
              </a:rPr>
              <a:t>La validación es optimista. Probar con imágenes de las nuevas condiciones.</a:t>
            </a:r>
            <a:endParaRPr lang="en-US" sz="1300" dirty="0"/>
          </a:p>
        </p:txBody>
      </p:sp>
      <p:sp>
        <p:nvSpPr>
          <p:cNvPr id="16" name="Shape 14"/>
          <p:cNvSpPr/>
          <p:nvPr/>
        </p:nvSpPr>
        <p:spPr>
          <a:xfrm>
            <a:off x="4380409" y="3087787"/>
            <a:ext cx="3431084" cy="1074341"/>
          </a:xfrm>
          <a:prstGeom prst="roundRect">
            <a:avLst>
              <a:gd name="adj" fmla="val 9161"/>
            </a:avLst>
          </a:prstGeom>
          <a:solidFill>
            <a:srgbClr val="FCFBF7"/>
          </a:solidFill>
          <a:ln w="6350">
            <a:solidFill>
              <a:srgbClr val="DDD8CC"/>
            </a:solidFill>
            <a:prstDash val="solid"/>
          </a:ln>
        </p:spPr>
      </p:sp>
      <p:sp>
        <p:nvSpPr>
          <p:cNvPr id="17" name="Text 15"/>
          <p:cNvSpPr/>
          <p:nvPr/>
        </p:nvSpPr>
        <p:spPr>
          <a:xfrm>
            <a:off x="4548684" y="3256062"/>
            <a:ext cx="31873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D7C"/>
                </a:solidFill>
                <a:latin typeface="IBM Plex Sans" pitchFamily="34" charset="0"/>
                <a:ea typeface="IBM Plex Sans" pitchFamily="34" charset="-122"/>
                <a:cs typeface="IBM Plex Sans" pitchFamily="34" charset="-120"/>
              </a:rPr>
              <a:t>«Si se ve bien, es correcto»</a:t>
            </a:r>
            <a:endParaRPr lang="en-US" sz="1500" dirty="0"/>
          </a:p>
        </p:txBody>
      </p:sp>
      <p:sp>
        <p:nvSpPr>
          <p:cNvPr id="18" name="Text 16"/>
          <p:cNvSpPr/>
          <p:nvPr/>
        </p:nvSpPr>
        <p:spPr>
          <a:xfrm>
            <a:off x="4548684" y="3548162"/>
            <a:ext cx="318737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C2630"/>
                </a:solidFill>
                <a:latin typeface="IBM Plex Sans" pitchFamily="34" charset="0"/>
                <a:ea typeface="IBM Plex Sans" pitchFamily="34" charset="-122"/>
                <a:cs typeface="IBM Plex Sans" pitchFamily="34" charset="-120"/>
              </a:rPr>
              <a:t>Preguntar: ¿están todas las células, y solo ellas?</a:t>
            </a:r>
            <a:endParaRPr lang="en-US" sz="1300" dirty="0"/>
          </a:p>
        </p:txBody>
      </p:sp>
      <p:sp>
        <p:nvSpPr>
          <p:cNvPr id="19" name="Shape 17"/>
          <p:cNvSpPr/>
          <p:nvPr/>
        </p:nvSpPr>
        <p:spPr>
          <a:xfrm>
            <a:off x="7944842" y="3087787"/>
            <a:ext cx="3431084" cy="1074341"/>
          </a:xfrm>
          <a:prstGeom prst="roundRect">
            <a:avLst>
              <a:gd name="adj" fmla="val 9161"/>
            </a:avLst>
          </a:prstGeom>
          <a:solidFill>
            <a:srgbClr val="FCFBF7"/>
          </a:solidFill>
          <a:ln w="6350">
            <a:solidFill>
              <a:srgbClr val="DDD8CC"/>
            </a:solidFill>
            <a:prstDash val="solid"/>
          </a:ln>
        </p:spPr>
      </p:sp>
      <p:sp>
        <p:nvSpPr>
          <p:cNvPr id="20" name="Text 18"/>
          <p:cNvSpPr/>
          <p:nvPr/>
        </p:nvSpPr>
        <p:spPr>
          <a:xfrm>
            <a:off x="8113117" y="3256062"/>
            <a:ext cx="31873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D7C"/>
                </a:solidFill>
                <a:latin typeface="IBM Plex Sans" pitchFamily="34" charset="0"/>
                <a:ea typeface="IBM Plex Sans" pitchFamily="34" charset="-122"/>
                <a:cs typeface="IBM Plex Sans" pitchFamily="34" charset="-120"/>
              </a:rPr>
              <a:t>«La meta es el 100 %»</a:t>
            </a:r>
            <a:endParaRPr lang="en-US" sz="1500" dirty="0"/>
          </a:p>
        </p:txBody>
      </p:sp>
      <p:sp>
        <p:nvSpPr>
          <p:cNvPr id="21" name="Text 19"/>
          <p:cNvSpPr/>
          <p:nvPr/>
        </p:nvSpPr>
        <p:spPr>
          <a:xfrm>
            <a:off x="8113117" y="3548162"/>
            <a:ext cx="318737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C2630"/>
                </a:solidFill>
                <a:latin typeface="IBM Plex Sans" pitchFamily="34" charset="0"/>
                <a:ea typeface="IBM Plex Sans" pitchFamily="34" charset="-122"/>
                <a:cs typeface="IBM Plex Sans" pitchFamily="34" charset="-120"/>
              </a:rPr>
              <a:t>Basta con conocer el error: precisión, exhaustividad, F1 y AP50.</a:t>
            </a:r>
            <a:endParaRPr lang="en-US" sz="1300" dirty="0"/>
          </a:p>
        </p:txBody>
      </p:sp>
      <p:sp>
        <p:nvSpPr>
          <p:cNvPr id="22" name="Text 20"/>
          <p:cNvSpPr/>
          <p:nvPr/>
        </p:nvSpPr>
        <p:spPr>
          <a:xfrm>
            <a:off x="812800" y="4419302"/>
            <a:ext cx="98107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06B"/>
                </a:solidFill>
                <a:latin typeface="IBM Plex Sans" pitchFamily="34" charset="0"/>
                <a:ea typeface="IBM Plex Sans" pitchFamily="34" charset="-122"/>
                <a:cs typeface="IBM Plex Sans" pitchFamily="34" charset="-120"/>
              </a:rPr>
              <a:t>Precisión: de lo que marcó, qué proporción era espermatozoide. Exhaustividad: de los que había, qué proporción encontró.</a:t>
            </a:r>
            <a:endParaRPr lang="en-US" sz="14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PREGUNTAS FRECUENTES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Dudas sobre las redes neuronales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8821"/>
          <a:ext cx="10553700" cy="2607965"/>
        </p:xfrm>
        <a:graphic>
          <a:graphicData uri="http://schemas.openxmlformats.org/drawingml/2006/table">
            <a:tbl>
              <a:tblPr/>
              <a:tblGrid>
                <a:gridCol w="4221480"/>
                <a:gridCol w="6332220"/>
              </a:tblGrid>
              <a:tr h="372566">
                <a:tc>
                  <a:txBody>
                    <a:bodyPr/>
                    <a:lstStyle/>
                    <a:p>
                      <a:pPr indent="0" marL="0">
                        <a:lnSpc>
                          <a:spcPts val="1890"/>
                        </a:lnSpc>
                        <a:buNone/>
                      </a:pPr>
                      <a:r>
                        <a:rPr lang="en-US" sz="1350" b="1" dirty="0">
                          <a:solidFill>
                            <a:srgbClr val="1C2630"/>
                          </a:solidFill>
                          <a:latin typeface="IBM Plex Sans" pitchFamily="34" charset="0"/>
                          <a:ea typeface="IBM Plex Sans" pitchFamily="34" charset="-122"/>
                          <a:cs typeface="IBM Plex Sans" pitchFamily="34" charset="-120"/>
                        </a:rPr>
                        <a:t>Pregunta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90"/>
                        </a:lnSpc>
                        <a:buNone/>
                      </a:pPr>
                      <a:r>
                        <a:rPr lang="en-US" sz="1350" b="1" dirty="0">
                          <a:solidFill>
                            <a:srgbClr val="1C2630"/>
                          </a:solidFill>
                          <a:latin typeface="IBM Plex Sans" pitchFamily="34" charset="0"/>
                          <a:ea typeface="IBM Plex Sans" pitchFamily="34" charset="-122"/>
                          <a:cs typeface="IBM Plex Sans" pitchFamily="34" charset="-120"/>
                        </a:rPr>
                        <a:t>Respuesta corta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¿Por qué entrenar en Colab?</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Pide una tarjeta gráfica; usar el modelo solo pide procesador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¿Por qué ayuda la tarjeta gráfica?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Hace muchas multiplicaciones y sumas a la vez</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¿Cuántas imágenes hacen falta?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Depende; cada foto aporta unas 150 cabezas anotadas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¿Por qué PyTorch?</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Trae la Mask R-CNN elegida, con pesos preentrenados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¿Se explica por qué marcó algo?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Solo en parte; por eso la medición es aparte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¿Y si cambia la versión de PyTorch?</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Probar que los modelos den los mismos resultados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5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9887F"/>
                </a:solidFill>
                <a:latin typeface="IBM Plex Sans" pitchFamily="34" charset="0"/>
                <a:ea typeface="IBM Plex Sans" pitchFamily="34" charset="-122"/>
                <a:cs typeface="IBM Plex Sans" pitchFamily="34" charset="-120"/>
              </a:rPr>
              <a:t>CASOS</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EFE8"/>
                </a:solidFill>
                <a:latin typeface="Source Serif 4" pitchFamily="18" charset="0"/>
                <a:ea typeface="Source Serif 4" pitchFamily="18" charset="-122"/>
                <a:cs typeface="Source Serif 4" pitchFamily="18" charset="-120"/>
              </a:rPr>
              <a:t>Tres casos para ilustrar lo visto</a:t>
            </a:r>
            <a:endParaRPr lang="en-US" sz="3600" dirty="0"/>
          </a:p>
        </p:txBody>
      </p:sp>
      <p:sp>
        <p:nvSpPr>
          <p:cNvPr id="4" name="Shape 2"/>
          <p:cNvSpPr/>
          <p:nvPr/>
        </p:nvSpPr>
        <p:spPr>
          <a:xfrm>
            <a:off x="815975" y="1905496"/>
            <a:ext cx="10560050" cy="825500"/>
          </a:xfrm>
          <a:prstGeom prst="roundRect">
            <a:avLst>
              <a:gd name="adj" fmla="val 11923"/>
            </a:avLst>
          </a:prstGeom>
          <a:solidFill>
            <a:srgbClr val="1F3345"/>
          </a:solidFill>
          <a:ln w="6350">
            <a:solidFill>
              <a:srgbClr val="33495C"/>
            </a:solidFill>
            <a:prstDash val="solid"/>
          </a:ln>
        </p:spPr>
      </p:sp>
      <p:sp>
        <p:nvSpPr>
          <p:cNvPr id="5" name="Text 3"/>
          <p:cNvSpPr/>
          <p:nvPr/>
        </p:nvSpPr>
        <p:spPr>
          <a:xfrm>
            <a:off x="1022350" y="2069306"/>
            <a:ext cx="4064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9887F"/>
                </a:solidFill>
                <a:latin typeface="Source Serif 4" pitchFamily="18" charset="0"/>
                <a:ea typeface="Source Serif 4" pitchFamily="18" charset="-122"/>
                <a:cs typeface="Source Serif 4" pitchFamily="18" charset="-120"/>
              </a:rPr>
              <a:t>1</a:t>
            </a:r>
            <a:endParaRPr lang="en-US" sz="2800" dirty="0"/>
          </a:p>
        </p:txBody>
      </p:sp>
      <p:sp>
        <p:nvSpPr>
          <p:cNvPr id="6" name="Text 4"/>
          <p:cNvSpPr/>
          <p:nvPr/>
        </p:nvSpPr>
        <p:spPr>
          <a:xfrm>
            <a:off x="1555750" y="2061071"/>
            <a:ext cx="990231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2EFE8"/>
                </a:solidFill>
                <a:latin typeface="IBM Plex Sans" pitchFamily="34" charset="0"/>
                <a:ea typeface="IBM Plex Sans" pitchFamily="34" charset="-122"/>
                <a:cs typeface="IBM Plex Sans" pitchFamily="34" charset="-120"/>
              </a:rPr>
              <a:t>Una red aprende con cuatro fotos donde todos los espermatozoides miran a la derecha. Ante una foto donde miran a la izquierda, no la reconoce bien.</a:t>
            </a:r>
            <a:endParaRPr lang="en-US" sz="1500" dirty="0"/>
          </a:p>
        </p:txBody>
      </p:sp>
      <p:sp>
        <p:nvSpPr>
          <p:cNvPr id="7" name="Shape 5"/>
          <p:cNvSpPr/>
          <p:nvPr/>
        </p:nvSpPr>
        <p:spPr>
          <a:xfrm>
            <a:off x="815975" y="2864346"/>
            <a:ext cx="10560050" cy="808930"/>
          </a:xfrm>
          <a:prstGeom prst="roundRect">
            <a:avLst>
              <a:gd name="adj" fmla="val 12167"/>
            </a:avLst>
          </a:prstGeom>
          <a:solidFill>
            <a:srgbClr val="1F3345"/>
          </a:solidFill>
          <a:ln w="6350">
            <a:solidFill>
              <a:srgbClr val="33495C"/>
            </a:solidFill>
            <a:prstDash val="solid"/>
          </a:ln>
        </p:spPr>
      </p:sp>
      <p:sp>
        <p:nvSpPr>
          <p:cNvPr id="8" name="Text 6"/>
          <p:cNvSpPr/>
          <p:nvPr/>
        </p:nvSpPr>
        <p:spPr>
          <a:xfrm>
            <a:off x="1022350" y="3019921"/>
            <a:ext cx="4064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9887F"/>
                </a:solidFill>
                <a:latin typeface="Source Serif 4" pitchFamily="18" charset="0"/>
                <a:ea typeface="Source Serif 4" pitchFamily="18" charset="-122"/>
                <a:cs typeface="Source Serif 4" pitchFamily="18" charset="-120"/>
              </a:rPr>
              <a:t>2</a:t>
            </a:r>
            <a:endParaRPr lang="en-US" sz="2800" dirty="0"/>
          </a:p>
        </p:txBody>
      </p:sp>
      <p:sp>
        <p:nvSpPr>
          <p:cNvPr id="9" name="Text 7"/>
          <p:cNvSpPr/>
          <p:nvPr/>
        </p:nvSpPr>
        <p:spPr>
          <a:xfrm>
            <a:off x="1555750" y="3140174"/>
            <a:ext cx="649914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2EFE8"/>
                </a:solidFill>
                <a:latin typeface="IBM Plex Sans" pitchFamily="34" charset="0"/>
                <a:ea typeface="IBM Plex Sans" pitchFamily="34" charset="-122"/>
                <a:cs typeface="IBM Plex Sans" pitchFamily="34" charset="-120"/>
              </a:rPr>
              <a:t>El sitio cuenta 114 espermatozoides y una persona cuenta 130.</a:t>
            </a:r>
            <a:endParaRPr lang="en-US" sz="1500" dirty="0"/>
          </a:p>
        </p:txBody>
      </p:sp>
      <p:sp>
        <p:nvSpPr>
          <p:cNvPr id="10" name="Shape 8"/>
          <p:cNvSpPr/>
          <p:nvPr/>
        </p:nvSpPr>
        <p:spPr>
          <a:xfrm>
            <a:off x="815975" y="3806627"/>
            <a:ext cx="10560050" cy="808930"/>
          </a:xfrm>
          <a:prstGeom prst="roundRect">
            <a:avLst>
              <a:gd name="adj" fmla="val 12167"/>
            </a:avLst>
          </a:prstGeom>
          <a:solidFill>
            <a:srgbClr val="1F3345"/>
          </a:solidFill>
          <a:ln w="6350">
            <a:solidFill>
              <a:srgbClr val="33495C"/>
            </a:solidFill>
            <a:prstDash val="solid"/>
          </a:ln>
        </p:spPr>
      </p:sp>
      <p:sp>
        <p:nvSpPr>
          <p:cNvPr id="11" name="Text 9"/>
          <p:cNvSpPr/>
          <p:nvPr/>
        </p:nvSpPr>
        <p:spPr>
          <a:xfrm>
            <a:off x="1022350" y="3962202"/>
            <a:ext cx="4064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9887F"/>
                </a:solidFill>
                <a:latin typeface="Source Serif 4" pitchFamily="18" charset="0"/>
                <a:ea typeface="Source Serif 4" pitchFamily="18" charset="-122"/>
                <a:cs typeface="Source Serif 4" pitchFamily="18" charset="-120"/>
              </a:rPr>
              <a:t>3</a:t>
            </a:r>
            <a:endParaRPr lang="en-US" sz="2800" dirty="0"/>
          </a:p>
        </p:txBody>
      </p:sp>
      <p:sp>
        <p:nvSpPr>
          <p:cNvPr id="12" name="Text 10"/>
          <p:cNvSpPr/>
          <p:nvPr/>
        </p:nvSpPr>
        <p:spPr>
          <a:xfrm>
            <a:off x="1555750" y="4082455"/>
            <a:ext cx="892849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2EFE8"/>
                </a:solidFill>
                <a:latin typeface="IBM Plex Sans" pitchFamily="34" charset="0"/>
                <a:ea typeface="IBM Plex Sans" pitchFamily="34" charset="-122"/>
                <a:cs typeface="IBM Plex Sans" pitchFamily="34" charset="-120"/>
              </a:rPr>
              <a:t>Alguien propone entrenar con las mismas ocho fotos hasta que la pérdida llegue a cero.</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VOCABULARIO · 1 DE 2</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La red y la convolución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8821"/>
          <a:ext cx="10553700" cy="2980531"/>
        </p:xfrm>
        <a:graphic>
          <a:graphicData uri="http://schemas.openxmlformats.org/drawingml/2006/table">
            <a:tbl>
              <a:tblPr/>
              <a:tblGrid>
                <a:gridCol w="2743962"/>
                <a:gridCol w="7809738"/>
              </a:tblGrid>
              <a:tr h="372566">
                <a:tc>
                  <a:txBody>
                    <a:bodyPr/>
                    <a:lstStyle/>
                    <a:p>
                      <a:pPr indent="0" marL="0">
                        <a:lnSpc>
                          <a:spcPts val="1890"/>
                        </a:lnSpc>
                        <a:buNone/>
                      </a:pPr>
                      <a:r>
                        <a:rPr lang="en-US" sz="1350" b="1" dirty="0">
                          <a:solidFill>
                            <a:srgbClr val="1C2630"/>
                          </a:solidFill>
                          <a:latin typeface="IBM Plex Sans" pitchFamily="34" charset="0"/>
                          <a:ea typeface="IBM Plex Sans" pitchFamily="34" charset="-122"/>
                          <a:cs typeface="IBM Plex Sans" pitchFamily="34" charset="-120"/>
                        </a:rPr>
                        <a:t>Término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90"/>
                        </a:lnSpc>
                        <a:buNone/>
                      </a:pPr>
                      <a:r>
                        <a:rPr lang="en-US" sz="1350" b="1" dirty="0">
                          <a:solidFill>
                            <a:srgbClr val="1C2630"/>
                          </a:solidFill>
                          <a:latin typeface="IBM Plex Sans" pitchFamily="34" charset="0"/>
                          <a:ea typeface="IBM Plex Sans" pitchFamily="34" charset="-122"/>
                          <a:cs typeface="IBM Plex Sans" pitchFamily="34" charset="-120"/>
                        </a:rPr>
                        <a:t>Qué 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Neurona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Multiplica entradas por pesos, suma y aplica una activación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Capa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Neuronas que miran las mismas entradas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Peso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Número que la red ajusta al aprender; es lo que sabe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Filtro (kernel)</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Detector de patrones de pocos píxeles que se desliza por la imagen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Convolución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Deslizar el filtro y medir, en cada punto, cuánto se parece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Mapa de características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Resultado de aplicar un filtro a toda la imagen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Campo receptivo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Zona de la imagen de la que depende un valor profundo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VOCABULARIO · 2 DE 2</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Aprendizaje y uso del modelo</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8821"/>
          <a:ext cx="10553700" cy="3353098"/>
        </p:xfrm>
        <a:graphic>
          <a:graphicData uri="http://schemas.openxmlformats.org/drawingml/2006/table">
            <a:tbl>
              <a:tblPr/>
              <a:tblGrid>
                <a:gridCol w="2743962"/>
                <a:gridCol w="7809738"/>
              </a:tblGrid>
              <a:tr h="372566">
                <a:tc>
                  <a:txBody>
                    <a:bodyPr/>
                    <a:lstStyle/>
                    <a:p>
                      <a:pPr indent="0" marL="0">
                        <a:lnSpc>
                          <a:spcPts val="1890"/>
                        </a:lnSpc>
                        <a:buNone/>
                      </a:pPr>
                      <a:r>
                        <a:rPr lang="en-US" sz="1350" b="1" dirty="0">
                          <a:solidFill>
                            <a:srgbClr val="1C2630"/>
                          </a:solidFill>
                          <a:latin typeface="IBM Plex Sans" pitchFamily="34" charset="0"/>
                          <a:ea typeface="IBM Plex Sans" pitchFamily="34" charset="-122"/>
                          <a:cs typeface="IBM Plex Sans" pitchFamily="34" charset="-120"/>
                        </a:rPr>
                        <a:t>Término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90"/>
                        </a:lnSpc>
                        <a:buNone/>
                      </a:pPr>
                      <a:r>
                        <a:rPr lang="en-US" sz="1350" b="1" dirty="0">
                          <a:solidFill>
                            <a:srgbClr val="1C2630"/>
                          </a:solidFill>
                          <a:latin typeface="IBM Plex Sans" pitchFamily="34" charset="0"/>
                          <a:ea typeface="IBM Plex Sans" pitchFamily="34" charset="-122"/>
                          <a:cs typeface="IBM Plex Sans" pitchFamily="34" charset="-120"/>
                        </a:rPr>
                        <a:t>Qué 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Función de pérdida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Número que mide cuánto se equivocó la red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Descenso del gradiente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Ajustar los pesos, paso a paso, en la dirección que baja la pérdida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Época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Una pasada completa por los ejemplos de entrenamiento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Anotación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Trabajo humano de marcar las respuestas correctas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Sobreajuste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Funciona con lo que memorizó y mal con lo nuevo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Transferencia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Partir de una red preentrenada y afinarla con nuestros ejemplos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Inferencia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Usar un modelo ya entrenado; lo que hace el servidor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72566">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Tesela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90"/>
                        </a:lnSpc>
                        <a:buNone/>
                      </a:pPr>
                      <a:r>
                        <a:rPr lang="en-US" sz="1350" dirty="0">
                          <a:solidFill>
                            <a:srgbClr val="1C2630"/>
                          </a:solidFill>
                          <a:latin typeface="IBM Plex Sans" pitchFamily="34" charset="0"/>
                          <a:ea typeface="IBM Plex Sans" pitchFamily="34" charset="-122"/>
                          <a:cs typeface="IBM Plex Sans" pitchFamily="34" charset="-120"/>
                        </a:rPr>
                        <a:t>Recorte con traslape de una foto grande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Redes neuronales</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201A"/>
                </a:solidFill>
                <a:latin typeface="IBM Plex Sans" pitchFamily="34" charset="0"/>
                <a:ea typeface="IBM Plex Sans" pitchFamily="34" charset="-122"/>
                <a:cs typeface="IBM Plex Sans" pitchFamily="34" charset="-120"/>
              </a:rPr>
              <a:t>SIGUIENTE SESIÓN</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2630"/>
                </a:solidFill>
                <a:latin typeface="Source Serif 4" pitchFamily="18" charset="0"/>
                <a:ea typeface="Source Serif 4" pitchFamily="18" charset="-122"/>
                <a:cs typeface="Source Serif 4" pitchFamily="18" charset="-120"/>
              </a:rPr>
              <a:t>Sesión 2: la red y sus datos</a:t>
            </a:r>
            <a:endParaRPr lang="en-US" sz="3600" dirty="0"/>
          </a:p>
        </p:txBody>
      </p:sp>
      <p:sp>
        <p:nvSpPr>
          <p:cNvPr id="4" name="Shape 2"/>
          <p:cNvSpPr/>
          <p:nvPr/>
        </p:nvSpPr>
        <p:spPr>
          <a:xfrm>
            <a:off x="815975" y="1905496"/>
            <a:ext cx="3414117" cy="1260872"/>
          </a:xfrm>
          <a:prstGeom prst="roundRect">
            <a:avLst>
              <a:gd name="adj" fmla="val 7806"/>
            </a:avLst>
          </a:prstGeom>
          <a:solidFill>
            <a:srgbClr val="FCFBF7"/>
          </a:solidFill>
          <a:ln w="6350">
            <a:solidFill>
              <a:srgbClr val="DDD8CC"/>
            </a:solidFill>
            <a:prstDash val="solid"/>
          </a:ln>
        </p:spPr>
      </p:sp>
      <p:sp>
        <p:nvSpPr>
          <p:cNvPr id="5" name="Text 3"/>
          <p:cNvSpPr/>
          <p:nvPr/>
        </p:nvSpPr>
        <p:spPr>
          <a:xfrm>
            <a:off x="1022350" y="2111871"/>
            <a:ext cx="30914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Mask R-CNN</a:t>
            </a:r>
            <a:endParaRPr lang="en-US" sz="1800" dirty="0"/>
          </a:p>
        </p:txBody>
      </p:sp>
      <p:sp>
        <p:nvSpPr>
          <p:cNvPr id="6" name="Text 4"/>
          <p:cNvSpPr/>
          <p:nvPr/>
        </p:nvSpPr>
        <p:spPr>
          <a:xfrm>
            <a:off x="1022350" y="2462312"/>
            <a:ext cx="309140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Qué recibe, qué devuelve y ejemplos con imágenes reales.</a:t>
            </a:r>
            <a:endParaRPr lang="en-US" sz="1400" dirty="0"/>
          </a:p>
        </p:txBody>
      </p:sp>
      <p:sp>
        <p:nvSpPr>
          <p:cNvPr id="7" name="Shape 5"/>
          <p:cNvSpPr/>
          <p:nvPr/>
        </p:nvSpPr>
        <p:spPr>
          <a:xfrm>
            <a:off x="4388842" y="1905496"/>
            <a:ext cx="3414216" cy="1260872"/>
          </a:xfrm>
          <a:prstGeom prst="roundRect">
            <a:avLst>
              <a:gd name="adj" fmla="val 7806"/>
            </a:avLst>
          </a:prstGeom>
          <a:solidFill>
            <a:srgbClr val="FCFBF7"/>
          </a:solidFill>
          <a:ln w="6350">
            <a:solidFill>
              <a:srgbClr val="DDD8CC"/>
            </a:solidFill>
            <a:prstDash val="solid"/>
          </a:ln>
        </p:spPr>
      </p:sp>
      <p:sp>
        <p:nvSpPr>
          <p:cNvPr id="8" name="Text 6"/>
          <p:cNvSpPr/>
          <p:nvPr/>
        </p:nvSpPr>
        <p:spPr>
          <a:xfrm>
            <a:off x="4595217" y="2111871"/>
            <a:ext cx="30915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Teselas</a:t>
            </a:r>
            <a:endParaRPr lang="en-US" sz="1800" dirty="0"/>
          </a:p>
        </p:txBody>
      </p:sp>
      <p:sp>
        <p:nvSpPr>
          <p:cNvPr id="9" name="Text 7"/>
          <p:cNvSpPr/>
          <p:nvPr/>
        </p:nvSpPr>
        <p:spPr>
          <a:xfrm>
            <a:off x="4595217" y="2462312"/>
            <a:ext cx="30915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Cómo se analiza una foto grande y se limpian los contornos repetidos.</a:t>
            </a:r>
            <a:endParaRPr lang="en-US" sz="1400" dirty="0"/>
          </a:p>
        </p:txBody>
      </p:sp>
      <p:sp>
        <p:nvSpPr>
          <p:cNvPr id="10" name="Shape 8"/>
          <p:cNvSpPr/>
          <p:nvPr/>
        </p:nvSpPr>
        <p:spPr>
          <a:xfrm>
            <a:off x="7961809" y="1905496"/>
            <a:ext cx="3414216" cy="1260872"/>
          </a:xfrm>
          <a:prstGeom prst="roundRect">
            <a:avLst>
              <a:gd name="adj" fmla="val 7806"/>
            </a:avLst>
          </a:prstGeom>
          <a:solidFill>
            <a:srgbClr val="FCFBF7"/>
          </a:solidFill>
          <a:ln w="6350">
            <a:solidFill>
              <a:srgbClr val="DDD8CC"/>
            </a:solidFill>
            <a:prstDash val="solid"/>
          </a:ln>
        </p:spPr>
      </p:sp>
      <p:sp>
        <p:nvSpPr>
          <p:cNvPr id="11" name="Text 9"/>
          <p:cNvSpPr/>
          <p:nvPr/>
        </p:nvSpPr>
        <p:spPr>
          <a:xfrm>
            <a:off x="8168184" y="2111871"/>
            <a:ext cx="30915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7C"/>
                </a:solidFill>
                <a:latin typeface="IBM Plex Sans" pitchFamily="34" charset="0"/>
                <a:ea typeface="IBM Plex Sans" pitchFamily="34" charset="-122"/>
                <a:cs typeface="IBM Plex Sans" pitchFamily="34" charset="-120"/>
              </a:rPr>
              <a:t>Datos y entrenamiento</a:t>
            </a:r>
            <a:endParaRPr lang="en-US" sz="1800" dirty="0"/>
          </a:p>
        </p:txBody>
      </p:sp>
      <p:sp>
        <p:nvSpPr>
          <p:cNvPr id="12" name="Text 10"/>
          <p:cNvSpPr/>
          <p:nvPr/>
        </p:nvSpPr>
        <p:spPr>
          <a:xfrm>
            <a:off x="8168184" y="2462312"/>
            <a:ext cx="30915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630"/>
                </a:solidFill>
                <a:latin typeface="IBM Plex Sans" pitchFamily="34" charset="0"/>
                <a:ea typeface="IBM Plex Sans" pitchFamily="34" charset="-122"/>
                <a:cs typeface="IBM Plex Sans" pitchFamily="34" charset="-120"/>
              </a:rPr>
              <a:t>Anotación en CVAT, formato COCO y entrenamiento paso a paso en Colab.</a:t>
            </a:r>
            <a:endParaRPr lang="en-US" sz="1400" dirty="0"/>
          </a:p>
        </p:txBody>
      </p:sp>
      <p:sp>
        <p:nvSpPr>
          <p:cNvPr id="13" name="Text 11"/>
          <p:cNvSpPr/>
          <p:nvPr/>
        </p:nvSpPr>
        <p:spPr>
          <a:xfrm>
            <a:off x="812800" y="3448943"/>
            <a:ext cx="10566400" cy="751681"/>
          </a:xfrm>
          <a:prstGeom prst="rect">
            <a:avLst/>
          </a:prstGeom>
          <a:solidFill>
            <a:srgbClr val="ECE7DA"/>
          </a:solidFill>
          <a:ln/>
        </p:spPr>
        <p:txBody>
          <a:bodyPr wrap="square" lIns="254000" tIns="127000" rIns="0" bIns="101600" rtlCol="0" anchor="t">
            <a:normAutofit/>
          </a:bodyPr>
          <a:lstStyle/>
          <a:p>
            <a:pPr algn="l" indent="0" marL="0">
              <a:lnSpc>
                <a:spcPts val="1960"/>
              </a:lnSpc>
              <a:buNone/>
            </a:pPr>
            <a:r>
              <a:rPr lang="en-US" sz="1400" b="1" dirty="0">
                <a:solidFill>
                  <a:srgbClr val="1C2630"/>
                </a:solidFill>
                <a:latin typeface="IBM Plex Sans" pitchFamily="34" charset="0"/>
                <a:ea typeface="IBM Plex Sans" pitchFamily="34" charset="-122"/>
                <a:cs typeface="IBM Plex Sans" pitchFamily="34" charset="-120"/>
              </a:rPr>
              <a:t>Preparación:</a:t>
            </a:r>
            <a:r>
              <a:rPr lang="en-US" sz="1400" dirty="0">
                <a:solidFill>
                  <a:srgbClr val="1C2630"/>
                </a:solidFill>
                <a:latin typeface="IBM Plex Sans" pitchFamily="34" charset="0"/>
                <a:ea typeface="IBM Plex Sans" pitchFamily="34" charset="-122"/>
                <a:cs typeface="IBM Plex Sans" pitchFamily="34" charset="-120"/>
              </a:rPr>
              <a:t> una cuenta de Google basta para abrir el cuaderno de Colab. Los enlaces se comparten antes de la sesión; no hay que instalar nada.</a:t>
            </a:r>
            <a:endParaRPr lang="en-US" sz="1400" dirty="0"/>
          </a:p>
        </p:txBody>
      </p:sp>
      <p:sp>
        <p:nvSpPr>
          <p:cNvPr id="14" name="Shape 12"/>
          <p:cNvSpPr/>
          <p:nvPr/>
        </p:nvSpPr>
        <p:spPr>
          <a:xfrm>
            <a:off x="838200" y="3448943"/>
            <a:ext cx="0" cy="751681"/>
          </a:xfrm>
          <a:prstGeom prst="line">
            <a:avLst/>
          </a:prstGeom>
          <a:noFill/>
          <a:ln w="50800">
            <a:solidFill>
              <a:srgbClr val="A8201A"/>
            </a:solidFill>
            <a:prstDash val="solid"/>
          </a:ln>
        </p:spPr>
      </p:sp>
      <p:sp>
        <p:nvSpPr>
          <p:cNvPr id="15" name="Text 13"/>
          <p:cNvSpPr/>
          <p:nvPr/>
        </p:nvSpPr>
        <p:spPr>
          <a:xfrm>
            <a:off x="812800" y="4480024"/>
            <a:ext cx="98107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630"/>
                </a:solidFill>
                <a:latin typeface="IBM Plex Sans" pitchFamily="34" charset="0"/>
                <a:ea typeface="IBM Plex Sans" pitchFamily="34" charset="-122"/>
                <a:cs typeface="IBM Plex Sans" pitchFamily="34" charset="-120"/>
              </a:rPr>
              <a:t>Una pregunta para tener presente: ¿qué criterio decide si algo en una imagen cuenta como espermatozoide?</a:t>
            </a:r>
            <a:endParaRPr lang="en-US" sz="15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B"/>
                </a:solidFill>
                <a:latin typeface="IBM Plex Sans" pitchFamily="34" charset="0"/>
                <a:ea typeface="IBM Plex Sans" pitchFamily="34" charset="-122"/>
                <a:cs typeface="IBM Plex Sans" pitchFamily="34" charset="-120"/>
              </a:rPr>
              <a:t>Image Bio Pro · Sesión 1 · Cierre</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5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9887F"/>
                </a:solidFill>
                <a:latin typeface="IBM Plex Sans" pitchFamily="34" charset="0"/>
                <a:ea typeface="IBM Plex Sans" pitchFamily="34" charset="-122"/>
                <a:cs typeface="IBM Plex Sans" pitchFamily="34" charset="-120"/>
              </a:rPr>
              <a:t>CIERRE DE LA SESIÓN 1</a:t>
            </a:r>
            <a:endParaRPr lang="en-US" sz="1400" dirty="0"/>
          </a:p>
        </p:txBody>
      </p:sp>
      <p:sp>
        <p:nvSpPr>
          <p:cNvPr id="3" name="Text 1"/>
          <p:cNvSpPr/>
          <p:nvPr>
            <p:ph type="title"/>
          </p:nvPr>
        </p:nvSpPr>
        <p:spPr>
          <a:xfrm>
            <a:off x="812800" y="2197199"/>
            <a:ext cx="10883392" cy="878780"/>
          </a:xfrm>
          <a:prstGeom prst="rect">
            <a:avLst/>
          </a:prstGeom>
          <a:noFill/>
          <a:ln/>
        </p:spPr>
        <p:txBody>
          <a:bodyPr wrap="square" lIns="0" tIns="0" rIns="0" bIns="0" rtlCol="0" anchor="t">
            <a:normAutofit/>
          </a:bodyPr>
          <a:lstStyle/>
          <a:p>
            <a:pPr algn="l" indent="0" marL="0">
              <a:lnSpc>
                <a:spcPts val="6720"/>
              </a:lnSpc>
              <a:buNone/>
            </a:pPr>
            <a:r>
              <a:rPr lang="en-US" sz="6400" b="1" i="0" dirty="0">
                <a:solidFill>
                  <a:srgbClr val="F2EFE8"/>
                </a:solidFill>
                <a:latin typeface="Source Serif 4" pitchFamily="18" charset="0"/>
                <a:ea typeface="Source Serif 4" pitchFamily="18" charset="-122"/>
                <a:cs typeface="Source Serif 4" pitchFamily="18" charset="-120"/>
              </a:rPr>
              <a:t>Gracias</a:t>
            </a:r>
            <a:endParaRPr lang="en-US" sz="6400" dirty="0"/>
          </a:p>
        </p:txBody>
      </p:sp>
      <p:sp>
        <p:nvSpPr>
          <p:cNvPr id="4" name="Text 2"/>
          <p:cNvSpPr/>
          <p:nvPr/>
        </p:nvSpPr>
        <p:spPr>
          <a:xfrm>
            <a:off x="812800" y="3228380"/>
            <a:ext cx="9156700"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9C4CE"/>
                </a:solidFill>
                <a:latin typeface="IBM Plex Sans" pitchFamily="34" charset="0"/>
                <a:ea typeface="IBM Plex Sans" pitchFamily="34" charset="-122"/>
                <a:cs typeface="IBM Plex Sans" pitchFamily="34" charset="-120"/>
              </a:rPr>
              <a:t>La red localiza, el código mide y las personas verifican.</a:t>
            </a:r>
            <a:endParaRPr lang="en-US" sz="2200" dirty="0"/>
          </a:p>
        </p:txBody>
      </p:sp>
      <p:sp>
        <p:nvSpPr>
          <p:cNvPr id="5" name="Shape 3"/>
          <p:cNvSpPr/>
          <p:nvPr/>
        </p:nvSpPr>
        <p:spPr>
          <a:xfrm>
            <a:off x="815975" y="4730254"/>
            <a:ext cx="6813550" cy="1108571"/>
          </a:xfrm>
          <a:prstGeom prst="roundRect">
            <a:avLst>
              <a:gd name="adj" fmla="val 8879"/>
            </a:avLst>
          </a:prstGeom>
          <a:solidFill>
            <a:srgbClr val="1F3345"/>
          </a:solidFill>
          <a:ln w="6350">
            <a:solidFill>
              <a:srgbClr val="33495C"/>
            </a:solidFill>
            <a:prstDash val="solid"/>
          </a:ln>
        </p:spPr>
      </p:sp>
      <p:sp>
        <p:nvSpPr>
          <p:cNvPr id="6" name="Text 4"/>
          <p:cNvSpPr/>
          <p:nvPr/>
        </p:nvSpPr>
        <p:spPr>
          <a:xfrm>
            <a:off x="996950" y="4911229"/>
            <a:ext cx="664514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9887F"/>
                </a:solidFill>
                <a:latin typeface="IBM Plex Sans" pitchFamily="34" charset="0"/>
                <a:ea typeface="IBM Plex Sans" pitchFamily="34" charset="-122"/>
                <a:cs typeface="IBM Plex Sans" pitchFamily="34" charset="-120"/>
              </a:rPr>
              <a:t>Se resuelve en conjunto con el grupo</a:t>
            </a:r>
            <a:endParaRPr lang="en-US" sz="1300" dirty="0"/>
          </a:p>
        </p:txBody>
      </p:sp>
      <p:sp>
        <p:nvSpPr>
          <p:cNvPr id="7" name="Text 5"/>
          <p:cNvSpPr/>
          <p:nvPr/>
        </p:nvSpPr>
        <p:spPr>
          <a:xfrm>
            <a:off x="996950" y="5142309"/>
            <a:ext cx="664514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2EFE8"/>
                </a:solidFill>
                <a:latin typeface="IBM Plex Sans" pitchFamily="34" charset="0"/>
                <a:ea typeface="IBM Plex Sans" pitchFamily="34" charset="-122"/>
                <a:cs typeface="IBM Plex Sans" pitchFamily="34" charset="-120"/>
              </a:rPr>
              <a:t>Datos para calibrar la escala · correo del formulario de contacto · contenidos del sitio · fechas de las sesiones</a:t>
            </a:r>
            <a:endParaRPr lang="en-US" sz="1400" dirty="0"/>
          </a:p>
        </p:txBody>
      </p:sp>
      <p:sp>
        <p:nvSpPr>
          <p:cNvPr id="8" name="Shape 6"/>
          <p:cNvSpPr/>
          <p:nvPr/>
        </p:nvSpPr>
        <p:spPr>
          <a:xfrm>
            <a:off x="7788275" y="4730254"/>
            <a:ext cx="3587750" cy="1108571"/>
          </a:xfrm>
          <a:prstGeom prst="roundRect">
            <a:avLst>
              <a:gd name="adj" fmla="val 8879"/>
            </a:avLst>
          </a:prstGeom>
          <a:solidFill>
            <a:srgbClr val="1F3345"/>
          </a:solidFill>
          <a:ln w="6350">
            <a:solidFill>
              <a:srgbClr val="33495C"/>
            </a:solidFill>
            <a:prstDash val="solid"/>
          </a:ln>
        </p:spPr>
      </p:sp>
      <p:sp>
        <p:nvSpPr>
          <p:cNvPr id="9" name="Text 7"/>
          <p:cNvSpPr/>
          <p:nvPr/>
        </p:nvSpPr>
        <p:spPr>
          <a:xfrm>
            <a:off x="7969250" y="4911229"/>
            <a:ext cx="332257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9887F"/>
                </a:solidFill>
                <a:latin typeface="IBM Plex Sans" pitchFamily="34" charset="0"/>
                <a:ea typeface="IBM Plex Sans" pitchFamily="34" charset="-122"/>
                <a:cs typeface="IBM Plex Sans" pitchFamily="34" charset="-120"/>
              </a:rPr>
              <a:t>Preguntas y comentarios</a:t>
            </a:r>
            <a:endParaRPr lang="en-US" sz="1300" dirty="0"/>
          </a:p>
        </p:txBody>
      </p:sp>
      <p:sp>
        <p:nvSpPr>
          <p:cNvPr id="10" name="Text 8"/>
          <p:cNvSpPr/>
          <p:nvPr/>
        </p:nvSpPr>
        <p:spPr>
          <a:xfrm>
            <a:off x="7969250" y="5142309"/>
            <a:ext cx="3322574"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2EFE8"/>
                </a:solidFill>
                <a:latin typeface="IBM Plex Sans" pitchFamily="34" charset="0"/>
                <a:ea typeface="IBM Plex Sans" pitchFamily="34" charset="-122"/>
                <a:cs typeface="IBM Plex Sans" pitchFamily="34" charset="-120"/>
              </a:rPr>
              <a:t>15 minutos</a:t>
            </a:r>
            <a:endParaRPr lang="en-US" sz="1400" dirty="0"/>
          </a:p>
        </p:txBody>
      </p:sp>
      <p:sp>
        <p:nvSpPr>
          <p:cNvPr id="11" name="Text 9"/>
          <p:cNvSpPr/>
          <p:nvPr/>
        </p:nvSpPr>
        <p:spPr>
          <a:xfrm>
            <a:off x="7969250" y="5400080"/>
            <a:ext cx="3322574"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C4CE"/>
                </a:solidFill>
                <a:latin typeface="IBM Plex Sans" pitchFamily="34" charset="0"/>
                <a:ea typeface="IBM Plex Sans" pitchFamily="34" charset="-122"/>
                <a:cs typeface="IBM Plex Sans" pitchFamily="34" charset="-120"/>
              </a:rPr>
              <a:t>[correo del desarrollador]</a:t>
            </a:r>
            <a:endParaRPr lang="en-US" sz="1300" dirty="0"/>
          </a:p>
        </p:txBody>
      </p:sp>
    </p:spTree>
  </p:cSld>
  <p:clrMapOvr>
    <a:masterClrMapping/>
  </p:clrMapOvr>
</p:sld>
</file>

<file path=ppt/theme/theme1.xml><?xml version="1.0" encoding="utf-8"?>
<a:theme xmlns:a="http://schemas.openxmlformats.org/drawingml/2006/main" name="Image Bio Pro · Sesión 1">
  <a:themeElements>
    <a:clrScheme name="Image Bio Pro · Sesión 1">
      <a:dk1>
        <a:srgbClr val="1C2630"/>
      </a:dk1>
      <a:lt1>
        <a:srgbClr val="F6F3EC"/>
      </a:lt1>
      <a:dk2>
        <a:srgbClr val="53595F"/>
      </a:dk2>
      <a:lt2>
        <a:srgbClr val="E0DFD9"/>
      </a:lt2>
      <a:accent1>
        <a:srgbClr val="A8201A"/>
      </a:accent1>
      <a:accent2>
        <a:srgbClr val="2F5D7C"/>
      </a:accent2>
      <a:accent3>
        <a:srgbClr val="E9887F"/>
      </a:accent3>
      <a:accent4>
        <a:srgbClr val="F1DFA8"/>
      </a:accent4>
      <a:accent5>
        <a:srgbClr val="55606B"/>
      </a:accent5>
      <a:accent6>
        <a:srgbClr val="C9DCE8"/>
      </a:accent6>
      <a:hlink>
        <a:srgbClr val="0563C1"/>
      </a:hlink>
      <a:folHlink>
        <a:srgbClr val="954F72"/>
      </a:folHlink>
    </a:clrScheme>
    <a:fontScheme name="Image Bio Pro · Sesión 1">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Bio Pro · Sesión 1</dc:title>
  <dc:subject/>
  <dc:creator/>
  <cp:lastModifiedBy/>
  <cp:revision>1</cp:revision>
  <dcterms:created xsi:type="dcterms:W3CDTF">2026-10-19T00:23:00Z</dcterms:created>
  <dcterms:modified xsi:type="dcterms:W3CDTF">2026-10-19T00:23:00Z</dcterms:modified>
</cp:coreProperties>
</file>